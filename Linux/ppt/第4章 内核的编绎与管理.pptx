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402" r:id="rId4"/>
    <p:sldId id="403" r:id="rId5"/>
    <p:sldId id="414" r:id="rId6"/>
    <p:sldId id="400" r:id="rId7"/>
    <p:sldId id="415" r:id="rId8"/>
    <p:sldId id="416" r:id="rId9"/>
    <p:sldId id="401" r:id="rId10"/>
    <p:sldId id="417" r:id="rId11"/>
    <p:sldId id="418" r:id="rId12"/>
    <p:sldId id="398" r:id="rId13"/>
    <p:sldId id="399" r:id="rId14"/>
    <p:sldId id="396" r:id="rId15"/>
    <p:sldId id="419" r:id="rId16"/>
    <p:sldId id="412" r:id="rId17"/>
    <p:sldId id="397" r:id="rId18"/>
    <p:sldId id="420" r:id="rId19"/>
    <p:sldId id="421" r:id="rId20"/>
    <p:sldId id="422" r:id="rId21"/>
    <p:sldId id="425" r:id="rId22"/>
    <p:sldId id="424" r:id="rId23"/>
    <p:sldId id="394" r:id="rId24"/>
    <p:sldId id="426" r:id="rId25"/>
    <p:sldId id="429" r:id="rId26"/>
    <p:sldId id="430" r:id="rId27"/>
    <p:sldId id="431" r:id="rId28"/>
    <p:sldId id="432" r:id="rId29"/>
    <p:sldId id="427" r:id="rId30"/>
    <p:sldId id="433" r:id="rId31"/>
    <p:sldId id="434" r:id="rId32"/>
    <p:sldId id="435" r:id="rId33"/>
    <p:sldId id="436" r:id="rId34"/>
    <p:sldId id="428" r:id="rId35"/>
    <p:sldId id="438" r:id="rId36"/>
    <p:sldId id="437" r:id="rId37"/>
    <p:sldId id="439" r:id="rId38"/>
    <p:sldId id="440" r:id="rId39"/>
    <p:sldId id="441" r:id="rId40"/>
    <p:sldId id="443" r:id="rId41"/>
    <p:sldId id="442" r:id="rId42"/>
    <p:sldId id="413" r:id="rId43"/>
    <p:sldId id="395" r:id="rId44"/>
    <p:sldId id="444" r:id="rId45"/>
    <p:sldId id="392" r:id="rId46"/>
    <p:sldId id="445" r:id="rId47"/>
    <p:sldId id="446" r:id="rId48"/>
    <p:sldId id="447" r:id="rId49"/>
    <p:sldId id="448" r:id="rId50"/>
    <p:sldId id="393" r:id="rId51"/>
    <p:sldId id="390" r:id="rId52"/>
    <p:sldId id="391" r:id="rId53"/>
    <p:sldId id="410" r:id="rId54"/>
    <p:sldId id="449" r:id="rId55"/>
    <p:sldId id="411" r:id="rId56"/>
    <p:sldId id="453" r:id="rId57"/>
    <p:sldId id="450" r:id="rId58"/>
    <p:sldId id="408" r:id="rId59"/>
    <p:sldId id="454" r:id="rId60"/>
    <p:sldId id="409" r:id="rId61"/>
    <p:sldId id="455" r:id="rId62"/>
    <p:sldId id="456" r:id="rId63"/>
    <p:sldId id="457" r:id="rId64"/>
    <p:sldId id="458" r:id="rId65"/>
    <p:sldId id="451" r:id="rId66"/>
    <p:sldId id="459" r:id="rId67"/>
    <p:sldId id="452" r:id="rId68"/>
    <p:sldId id="461" r:id="rId69"/>
    <p:sldId id="407" r:id="rId70"/>
    <p:sldId id="460" r:id="rId71"/>
    <p:sldId id="335" r:id="rId72"/>
    <p:sldId id="283" r:id="rId73"/>
  </p:sldIdLst>
  <p:sldSz cx="12192000" cy="6858000"/>
  <p:notesSz cx="6858000" cy="9144000"/>
  <p:custDataLst>
    <p:tags r:id="rId7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53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92" y="-3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144000" cy="1912983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5D71F9A-531E-7CEF-DB72-4C75D7D3E99E}"/>
              </a:ext>
            </a:extLst>
          </p:cNvPr>
          <p:cNvGrpSpPr/>
          <p:nvPr userDrawn="1"/>
        </p:nvGrpSpPr>
        <p:grpSpPr>
          <a:xfrm>
            <a:off x="0" y="-1"/>
            <a:ext cx="12192000" cy="6858001"/>
            <a:chOff x="0" y="-1"/>
            <a:chExt cx="12192000" cy="6858001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F1403D4F-2128-B68A-4D16-AEB5C5532E4C}"/>
                </a:ext>
              </a:extLst>
            </p:cNvPr>
            <p:cNvGrpSpPr/>
            <p:nvPr userDrawn="1"/>
          </p:nvGrpSpPr>
          <p:grpSpPr>
            <a:xfrm>
              <a:off x="0" y="-1"/>
              <a:ext cx="12192000" cy="6858001"/>
              <a:chOff x="0" y="-1"/>
              <a:chExt cx="12192000" cy="6858001"/>
            </a:xfrm>
          </p:grpSpPr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5A93F15E-14F1-3272-AEDD-85083B2C4B0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89495"/>
              <a:stretch/>
            </p:blipFill>
            <p:spPr>
              <a:xfrm>
                <a:off x="0" y="-1"/>
                <a:ext cx="12192000" cy="720437"/>
              </a:xfrm>
              <a:prstGeom prst="rect">
                <a:avLst/>
              </a:prstGeom>
            </p:spPr>
          </p:pic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9D8CDFAE-DEAB-6A03-51F5-46906ED0A9AA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6173"/>
              <a:stretch/>
            </p:blipFill>
            <p:spPr>
              <a:xfrm>
                <a:off x="0" y="1794933"/>
                <a:ext cx="12192000" cy="5063067"/>
              </a:xfrm>
              <a:prstGeom prst="rect">
                <a:avLst/>
              </a:prstGeom>
            </p:spPr>
          </p:pic>
          <p:pic>
            <p:nvPicPr>
              <p:cNvPr id="13" name="图片 12">
                <a:extLst>
                  <a:ext uri="{FF2B5EF4-FFF2-40B4-BE49-F238E27FC236}">
                    <a16:creationId xmlns:a16="http://schemas.microsoft.com/office/drawing/2014/main" id="{E172EF5F-7AA4-7767-EAF8-2BCD7E5B0D42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/>
            </p:blipFill>
            <p:spPr>
              <a:xfrm>
                <a:off x="0" y="719378"/>
                <a:ext cx="12192000" cy="1100667"/>
              </a:xfrm>
              <a:prstGeom prst="rect">
                <a:avLst/>
              </a:prstGeom>
            </p:spPr>
          </p:pic>
        </p:grpSp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1E58AF8-F45B-35A5-F465-CD27BE5411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194" r="-1"/>
            <a:stretch/>
          </p:blipFill>
          <p:spPr>
            <a:xfrm>
              <a:off x="4552950" y="812512"/>
              <a:ext cx="3095622" cy="12382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0539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188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23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83773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65202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2100329" y="313611"/>
            <a:ext cx="6510271" cy="652306"/>
          </a:xfrm>
        </p:spPr>
        <p:txBody>
          <a:bodyPr>
            <a:normAutofit/>
          </a:bodyPr>
          <a:lstStyle>
            <a:lvl1pPr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72689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EA79B1-94F2-44A5-8271-BE7A17D6686D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19EAD09-D758-96E8-ED5B-C08D1F28875E}"/>
              </a:ext>
            </a:extLst>
          </p:cNvPr>
          <p:cNvGrpSpPr/>
          <p:nvPr userDrawn="1"/>
        </p:nvGrpSpPr>
        <p:grpSpPr>
          <a:xfrm>
            <a:off x="0" y="0"/>
            <a:ext cx="12192000" cy="6914408"/>
            <a:chOff x="0" y="0"/>
            <a:chExt cx="12192000" cy="6914408"/>
          </a:xfrm>
        </p:grpSpPr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47958A10-9B4F-D1F8-2011-06D97F23C07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68602"/>
            <a:stretch/>
          </p:blipFill>
          <p:spPr>
            <a:xfrm>
              <a:off x="0" y="4743450"/>
              <a:ext cx="12192000" cy="2170958"/>
            </a:xfrm>
            <a:prstGeom prst="rect">
              <a:avLst/>
            </a:prstGeom>
          </p:spPr>
        </p:pic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41398FC2-2BAA-691C-82C0-912B1F657737}"/>
                </a:ext>
              </a:extLst>
            </p:cNvPr>
            <p:cNvGrpSpPr/>
            <p:nvPr userDrawn="1"/>
          </p:nvGrpSpPr>
          <p:grpSpPr>
            <a:xfrm>
              <a:off x="0" y="0"/>
              <a:ext cx="12192000" cy="4571999"/>
              <a:chOff x="0" y="0"/>
              <a:chExt cx="12192000" cy="4571999"/>
            </a:xfrm>
          </p:grpSpPr>
          <p:pic>
            <p:nvPicPr>
              <p:cNvPr id="9" name="图片 8">
                <a:extLst>
                  <a:ext uri="{FF2B5EF4-FFF2-40B4-BE49-F238E27FC236}">
                    <a16:creationId xmlns:a16="http://schemas.microsoft.com/office/drawing/2014/main" id="{80489A48-0ABF-B44F-959D-0D227089380E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5486" b="80872"/>
              <a:stretch/>
            </p:blipFill>
            <p:spPr>
              <a:xfrm>
                <a:off x="0" y="0"/>
                <a:ext cx="9084733" cy="1322589"/>
              </a:xfrm>
              <a:prstGeom prst="rect">
                <a:avLst/>
              </a:prstGeom>
            </p:spPr>
          </p:pic>
          <p:pic>
            <p:nvPicPr>
              <p:cNvPr id="10" name="图片 9">
                <a:extLst>
                  <a:ext uri="{FF2B5EF4-FFF2-40B4-BE49-F238E27FC236}">
                    <a16:creationId xmlns:a16="http://schemas.microsoft.com/office/drawing/2014/main" id="{46D9DA73-E4AF-34F8-85B8-32599787AE5B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4691" b="59260"/>
              <a:stretch/>
            </p:blipFill>
            <p:spPr>
              <a:xfrm>
                <a:off x="0" y="2446866"/>
                <a:ext cx="12192000" cy="2125133"/>
              </a:xfrm>
              <a:prstGeom prst="rect">
                <a:avLst/>
              </a:prstGeom>
            </p:spPr>
          </p:pic>
          <p:pic>
            <p:nvPicPr>
              <p:cNvPr id="11" name="图片 10">
                <a:extLst>
                  <a:ext uri="{FF2B5EF4-FFF2-40B4-BE49-F238E27FC236}">
                    <a16:creationId xmlns:a16="http://schemas.microsoft.com/office/drawing/2014/main" id="{784CFF64-98D1-E3A3-3219-DEB2D7BA3518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1388" t="36654" r="32430" b="47892"/>
              <a:stretch/>
            </p:blipFill>
            <p:spPr>
              <a:xfrm>
                <a:off x="3894670" y="2890463"/>
                <a:ext cx="4411134" cy="1068598"/>
              </a:xfrm>
              <a:prstGeom prst="rect">
                <a:avLst/>
              </a:prstGeom>
            </p:spPr>
          </p:pic>
          <p:pic>
            <p:nvPicPr>
              <p:cNvPr id="12" name="图片 11">
                <a:extLst>
                  <a:ext uri="{FF2B5EF4-FFF2-40B4-BE49-F238E27FC236}">
                    <a16:creationId xmlns:a16="http://schemas.microsoft.com/office/drawing/2014/main" id="{BEDBEF29-571B-40DC-F513-67DB1788E29C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3889" b="69265"/>
              <a:stretch/>
            </p:blipFill>
            <p:spPr>
              <a:xfrm>
                <a:off x="9008533" y="0"/>
                <a:ext cx="3183467" cy="212513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2259238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441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EA79B1-94F2-44A5-8271-BE7A17D6686D}" type="datetimeFigureOut">
              <a:rPr lang="zh-CN" altLang="en-US" smtClean="0"/>
              <a:t>2022/10/31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893D6-510C-4F6F-9867-0DA6859ED43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1"/>
          <p:cNvSpPr>
            <a:spLocks noChangeArrowheads="1"/>
          </p:cNvSpPr>
          <p:nvPr userDrawn="1"/>
        </p:nvSpPr>
        <p:spPr bwMode="auto">
          <a:xfrm>
            <a:off x="871382" y="363024"/>
            <a:ext cx="89302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✎ </a:t>
            </a:r>
            <a:endParaRPr lang="zh-CN" altLang="en-US" sz="3600" dirty="0"/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0EC48C00-1345-C362-3903-77F1F374D01E}"/>
              </a:ext>
            </a:extLst>
          </p:cNvPr>
          <p:cNvGrpSpPr/>
          <p:nvPr userDrawn="1"/>
        </p:nvGrpSpPr>
        <p:grpSpPr>
          <a:xfrm>
            <a:off x="0" y="0"/>
            <a:ext cx="12192000" cy="6851904"/>
            <a:chOff x="0" y="0"/>
            <a:chExt cx="12192000" cy="6851904"/>
          </a:xfrm>
        </p:grpSpPr>
        <p:pic>
          <p:nvPicPr>
            <p:cNvPr id="7" name="图片 6"/>
            <p:cNvPicPr>
              <a:picLocks noChangeAspect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92000" cy="6851904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4E406DA-A6E1-DFA4-D538-3BD45C6BA21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/>
            <a:stretch>
              <a:fillRect/>
            </a:stretch>
          </p:blipFill>
          <p:spPr>
            <a:xfrm>
              <a:off x="8610600" y="395272"/>
              <a:ext cx="2985655" cy="614083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3C3197EE-CC3E-C816-76E7-ADE14B82A8F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514333" y="6561226"/>
              <a:ext cx="1709322" cy="2275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34962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61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9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jpe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9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9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9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9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9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9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9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ctrTitle"/>
          </p:nvPr>
        </p:nvSpPr>
        <p:spPr>
          <a:xfrm>
            <a:off x="1524000" y="1596979"/>
            <a:ext cx="9473852" cy="1912983"/>
          </a:xfrm>
        </p:spPr>
        <p:txBody>
          <a:bodyPr/>
          <a:lstStyle/>
          <a:p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第</a:t>
            </a:r>
            <a:r>
              <a:rPr lang="en-US" altLang="zh-CN" b="1" dirty="0">
                <a:latin typeface="方正细倩简体"/>
                <a:ea typeface="方正细倩简体"/>
                <a:cs typeface="方正细倩简体"/>
              </a:rPr>
              <a:t>4</a:t>
            </a:r>
            <a:r>
              <a:rPr lang="zh-CN" altLang="en-US" b="1" dirty="0">
                <a:latin typeface="方正细倩简体"/>
                <a:ea typeface="方正细倩简体"/>
                <a:cs typeface="方正细倩简体"/>
              </a:rPr>
              <a:t>章 </a:t>
            </a:r>
            <a:r>
              <a:rPr lang="zh-CN" altLang="en-US" b="1" dirty="0"/>
              <a:t>内核编译与管理</a:t>
            </a:r>
            <a:endParaRPr lang="zh-CN" altLang="zh-CN" b="1" dirty="0"/>
          </a:p>
        </p:txBody>
      </p:sp>
      <p:sp>
        <p:nvSpPr>
          <p:cNvPr id="11" name="矩形 10"/>
          <p:cNvSpPr/>
          <p:nvPr/>
        </p:nvSpPr>
        <p:spPr>
          <a:xfrm>
            <a:off x="6794097" y="5243490"/>
            <a:ext cx="248768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查看内核模块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内核模块加载与卸载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修改内核参数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375" y="4977312"/>
            <a:ext cx="2143125" cy="150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4679291" y="5245578"/>
            <a:ext cx="2099377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内核概述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内核版本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  <a:p>
            <a:pPr>
              <a:lnSpc>
                <a:spcPct val="150000"/>
              </a:lnSpc>
              <a:buFont typeface="Arial" pitchFamily="34" charset="0"/>
              <a:buNone/>
              <a:defRPr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· 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  <a:sym typeface="微软雅黑" pitchFamily="34" charset="-122"/>
              </a:rPr>
              <a:t>内核编译与安装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微软雅黑" pitchFamily="34" charset="-122"/>
              <a:ea typeface="微软雅黑" pitchFamily="34" charset="-122"/>
              <a:sym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49455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内核编译安装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内核模块管理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pic>
        <p:nvPicPr>
          <p:cNvPr id="40962" name="Picture 2" descr="http://p0.so.qhmsg.com/bdr/200_200_/t013eb22ea3566424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08" y="2395568"/>
            <a:ext cx="1679712" cy="118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 descr="http://image.tianjimedia.com/uploadImages/2012/053/F23KI1298GN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230" y="2382128"/>
            <a:ext cx="1729717" cy="120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js.byf.com/editbiz/2010-8-31/201044311144109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902" y="2395568"/>
            <a:ext cx="1607170" cy="118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38892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</p:bld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Picture 7" descr="总结小人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197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832DB89C-BAA8-44EF-FD22-A67C19B26551}"/>
              </a:ext>
            </a:extLst>
          </p:cNvPr>
          <p:cNvSpPr txBox="1"/>
          <p:nvPr/>
        </p:nvSpPr>
        <p:spPr>
          <a:xfrm>
            <a:off x="3207327" y="1693072"/>
            <a:ext cx="7910946" cy="3905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内核（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Kernel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C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语言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编写的一个程序，功能更强大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是操作系统的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核心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是一个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系统软件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负责管理系统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中的进程、内存、设备驱动程序、文件和网络等。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905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446231" y="1625708"/>
            <a:ext cx="1416504" cy="4662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进程管理</a:t>
            </a:r>
          </a:p>
        </p:txBody>
      </p:sp>
      <p:sp>
        <p:nvSpPr>
          <p:cNvPr id="4" name="矩形 3"/>
          <p:cNvSpPr/>
          <p:nvPr/>
        </p:nvSpPr>
        <p:spPr>
          <a:xfrm>
            <a:off x="7617706" y="1949338"/>
            <a:ext cx="1253898" cy="4662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ea typeface="楷体_GB2312" panose="02010609030101010101" pitchFamily="49" charset="-122"/>
              </a:rPr>
              <a:t>定时器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488822" y="2356666"/>
            <a:ext cx="1416504" cy="4662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中断管理</a:t>
            </a:r>
          </a:p>
        </p:txBody>
      </p:sp>
      <p:sp>
        <p:nvSpPr>
          <p:cNvPr id="6" name="矩形 5"/>
          <p:cNvSpPr/>
          <p:nvPr/>
        </p:nvSpPr>
        <p:spPr>
          <a:xfrm>
            <a:off x="7617706" y="2689791"/>
            <a:ext cx="1253898" cy="42922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ea typeface="楷体_GB2312" panose="02010609030101010101" pitchFamily="49" charset="-122"/>
              </a:rPr>
              <a:t>内存</a:t>
            </a: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管理</a:t>
            </a:r>
          </a:p>
        </p:txBody>
      </p:sp>
      <p:cxnSp>
        <p:nvCxnSpPr>
          <p:cNvPr id="7" name="直接连接符 6"/>
          <p:cNvCxnSpPr>
            <a:cxnSpLocks noChangeShapeType="1"/>
          </p:cNvCxnSpPr>
          <p:nvPr/>
        </p:nvCxnSpPr>
        <p:spPr bwMode="auto">
          <a:xfrm>
            <a:off x="7283423" y="1614596"/>
            <a:ext cx="0" cy="4445000"/>
          </a:xfrm>
          <a:prstGeom prst="line">
            <a:avLst/>
          </a:prstGeom>
          <a:noFill/>
          <a:ln w="28575" algn="ctr">
            <a:solidFill>
              <a:schemeClr val="accent5">
                <a:lumMod val="75000"/>
              </a:schemeClr>
            </a:solidFill>
            <a:round/>
            <a:headEnd/>
            <a:tailEnd type="oval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9" name="组合 8"/>
          <p:cNvGrpSpPr>
            <a:grpSpLocks/>
          </p:cNvGrpSpPr>
          <p:nvPr/>
        </p:nvGrpSpPr>
        <p:grpSpPr bwMode="auto">
          <a:xfrm>
            <a:off x="7140548" y="2287696"/>
            <a:ext cx="279400" cy="279400"/>
            <a:chOff x="4368800" y="2501900"/>
            <a:chExt cx="279400" cy="279400"/>
          </a:xfrm>
        </p:grpSpPr>
        <p:sp>
          <p:nvSpPr>
            <p:cNvPr id="10" name="椭圆 1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1" name="椭圆 1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 w="57150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7140548" y="3276708"/>
            <a:ext cx="279400" cy="279400"/>
            <a:chOff x="4368800" y="2501900"/>
            <a:chExt cx="279400" cy="279400"/>
          </a:xfrm>
        </p:grpSpPr>
        <p:sp>
          <p:nvSpPr>
            <p:cNvPr id="13" name="椭圆 21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 w="57150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15" name="组合 14"/>
          <p:cNvGrpSpPr>
            <a:grpSpLocks/>
          </p:cNvGrpSpPr>
          <p:nvPr/>
        </p:nvGrpSpPr>
        <p:grpSpPr bwMode="auto">
          <a:xfrm>
            <a:off x="7140548" y="4267308"/>
            <a:ext cx="279400" cy="279400"/>
            <a:chOff x="4368800" y="2501900"/>
            <a:chExt cx="279400" cy="279400"/>
          </a:xfrm>
        </p:grpSpPr>
        <p:sp>
          <p:nvSpPr>
            <p:cNvPr id="16" name="椭圆 24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17" name="椭圆 25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 w="57150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Font typeface="Arial" charset="0"/>
                <a:buNone/>
              </a:pPr>
              <a:endParaRPr lang="zh-CN" altLang="en-US"/>
            </a:p>
          </p:txBody>
        </p:sp>
      </p:grpSp>
      <p:grpSp>
        <p:nvGrpSpPr>
          <p:cNvPr id="18" name="组合 17"/>
          <p:cNvGrpSpPr>
            <a:grpSpLocks/>
          </p:cNvGrpSpPr>
          <p:nvPr/>
        </p:nvGrpSpPr>
        <p:grpSpPr bwMode="auto">
          <a:xfrm>
            <a:off x="7140548" y="5256321"/>
            <a:ext cx="279400" cy="279400"/>
            <a:chOff x="4368800" y="2501900"/>
            <a:chExt cx="279400" cy="279400"/>
          </a:xfrm>
        </p:grpSpPr>
        <p:sp>
          <p:nvSpPr>
            <p:cNvPr id="19" name="椭圆 27"/>
            <p:cNvSpPr>
              <a:spLocks noChangeArrowheads="1"/>
            </p:cNvSpPr>
            <p:nvPr/>
          </p:nvSpPr>
          <p:spPr bwMode="auto">
            <a:xfrm>
              <a:off x="4368800" y="2501900"/>
              <a:ext cx="279400" cy="279400"/>
            </a:xfrm>
            <a:prstGeom prst="ellipse">
              <a:avLst/>
            </a:prstGeom>
            <a:solidFill>
              <a:srgbClr val="00B0F0"/>
            </a:solidFill>
            <a:ln w="57150" algn="ctr">
              <a:solidFill>
                <a:schemeClr val="accent5">
                  <a:lumMod val="75000"/>
                </a:schemeClr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Font typeface="Arial" charset="0"/>
                <a:buNone/>
              </a:pPr>
              <a:endParaRPr lang="zh-CN" altLang="en-US"/>
            </a:p>
          </p:txBody>
        </p:sp>
        <p:sp>
          <p:nvSpPr>
            <p:cNvPr id="20" name="椭圆 28"/>
            <p:cNvSpPr>
              <a:spLocks noChangeArrowheads="1"/>
            </p:cNvSpPr>
            <p:nvPr/>
          </p:nvSpPr>
          <p:spPr bwMode="auto">
            <a:xfrm>
              <a:off x="4442900" y="2576000"/>
              <a:ext cx="131201" cy="131201"/>
            </a:xfrm>
            <a:prstGeom prst="ellipse">
              <a:avLst/>
            </a:prstGeom>
            <a:solidFill>
              <a:schemeClr val="bg1"/>
            </a:solidFill>
            <a:ln w="57150" algn="ctr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pPr>
                <a:buFont typeface="Arial" charset="0"/>
                <a:buNone/>
              </a:pPr>
              <a:endParaRPr lang="zh-CN" altLang="en-US"/>
            </a:p>
          </p:txBody>
        </p:sp>
      </p:grpSp>
      <p:sp>
        <p:nvSpPr>
          <p:cNvPr id="21" name="矩形 20"/>
          <p:cNvSpPr/>
          <p:nvPr/>
        </p:nvSpPr>
        <p:spPr>
          <a:xfrm>
            <a:off x="5488822" y="3104355"/>
            <a:ext cx="1416504" cy="4662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模块管理</a:t>
            </a:r>
          </a:p>
        </p:txBody>
      </p:sp>
      <p:sp>
        <p:nvSpPr>
          <p:cNvPr id="22" name="矩形 21"/>
          <p:cNvSpPr/>
          <p:nvPr/>
        </p:nvSpPr>
        <p:spPr>
          <a:xfrm>
            <a:off x="7633583" y="3404625"/>
            <a:ext cx="2065336" cy="4662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ea typeface="楷体_GB2312" panose="02010609030101010101" pitchFamily="49" charset="-122"/>
              </a:rPr>
              <a:t>虚拟文件系统接口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5488823" y="3871127"/>
            <a:ext cx="1416504" cy="4662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ea typeface="楷体_GB2312" panose="02010609030101010101" pitchFamily="49" charset="-122"/>
              </a:rPr>
              <a:t>文件系统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7648097" y="4235863"/>
            <a:ext cx="1773305" cy="4662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ea typeface="楷体_GB2312" panose="02010609030101010101" pitchFamily="49" charset="-122"/>
              </a:rPr>
              <a:t>设备驱动程序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7674291" y="4988712"/>
            <a:ext cx="1197313" cy="4662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latin typeface="+mn-lt"/>
                <a:ea typeface="楷体_GB2312" panose="02010609030101010101" pitchFamily="49" charset="-122"/>
              </a:rPr>
              <a:t>网络管理</a:t>
            </a:r>
          </a:p>
        </p:txBody>
      </p:sp>
      <p:sp>
        <p:nvSpPr>
          <p:cNvPr id="26" name="矩形 25"/>
          <p:cNvSpPr/>
          <p:nvPr/>
        </p:nvSpPr>
        <p:spPr>
          <a:xfrm>
            <a:off x="5488823" y="4626182"/>
            <a:ext cx="1416504" cy="433708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ea typeface="楷体_GB2312" panose="02010609030101010101" pitchFamily="49" charset="-122"/>
              </a:rPr>
              <a:t>进程间通信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488824" y="5401075"/>
            <a:ext cx="1416502" cy="466281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dirty="0">
                <a:ea typeface="楷体_GB2312" panose="02010609030101010101" pitchFamily="49" charset="-122"/>
              </a:rPr>
              <a:t>系统启动</a:t>
            </a:r>
            <a:endParaRPr lang="zh-CN" altLang="en-US" dirty="0">
              <a:latin typeface="+mn-lt"/>
              <a:ea typeface="楷体_GB2312" panose="02010609030101010101" pitchFamily="49" charset="-122"/>
            </a:endParaRPr>
          </a:p>
        </p:txBody>
      </p:sp>
      <p:pic>
        <p:nvPicPr>
          <p:cNvPr id="43011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318" y="2091989"/>
            <a:ext cx="4270301" cy="3745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774C089D-64E5-A328-595B-945CE61461B0}"/>
              </a:ext>
            </a:extLst>
          </p:cNvPr>
          <p:cNvSpPr txBox="1"/>
          <p:nvPr/>
        </p:nvSpPr>
        <p:spPr>
          <a:xfrm>
            <a:off x="1108364" y="1300622"/>
            <a:ext cx="3616037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内核组成部分</a:t>
            </a:r>
          </a:p>
        </p:txBody>
      </p:sp>
    </p:spTree>
    <p:extLst>
      <p:ext uri="{BB962C8B-B14F-4D97-AF65-F5344CB8AC3E}">
        <p14:creationId xmlns:p14="http://schemas.microsoft.com/office/powerpoint/2010/main" val="211166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Picture 7" descr="总结小人">
            <a:extLst>
              <a:ext uri="{FF2B5EF4-FFF2-40B4-BE49-F238E27FC236}">
                <a16:creationId xmlns:a16="http://schemas.microsoft.com/office/drawing/2014/main" id="{6941F1A2-CE49-AC5D-D947-1B5D41E20A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197"/>
            <a:ext cx="3649663" cy="5924550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C6418BD-72FD-C1E4-7985-0EC7FD5C289E}"/>
              </a:ext>
            </a:extLst>
          </p:cNvPr>
          <p:cNvSpPr txBox="1"/>
          <p:nvPr/>
        </p:nvSpPr>
        <p:spPr>
          <a:xfrm>
            <a:off x="3207327" y="1693072"/>
            <a:ext cx="7910946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在操作系统中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独立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于普通应用程序，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工作在内核空间</a:t>
            </a: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内核（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Kernel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既要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管理应用程序的运行</a:t>
            </a:r>
            <a:endParaRPr lang="en-US" altLang="zh-CN" sz="24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又要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管理硬件设备的运作</a:t>
            </a:r>
          </a:p>
        </p:txBody>
      </p:sp>
    </p:spTree>
    <p:extLst>
      <p:ext uri="{BB962C8B-B14F-4D97-AF65-F5344CB8AC3E}">
        <p14:creationId xmlns:p14="http://schemas.microsoft.com/office/powerpoint/2010/main" val="154281391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任意多边形 3"/>
          <p:cNvSpPr/>
          <p:nvPr/>
        </p:nvSpPr>
        <p:spPr bwMode="auto">
          <a:xfrm rot="1791200">
            <a:off x="4462482" y="4299109"/>
            <a:ext cx="2014586" cy="566605"/>
          </a:xfrm>
          <a:custGeom>
            <a:avLst/>
            <a:gdLst>
              <a:gd name="connsiteX0" fmla="*/ 0 w 3474720"/>
              <a:gd name="connsiteY0" fmla="*/ 143596 h 1148767"/>
              <a:gd name="connsiteX1" fmla="*/ 2900337 w 3474720"/>
              <a:gd name="connsiteY1" fmla="*/ 143596 h 1148767"/>
              <a:gd name="connsiteX2" fmla="*/ 2900337 w 3474720"/>
              <a:gd name="connsiteY2" fmla="*/ 0 h 1148767"/>
              <a:gd name="connsiteX3" fmla="*/ 3474720 w 3474720"/>
              <a:gd name="connsiteY3" fmla="*/ 574384 h 1148767"/>
              <a:gd name="connsiteX4" fmla="*/ 2900337 w 3474720"/>
              <a:gd name="connsiteY4" fmla="*/ 1148767 h 1148767"/>
              <a:gd name="connsiteX5" fmla="*/ 2900337 w 3474720"/>
              <a:gd name="connsiteY5" fmla="*/ 1005171 h 1148767"/>
              <a:gd name="connsiteX6" fmla="*/ 0 w 3474720"/>
              <a:gd name="connsiteY6" fmla="*/ 1005171 h 1148767"/>
              <a:gd name="connsiteX7" fmla="*/ 0 w 3474720"/>
              <a:gd name="connsiteY7" fmla="*/ 143596 h 11487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4720" h="1148767">
                <a:moveTo>
                  <a:pt x="0" y="143596"/>
                </a:moveTo>
                <a:lnTo>
                  <a:pt x="2900337" y="143596"/>
                </a:lnTo>
                <a:lnTo>
                  <a:pt x="2900337" y="0"/>
                </a:lnTo>
                <a:lnTo>
                  <a:pt x="3474720" y="574384"/>
                </a:lnTo>
                <a:lnTo>
                  <a:pt x="2900337" y="1148767"/>
                </a:lnTo>
                <a:lnTo>
                  <a:pt x="2900337" y="1005171"/>
                </a:lnTo>
                <a:lnTo>
                  <a:pt x="0" y="1005171"/>
                </a:lnTo>
                <a:lnTo>
                  <a:pt x="0" y="143596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lIns="15875" tIns="159471" rIns="446663" bIns="159471" spcCol="1270"/>
          <a:lstStyle/>
          <a:p>
            <a:pPr marL="0" lvl="1" defTabSz="1111250">
              <a:lnSpc>
                <a:spcPct val="90000"/>
              </a:lnSpc>
              <a:spcAft>
                <a:spcPct val="15000"/>
              </a:spcAft>
              <a:defRPr/>
            </a:pPr>
            <a:r>
              <a:rPr lang="zh-CN" altLang="en-US" sz="2500" dirty="0"/>
              <a:t>   单内核</a:t>
            </a:r>
          </a:p>
        </p:txBody>
      </p:sp>
      <p:grpSp>
        <p:nvGrpSpPr>
          <p:cNvPr id="5" name="组合 4"/>
          <p:cNvGrpSpPr/>
          <p:nvPr/>
        </p:nvGrpSpPr>
        <p:grpSpPr>
          <a:xfrm rot="5195922">
            <a:off x="6799392" y="3642281"/>
            <a:ext cx="693446" cy="1987768"/>
            <a:chOff x="5640306" y="2928150"/>
            <a:chExt cx="457503" cy="1339111"/>
          </a:xfrm>
          <a:solidFill>
            <a:schemeClr val="accent5">
              <a:lumMod val="75000"/>
            </a:schemeClr>
          </a:solidFill>
        </p:grpSpPr>
        <p:sp>
          <p:nvSpPr>
            <p:cNvPr id="6" name="任意多边形 5"/>
            <p:cNvSpPr/>
            <p:nvPr/>
          </p:nvSpPr>
          <p:spPr bwMode="auto">
            <a:xfrm rot="3623841">
              <a:off x="5199502" y="3368954"/>
              <a:ext cx="1339111" cy="457503"/>
            </a:xfrm>
            <a:custGeom>
              <a:avLst/>
              <a:gdLst>
                <a:gd name="connsiteX0" fmla="*/ 0 w 3474720"/>
                <a:gd name="connsiteY0" fmla="*/ 143596 h 1148767"/>
                <a:gd name="connsiteX1" fmla="*/ 2900337 w 3474720"/>
                <a:gd name="connsiteY1" fmla="*/ 143596 h 1148767"/>
                <a:gd name="connsiteX2" fmla="*/ 2900337 w 3474720"/>
                <a:gd name="connsiteY2" fmla="*/ 0 h 1148767"/>
                <a:gd name="connsiteX3" fmla="*/ 3474720 w 3474720"/>
                <a:gd name="connsiteY3" fmla="*/ 574384 h 1148767"/>
                <a:gd name="connsiteX4" fmla="*/ 2900337 w 3474720"/>
                <a:gd name="connsiteY4" fmla="*/ 1148767 h 1148767"/>
                <a:gd name="connsiteX5" fmla="*/ 2900337 w 3474720"/>
                <a:gd name="connsiteY5" fmla="*/ 1005171 h 1148767"/>
                <a:gd name="connsiteX6" fmla="*/ 0 w 3474720"/>
                <a:gd name="connsiteY6" fmla="*/ 1005171 h 1148767"/>
                <a:gd name="connsiteX7" fmla="*/ 0 w 3474720"/>
                <a:gd name="connsiteY7" fmla="*/ 143596 h 1148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474720" h="1148767">
                  <a:moveTo>
                    <a:pt x="0" y="143596"/>
                  </a:moveTo>
                  <a:lnTo>
                    <a:pt x="2900337" y="143596"/>
                  </a:lnTo>
                  <a:lnTo>
                    <a:pt x="2900337" y="0"/>
                  </a:lnTo>
                  <a:lnTo>
                    <a:pt x="3474720" y="574384"/>
                  </a:lnTo>
                  <a:lnTo>
                    <a:pt x="2900337" y="1148767"/>
                  </a:lnTo>
                  <a:lnTo>
                    <a:pt x="2900337" y="1005171"/>
                  </a:lnTo>
                  <a:lnTo>
                    <a:pt x="0" y="1005171"/>
                  </a:lnTo>
                  <a:lnTo>
                    <a:pt x="0" y="143596"/>
                  </a:lnTo>
                  <a:close/>
                </a:path>
              </a:pathLst>
            </a:custGeom>
            <a:grpFill/>
          </p:spPr>
          <p:style>
            <a:lnRef idx="2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4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5875" tIns="159471" rIns="446663" bIns="159471" spcCol="1270"/>
            <a:lstStyle/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500" dirty="0"/>
            </a:p>
            <a:p>
              <a:pPr marL="228600" lvl="1" indent="-228600" defTabSz="111125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500" dirty="0"/>
            </a:p>
          </p:txBody>
        </p:sp>
        <p:sp>
          <p:nvSpPr>
            <p:cNvPr id="7" name="矩形 4"/>
            <p:cNvSpPr>
              <a:spLocks noChangeArrowheads="1"/>
            </p:cNvSpPr>
            <p:nvPr/>
          </p:nvSpPr>
          <p:spPr bwMode="auto">
            <a:xfrm rot="14360389">
              <a:off x="5438190" y="3426547"/>
              <a:ext cx="772348" cy="289356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 marL="0" lvl="1" defTabSz="111125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zh-CN" altLang="en-US" sz="2500" dirty="0"/>
                <a:t>微内核</a:t>
              </a:r>
            </a:p>
          </p:txBody>
        </p:sp>
      </p:grpSp>
      <p:pic>
        <p:nvPicPr>
          <p:cNvPr id="9" name="Picture 18" descr="C:\Users\admin\Desktop\201777-12062Q120242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4931" y="5089371"/>
            <a:ext cx="1993682" cy="1109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3"/>
          <p:cNvSpPr>
            <a:spLocks noChangeArrowheads="1"/>
          </p:cNvSpPr>
          <p:nvPr/>
        </p:nvSpPr>
        <p:spPr bwMode="auto">
          <a:xfrm>
            <a:off x="5622381" y="5129284"/>
            <a:ext cx="1736513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内核：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单</a:t>
            </a:r>
            <a:r>
              <a:rPr lang="en-US" altLang="zh-CN" sz="2000" dirty="0">
                <a:latin typeface="微软雅黑" pitchFamily="34" charset="-122"/>
                <a:ea typeface="微软雅黑" pitchFamily="34" charset="-122"/>
              </a:rPr>
              <a:t>/</a:t>
            </a:r>
            <a:r>
              <a:rPr lang="zh-CN" altLang="en-US" sz="2000" dirty="0">
                <a:latin typeface="微软雅黑" pitchFamily="34" charset="-122"/>
                <a:ea typeface="微软雅黑" pitchFamily="34" charset="-122"/>
              </a:rPr>
              <a:t>微内核</a:t>
            </a:r>
            <a:endParaRPr lang="en-US" altLang="zh-CN" sz="2000" dirty="0"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586345" y="2121228"/>
            <a:ext cx="4562686" cy="1887867"/>
            <a:chOff x="1187113" y="1790564"/>
            <a:chExt cx="3258382" cy="2478348"/>
          </a:xfrm>
        </p:grpSpPr>
        <p:pic>
          <p:nvPicPr>
            <p:cNvPr id="12" name="Picture 18" descr="C:\Users\admin\Desktop\201777-12062Q1202423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87113" y="1790564"/>
              <a:ext cx="3258382" cy="24783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矩形 3"/>
            <p:cNvSpPr>
              <a:spLocks noChangeArrowheads="1"/>
            </p:cNvSpPr>
            <p:nvPr/>
          </p:nvSpPr>
          <p:spPr bwMode="auto">
            <a:xfrm>
              <a:off x="1451152" y="2108745"/>
              <a:ext cx="2931825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单内核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是个</a:t>
              </a:r>
              <a:r>
                <a:rPr lang="zh-CN" altLang="zh-CN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独立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</a:t>
              </a:r>
              <a:r>
                <a:rPr lang="zh-CN" altLang="zh-CN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大进程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，通常以</a:t>
              </a:r>
              <a:r>
                <a:rPr lang="zh-CN" altLang="zh-CN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单个静态二进制文件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的形式存放于</a:t>
              </a:r>
              <a:r>
                <a:rPr lang="zh-CN" altLang="zh-CN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磁盘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上。</a:t>
              </a:r>
              <a:endPara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526395" y="2121228"/>
            <a:ext cx="4474113" cy="1887868"/>
            <a:chOff x="4822860" y="1706480"/>
            <a:chExt cx="3089988" cy="2562432"/>
          </a:xfrm>
        </p:grpSpPr>
        <p:pic>
          <p:nvPicPr>
            <p:cNvPr id="15" name="Picture 18" descr="C:\Users\admin\Desktop\201777-12062Q1202423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2860" y="1706480"/>
              <a:ext cx="3089988" cy="25624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" name="矩形 3"/>
            <p:cNvSpPr>
              <a:spLocks noChangeArrowheads="1"/>
            </p:cNvSpPr>
            <p:nvPr/>
          </p:nvSpPr>
          <p:spPr bwMode="auto">
            <a:xfrm>
              <a:off x="4958686" y="2018200"/>
              <a:ext cx="2818336" cy="19389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微内核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的功能被划分为</a:t>
              </a:r>
              <a:r>
                <a:rPr lang="zh-CN" altLang="zh-CN" sz="2000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多个独立的进程</a:t>
              </a:r>
              <a:r>
                <a:rPr lang="zh-CN" altLang="zh-CN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，所有的进程都保持独立并运行在各自的地址空间上</a:t>
              </a:r>
              <a:r>
                <a:rPr lang="zh-CN" altLang="en-US" sz="20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。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1033B885-2E50-5C09-70D0-8C5E6FE134D1}"/>
              </a:ext>
            </a:extLst>
          </p:cNvPr>
          <p:cNvSpPr txBox="1"/>
          <p:nvPr/>
        </p:nvSpPr>
        <p:spPr>
          <a:xfrm>
            <a:off x="1108364" y="1300622"/>
            <a:ext cx="3616037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内核分类</a:t>
            </a:r>
          </a:p>
        </p:txBody>
      </p:sp>
    </p:spTree>
    <p:extLst>
      <p:ext uri="{BB962C8B-B14F-4D97-AF65-F5344CB8AC3E}">
        <p14:creationId xmlns:p14="http://schemas.microsoft.com/office/powerpoint/2010/main" val="102905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9FB558-55E8-6151-350B-7168F0DFA494}"/>
              </a:ext>
            </a:extLst>
          </p:cNvPr>
          <p:cNvSpPr txBox="1"/>
          <p:nvPr/>
        </p:nvSpPr>
        <p:spPr>
          <a:xfrm>
            <a:off x="1080655" y="1693072"/>
            <a:ext cx="10037618" cy="3905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单内核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所有的内核模块都在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大内核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所在的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地址空间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中运行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模块间的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通信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通过直接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调用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其他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模块的函数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来实现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微内核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所有进程保持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独立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并运行在各自的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地址空间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上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通信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采用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消息传递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来实现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进程的独立可以避免一个进程出现故障而殃及另一个服务器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825063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39FB558-55E8-6151-350B-7168F0DFA494}"/>
              </a:ext>
            </a:extLst>
          </p:cNvPr>
          <p:cNvSpPr txBox="1"/>
          <p:nvPr/>
        </p:nvSpPr>
        <p:spPr>
          <a:xfrm>
            <a:off x="1080655" y="1693072"/>
            <a:ext cx="10037618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是一个</a:t>
            </a:r>
            <a:r>
              <a:rPr lang="zh-CN" altLang="en-US" sz="2400" b="1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单内核</a:t>
            </a:r>
            <a:endParaRPr lang="en-US" altLang="zh-CN" sz="2400" b="1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汲取了微内核的精华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调用函数进行通信、无需传递消息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是一个融合微内核优势的单内核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9043327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内核的开发与更新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903956" y="1329975"/>
            <a:ext cx="8725866" cy="11936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内核的开发遵循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协议，为了确保开发过程有序进行，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采用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双树系统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管理内核版本。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993176" y="5334208"/>
            <a:ext cx="3657852" cy="88309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新特性、实验性改进等</a:t>
            </a:r>
            <a:r>
              <a:rPr lang="zh-CN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都在属于开发树的内核中进行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258003" y="2697586"/>
            <a:ext cx="2990194" cy="2781762"/>
            <a:chOff x="917721" y="2797794"/>
            <a:chExt cx="2990194" cy="2781762"/>
          </a:xfrm>
        </p:grpSpPr>
        <p:pic>
          <p:nvPicPr>
            <p:cNvPr id="6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7721" y="2797794"/>
              <a:ext cx="2990194" cy="27817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7" name="内容占位符 2"/>
            <p:cNvSpPr txBox="1">
              <a:spLocks/>
            </p:cNvSpPr>
            <p:nvPr/>
          </p:nvSpPr>
          <p:spPr>
            <a:xfrm>
              <a:off x="1893843" y="3133950"/>
              <a:ext cx="1154157" cy="596221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开发树</a:t>
              </a:r>
              <a:endParaRPr lang="zh-CN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6605352" y="2697586"/>
            <a:ext cx="2990194" cy="2781762"/>
            <a:chOff x="5265070" y="2797794"/>
            <a:chExt cx="2990194" cy="2781762"/>
          </a:xfrm>
        </p:grpSpPr>
        <p:pic>
          <p:nvPicPr>
            <p:cNvPr id="10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65070" y="2797794"/>
              <a:ext cx="2990194" cy="278176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1" name="内容占位符 2"/>
            <p:cNvSpPr txBox="1">
              <a:spLocks/>
            </p:cNvSpPr>
            <p:nvPr/>
          </p:nvSpPr>
          <p:spPr>
            <a:xfrm>
              <a:off x="6327873" y="3141210"/>
              <a:ext cx="1154157" cy="596221"/>
            </a:xfrm>
            <a:prstGeom prst="rect">
              <a:avLst/>
            </a:prstGeom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  <a:lvl6pPr marL="25146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6pPr>
              <a:lvl7pPr marL="29718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7pPr>
              <a:lvl8pPr marL="3429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8pPr>
              <a:lvl9pPr marL="3886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9pPr>
            </a:lstStyle>
            <a:p>
              <a:pPr marL="0" indent="0" eaLnBrk="1" hangingPunct="1">
                <a:lnSpc>
                  <a:spcPct val="150000"/>
                </a:lnSpc>
                <a:spcBef>
                  <a:spcPct val="0"/>
                </a:spcBef>
                <a:buNone/>
                <a:defRPr/>
              </a:pPr>
              <a:r>
                <a:rPr lang="zh-CN" altLang="en-US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稳定树</a:t>
              </a:r>
              <a:endParaRPr lang="zh-CN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内容占位符 2"/>
          <p:cNvSpPr txBox="1">
            <a:spLocks/>
          </p:cNvSpPr>
          <p:nvPr/>
        </p:nvSpPr>
        <p:spPr>
          <a:xfrm>
            <a:off x="6383664" y="5341468"/>
            <a:ext cx="3657852" cy="883093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新特性</a:t>
            </a:r>
            <a:r>
              <a:rPr lang="zh-CN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在开发树中完成测试之，在稳定树中进行相同的改进</a:t>
            </a:r>
            <a:r>
              <a:rPr lang="zh-CN" altLang="en-US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166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739FB558-55E8-6151-350B-7168F0DFA494}"/>
              </a:ext>
            </a:extLst>
          </p:cNvPr>
          <p:cNvSpPr txBox="1"/>
          <p:nvPr/>
        </p:nvSpPr>
        <p:spPr>
          <a:xfrm>
            <a:off x="1080655" y="1693072"/>
            <a:ext cx="10037618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内核版本不断更新，新内核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修订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了旧内核中的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BUG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，并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增加新特性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稳定树中更新的内核会支持更多的硬件，具备更好的进程管理能力，运行速度更快、更稳定。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若要使用新特性，或定制更高效、稳定的内核，需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重新编译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内核进行更新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CB1881-3697-CDA7-7C0F-F8F5470678B6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内核的开发与更新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01035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>
            <a:extLst>
              <a:ext uri="{FF2B5EF4-FFF2-40B4-BE49-F238E27FC236}">
                <a16:creationId xmlns:a16="http://schemas.microsoft.com/office/drawing/2014/main" id="{739FB558-55E8-6151-350B-7168F0DFA494}"/>
              </a:ext>
            </a:extLst>
          </p:cNvPr>
          <p:cNvSpPr txBox="1"/>
          <p:nvPr/>
        </p:nvSpPr>
        <p:spPr>
          <a:xfrm>
            <a:off x="1080655" y="1693072"/>
            <a:ext cx="10037618" cy="3905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新版本内核发布存在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两种形式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完整版内核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较大</a:t>
            </a:r>
            <a:endParaRPr lang="en-US" altLang="zh-CN" sz="24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.tar.gz (.</a:t>
            </a:r>
            <a:r>
              <a:rPr lang="en-US" altLang="zh-CN" sz="2400" dirty="0" err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tgz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)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或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.bz2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的压缩包形式存在，使用前需解压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Patch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补丁文件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文件较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，一般只有几十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KB</a:t>
            </a: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用于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升级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版本对应的内核版本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CB1881-3697-CDA7-7C0F-F8F5470678B6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内核的开发与更新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461240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内核版本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896346" y="1542917"/>
            <a:ext cx="8157279" cy="11936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内核版本命名在不同的时期有其不同的规范，自第一个内核版本发布至今，内核版本的命名大约经历了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四个阶段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任意多边形 3"/>
          <p:cNvSpPr/>
          <p:nvPr/>
        </p:nvSpPr>
        <p:spPr>
          <a:xfrm>
            <a:off x="2375828" y="3065751"/>
            <a:ext cx="7489112" cy="1227298"/>
          </a:xfrm>
          <a:custGeom>
            <a:avLst/>
            <a:gdLst>
              <a:gd name="connsiteX0" fmla="*/ 0 w 3348990"/>
              <a:gd name="connsiteY0" fmla="*/ 0 h 1046559"/>
              <a:gd name="connsiteX1" fmla="*/ 3348990 w 3348990"/>
              <a:gd name="connsiteY1" fmla="*/ 0 h 1046559"/>
              <a:gd name="connsiteX2" fmla="*/ 3348990 w 3348990"/>
              <a:gd name="connsiteY2" fmla="*/ 1046559 h 1046559"/>
              <a:gd name="connsiteX3" fmla="*/ 0 w 3348990"/>
              <a:gd name="connsiteY3" fmla="*/ 1046559 h 1046559"/>
              <a:gd name="connsiteX4" fmla="*/ 0 w 3348990"/>
              <a:gd name="connsiteY4" fmla="*/ 0 h 104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8990" h="1046559">
                <a:moveTo>
                  <a:pt x="0" y="0"/>
                </a:moveTo>
                <a:lnTo>
                  <a:pt x="3348990" y="0"/>
                </a:lnTo>
                <a:lnTo>
                  <a:pt x="3348990" y="1046559"/>
                </a:lnTo>
                <a:lnTo>
                  <a:pt x="0" y="10465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08870" tIns="179070" rIns="179070" bIns="179070" numCol="1" spcCol="127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从内核第一个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0.01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版本发布到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1.0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版本，这期间从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0.12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版本开始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遵循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GPL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规范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082374" y="2886342"/>
            <a:ext cx="747000" cy="4116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/>
        </p:nvSpPr>
        <p:spPr>
          <a:xfrm>
            <a:off x="2397602" y="4698579"/>
            <a:ext cx="7489112" cy="1227298"/>
          </a:xfrm>
          <a:custGeom>
            <a:avLst/>
            <a:gdLst>
              <a:gd name="connsiteX0" fmla="*/ 0 w 3348990"/>
              <a:gd name="connsiteY0" fmla="*/ 0 h 1046559"/>
              <a:gd name="connsiteX1" fmla="*/ 3348990 w 3348990"/>
              <a:gd name="connsiteY1" fmla="*/ 0 h 1046559"/>
              <a:gd name="connsiteX2" fmla="*/ 3348990 w 3348990"/>
              <a:gd name="connsiteY2" fmla="*/ 1046559 h 1046559"/>
              <a:gd name="connsiteX3" fmla="*/ 0 w 3348990"/>
              <a:gd name="connsiteY3" fmla="*/ 1046559 h 1046559"/>
              <a:gd name="connsiteX4" fmla="*/ 0 w 3348990"/>
              <a:gd name="connsiteY4" fmla="*/ 0 h 104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8990" h="1046559">
                <a:moveTo>
                  <a:pt x="0" y="0"/>
                </a:moveTo>
                <a:lnTo>
                  <a:pt x="3348990" y="0"/>
                </a:lnTo>
                <a:lnTo>
                  <a:pt x="3348990" y="1046559"/>
                </a:lnTo>
                <a:lnTo>
                  <a:pt x="0" y="10465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08870" tIns="179070" rIns="179070" bIns="179070" numCol="1" spcCol="127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1.0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版本发布之后，直到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2.6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版本，内核版本的命名格式为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A.B.C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。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104148" y="4519170"/>
            <a:ext cx="747000" cy="4116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905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内核版本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5294468" y="2465275"/>
            <a:ext cx="1146881" cy="59681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A.B.C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标注 4"/>
          <p:cNvSpPr/>
          <p:nvPr/>
        </p:nvSpPr>
        <p:spPr>
          <a:xfrm>
            <a:off x="3528729" y="1424747"/>
            <a:ext cx="1765739" cy="993227"/>
          </a:xfrm>
          <a:prstGeom prst="wedgeRoundRectCallout">
            <a:avLst>
              <a:gd name="adj1" fmla="val 62748"/>
              <a:gd name="adj2" fmla="val 79255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主版本号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5132557" y="3580118"/>
            <a:ext cx="1765739" cy="993227"/>
          </a:xfrm>
          <a:prstGeom prst="wedgeRoundRectCallout">
            <a:avLst>
              <a:gd name="adj1" fmla="val -7944"/>
              <a:gd name="adj2" fmla="val -113640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次版本号</a:t>
            </a:r>
          </a:p>
        </p:txBody>
      </p:sp>
      <p:sp>
        <p:nvSpPr>
          <p:cNvPr id="7" name="圆角矩形标注 6"/>
          <p:cNvSpPr/>
          <p:nvPr/>
        </p:nvSpPr>
        <p:spPr>
          <a:xfrm>
            <a:off x="6663814" y="1602677"/>
            <a:ext cx="1765739" cy="993227"/>
          </a:xfrm>
          <a:prstGeom prst="wedgeRoundRectCallout">
            <a:avLst>
              <a:gd name="adj1" fmla="val -76170"/>
              <a:gd name="adj2" fmla="val 5002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修订版本号</a:t>
            </a: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1847206" y="2545988"/>
            <a:ext cx="2489578" cy="16078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版本号只有在代码和内核的概念有</a:t>
            </a:r>
            <a:r>
              <a:rPr lang="zh-CN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重大改变</a:t>
            </a: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的时候才会改变</a:t>
            </a: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0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2"/>
          <p:cNvSpPr txBox="1">
            <a:spLocks/>
          </p:cNvSpPr>
          <p:nvPr/>
        </p:nvSpPr>
        <p:spPr>
          <a:xfrm>
            <a:off x="7689212" y="2676613"/>
            <a:ext cx="2489578" cy="223199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修订版本号表示内核修改的次数，它在内核</a:t>
            </a:r>
            <a:r>
              <a:rPr lang="zh-CN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增加安全补丁、修复</a:t>
            </a:r>
            <a:r>
              <a:rPr lang="en-US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Bug</a:t>
            </a:r>
            <a:r>
              <a:rPr lang="zh-CN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、实现新的特性或驱动</a:t>
            </a: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时都会改变</a:t>
            </a:r>
          </a:p>
        </p:txBody>
      </p:sp>
      <p:sp>
        <p:nvSpPr>
          <p:cNvPr id="11" name="内容占位符 2"/>
          <p:cNvSpPr txBox="1">
            <a:spLocks/>
          </p:cNvSpPr>
          <p:nvPr/>
        </p:nvSpPr>
        <p:spPr>
          <a:xfrm>
            <a:off x="4090044" y="4636670"/>
            <a:ext cx="3483055" cy="16078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版本号根据传统的“奇</a:t>
            </a:r>
            <a:r>
              <a:rPr lang="en-US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偶”系统版本号来分配：</a:t>
            </a:r>
            <a:r>
              <a:rPr lang="zh-CN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奇数为开发版本</a:t>
            </a: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0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偶数为稳定版本</a:t>
            </a:r>
            <a:r>
              <a:rPr lang="zh-CN" altLang="zh-CN" sz="20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1166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9" grpId="0"/>
      <p:bldP spid="9" grpId="1"/>
      <p:bldP spid="10" grpId="0"/>
      <p:bldP spid="11" grpId="0"/>
      <p:bldP spid="11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内核版本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2359808" y="1430183"/>
            <a:ext cx="8157279" cy="119363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内核版本命名在不同的时期有其不同的规范，自第一个内核版本发布至今，内核版本的命名大约经历了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四个阶段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5" name="任意多边形 4"/>
          <p:cNvSpPr/>
          <p:nvPr/>
        </p:nvSpPr>
        <p:spPr>
          <a:xfrm>
            <a:off x="2651399" y="3053225"/>
            <a:ext cx="7782781" cy="1227298"/>
          </a:xfrm>
          <a:custGeom>
            <a:avLst/>
            <a:gdLst>
              <a:gd name="connsiteX0" fmla="*/ 0 w 3348990"/>
              <a:gd name="connsiteY0" fmla="*/ 0 h 1046559"/>
              <a:gd name="connsiteX1" fmla="*/ 3348990 w 3348990"/>
              <a:gd name="connsiteY1" fmla="*/ 0 h 1046559"/>
              <a:gd name="connsiteX2" fmla="*/ 3348990 w 3348990"/>
              <a:gd name="connsiteY2" fmla="*/ 1046559 h 1046559"/>
              <a:gd name="connsiteX3" fmla="*/ 0 w 3348990"/>
              <a:gd name="connsiteY3" fmla="*/ 1046559 h 1046559"/>
              <a:gd name="connsiteX4" fmla="*/ 0 w 3348990"/>
              <a:gd name="connsiteY4" fmla="*/ 0 h 104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8990" h="1046559">
                <a:moveTo>
                  <a:pt x="0" y="0"/>
                </a:moveTo>
                <a:lnTo>
                  <a:pt x="3348990" y="0"/>
                </a:lnTo>
                <a:lnTo>
                  <a:pt x="3348990" y="1046559"/>
                </a:lnTo>
                <a:lnTo>
                  <a:pt x="0" y="10465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08870" tIns="179070" rIns="179070" bIns="179070" numCol="1" spcCol="127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2004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2.6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版本发布之后，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直到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2011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年，这一段时间内核版本比较稳定。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57946" y="2873816"/>
            <a:ext cx="747000" cy="4116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任意多边形 6"/>
          <p:cNvSpPr/>
          <p:nvPr/>
        </p:nvSpPr>
        <p:spPr>
          <a:xfrm>
            <a:off x="2673173" y="4686053"/>
            <a:ext cx="7782781" cy="1227298"/>
          </a:xfrm>
          <a:custGeom>
            <a:avLst/>
            <a:gdLst>
              <a:gd name="connsiteX0" fmla="*/ 0 w 3348990"/>
              <a:gd name="connsiteY0" fmla="*/ 0 h 1046559"/>
              <a:gd name="connsiteX1" fmla="*/ 3348990 w 3348990"/>
              <a:gd name="connsiteY1" fmla="*/ 0 h 1046559"/>
              <a:gd name="connsiteX2" fmla="*/ 3348990 w 3348990"/>
              <a:gd name="connsiteY2" fmla="*/ 1046559 h 1046559"/>
              <a:gd name="connsiteX3" fmla="*/ 0 w 3348990"/>
              <a:gd name="connsiteY3" fmla="*/ 1046559 h 1046559"/>
              <a:gd name="connsiteX4" fmla="*/ 0 w 3348990"/>
              <a:gd name="connsiteY4" fmla="*/ 0 h 1046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48990" h="1046559">
                <a:moveTo>
                  <a:pt x="0" y="0"/>
                </a:moveTo>
                <a:lnTo>
                  <a:pt x="3348990" y="0"/>
                </a:lnTo>
                <a:lnTo>
                  <a:pt x="3348990" y="1046559"/>
                </a:lnTo>
                <a:lnTo>
                  <a:pt x="0" y="1046559"/>
                </a:lnTo>
                <a:lnTo>
                  <a:pt x="0" y="0"/>
                </a:lnTo>
                <a:close/>
              </a:path>
            </a:pathLst>
          </a:custGeom>
        </p:spPr>
        <p:style>
          <a:lnRef idx="1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4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708870" tIns="179070" rIns="179070" bIns="179070" numCol="1" spcCol="127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2011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年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5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月，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Linus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宣布为了纪念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Linux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发布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20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周年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，在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2.6.39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版本发布之后，将内核版本提升到了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3.0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cs typeface="Lucida Sans Unicode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  <a:cs typeface="Lucida Sans Unicode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79720" y="4506644"/>
            <a:ext cx="747000" cy="4116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ctr"/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905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4.1.3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内核版本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5DCC5A9-C34F-E40B-59C4-31C440AAF13A}"/>
              </a:ext>
            </a:extLst>
          </p:cNvPr>
          <p:cNvSpPr txBox="1"/>
          <p:nvPr/>
        </p:nvSpPr>
        <p:spPr>
          <a:xfrm>
            <a:off x="1080655" y="1693072"/>
            <a:ext cx="10037618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查看所使用的内核版本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uname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-r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BDA082-A906-2D05-4510-168D29662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785" y="3360274"/>
            <a:ext cx="5084430" cy="1609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5933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内核编译安装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内核模块管理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pic>
        <p:nvPicPr>
          <p:cNvPr id="40962" name="Picture 2" descr="http://p0.so.qhmsg.com/bdr/200_200_/t013eb22ea3566424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08" y="2395568"/>
            <a:ext cx="1679712" cy="118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 descr="http://image.tianjimedia.com/uploadImages/2012/053/F23KI1298GN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230" y="2382128"/>
            <a:ext cx="1729717" cy="120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js.byf.com/editbiz/2010-8-31/201044311144109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902" y="2395568"/>
            <a:ext cx="1607170" cy="118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654397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</p:bldLst>
      </p:timing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获取内核源码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678488" y="1505339"/>
            <a:ext cx="9306838" cy="81973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内核源码可以从内核的官方网站（</a:t>
            </a:r>
            <a:r>
              <a:rPr lang="en-US" altLang="zh-CN" sz="2400" u="sng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https://www.kernel.org/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）获取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5288" y="2401417"/>
            <a:ext cx="7115582" cy="3439886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圆角矩形标注 4"/>
          <p:cNvSpPr/>
          <p:nvPr/>
        </p:nvSpPr>
        <p:spPr>
          <a:xfrm>
            <a:off x="2091617" y="2426017"/>
            <a:ext cx="1765739" cy="993227"/>
          </a:xfrm>
          <a:prstGeom prst="wedgeRoundRectCallout">
            <a:avLst>
              <a:gd name="adj1" fmla="val 20004"/>
              <a:gd name="adj2" fmla="val 115788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主线版本</a:t>
            </a:r>
            <a:endParaRPr lang="en-US" altLang="zh-CN" sz="20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未正式发布</a:t>
            </a:r>
          </a:p>
        </p:txBody>
      </p:sp>
      <p:sp>
        <p:nvSpPr>
          <p:cNvPr id="6" name="圆角矩形标注 5"/>
          <p:cNvSpPr/>
          <p:nvPr/>
        </p:nvSpPr>
        <p:spPr>
          <a:xfrm>
            <a:off x="2485068" y="2426017"/>
            <a:ext cx="1765739" cy="993227"/>
          </a:xfrm>
          <a:prstGeom prst="wedgeRoundRectCallout">
            <a:avLst>
              <a:gd name="adj1" fmla="val -11232"/>
              <a:gd name="adj2" fmla="val 13624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稳定版</a:t>
            </a:r>
            <a:endParaRPr lang="en-US" altLang="zh-CN" sz="20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圆角矩形标注 6"/>
          <p:cNvSpPr/>
          <p:nvPr/>
        </p:nvSpPr>
        <p:spPr>
          <a:xfrm>
            <a:off x="2091617" y="2792002"/>
            <a:ext cx="1765739" cy="993227"/>
          </a:xfrm>
          <a:prstGeom prst="wedgeRoundRectCallout">
            <a:avLst>
              <a:gd name="adj1" fmla="val 28224"/>
              <a:gd name="adj2" fmla="val 11432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长期支持版</a:t>
            </a:r>
            <a:endParaRPr lang="en-US" altLang="zh-CN" sz="20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9" name="圆角矩形标注 8"/>
          <p:cNvSpPr/>
          <p:nvPr/>
        </p:nvSpPr>
        <p:spPr>
          <a:xfrm>
            <a:off x="3017778" y="3288615"/>
            <a:ext cx="1765739" cy="993227"/>
          </a:xfrm>
          <a:prstGeom prst="wedgeRoundRectCallout">
            <a:avLst>
              <a:gd name="adj1" fmla="val 28224"/>
              <a:gd name="adj2" fmla="val 114326"/>
              <a:gd name="adj3" fmla="val 16667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不再维护的版本</a:t>
            </a:r>
            <a:endParaRPr lang="en-US" altLang="zh-CN" sz="20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166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获取内核源码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678488" y="1505339"/>
            <a:ext cx="9306838" cy="81973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内核源码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20221020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37AF6C8-E40A-2661-D08E-740413585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754" y="2208768"/>
            <a:ext cx="7150492" cy="4080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297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获取内核源码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84F91ED-D472-7AB0-A2BD-E6ACF4028E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214" y="2233674"/>
            <a:ext cx="8185571" cy="3194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435311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获取内核源码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B5CC75B-B363-7255-1722-951D93258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039" y="1723628"/>
            <a:ext cx="8191921" cy="4242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280212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获取内核源码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659621D-5E6A-0C1C-37BA-2670349F5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2172" y="1187310"/>
            <a:ext cx="5827655" cy="5258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910524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获取内核源码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43022C4-8032-D774-B6EE-603DCB0A9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181" y="1265631"/>
            <a:ext cx="7545637" cy="5042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46216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pSp>
        <p:nvGrpSpPr>
          <p:cNvPr id="3" name="组合 2"/>
          <p:cNvGrpSpPr>
            <a:grpSpLocks/>
          </p:cNvGrpSpPr>
          <p:nvPr/>
        </p:nvGrpSpPr>
        <p:grpSpPr bwMode="auto">
          <a:xfrm>
            <a:off x="3653399" y="2055139"/>
            <a:ext cx="6433229" cy="1127125"/>
            <a:chOff x="1910363" y="2286295"/>
            <a:chExt cx="6433229" cy="1127125"/>
          </a:xfrm>
        </p:grpSpPr>
        <p:sp>
          <p:nvSpPr>
            <p:cNvPr id="4" name="任意多边形 3"/>
            <p:cNvSpPr/>
            <p:nvPr/>
          </p:nvSpPr>
          <p:spPr>
            <a:xfrm>
              <a:off x="1910363" y="2286295"/>
              <a:ext cx="788987" cy="1127125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任意多边形 4"/>
            <p:cNvSpPr/>
            <p:nvPr/>
          </p:nvSpPr>
          <p:spPr>
            <a:xfrm>
              <a:off x="2699350" y="2286295"/>
              <a:ext cx="5511799" cy="733425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0" lvl="1" defTabSz="844550" eaLnBrk="0" hangingPunct="0">
                <a:lnSpc>
                  <a:spcPct val="90000"/>
                </a:lnSpc>
                <a:spcAft>
                  <a:spcPct val="15000"/>
                </a:spcAft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   </a:t>
              </a:r>
            </a:p>
          </p:txBody>
        </p:sp>
        <p:sp>
          <p:nvSpPr>
            <p:cNvPr id="6" name="矩形 19"/>
            <p:cNvSpPr>
              <a:spLocks noChangeArrowheads="1"/>
            </p:cNvSpPr>
            <p:nvPr/>
          </p:nvSpPr>
          <p:spPr bwMode="auto">
            <a:xfrm>
              <a:off x="2892689" y="2447432"/>
              <a:ext cx="545090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285750" indent="-285750" eaLnBrk="0" hangingPunct="0">
                <a:buFont typeface="Wingdings" pitchFamily="2" charset="2"/>
                <a:buChar char="Ø"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解压：包括解压、清理内核源码。</a:t>
              </a:r>
              <a:endPara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7" name="组合 6"/>
          <p:cNvGrpSpPr>
            <a:grpSpLocks/>
          </p:cNvGrpSpPr>
          <p:nvPr/>
        </p:nvGrpSpPr>
        <p:grpSpPr bwMode="auto">
          <a:xfrm>
            <a:off x="3653399" y="3079935"/>
            <a:ext cx="6300786" cy="1127125"/>
            <a:chOff x="1910363" y="3265414"/>
            <a:chExt cx="6300786" cy="1126563"/>
          </a:xfrm>
        </p:grpSpPr>
        <p:sp>
          <p:nvSpPr>
            <p:cNvPr id="9" name="任意多边形 8"/>
            <p:cNvSpPr/>
            <p:nvPr/>
          </p:nvSpPr>
          <p:spPr>
            <a:xfrm>
              <a:off x="1910363" y="3265414"/>
              <a:ext cx="788987" cy="1126563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2699350" y="3265414"/>
              <a:ext cx="5511799" cy="731472"/>
            </a:xfrm>
            <a:custGeom>
              <a:avLst/>
              <a:gdLst>
                <a:gd name="connsiteX0" fmla="*/ 122108 w 732631"/>
                <a:gd name="connsiteY0" fmla="*/ 0 h 5307012"/>
                <a:gd name="connsiteX1" fmla="*/ 610523 w 732631"/>
                <a:gd name="connsiteY1" fmla="*/ 0 h 5307012"/>
                <a:gd name="connsiteX2" fmla="*/ 732631 w 732631"/>
                <a:gd name="connsiteY2" fmla="*/ 122108 h 5307012"/>
                <a:gd name="connsiteX3" fmla="*/ 732631 w 732631"/>
                <a:gd name="connsiteY3" fmla="*/ 5307012 h 5307012"/>
                <a:gd name="connsiteX4" fmla="*/ 732631 w 732631"/>
                <a:gd name="connsiteY4" fmla="*/ 5307012 h 5307012"/>
                <a:gd name="connsiteX5" fmla="*/ 0 w 732631"/>
                <a:gd name="connsiteY5" fmla="*/ 5307012 h 5307012"/>
                <a:gd name="connsiteX6" fmla="*/ 0 w 732631"/>
                <a:gd name="connsiteY6" fmla="*/ 5307012 h 5307012"/>
                <a:gd name="connsiteX7" fmla="*/ 0 w 732631"/>
                <a:gd name="connsiteY7" fmla="*/ 122108 h 5307012"/>
                <a:gd name="connsiteX8" fmla="*/ 122108 w 732631"/>
                <a:gd name="connsiteY8" fmla="*/ 0 h 5307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2631" h="5307012">
                  <a:moveTo>
                    <a:pt x="732631" y="884525"/>
                  </a:moveTo>
                  <a:lnTo>
                    <a:pt x="732631" y="4422487"/>
                  </a:lnTo>
                  <a:cubicBezTo>
                    <a:pt x="732631" y="4910992"/>
                    <a:pt x="725084" y="5307008"/>
                    <a:pt x="715774" y="5307008"/>
                  </a:cubicBezTo>
                  <a:lnTo>
                    <a:pt x="0" y="5307008"/>
                  </a:lnTo>
                  <a:lnTo>
                    <a:pt x="0" y="5307008"/>
                  </a:lnTo>
                  <a:lnTo>
                    <a:pt x="0" y="4"/>
                  </a:lnTo>
                  <a:lnTo>
                    <a:pt x="0" y="4"/>
                  </a:lnTo>
                  <a:lnTo>
                    <a:pt x="715774" y="4"/>
                  </a:lnTo>
                  <a:cubicBezTo>
                    <a:pt x="725084" y="4"/>
                    <a:pt x="732631" y="396020"/>
                    <a:pt x="732631" y="884525"/>
                  </a:cubicBezTo>
                  <a:close/>
                </a:path>
              </a:pathLst>
            </a:cu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lIns="135129" tIns="47829" rIns="47829" bIns="47830" spcCol="1270" anchor="ctr"/>
            <a:lstStyle/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marL="171450" lvl="1" indent="-171450" defTabSz="844550" eaLnBrk="0" hangingPunct="0">
                <a:lnSpc>
                  <a:spcPct val="90000"/>
                </a:lnSpc>
                <a:spcAft>
                  <a:spcPct val="15000"/>
                </a:spcAft>
                <a:buFontTx/>
                <a:buChar char="••"/>
                <a:defRPr/>
              </a:pPr>
              <a:endPara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" name="矩形 10"/>
            <p:cNvSpPr>
              <a:spLocks noChangeArrowheads="1"/>
            </p:cNvSpPr>
            <p:nvPr/>
          </p:nvSpPr>
          <p:spPr bwMode="auto">
            <a:xfrm>
              <a:off x="2892688" y="3409277"/>
              <a:ext cx="5318461" cy="4614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285750" indent="-285750" eaLnBrk="0" hangingPunct="0">
                <a:buFont typeface="Wingdings" pitchFamily="2" charset="2"/>
                <a:buChar char="Ø"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内核环境配置</a:t>
              </a:r>
              <a:endPara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>
            <a:grpSpLocks/>
          </p:cNvGrpSpPr>
          <p:nvPr/>
        </p:nvGrpSpPr>
        <p:grpSpPr bwMode="auto">
          <a:xfrm>
            <a:off x="3653399" y="4057835"/>
            <a:ext cx="6300785" cy="1127125"/>
            <a:chOff x="1910363" y="4243265"/>
            <a:chExt cx="6300785" cy="1127269"/>
          </a:xfrm>
        </p:grpSpPr>
        <p:sp>
          <p:nvSpPr>
            <p:cNvPr id="13" name="任意多边形 12"/>
            <p:cNvSpPr/>
            <p:nvPr/>
          </p:nvSpPr>
          <p:spPr>
            <a:xfrm>
              <a:off x="1910363" y="4243265"/>
              <a:ext cx="788987" cy="1127269"/>
            </a:xfrm>
            <a:custGeom>
              <a:avLst/>
              <a:gdLst>
                <a:gd name="connsiteX0" fmla="*/ 0 w 1127124"/>
                <a:gd name="connsiteY0" fmla="*/ 0 h 788987"/>
                <a:gd name="connsiteX1" fmla="*/ 732631 w 1127124"/>
                <a:gd name="connsiteY1" fmla="*/ 0 h 788987"/>
                <a:gd name="connsiteX2" fmla="*/ 1127124 w 1127124"/>
                <a:gd name="connsiteY2" fmla="*/ 394494 h 788987"/>
                <a:gd name="connsiteX3" fmla="*/ 732631 w 1127124"/>
                <a:gd name="connsiteY3" fmla="*/ 788987 h 788987"/>
                <a:gd name="connsiteX4" fmla="*/ 0 w 1127124"/>
                <a:gd name="connsiteY4" fmla="*/ 788987 h 788987"/>
                <a:gd name="connsiteX5" fmla="*/ 394494 w 1127124"/>
                <a:gd name="connsiteY5" fmla="*/ 394494 h 788987"/>
                <a:gd name="connsiteX6" fmla="*/ 0 w 1127124"/>
                <a:gd name="connsiteY6" fmla="*/ 0 h 7889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27124" h="788987">
                  <a:moveTo>
                    <a:pt x="1127123" y="0"/>
                  </a:moveTo>
                  <a:lnTo>
                    <a:pt x="1127123" y="512842"/>
                  </a:lnTo>
                  <a:lnTo>
                    <a:pt x="563561" y="788987"/>
                  </a:lnTo>
                  <a:lnTo>
                    <a:pt x="1" y="512842"/>
                  </a:lnTo>
                  <a:lnTo>
                    <a:pt x="1" y="0"/>
                  </a:lnTo>
                  <a:lnTo>
                    <a:pt x="563561" y="276146"/>
                  </a:lnTo>
                  <a:lnTo>
                    <a:pt x="1127123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2701" tIns="407195" rIns="12700" bIns="407193" spcCol="1270" anchor="ctr"/>
            <a:lstStyle/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889000" eaLnBrk="0" hangingPunct="0">
                <a:lnSpc>
                  <a:spcPct val="90000"/>
                </a:lnSpc>
                <a:spcAft>
                  <a:spcPct val="35000"/>
                </a:spcAft>
                <a:defRPr/>
              </a:pP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同侧圆角矩形 13"/>
            <p:cNvSpPr/>
            <p:nvPr/>
          </p:nvSpPr>
          <p:spPr>
            <a:xfrm rot="5400000">
              <a:off x="5088489" y="1854125"/>
              <a:ext cx="733519" cy="5511799"/>
            </a:xfrm>
            <a:prstGeom prst="round2SameRect">
              <a:avLst/>
            </a:prstGeom>
            <a:ln w="31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5" name="矩形 21"/>
            <p:cNvSpPr>
              <a:spLocks noChangeArrowheads="1"/>
            </p:cNvSpPr>
            <p:nvPr/>
          </p:nvSpPr>
          <p:spPr bwMode="auto">
            <a:xfrm>
              <a:off x="2892690" y="4389335"/>
              <a:ext cx="5113674" cy="4617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marL="285750" indent="-285750">
                <a:buFont typeface="Wingdings" pitchFamily="2" charset="2"/>
                <a:buChar char="Ø"/>
              </a:pPr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编译安装</a:t>
              </a:r>
            </a:p>
          </p:txBody>
        </p:sp>
      </p:grpSp>
      <p:sp>
        <p:nvSpPr>
          <p:cNvPr id="16" name="剪去对角的矩形 15"/>
          <p:cNvSpPr/>
          <p:nvPr/>
        </p:nvSpPr>
        <p:spPr bwMode="auto">
          <a:xfrm>
            <a:off x="2609648" y="2325379"/>
            <a:ext cx="677863" cy="2702328"/>
          </a:xfrm>
          <a:prstGeom prst="snip2DiagRect">
            <a:avLst/>
          </a:prstGeom>
          <a:solidFill>
            <a:schemeClr val="accent5">
              <a:lumMod val="75000"/>
            </a:schemeClr>
          </a:solidFill>
          <a:ln w="28575" cap="flat" cmpd="sng" algn="ctr">
            <a:solidFill>
              <a:srgbClr val="00ACE6"/>
            </a:solidFill>
            <a:prstDash val="sysDot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itchFamily="34" charset="0"/>
              <a:buNone/>
              <a:defRPr/>
            </a:pPr>
            <a:endParaRPr lang="zh-CN" altLang="en-US" sz="24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"/>
          <p:cNvSpPr>
            <a:spLocks noChangeArrowheads="1"/>
          </p:cNvSpPr>
          <p:nvPr/>
        </p:nvSpPr>
        <p:spPr bwMode="auto">
          <a:xfrm>
            <a:off x="2671613" y="1967935"/>
            <a:ext cx="553998" cy="3059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>
            <a:spAutoFit/>
          </a:bodyPr>
          <a:lstStyle/>
          <a:p>
            <a:pPr lvl="2"/>
            <a:r>
              <a:rPr lang="zh-CN" altLang="en-US" sz="2400" b="1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编译安装步骤</a:t>
            </a:r>
            <a:endParaRPr lang="zh-CN" altLang="zh-CN" sz="2400" b="1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905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2D1C6-DC99-F3DB-7541-A07A36D0CD47}"/>
              </a:ext>
            </a:extLst>
          </p:cNvPr>
          <p:cNvSpPr txBox="1"/>
          <p:nvPr/>
        </p:nvSpPr>
        <p:spPr>
          <a:xfrm>
            <a:off x="1080655" y="1693072"/>
            <a:ext cx="1003761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1.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解压：包括解压、清理内核源码。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E55D173A-C9BB-1923-4CAF-B8479A733EB0}"/>
              </a:ext>
            </a:extLst>
          </p:cNvPr>
          <p:cNvGrpSpPr/>
          <p:nvPr/>
        </p:nvGrpSpPr>
        <p:grpSpPr>
          <a:xfrm>
            <a:off x="1606719" y="2786239"/>
            <a:ext cx="8978561" cy="2378689"/>
            <a:chOff x="1350003" y="3183911"/>
            <a:chExt cx="7125066" cy="1860645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34584D9C-F296-71B5-F6FE-C3881A263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50003" y="3183911"/>
              <a:ext cx="7106015" cy="1390721"/>
            </a:xfrm>
            <a:prstGeom prst="rect">
              <a:avLst/>
            </a:prstGeom>
          </p:spPr>
        </p:pic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B28B924E-1FD5-0332-7656-5A34423B62C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50003" y="4574632"/>
              <a:ext cx="7125066" cy="46992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2898865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E531428-68F1-5A2D-F1E0-DDA555648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519" y="2796231"/>
            <a:ext cx="8288962" cy="3329694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C781FCBF-03CF-80CF-9E1B-E476BFD2042E}"/>
              </a:ext>
            </a:extLst>
          </p:cNvPr>
          <p:cNvSpPr txBox="1"/>
          <p:nvPr/>
        </p:nvSpPr>
        <p:spPr>
          <a:xfrm>
            <a:off x="1077191" y="1443099"/>
            <a:ext cx="10037618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linux-3.16.52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：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RADME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Makefile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kernel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等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Kernel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目录：内核源码</a:t>
            </a:r>
          </a:p>
        </p:txBody>
      </p:sp>
    </p:spTree>
    <p:extLst>
      <p:ext uri="{BB962C8B-B14F-4D97-AF65-F5344CB8AC3E}">
        <p14:creationId xmlns:p14="http://schemas.microsoft.com/office/powerpoint/2010/main" val="186852687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F1291C-B861-96BD-E3D0-D18BC280C364}"/>
              </a:ext>
            </a:extLst>
          </p:cNvPr>
          <p:cNvSpPr txBox="1"/>
          <p:nvPr/>
        </p:nvSpPr>
        <p:spPr>
          <a:xfrm>
            <a:off x="1080655" y="1693072"/>
            <a:ext cx="10037618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清理内核源码：对源代码树进行清理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第一次编译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时，使用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make 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mrproper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清理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工作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22F438-BEF2-3080-409E-573C2E515D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9134" y="3629290"/>
            <a:ext cx="7444037" cy="130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0365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F1291C-B861-96BD-E3D0-D18BC280C364}"/>
              </a:ext>
            </a:extLst>
          </p:cNvPr>
          <p:cNvSpPr txBox="1"/>
          <p:nvPr/>
        </p:nvSpPr>
        <p:spPr>
          <a:xfrm>
            <a:off x="1080655" y="1693072"/>
            <a:ext cx="10037618" cy="3905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make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mrproper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删除内核源码中的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中间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文件、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配置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文件和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备份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make clean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只删除内核源码中的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中间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文件，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不删除配置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文件和编译支持的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扩展模块</a:t>
            </a:r>
            <a:endParaRPr lang="en-US" altLang="zh-CN" sz="24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make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distclean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删除源码中的各种</a:t>
            </a:r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文件、备份和补丁，删除范围较大</a:t>
            </a:r>
            <a:endParaRPr lang="en-US" altLang="zh-CN" sz="2400" dirty="0">
              <a:solidFill>
                <a:schemeClr val="accent4">
                  <a:lumMod val="75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39773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7F1291C-B861-96BD-E3D0-D18BC280C364}"/>
              </a:ext>
            </a:extLst>
          </p:cNvPr>
          <p:cNvSpPr txBox="1"/>
          <p:nvPr/>
        </p:nvSpPr>
        <p:spPr>
          <a:xfrm>
            <a:off x="1080655" y="1693072"/>
            <a:ext cx="1003761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Make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文件中提供了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个命令的描述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7F09EF-069B-A319-3A34-257AEE67E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673" y="2781760"/>
            <a:ext cx="11038654" cy="2600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342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2D1C6-DC99-F3DB-7541-A07A36D0CD47}"/>
              </a:ext>
            </a:extLst>
          </p:cNvPr>
          <p:cNvSpPr txBox="1"/>
          <p:nvPr/>
        </p:nvSpPr>
        <p:spPr>
          <a:xfrm>
            <a:off x="1080655" y="1693072"/>
            <a:ext cx="10037618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内核环境配置：内核编译安装时，需要一定的环境基础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首先检查编译内核需要的字符终端设备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ncurses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是否安装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（未安装）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2D86996-3BB1-764B-AA74-209F503861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3341" y="3035805"/>
            <a:ext cx="6325318" cy="321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1944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2D1C6-DC99-F3DB-7541-A07A36D0CD47}"/>
              </a:ext>
            </a:extLst>
          </p:cNvPr>
          <p:cNvSpPr txBox="1"/>
          <p:nvPr/>
        </p:nvSpPr>
        <p:spPr>
          <a:xfrm>
            <a:off x="1080655" y="1693072"/>
            <a:ext cx="10037618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内核环境配置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首先检查编译内核需要的字符终端设备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ncurses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是否安装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安装：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yum install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ncurses-devel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root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用户、网络连接）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11E0FFD-F15F-212C-D219-B76B33A53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612" y="3545150"/>
            <a:ext cx="8186776" cy="2526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84576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2D1C6-DC99-F3DB-7541-A07A36D0CD47}"/>
              </a:ext>
            </a:extLst>
          </p:cNvPr>
          <p:cNvSpPr txBox="1"/>
          <p:nvPr/>
        </p:nvSpPr>
        <p:spPr>
          <a:xfrm>
            <a:off x="1080655" y="1693072"/>
            <a:ext cx="10037618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内核环境配置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然后复制本机的内核配置文件到新内核的目录下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复制：</a:t>
            </a:r>
            <a:r>
              <a:rPr lang="en-US" altLang="zh-CN" sz="240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  </a:t>
            </a:r>
            <a:r>
              <a:rPr lang="zh-CN" altLang="en-US" sz="240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注意当前位置）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0EAC261-DD0B-F86E-E8A0-CF6BA4E82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325" y="4200523"/>
            <a:ext cx="8949349" cy="964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132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D0CA443C-C409-5E52-2266-93C38E4FE7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275" y="1183543"/>
            <a:ext cx="7280162" cy="5270376"/>
          </a:xfrm>
          <a:prstGeom prst="rect">
            <a:avLst/>
          </a:prstGeom>
        </p:spPr>
      </p:pic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2D1C6-DC99-F3DB-7541-A07A36D0CD47}"/>
              </a:ext>
            </a:extLst>
          </p:cNvPr>
          <p:cNvSpPr txBox="1"/>
          <p:nvPr/>
        </p:nvSpPr>
        <p:spPr>
          <a:xfrm>
            <a:off x="595745" y="1693071"/>
            <a:ext cx="3394364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内核环境配置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make 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menuconfig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，调出配置菜单，进行内核配置与保存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476058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2D1C6-DC99-F3DB-7541-A07A36D0CD47}"/>
              </a:ext>
            </a:extLst>
          </p:cNvPr>
          <p:cNvSpPr txBox="1"/>
          <p:nvPr/>
        </p:nvSpPr>
        <p:spPr>
          <a:xfrm>
            <a:off x="595744" y="1429834"/>
            <a:ext cx="3803073" cy="4459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2.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内核环境配置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单机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Save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按钮保存配置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保存后弹出配置界面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(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刚复制的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.config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文件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单机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OK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后弹出退出界面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BC03AFE-0CDD-2C1B-FC6A-8ADCD441C1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28" t="6769" r="5918" b="14067"/>
          <a:stretch/>
        </p:blipFill>
        <p:spPr>
          <a:xfrm>
            <a:off x="5452430" y="2740163"/>
            <a:ext cx="4980709" cy="1905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3E674F3-92AC-F49B-3B43-887FDCF9B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9920" y="1785203"/>
            <a:ext cx="5885734" cy="5847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75D582C-A9AF-FF6A-40E9-887FB67A7EA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58" t="10828" r="6036" b="22156"/>
          <a:stretch/>
        </p:blipFill>
        <p:spPr>
          <a:xfrm>
            <a:off x="5483938" y="5015347"/>
            <a:ext cx="4917695" cy="949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99758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2D1C6-DC99-F3DB-7541-A07A36D0CD47}"/>
              </a:ext>
            </a:extLst>
          </p:cNvPr>
          <p:cNvSpPr txBox="1"/>
          <p:nvPr/>
        </p:nvSpPr>
        <p:spPr>
          <a:xfrm>
            <a:off x="1077191" y="1485253"/>
            <a:ext cx="10037618" cy="2243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调用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make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对源码进行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编译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内核源码较多，编译将持续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4~5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小时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-j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命令同时启动多个进程共同编译（本机同时启动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个进程进行编译）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29A1278-04C1-5017-B5B5-B17B4600DD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4163"/>
          <a:stretch/>
        </p:blipFill>
        <p:spPr>
          <a:xfrm>
            <a:off x="1780063" y="4212146"/>
            <a:ext cx="8631873" cy="1573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7499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2D1C6-DC99-F3DB-7541-A07A36D0CD47}"/>
              </a:ext>
            </a:extLst>
          </p:cNvPr>
          <p:cNvSpPr txBox="1"/>
          <p:nvPr/>
        </p:nvSpPr>
        <p:spPr>
          <a:xfrm>
            <a:off x="1077191" y="1471400"/>
            <a:ext cx="10037618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将编译生成的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.ko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模块文件复制到默认的安装目录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5298EF-A4F5-1F58-21CC-94AD28370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30" y="2991378"/>
            <a:ext cx="9421540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31534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822D1C6-DC99-F3DB-7541-A07A36D0CD47}"/>
              </a:ext>
            </a:extLst>
          </p:cNvPr>
          <p:cNvSpPr txBox="1"/>
          <p:nvPr/>
        </p:nvSpPr>
        <p:spPr>
          <a:xfrm>
            <a:off x="1077191" y="1464472"/>
            <a:ext cx="10037618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3.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make install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：安装内核</a:t>
            </a: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25298EF-A4F5-1F58-21CC-94AD28370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5230" y="3102213"/>
            <a:ext cx="9421540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18663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28B3BDC-DAEC-3BF4-61D5-F0D577465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8942" y="2104870"/>
            <a:ext cx="7274115" cy="404117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D8C30B3-FDFF-D49C-C3A4-BC733AAC7DB2}"/>
              </a:ext>
            </a:extLst>
          </p:cNvPr>
          <p:cNvSpPr txBox="1"/>
          <p:nvPr/>
        </p:nvSpPr>
        <p:spPr>
          <a:xfrm>
            <a:off x="1080655" y="1332854"/>
            <a:ext cx="1003761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重启系统，开机引导界面，查看安装内核</a:t>
            </a: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34819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8C30B3-FDFF-D49C-C3A4-BC733AAC7DB2}"/>
              </a:ext>
            </a:extLst>
          </p:cNvPr>
          <p:cNvSpPr txBox="1"/>
          <p:nvPr/>
        </p:nvSpPr>
        <p:spPr>
          <a:xfrm>
            <a:off x="1080655" y="1332854"/>
            <a:ext cx="10037618" cy="1135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选择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3.16.52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版本内核进入，使用</a:t>
            </a: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uname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 –r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查看内核版本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进入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/lib/modules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目录，查看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3.16.52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版本的内核</a:t>
            </a:r>
            <a:endParaRPr lang="zh-CN" altLang="en-US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95C704D-0E1E-84C3-AAB2-B220974838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822" y="3097857"/>
            <a:ext cx="6818356" cy="249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7468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8C30B3-FDFF-D49C-C3A4-BC733AAC7DB2}"/>
              </a:ext>
            </a:extLst>
          </p:cNvPr>
          <p:cNvSpPr txBox="1"/>
          <p:nvPr/>
        </p:nvSpPr>
        <p:spPr>
          <a:xfrm>
            <a:off x="1077191" y="2584474"/>
            <a:ext cx="10037618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内核编译安装工作已经完成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可以在内核源码目录下执行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make clean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清理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掉编译过程中产生的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中间文件</a:t>
            </a:r>
          </a:p>
        </p:txBody>
      </p:sp>
    </p:spTree>
    <p:extLst>
      <p:ext uri="{BB962C8B-B14F-4D97-AF65-F5344CB8AC3E}">
        <p14:creationId xmlns:p14="http://schemas.microsoft.com/office/powerpoint/2010/main" val="21963252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8C30B3-FDFF-D49C-C3A4-BC733AAC7DB2}"/>
              </a:ext>
            </a:extLst>
          </p:cNvPr>
          <p:cNvSpPr txBox="1"/>
          <p:nvPr/>
        </p:nvSpPr>
        <p:spPr>
          <a:xfrm>
            <a:off x="1077191" y="1332854"/>
            <a:ext cx="1003761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编译过程中，磁盘容量已占满（实例）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6971396-998C-B1FF-5D4C-272E3E748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185" y="1913911"/>
            <a:ext cx="8177630" cy="45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206699"/>
      </p:ext>
    </p:extLst>
  </p:cSld>
  <p:clrMapOvr>
    <a:masterClrMapping/>
  </p:clrMapOvr>
  <p:transition spd="slow">
    <p:push dir="u"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4.2.2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编译安装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D8C30B3-FDFF-D49C-C3A4-BC733AAC7DB2}"/>
              </a:ext>
            </a:extLst>
          </p:cNvPr>
          <p:cNvSpPr txBox="1"/>
          <p:nvPr/>
        </p:nvSpPr>
        <p:spPr>
          <a:xfrm>
            <a:off x="1077191" y="1332854"/>
            <a:ext cx="10037618" cy="3905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需要注意的是：需提前做好准备工作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根据硬件配置等具体情况选择相应的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内核版本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安装时保证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执行顺序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执行过程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不能出错，否则编译失败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保证足够的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磁盘空间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，会产生大量中间文件，否则编译失败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编译安装建议：若当前磁盘空间不足，可根据百度方案“</a:t>
            </a: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Centos7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磁盘空间扩容（亲测有效）”进行磁盘扩容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872274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65132" y="447215"/>
            <a:ext cx="3167527" cy="646331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zh-CN" altLang="en-US" sz="3600" kern="1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  <a:cs typeface="+mn-cs"/>
              </a:rPr>
              <a:t>目录页</a:t>
            </a:r>
          </a:p>
        </p:txBody>
      </p:sp>
      <p:cxnSp>
        <p:nvCxnSpPr>
          <p:cNvPr id="50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直接连接符 52"/>
          <p:cNvCxnSpPr>
            <a:cxnSpLocks noChangeShapeType="1"/>
          </p:cNvCxnSpPr>
          <p:nvPr/>
        </p:nvCxnSpPr>
        <p:spPr bwMode="auto">
          <a:xfrm>
            <a:off x="9839441" y="6851216"/>
            <a:ext cx="0" cy="32220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1" name="矩形 1"/>
          <p:cNvSpPr>
            <a:spLocks noChangeArrowheads="1"/>
          </p:cNvSpPr>
          <p:nvPr/>
        </p:nvSpPr>
        <p:spPr bwMode="auto">
          <a:xfrm>
            <a:off x="264393" y="1769173"/>
            <a:ext cx="1888804" cy="2038712"/>
          </a:xfrm>
          <a:prstGeom prst="rect">
            <a:avLst/>
          </a:prstGeom>
          <a:solidFill>
            <a:srgbClr val="1353A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4" name="矩形 21"/>
          <p:cNvSpPr>
            <a:spLocks noChangeArrowheads="1"/>
          </p:cNvSpPr>
          <p:nvPr/>
        </p:nvSpPr>
        <p:spPr bwMode="auto">
          <a:xfrm>
            <a:off x="2165681" y="1769173"/>
            <a:ext cx="1888803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5" name="矩形 22"/>
          <p:cNvSpPr>
            <a:spLocks noChangeArrowheads="1"/>
          </p:cNvSpPr>
          <p:nvPr/>
        </p:nvSpPr>
        <p:spPr bwMode="auto">
          <a:xfrm>
            <a:off x="4053100" y="1769173"/>
            <a:ext cx="1892565" cy="203871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rgbClr val="FFFFFF"/>
              </a:solidFill>
              <a:latin typeface="Franklin Gothic Medium" pitchFamily="34" charset="0"/>
              <a:ea typeface="+mn-ea"/>
            </a:endParaRPr>
          </a:p>
        </p:txBody>
      </p:sp>
      <p:sp>
        <p:nvSpPr>
          <p:cNvPr id="36" name="矩形 28"/>
          <p:cNvSpPr>
            <a:spLocks noChangeArrowheads="1"/>
          </p:cNvSpPr>
          <p:nvPr/>
        </p:nvSpPr>
        <p:spPr bwMode="auto">
          <a:xfrm>
            <a:off x="2099550" y="1841570"/>
            <a:ext cx="2033196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内核编译安装</a:t>
            </a:r>
          </a:p>
        </p:txBody>
      </p:sp>
      <p:sp>
        <p:nvSpPr>
          <p:cNvPr id="37" name="矩形 29"/>
          <p:cNvSpPr>
            <a:spLocks noChangeArrowheads="1"/>
          </p:cNvSpPr>
          <p:nvPr/>
        </p:nvSpPr>
        <p:spPr bwMode="auto">
          <a:xfrm>
            <a:off x="4070327" y="1841570"/>
            <a:ext cx="1811231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内核模块管理</a:t>
            </a:r>
          </a:p>
        </p:txBody>
      </p:sp>
      <p:cxnSp>
        <p:nvCxnSpPr>
          <p:cNvPr id="38" name="直接连接符 7167"/>
          <p:cNvCxnSpPr>
            <a:cxnSpLocks noChangeShapeType="1"/>
          </p:cNvCxnSpPr>
          <p:nvPr/>
        </p:nvCxnSpPr>
        <p:spPr bwMode="auto">
          <a:xfrm>
            <a:off x="240288" y="1688477"/>
            <a:ext cx="1901786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连接符 7172"/>
          <p:cNvCxnSpPr>
            <a:cxnSpLocks noChangeShapeType="1"/>
          </p:cNvCxnSpPr>
          <p:nvPr/>
        </p:nvCxnSpPr>
        <p:spPr bwMode="auto">
          <a:xfrm>
            <a:off x="240288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连接符 50"/>
          <p:cNvCxnSpPr>
            <a:cxnSpLocks noChangeShapeType="1"/>
          </p:cNvCxnSpPr>
          <p:nvPr/>
        </p:nvCxnSpPr>
        <p:spPr bwMode="auto">
          <a:xfrm>
            <a:off x="2130757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连接符 51"/>
          <p:cNvCxnSpPr>
            <a:cxnSpLocks noChangeShapeType="1"/>
          </p:cNvCxnSpPr>
          <p:nvPr/>
        </p:nvCxnSpPr>
        <p:spPr bwMode="auto">
          <a:xfrm>
            <a:off x="4011601" y="1368128"/>
            <a:ext cx="1" cy="277235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2" name="直接连接符 52"/>
          <p:cNvCxnSpPr>
            <a:cxnSpLocks noChangeShapeType="1"/>
          </p:cNvCxnSpPr>
          <p:nvPr/>
        </p:nvCxnSpPr>
        <p:spPr bwMode="auto">
          <a:xfrm>
            <a:off x="5950178" y="1359415"/>
            <a:ext cx="1" cy="24837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TextBox 7177"/>
          <p:cNvSpPr txBox="1">
            <a:spLocks noChangeArrowheads="1"/>
          </p:cNvSpPr>
          <p:nvPr/>
        </p:nvSpPr>
        <p:spPr bwMode="auto">
          <a:xfrm>
            <a:off x="240288" y="1049095"/>
            <a:ext cx="14722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1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4" name="TextBox 7177"/>
          <p:cNvSpPr txBox="1">
            <a:spLocks noChangeArrowheads="1"/>
          </p:cNvSpPr>
          <p:nvPr/>
        </p:nvSpPr>
        <p:spPr bwMode="auto">
          <a:xfrm>
            <a:off x="2142942" y="1049096"/>
            <a:ext cx="139752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4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2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5" name="TextBox 7177"/>
          <p:cNvSpPr txBox="1">
            <a:spLocks noChangeArrowheads="1"/>
          </p:cNvSpPr>
          <p:nvPr/>
        </p:nvSpPr>
        <p:spPr bwMode="auto">
          <a:xfrm>
            <a:off x="3961241" y="1049095"/>
            <a:ext cx="1724661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/>
            <a:r>
              <a:rPr lang="en-US" altLang="zh-CN" sz="1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Part </a:t>
            </a:r>
            <a:r>
              <a:rPr lang="en-US" altLang="zh-CN" sz="15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 </a:t>
            </a:r>
            <a:r>
              <a:rPr lang="en-US" altLang="zh-CN" sz="3600" b="1" dirty="0">
                <a:solidFill>
                  <a:srgbClr val="7F7F7F"/>
                </a:solidFill>
                <a:latin typeface="Broadway" pitchFamily="82" charset="0"/>
                <a:ea typeface="黑体" pitchFamily="2" charset="-122"/>
                <a:cs typeface="Arial" pitchFamily="34" charset="0"/>
              </a:rPr>
              <a:t>3</a:t>
            </a:r>
            <a:endParaRPr lang="zh-CN" altLang="en-US" sz="3600" b="1" dirty="0">
              <a:solidFill>
                <a:srgbClr val="7F7F7F"/>
              </a:solidFill>
              <a:latin typeface="Broadway" pitchFamily="82" charset="0"/>
              <a:ea typeface="黑体" pitchFamily="2" charset="-122"/>
              <a:cs typeface="Arial" pitchFamily="34" charset="0"/>
            </a:endParaRPr>
          </a:p>
        </p:txBody>
      </p:sp>
      <p:sp>
        <p:nvSpPr>
          <p:cNvPr id="46" name="矩形 28"/>
          <p:cNvSpPr>
            <a:spLocks noChangeArrowheads="1"/>
          </p:cNvSpPr>
          <p:nvPr/>
        </p:nvSpPr>
        <p:spPr bwMode="auto">
          <a:xfrm>
            <a:off x="125260" y="1860344"/>
            <a:ext cx="2027937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内核</a:t>
            </a:r>
          </a:p>
        </p:txBody>
      </p:sp>
      <p:cxnSp>
        <p:nvCxnSpPr>
          <p:cNvPr id="47" name="直接连接符 46"/>
          <p:cNvCxnSpPr/>
          <p:nvPr/>
        </p:nvCxnSpPr>
        <p:spPr bwMode="auto">
          <a:xfrm>
            <a:off x="2130757" y="1688477"/>
            <a:ext cx="1901783" cy="1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47"/>
          <p:cNvCxnSpPr/>
          <p:nvPr/>
        </p:nvCxnSpPr>
        <p:spPr bwMode="auto">
          <a:xfrm>
            <a:off x="3991652" y="1688477"/>
            <a:ext cx="1999976" cy="0"/>
          </a:xfrm>
          <a:prstGeom prst="line">
            <a:avLst/>
          </a:prstGeom>
          <a:noFill/>
          <a:ln w="9525">
            <a:solidFill>
              <a:srgbClr val="7F7F7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矩形 28"/>
          <p:cNvSpPr>
            <a:spLocks noChangeArrowheads="1"/>
          </p:cNvSpPr>
          <p:nvPr/>
        </p:nvSpPr>
        <p:spPr bwMode="auto">
          <a:xfrm>
            <a:off x="5967195" y="1870892"/>
            <a:ext cx="1782905" cy="499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FFFFFF"/>
                </a:solidFill>
                <a:latin typeface="微软雅黑" pitchFamily="34" charset="-122"/>
                <a:ea typeface="微软雅黑" pitchFamily="34" charset="-122"/>
              </a:rPr>
              <a:t>目录结构</a:t>
            </a:r>
          </a:p>
        </p:txBody>
      </p:sp>
      <p:pic>
        <p:nvPicPr>
          <p:cNvPr id="40962" name="Picture 2" descr="http://p0.so.qhmsg.com/bdr/200_200_/t013eb22ea356642435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08" y="2395568"/>
            <a:ext cx="1679712" cy="118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4" name="Picture 4" descr="http://image.tianjimedia.com/uploadImages/2012/053/F23KI1298GN6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4230" y="2382128"/>
            <a:ext cx="1729717" cy="1209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66" name="Picture 6" descr="http://js.byf.com/editbiz/2010-8-31/2010443111441090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7902" y="2395568"/>
            <a:ext cx="1607170" cy="1181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654397"/>
      </p:ext>
    </p:extLst>
  </p:cSld>
  <p:clrMapOvr>
    <a:masterClrMapping/>
  </p:clrMapOvr>
  <p:transition spd="slow">
    <p:pull/>
  </p:transition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 p14:presetBounceEnd="44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 p14:presetBounceEnd="44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 p14:presetBounceEnd="44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4000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4000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grpId="0" nodeType="after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2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100"/>
                                </p:stCondLst>
                                <p:childTnLst>
                                  <p:par>
                                    <p:cTn id="18" presetID="15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0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1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2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3" dur="1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4" presetID="15" presetClass="entr" presetSubtype="0" fill="hold" grpId="0" nodeType="withEffect">
                                      <p:stCondLst>
                                        <p:cond delay="2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6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7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8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1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15" presetClass="entr" presetSubtype="0" fill="hold" grpId="0" nodeType="withEffect">
                                      <p:stCondLst>
                                        <p:cond delay="40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4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 fmla="#ppt_x+(cos(-2*pi*(1-$))*-#ppt_x-sin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5" dur="1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 fmla="#ppt_y+(sin(-2*pi*(1-$))*-#ppt_x+cos(-2*pi*(1-$))*(1-#ppt_y))*(1-$)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1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6" fill="hold">
                                <p:stCondLst>
                                  <p:cond delay="2500"/>
                                </p:stCondLst>
                                <p:childTnLst>
                                  <p:par>
                                    <p:cTn id="37" presetID="23" presetClass="entr" presetSubtype="36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9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0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36" fill="hold" grpId="0" nodeType="withEffect">
                                      <p:stCondLst>
                                        <p:cond delay="15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7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8" dur="500" fill="hold"/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3" presetClass="entr" presetSubtype="36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1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2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3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5" presetID="23" presetClass="entr" presetSubtype="36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7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(6*min(max(#ppt_w*#ppt_h,.3),1)-7.4)/-.7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.5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0" dur="500" fill="hold"/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(6*min(max(#ppt_w*#ppt_h,.3),1)-7.4)/-.7*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1" grpId="0" animBg="1"/>
          <p:bldP spid="34" grpId="0" animBg="1"/>
          <p:bldP spid="35" grpId="0" animBg="1"/>
          <p:bldP spid="36" grpId="0"/>
          <p:bldP spid="37" grpId="0"/>
          <p:bldP spid="43" grpId="0"/>
          <p:bldP spid="44" grpId="0"/>
          <p:bldP spid="45" grpId="0"/>
          <p:bldP spid="46" grpId="0"/>
          <p:bldP spid="62" grpId="0"/>
        </p:bldLst>
      </p:timing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378527" y="1580101"/>
            <a:ext cx="9356278" cy="36638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内核包含多个模块</a:t>
            </a: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可以在编译内核时被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r>
              <a:rPr lang="zh-CN" altLang="en-US" sz="2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到内核中</a:t>
            </a:r>
            <a:endParaRPr lang="en-US" altLang="zh-CN" sz="22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也可以在运行时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动态加载</a:t>
            </a:r>
            <a:r>
              <a:rPr lang="zh-CN" altLang="en-US" sz="2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到内核中，动态加载的模块在使用完成之后可以被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卸载</a:t>
            </a:r>
            <a:endParaRPr lang="en-US" altLang="zh-CN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166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378527" y="1580101"/>
            <a:ext cx="9356278" cy="36638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内核模块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对外部提供的一个接口，它的全称是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动态可加载内核模块（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Loadable Kernel Module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LKM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，简称模块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之所以提供模块机制，是因为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内核是一个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单内核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，它把所有的内容集成在一起，虽然效率高，但可扩展性较差，</a:t>
            </a:r>
            <a:r>
              <a:rPr lang="zh-CN" altLang="zh-CN" sz="24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模块机制正好为了弥补这一设计缺陷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681843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694921"/>
              </p:ext>
            </p:extLst>
          </p:nvPr>
        </p:nvGraphicFramePr>
        <p:xfrm>
          <a:off x="6352879" y="1190170"/>
          <a:ext cx="4026807" cy="498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2644110" imgH="3275342" progId="Visio.Drawing.11">
                  <p:embed/>
                </p:oleObj>
              </mc:Choice>
              <mc:Fallback>
                <p:oleObj name="Visio" r:id="rId2" imgW="2644110" imgH="3275342" progId="Visio.Drawing.1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2879" y="1190170"/>
                        <a:ext cx="4026807" cy="49828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流程图: 可选过程 4"/>
          <p:cNvSpPr/>
          <p:nvPr/>
        </p:nvSpPr>
        <p:spPr>
          <a:xfrm>
            <a:off x="595745" y="1628231"/>
            <a:ext cx="5495391" cy="3707540"/>
          </a:xfrm>
          <a:prstGeom prst="flowChartAlternateProcess">
            <a:avLst/>
          </a:prstGeom>
          <a:noFill/>
          <a:ln w="31750">
            <a:solidFill>
              <a:srgbClr val="00ACE6"/>
            </a:solidFill>
            <a:prstDash val="dash"/>
            <a:miter lim="800000"/>
            <a:headEnd/>
            <a:tailEnd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模块是具有独立功能的程序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可以</a:t>
            </a:r>
            <a:r>
              <a:rPr lang="zh-CN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单独编译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不能独立运行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，它只有</a:t>
            </a:r>
            <a:r>
              <a:rPr lang="zh-CN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初始化函数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，没有单独的</a:t>
            </a:r>
            <a:r>
              <a:rPr lang="en-US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main()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函数。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动态加载模块时，模块被链接到内核并作为内核的一部分在</a:t>
            </a:r>
            <a:r>
              <a:rPr lang="zh-CN" altLang="zh-CN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内核空间</a:t>
            </a:r>
            <a:r>
              <a:rPr lang="zh-CN" altLang="zh-CN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运行</a:t>
            </a:r>
            <a:r>
              <a:rPr lang="zh-CN" altLang="en-US" sz="2400" dirty="0"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。</a:t>
            </a:r>
            <a:endParaRPr lang="en-US" altLang="zh-CN" sz="2400" dirty="0">
              <a:latin typeface="微软雅黑" pitchFamily="34" charset="-122"/>
              <a:ea typeface="微软雅黑" pitchFamily="34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05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588655E2-EA0F-5117-468C-33D2C2133769}"/>
              </a:ext>
            </a:extLst>
          </p:cNvPr>
          <p:cNvSpPr txBox="1">
            <a:spLocks/>
          </p:cNvSpPr>
          <p:nvPr/>
        </p:nvSpPr>
        <p:spPr>
          <a:xfrm>
            <a:off x="1378527" y="1580101"/>
            <a:ext cx="9356278" cy="36638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内核模块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存放位置：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/lib/modules/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‘</a:t>
            </a:r>
            <a:r>
              <a:rPr lang="en-US" altLang="zh-CN" sz="2400" dirty="0" err="1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uname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–r</a:t>
            </a:r>
            <a:r>
              <a:rPr lang="zh-CN" altLang="en-US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’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/kernel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目录下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2400" dirty="0" err="1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uname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–r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是当前内核版本号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当前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Centos7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默认内核版本：</a:t>
            </a:r>
            <a:r>
              <a:rPr lang="en-US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3.10.0-514.el7.x86_64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70998ED-A67F-D815-59F9-712A365BE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7217" y="4174775"/>
            <a:ext cx="9017566" cy="175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0664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378527" y="1580101"/>
            <a:ext cx="9356278" cy="36638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/lib/modules/3.10.0-514.el7.x86_64/kernel/</a:t>
            </a: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下存放了多个目录，每个目录保存了很多模块文件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。如</a:t>
            </a:r>
            <a:r>
              <a:rPr lang="en-US" altLang="zh-CN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drivers</a:t>
            </a: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驱动目录</a:t>
            </a:r>
            <a:endParaRPr lang="en-US" altLang="zh-CN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4126914-0885-DC15-889A-D254A2183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964" y="2844537"/>
            <a:ext cx="8006071" cy="3504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20341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378527" y="1580101"/>
            <a:ext cx="9356278" cy="36638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drivers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驱动目录下包含很多子目录，子目录包含多个模块文件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/drivers/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acpi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目录下包含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acpi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高级配置和电源管理结构模块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2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值得注意的是 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.ko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为模块的扩展名</a:t>
            </a:r>
            <a:endParaRPr lang="en-US" altLang="zh-CN" sz="22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D1D7ECD-AE4B-B873-8099-68929730B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6037" y="2999509"/>
            <a:ext cx="7739925" cy="168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9348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378527" y="1580101"/>
            <a:ext cx="9356278" cy="36638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模块用来实现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一种文件系统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一个驱动程序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一个操作系统服务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一个新的系统调用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0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或其他内核中的功能</a:t>
            </a: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0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55645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 rot="16200000">
            <a:off x="3770102" y="4487634"/>
            <a:ext cx="1238097" cy="149750"/>
          </a:xfrm>
          <a:prstGeom prst="rect">
            <a:avLst/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任意多边形 4"/>
          <p:cNvSpPr/>
          <p:nvPr/>
        </p:nvSpPr>
        <p:spPr>
          <a:xfrm>
            <a:off x="4051458" y="4940293"/>
            <a:ext cx="1663898" cy="998339"/>
          </a:xfrm>
          <a:custGeom>
            <a:avLst/>
            <a:gdLst>
              <a:gd name="connsiteX0" fmla="*/ 0 w 1663898"/>
              <a:gd name="connsiteY0" fmla="*/ 99834 h 998339"/>
              <a:gd name="connsiteX1" fmla="*/ 99834 w 1663898"/>
              <a:gd name="connsiteY1" fmla="*/ 0 h 998339"/>
              <a:gd name="connsiteX2" fmla="*/ 1564064 w 1663898"/>
              <a:gd name="connsiteY2" fmla="*/ 0 h 998339"/>
              <a:gd name="connsiteX3" fmla="*/ 1663898 w 1663898"/>
              <a:gd name="connsiteY3" fmla="*/ 99834 h 998339"/>
              <a:gd name="connsiteX4" fmla="*/ 1663898 w 1663898"/>
              <a:gd name="connsiteY4" fmla="*/ 898505 h 998339"/>
              <a:gd name="connsiteX5" fmla="*/ 1564064 w 1663898"/>
              <a:gd name="connsiteY5" fmla="*/ 998339 h 998339"/>
              <a:gd name="connsiteX6" fmla="*/ 99834 w 1663898"/>
              <a:gd name="connsiteY6" fmla="*/ 998339 h 998339"/>
              <a:gd name="connsiteX7" fmla="*/ 0 w 1663898"/>
              <a:gd name="connsiteY7" fmla="*/ 898505 h 998339"/>
              <a:gd name="connsiteX8" fmla="*/ 0 w 1663898"/>
              <a:gd name="connsiteY8" fmla="*/ 99834 h 99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63898" h="998339">
                <a:moveTo>
                  <a:pt x="0" y="99834"/>
                </a:moveTo>
                <a:cubicBezTo>
                  <a:pt x="0" y="44697"/>
                  <a:pt x="44697" y="0"/>
                  <a:pt x="99834" y="0"/>
                </a:cubicBezTo>
                <a:lnTo>
                  <a:pt x="1564064" y="0"/>
                </a:lnTo>
                <a:cubicBezTo>
                  <a:pt x="1619201" y="0"/>
                  <a:pt x="1663898" y="44697"/>
                  <a:pt x="1663898" y="99834"/>
                </a:cubicBezTo>
                <a:lnTo>
                  <a:pt x="1663898" y="898505"/>
                </a:lnTo>
                <a:cubicBezTo>
                  <a:pt x="1663898" y="953642"/>
                  <a:pt x="1619201" y="998339"/>
                  <a:pt x="1564064" y="998339"/>
                </a:cubicBezTo>
                <a:lnTo>
                  <a:pt x="99834" y="998339"/>
                </a:lnTo>
                <a:cubicBezTo>
                  <a:pt x="44697" y="998339"/>
                  <a:pt x="0" y="953642"/>
                  <a:pt x="0" y="898505"/>
                </a:cubicBezTo>
                <a:lnTo>
                  <a:pt x="0" y="9983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260" tIns="189260" rIns="189260" bIns="189260" numCol="1" spcCol="1270" anchor="ctr" anchorCtr="0">
            <a:noAutofit/>
          </a:bodyPr>
          <a:lstStyle/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模块导出符号</a:t>
            </a:r>
          </a:p>
        </p:txBody>
      </p:sp>
      <p:sp>
        <p:nvSpPr>
          <p:cNvPr id="6" name="矩形 5"/>
          <p:cNvSpPr/>
          <p:nvPr/>
        </p:nvSpPr>
        <p:spPr>
          <a:xfrm rot="16200000">
            <a:off x="3770102" y="3239710"/>
            <a:ext cx="1238097" cy="149750"/>
          </a:xfrm>
          <a:prstGeom prst="rect">
            <a:avLst/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任意多边形 6"/>
          <p:cNvSpPr/>
          <p:nvPr/>
        </p:nvSpPr>
        <p:spPr>
          <a:xfrm>
            <a:off x="4107872" y="3692369"/>
            <a:ext cx="1607483" cy="998339"/>
          </a:xfrm>
          <a:custGeom>
            <a:avLst/>
            <a:gdLst>
              <a:gd name="connsiteX0" fmla="*/ 0 w 1663898"/>
              <a:gd name="connsiteY0" fmla="*/ 99834 h 998339"/>
              <a:gd name="connsiteX1" fmla="*/ 99834 w 1663898"/>
              <a:gd name="connsiteY1" fmla="*/ 0 h 998339"/>
              <a:gd name="connsiteX2" fmla="*/ 1564064 w 1663898"/>
              <a:gd name="connsiteY2" fmla="*/ 0 h 998339"/>
              <a:gd name="connsiteX3" fmla="*/ 1663898 w 1663898"/>
              <a:gd name="connsiteY3" fmla="*/ 99834 h 998339"/>
              <a:gd name="connsiteX4" fmla="*/ 1663898 w 1663898"/>
              <a:gd name="connsiteY4" fmla="*/ 898505 h 998339"/>
              <a:gd name="connsiteX5" fmla="*/ 1564064 w 1663898"/>
              <a:gd name="connsiteY5" fmla="*/ 998339 h 998339"/>
              <a:gd name="connsiteX6" fmla="*/ 99834 w 1663898"/>
              <a:gd name="connsiteY6" fmla="*/ 998339 h 998339"/>
              <a:gd name="connsiteX7" fmla="*/ 0 w 1663898"/>
              <a:gd name="connsiteY7" fmla="*/ 898505 h 998339"/>
              <a:gd name="connsiteX8" fmla="*/ 0 w 1663898"/>
              <a:gd name="connsiteY8" fmla="*/ 99834 h 99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63898" h="998339">
                <a:moveTo>
                  <a:pt x="0" y="99834"/>
                </a:moveTo>
                <a:cubicBezTo>
                  <a:pt x="0" y="44697"/>
                  <a:pt x="44697" y="0"/>
                  <a:pt x="99834" y="0"/>
                </a:cubicBezTo>
                <a:lnTo>
                  <a:pt x="1564064" y="0"/>
                </a:lnTo>
                <a:cubicBezTo>
                  <a:pt x="1619201" y="0"/>
                  <a:pt x="1663898" y="44697"/>
                  <a:pt x="1663898" y="99834"/>
                </a:cubicBezTo>
                <a:lnTo>
                  <a:pt x="1663898" y="898505"/>
                </a:lnTo>
                <a:cubicBezTo>
                  <a:pt x="1663898" y="953642"/>
                  <a:pt x="1619201" y="998339"/>
                  <a:pt x="1564064" y="998339"/>
                </a:cubicBezTo>
                <a:lnTo>
                  <a:pt x="99834" y="998339"/>
                </a:lnTo>
                <a:cubicBezTo>
                  <a:pt x="44697" y="998339"/>
                  <a:pt x="0" y="953642"/>
                  <a:pt x="0" y="898505"/>
                </a:cubicBezTo>
                <a:lnTo>
                  <a:pt x="0" y="9983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260" tIns="189260" rIns="189260" bIns="189260" numCol="1" spcCol="1270" anchor="ctr" anchorCtr="0">
            <a:noAutofit/>
          </a:bodyPr>
          <a:lstStyle/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许可证</a:t>
            </a:r>
          </a:p>
        </p:txBody>
      </p:sp>
      <p:sp>
        <p:nvSpPr>
          <p:cNvPr id="9" name="矩形 8"/>
          <p:cNvSpPr/>
          <p:nvPr/>
        </p:nvSpPr>
        <p:spPr>
          <a:xfrm>
            <a:off x="4394064" y="2615748"/>
            <a:ext cx="2203158" cy="149750"/>
          </a:xfrm>
          <a:prstGeom prst="rect">
            <a:avLst/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0" name="任意多边形 9"/>
          <p:cNvSpPr/>
          <p:nvPr/>
        </p:nvSpPr>
        <p:spPr>
          <a:xfrm>
            <a:off x="3297382" y="2444445"/>
            <a:ext cx="2417974" cy="998339"/>
          </a:xfrm>
          <a:custGeom>
            <a:avLst/>
            <a:gdLst>
              <a:gd name="connsiteX0" fmla="*/ 0 w 1663898"/>
              <a:gd name="connsiteY0" fmla="*/ 99834 h 998339"/>
              <a:gd name="connsiteX1" fmla="*/ 99834 w 1663898"/>
              <a:gd name="connsiteY1" fmla="*/ 0 h 998339"/>
              <a:gd name="connsiteX2" fmla="*/ 1564064 w 1663898"/>
              <a:gd name="connsiteY2" fmla="*/ 0 h 998339"/>
              <a:gd name="connsiteX3" fmla="*/ 1663898 w 1663898"/>
              <a:gd name="connsiteY3" fmla="*/ 99834 h 998339"/>
              <a:gd name="connsiteX4" fmla="*/ 1663898 w 1663898"/>
              <a:gd name="connsiteY4" fmla="*/ 898505 h 998339"/>
              <a:gd name="connsiteX5" fmla="*/ 1564064 w 1663898"/>
              <a:gd name="connsiteY5" fmla="*/ 998339 h 998339"/>
              <a:gd name="connsiteX6" fmla="*/ 99834 w 1663898"/>
              <a:gd name="connsiteY6" fmla="*/ 998339 h 998339"/>
              <a:gd name="connsiteX7" fmla="*/ 0 w 1663898"/>
              <a:gd name="connsiteY7" fmla="*/ 898505 h 998339"/>
              <a:gd name="connsiteX8" fmla="*/ 0 w 1663898"/>
              <a:gd name="connsiteY8" fmla="*/ 99834 h 99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63898" h="998339">
                <a:moveTo>
                  <a:pt x="0" y="99834"/>
                </a:moveTo>
                <a:cubicBezTo>
                  <a:pt x="0" y="44697"/>
                  <a:pt x="44697" y="0"/>
                  <a:pt x="99834" y="0"/>
                </a:cubicBezTo>
                <a:lnTo>
                  <a:pt x="1564064" y="0"/>
                </a:lnTo>
                <a:cubicBezTo>
                  <a:pt x="1619201" y="0"/>
                  <a:pt x="1663898" y="44697"/>
                  <a:pt x="1663898" y="99834"/>
                </a:cubicBezTo>
                <a:lnTo>
                  <a:pt x="1663898" y="898505"/>
                </a:lnTo>
                <a:cubicBezTo>
                  <a:pt x="1663898" y="953642"/>
                  <a:pt x="1619201" y="998339"/>
                  <a:pt x="1564064" y="998339"/>
                </a:cubicBezTo>
                <a:lnTo>
                  <a:pt x="99834" y="998339"/>
                </a:lnTo>
                <a:cubicBezTo>
                  <a:pt x="44697" y="998339"/>
                  <a:pt x="0" y="953642"/>
                  <a:pt x="0" y="898505"/>
                </a:cubicBezTo>
                <a:lnTo>
                  <a:pt x="0" y="9983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260" tIns="189260" rIns="189260" bIns="189260" numCol="1" spcCol="1270" anchor="ctr" anchorCtr="0">
            <a:noAutofit/>
          </a:bodyPr>
          <a:lstStyle/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模块加载函数：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init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 rot="5400000">
            <a:off x="5983087" y="3239710"/>
            <a:ext cx="1238097" cy="149750"/>
          </a:xfrm>
          <a:prstGeom prst="rect">
            <a:avLst/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任意多边形 11"/>
          <p:cNvSpPr/>
          <p:nvPr/>
        </p:nvSpPr>
        <p:spPr>
          <a:xfrm>
            <a:off x="6261949" y="2444445"/>
            <a:ext cx="2417975" cy="998339"/>
          </a:xfrm>
          <a:custGeom>
            <a:avLst/>
            <a:gdLst>
              <a:gd name="connsiteX0" fmla="*/ 0 w 1663898"/>
              <a:gd name="connsiteY0" fmla="*/ 99834 h 998339"/>
              <a:gd name="connsiteX1" fmla="*/ 99834 w 1663898"/>
              <a:gd name="connsiteY1" fmla="*/ 0 h 998339"/>
              <a:gd name="connsiteX2" fmla="*/ 1564064 w 1663898"/>
              <a:gd name="connsiteY2" fmla="*/ 0 h 998339"/>
              <a:gd name="connsiteX3" fmla="*/ 1663898 w 1663898"/>
              <a:gd name="connsiteY3" fmla="*/ 99834 h 998339"/>
              <a:gd name="connsiteX4" fmla="*/ 1663898 w 1663898"/>
              <a:gd name="connsiteY4" fmla="*/ 898505 h 998339"/>
              <a:gd name="connsiteX5" fmla="*/ 1564064 w 1663898"/>
              <a:gd name="connsiteY5" fmla="*/ 998339 h 998339"/>
              <a:gd name="connsiteX6" fmla="*/ 99834 w 1663898"/>
              <a:gd name="connsiteY6" fmla="*/ 998339 h 998339"/>
              <a:gd name="connsiteX7" fmla="*/ 0 w 1663898"/>
              <a:gd name="connsiteY7" fmla="*/ 898505 h 998339"/>
              <a:gd name="connsiteX8" fmla="*/ 0 w 1663898"/>
              <a:gd name="connsiteY8" fmla="*/ 99834 h 99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63898" h="998339">
                <a:moveTo>
                  <a:pt x="0" y="99834"/>
                </a:moveTo>
                <a:cubicBezTo>
                  <a:pt x="0" y="44697"/>
                  <a:pt x="44697" y="0"/>
                  <a:pt x="99834" y="0"/>
                </a:cubicBezTo>
                <a:lnTo>
                  <a:pt x="1564064" y="0"/>
                </a:lnTo>
                <a:cubicBezTo>
                  <a:pt x="1619201" y="0"/>
                  <a:pt x="1663898" y="44697"/>
                  <a:pt x="1663898" y="99834"/>
                </a:cubicBezTo>
                <a:lnTo>
                  <a:pt x="1663898" y="898505"/>
                </a:lnTo>
                <a:cubicBezTo>
                  <a:pt x="1663898" y="953642"/>
                  <a:pt x="1619201" y="998339"/>
                  <a:pt x="1564064" y="998339"/>
                </a:cubicBezTo>
                <a:lnTo>
                  <a:pt x="99834" y="998339"/>
                </a:lnTo>
                <a:cubicBezTo>
                  <a:pt x="44697" y="998339"/>
                  <a:pt x="0" y="953642"/>
                  <a:pt x="0" y="898505"/>
                </a:cubicBezTo>
                <a:lnTo>
                  <a:pt x="0" y="9983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260" tIns="189260" rIns="189260" bIns="189260" numCol="1" spcCol="1270" anchor="ctr" anchorCtr="0">
            <a:noAutofit/>
          </a:bodyPr>
          <a:lstStyle/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模块卸载函数</a:t>
            </a:r>
            <a:endPara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exit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clean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 rot="5400000">
            <a:off x="5983087" y="4487634"/>
            <a:ext cx="1238097" cy="149750"/>
          </a:xfrm>
          <a:prstGeom prst="rect">
            <a:avLst/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4" name="任意多边形 13"/>
          <p:cNvSpPr/>
          <p:nvPr/>
        </p:nvSpPr>
        <p:spPr>
          <a:xfrm>
            <a:off x="6264443" y="3692369"/>
            <a:ext cx="1663898" cy="998339"/>
          </a:xfrm>
          <a:custGeom>
            <a:avLst/>
            <a:gdLst>
              <a:gd name="connsiteX0" fmla="*/ 0 w 1663898"/>
              <a:gd name="connsiteY0" fmla="*/ 99834 h 998339"/>
              <a:gd name="connsiteX1" fmla="*/ 99834 w 1663898"/>
              <a:gd name="connsiteY1" fmla="*/ 0 h 998339"/>
              <a:gd name="connsiteX2" fmla="*/ 1564064 w 1663898"/>
              <a:gd name="connsiteY2" fmla="*/ 0 h 998339"/>
              <a:gd name="connsiteX3" fmla="*/ 1663898 w 1663898"/>
              <a:gd name="connsiteY3" fmla="*/ 99834 h 998339"/>
              <a:gd name="connsiteX4" fmla="*/ 1663898 w 1663898"/>
              <a:gd name="connsiteY4" fmla="*/ 898505 h 998339"/>
              <a:gd name="connsiteX5" fmla="*/ 1564064 w 1663898"/>
              <a:gd name="connsiteY5" fmla="*/ 998339 h 998339"/>
              <a:gd name="connsiteX6" fmla="*/ 99834 w 1663898"/>
              <a:gd name="connsiteY6" fmla="*/ 998339 h 998339"/>
              <a:gd name="connsiteX7" fmla="*/ 0 w 1663898"/>
              <a:gd name="connsiteY7" fmla="*/ 898505 h 998339"/>
              <a:gd name="connsiteX8" fmla="*/ 0 w 1663898"/>
              <a:gd name="connsiteY8" fmla="*/ 99834 h 99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63898" h="998339">
                <a:moveTo>
                  <a:pt x="0" y="99834"/>
                </a:moveTo>
                <a:cubicBezTo>
                  <a:pt x="0" y="44697"/>
                  <a:pt x="44697" y="0"/>
                  <a:pt x="99834" y="0"/>
                </a:cubicBezTo>
                <a:lnTo>
                  <a:pt x="1564064" y="0"/>
                </a:lnTo>
                <a:cubicBezTo>
                  <a:pt x="1619201" y="0"/>
                  <a:pt x="1663898" y="44697"/>
                  <a:pt x="1663898" y="99834"/>
                </a:cubicBezTo>
                <a:lnTo>
                  <a:pt x="1663898" y="898505"/>
                </a:lnTo>
                <a:cubicBezTo>
                  <a:pt x="1663898" y="953642"/>
                  <a:pt x="1619201" y="998339"/>
                  <a:pt x="1564064" y="998339"/>
                </a:cubicBezTo>
                <a:lnTo>
                  <a:pt x="99834" y="998339"/>
                </a:lnTo>
                <a:cubicBezTo>
                  <a:pt x="44697" y="998339"/>
                  <a:pt x="0" y="953642"/>
                  <a:pt x="0" y="898505"/>
                </a:cubicBezTo>
                <a:lnTo>
                  <a:pt x="0" y="9983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260" tIns="189260" rIns="189260" bIns="189260" numCol="1" spcCol="1270" anchor="ctr" anchorCtr="0">
            <a:noAutofit/>
          </a:bodyPr>
          <a:lstStyle/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参数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/>
        </p:nvSpPr>
        <p:spPr>
          <a:xfrm>
            <a:off x="6264443" y="4940293"/>
            <a:ext cx="1663898" cy="998339"/>
          </a:xfrm>
          <a:custGeom>
            <a:avLst/>
            <a:gdLst>
              <a:gd name="connsiteX0" fmla="*/ 0 w 1663898"/>
              <a:gd name="connsiteY0" fmla="*/ 99834 h 998339"/>
              <a:gd name="connsiteX1" fmla="*/ 99834 w 1663898"/>
              <a:gd name="connsiteY1" fmla="*/ 0 h 998339"/>
              <a:gd name="connsiteX2" fmla="*/ 1564064 w 1663898"/>
              <a:gd name="connsiteY2" fmla="*/ 0 h 998339"/>
              <a:gd name="connsiteX3" fmla="*/ 1663898 w 1663898"/>
              <a:gd name="connsiteY3" fmla="*/ 99834 h 998339"/>
              <a:gd name="connsiteX4" fmla="*/ 1663898 w 1663898"/>
              <a:gd name="connsiteY4" fmla="*/ 898505 h 998339"/>
              <a:gd name="connsiteX5" fmla="*/ 1564064 w 1663898"/>
              <a:gd name="connsiteY5" fmla="*/ 998339 h 998339"/>
              <a:gd name="connsiteX6" fmla="*/ 99834 w 1663898"/>
              <a:gd name="connsiteY6" fmla="*/ 998339 h 998339"/>
              <a:gd name="connsiteX7" fmla="*/ 0 w 1663898"/>
              <a:gd name="connsiteY7" fmla="*/ 898505 h 998339"/>
              <a:gd name="connsiteX8" fmla="*/ 0 w 1663898"/>
              <a:gd name="connsiteY8" fmla="*/ 99834 h 998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63898" h="998339">
                <a:moveTo>
                  <a:pt x="0" y="99834"/>
                </a:moveTo>
                <a:cubicBezTo>
                  <a:pt x="0" y="44697"/>
                  <a:pt x="44697" y="0"/>
                  <a:pt x="99834" y="0"/>
                </a:cubicBezTo>
                <a:lnTo>
                  <a:pt x="1564064" y="0"/>
                </a:lnTo>
                <a:cubicBezTo>
                  <a:pt x="1619201" y="0"/>
                  <a:pt x="1663898" y="44697"/>
                  <a:pt x="1663898" y="99834"/>
                </a:cubicBezTo>
                <a:lnTo>
                  <a:pt x="1663898" y="898505"/>
                </a:lnTo>
                <a:cubicBezTo>
                  <a:pt x="1663898" y="953642"/>
                  <a:pt x="1619201" y="998339"/>
                  <a:pt x="1564064" y="998339"/>
                </a:cubicBezTo>
                <a:lnTo>
                  <a:pt x="99834" y="998339"/>
                </a:lnTo>
                <a:cubicBezTo>
                  <a:pt x="44697" y="998339"/>
                  <a:pt x="0" y="953642"/>
                  <a:pt x="0" y="898505"/>
                </a:cubicBezTo>
                <a:lnTo>
                  <a:pt x="0" y="99834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89260" tIns="189260" rIns="189260" bIns="189260" numCol="1" spcCol="1270" anchor="ctr" anchorCtr="0">
            <a:noAutofit/>
          </a:bodyPr>
          <a:lstStyle/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 algn="ctr" defTabSz="18669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信息</a:t>
            </a:r>
          </a:p>
        </p:txBody>
      </p:sp>
      <p:sp>
        <p:nvSpPr>
          <p:cNvPr id="16" name="矩形 15"/>
          <p:cNvSpPr/>
          <p:nvPr/>
        </p:nvSpPr>
        <p:spPr>
          <a:xfrm>
            <a:off x="5715356" y="5364587"/>
            <a:ext cx="563602" cy="149750"/>
          </a:xfrm>
          <a:prstGeom prst="rect">
            <a:avLst/>
          </a:prstGeom>
        </p:spPr>
        <p:style>
          <a:lnRef idx="0">
            <a:schemeClr val="accent1">
              <a:tint val="60000"/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6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6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7" name="矩形 16"/>
          <p:cNvSpPr/>
          <p:nvPr/>
        </p:nvSpPr>
        <p:spPr>
          <a:xfrm>
            <a:off x="3349173" y="1698189"/>
            <a:ext cx="5295968" cy="590931"/>
          </a:xfrm>
          <a:prstGeom prst="rect">
            <a:avLst/>
          </a:prstGeom>
          <a:ln/>
          <a:scene3d>
            <a:camera prst="perspectiveRelaxedModerately"/>
            <a:lightRig rig="threePt" dir="t"/>
          </a:scene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>
              <a:lnSpc>
                <a:spcPct val="13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模块程序结构</a:t>
            </a:r>
          </a:p>
        </p:txBody>
      </p:sp>
    </p:spTree>
    <p:extLst>
      <p:ext uri="{BB962C8B-B14F-4D97-AF65-F5344CB8AC3E}">
        <p14:creationId xmlns:p14="http://schemas.microsoft.com/office/powerpoint/2010/main" val="211166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2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0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4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8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2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7" grpId="0" animBg="1"/>
      <p:bldP spid="7" grpId="1" animBg="1"/>
      <p:bldP spid="10" grpId="0" animBg="1"/>
      <p:bldP spid="10" grpId="1" animBg="1"/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382027" y="1372513"/>
            <a:ext cx="6200384" cy="590931"/>
          </a:xfrm>
          <a:prstGeom prst="rect">
            <a:avLst/>
          </a:prstGeom>
          <a:ln/>
          <a:scene3d>
            <a:camera prst="perspectiveRelaxedModerately"/>
            <a:lightRig rig="threePt" dir="t"/>
          </a:scene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普通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语言模块              内核模块</a:t>
            </a:r>
          </a:p>
        </p:txBody>
      </p:sp>
      <p:sp>
        <p:nvSpPr>
          <p:cNvPr id="5" name="矩形 4"/>
          <p:cNvSpPr/>
          <p:nvPr/>
        </p:nvSpPr>
        <p:spPr>
          <a:xfrm>
            <a:off x="3932373" y="2153302"/>
            <a:ext cx="1436111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 algn="r">
              <a:lnSpc>
                <a:spcPct val="135000"/>
              </a:lnSpc>
              <a:defRPr/>
            </a:pPr>
            <a:r>
              <a:rPr lang="zh-CN" altLang="en-US" sz="2400" dirty="0">
                <a:ea typeface="楷体_GB2312" panose="02010609030101010101" pitchFamily="49" charset="-122"/>
              </a:rPr>
              <a:t>用户空间</a:t>
            </a:r>
          </a:p>
        </p:txBody>
      </p:sp>
      <p:sp>
        <p:nvSpPr>
          <p:cNvPr id="6" name="矩形 5"/>
          <p:cNvSpPr/>
          <p:nvPr/>
        </p:nvSpPr>
        <p:spPr>
          <a:xfrm>
            <a:off x="3068877" y="3325846"/>
            <a:ext cx="2306475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 algn="r">
              <a:lnSpc>
                <a:spcPct val="135000"/>
              </a:lnSpc>
              <a:defRPr/>
            </a:pPr>
            <a:r>
              <a:rPr lang="zh-CN" altLang="en-US" sz="2400" dirty="0">
                <a:ea typeface="楷体_GB2312" panose="02010609030101010101" pitchFamily="49" charset="-122"/>
              </a:rPr>
              <a:t>无</a:t>
            </a:r>
          </a:p>
        </p:txBody>
      </p:sp>
      <p:sp>
        <p:nvSpPr>
          <p:cNvPr id="7" name="矩形 6"/>
          <p:cNvSpPr/>
          <p:nvPr/>
        </p:nvSpPr>
        <p:spPr>
          <a:xfrm>
            <a:off x="2489393" y="3917387"/>
            <a:ext cx="2885960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 algn="r">
              <a:lnSpc>
                <a:spcPct val="135000"/>
              </a:lnSpc>
              <a:defRPr/>
            </a:pPr>
            <a:r>
              <a:rPr lang="en-US" altLang="zh-CN" sz="2400" dirty="0" err="1">
                <a:ea typeface="楷体_GB2312" panose="02010609030101010101" pitchFamily="49" charset="-122"/>
              </a:rPr>
              <a:t>gcc</a:t>
            </a:r>
            <a:r>
              <a:rPr lang="en-US" altLang="zh-CN" sz="2400" dirty="0">
                <a:ea typeface="楷体_GB2312" panose="02010609030101010101" pitchFamily="49" charset="-122"/>
              </a:rPr>
              <a:t> -c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980046" y="2151334"/>
            <a:ext cx="1416504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sz="2400" dirty="0">
                <a:ea typeface="楷体_GB2312" panose="02010609030101010101" pitchFamily="49" charset="-122"/>
              </a:rPr>
              <a:t>内核空间</a:t>
            </a:r>
          </a:p>
        </p:txBody>
      </p:sp>
      <p:sp>
        <p:nvSpPr>
          <p:cNvPr id="10" name="矩形 9"/>
          <p:cNvSpPr/>
          <p:nvPr/>
        </p:nvSpPr>
        <p:spPr>
          <a:xfrm>
            <a:off x="6980046" y="2740554"/>
            <a:ext cx="2545604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sz="2400" dirty="0" err="1">
                <a:ea typeface="楷体_GB2312" panose="02010609030101010101" pitchFamily="49" charset="-122"/>
              </a:rPr>
              <a:t>init_module</a:t>
            </a:r>
            <a:r>
              <a:rPr lang="en-US" altLang="zh-CN" sz="2400" dirty="0">
                <a:ea typeface="楷体_GB2312" panose="02010609030101010101" pitchFamily="49" charset="-122"/>
              </a:rPr>
              <a:t>()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74177" y="3329130"/>
            <a:ext cx="2984015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sz="2400" dirty="0" err="1">
                <a:ea typeface="楷体_GB2312" panose="02010609030101010101" pitchFamily="49" charset="-122"/>
              </a:rPr>
              <a:t>exit_module</a:t>
            </a:r>
            <a:r>
              <a:rPr lang="en-US" altLang="zh-CN" sz="2400" dirty="0">
                <a:ea typeface="楷体_GB2312" panose="02010609030101010101" pitchFamily="49" charset="-122"/>
              </a:rPr>
              <a:t>()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74175" y="3920671"/>
            <a:ext cx="4624925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sz="2400" dirty="0" err="1"/>
              <a:t>gcc</a:t>
            </a:r>
            <a:r>
              <a:rPr lang="en-US" altLang="zh-CN" sz="2400" dirty="0"/>
              <a:t> –c –D_KERNEL_-DMODULE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80046" y="4512505"/>
            <a:ext cx="2808650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sz="2400" dirty="0" err="1">
                <a:ea typeface="楷体_GB2312" panose="02010609030101010101" pitchFamily="49" charset="-122"/>
              </a:rPr>
              <a:t>insmod</a:t>
            </a:r>
            <a:r>
              <a:rPr lang="en-US" altLang="zh-CN" sz="2400" dirty="0">
                <a:ea typeface="楷体_GB2312" panose="02010609030101010101" pitchFamily="49" charset="-122"/>
              </a:rPr>
              <a:t>/</a:t>
            </a:r>
            <a:r>
              <a:rPr lang="en-US" altLang="zh-CN" sz="2400" dirty="0" err="1">
                <a:ea typeface="楷体_GB2312" panose="02010609030101010101" pitchFamily="49" charset="-122"/>
              </a:rPr>
              <a:t>modprobe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72608" y="5688919"/>
            <a:ext cx="2312460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sz="2400" dirty="0" err="1">
                <a:ea typeface="楷体_GB2312" panose="02010609030101010101" pitchFamily="49" charset="-122"/>
              </a:rPr>
              <a:t>kdbug</a:t>
            </a:r>
            <a:r>
              <a:rPr lang="en-US" altLang="zh-CN" sz="2400" dirty="0">
                <a:ea typeface="楷体_GB2312" panose="02010609030101010101" pitchFamily="49" charset="-122"/>
              </a:rPr>
              <a:t>/</a:t>
            </a:r>
            <a:r>
              <a:rPr lang="en-US" altLang="zh-CN" sz="2400" dirty="0" err="1">
                <a:ea typeface="楷体_GB2312" panose="02010609030101010101" pitchFamily="49" charset="-122"/>
              </a:rPr>
              <a:t>kdb</a:t>
            </a:r>
            <a:r>
              <a:rPr lang="zh-CN" altLang="en-US" sz="2400" dirty="0">
                <a:ea typeface="楷体_GB2312" panose="02010609030101010101" pitchFamily="49" charset="-122"/>
              </a:rPr>
              <a:t>等</a:t>
            </a:r>
          </a:p>
        </p:txBody>
      </p:sp>
      <p:sp>
        <p:nvSpPr>
          <p:cNvPr id="15" name="左右箭头 14"/>
          <p:cNvSpPr/>
          <p:nvPr/>
        </p:nvSpPr>
        <p:spPr>
          <a:xfrm>
            <a:off x="5441874" y="2104374"/>
            <a:ext cx="1530733" cy="617224"/>
          </a:xfrm>
          <a:prstGeom prst="left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空间</a:t>
            </a:r>
          </a:p>
        </p:txBody>
      </p:sp>
      <p:sp>
        <p:nvSpPr>
          <p:cNvPr id="16" name="左右箭头 15"/>
          <p:cNvSpPr/>
          <p:nvPr/>
        </p:nvSpPr>
        <p:spPr>
          <a:xfrm>
            <a:off x="5441874" y="2707266"/>
            <a:ext cx="1535131" cy="620943"/>
          </a:xfrm>
          <a:prstGeom prst="left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入口</a:t>
            </a:r>
          </a:p>
        </p:txBody>
      </p:sp>
      <p:sp>
        <p:nvSpPr>
          <p:cNvPr id="17" name="左右箭头 16"/>
          <p:cNvSpPr/>
          <p:nvPr/>
        </p:nvSpPr>
        <p:spPr>
          <a:xfrm>
            <a:off x="5404295" y="3303157"/>
            <a:ext cx="1530733" cy="566489"/>
          </a:xfrm>
          <a:prstGeom prst="left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出口</a:t>
            </a:r>
          </a:p>
        </p:txBody>
      </p:sp>
      <p:sp>
        <p:nvSpPr>
          <p:cNvPr id="18" name="左右箭头 17"/>
          <p:cNvSpPr/>
          <p:nvPr/>
        </p:nvSpPr>
        <p:spPr>
          <a:xfrm>
            <a:off x="5378444" y="3875606"/>
            <a:ext cx="1569110" cy="607638"/>
          </a:xfrm>
          <a:prstGeom prst="left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编译</a:t>
            </a:r>
          </a:p>
        </p:txBody>
      </p:sp>
      <p:sp>
        <p:nvSpPr>
          <p:cNvPr id="19" name="左右箭头 18"/>
          <p:cNvSpPr/>
          <p:nvPr/>
        </p:nvSpPr>
        <p:spPr>
          <a:xfrm>
            <a:off x="5365918" y="4471792"/>
            <a:ext cx="1581637" cy="621343"/>
          </a:xfrm>
          <a:prstGeom prst="left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链接</a:t>
            </a:r>
          </a:p>
        </p:txBody>
      </p:sp>
      <p:sp>
        <p:nvSpPr>
          <p:cNvPr id="20" name="左右箭头 19"/>
          <p:cNvSpPr/>
          <p:nvPr/>
        </p:nvSpPr>
        <p:spPr>
          <a:xfrm>
            <a:off x="5391769" y="5072937"/>
            <a:ext cx="1572709" cy="624326"/>
          </a:xfrm>
          <a:prstGeom prst="left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调试</a:t>
            </a:r>
          </a:p>
        </p:txBody>
      </p:sp>
      <p:sp>
        <p:nvSpPr>
          <p:cNvPr id="21" name="左右箭头 20"/>
          <p:cNvSpPr/>
          <p:nvPr/>
        </p:nvSpPr>
        <p:spPr>
          <a:xfrm>
            <a:off x="5404295" y="5669257"/>
            <a:ext cx="1546665" cy="609229"/>
          </a:xfrm>
          <a:prstGeom prst="leftRightArrow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/>
              <a:t>运行</a:t>
            </a:r>
          </a:p>
        </p:txBody>
      </p:sp>
      <p:sp>
        <p:nvSpPr>
          <p:cNvPr id="22" name="矩形 21"/>
          <p:cNvSpPr/>
          <p:nvPr/>
        </p:nvSpPr>
        <p:spPr>
          <a:xfrm>
            <a:off x="3382027" y="2746649"/>
            <a:ext cx="1993325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 algn="r">
              <a:lnSpc>
                <a:spcPct val="135000"/>
              </a:lnSpc>
              <a:defRPr/>
            </a:pPr>
            <a:r>
              <a:rPr lang="en-US" altLang="zh-CN" sz="2400" dirty="0">
                <a:ea typeface="楷体_GB2312" panose="02010609030101010101" pitchFamily="49" charset="-122"/>
              </a:rPr>
              <a:t>main()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235290" y="4508296"/>
            <a:ext cx="2140061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 algn="r">
              <a:lnSpc>
                <a:spcPct val="135000"/>
              </a:lnSpc>
              <a:defRPr/>
            </a:pPr>
            <a:r>
              <a:rPr lang="en-US" altLang="zh-CN" sz="2400" dirty="0" err="1">
                <a:latin typeface="+mn-lt"/>
                <a:ea typeface="楷体_GB2312" panose="02010609030101010101" pitchFamily="49" charset="-122"/>
              </a:rPr>
              <a:t>gcc</a:t>
            </a:r>
            <a:endParaRPr lang="zh-CN" altLang="en-US" sz="2400" dirty="0">
              <a:latin typeface="+mn-lt"/>
              <a:ea typeface="楷体_GB2312" panose="02010609030101010101" pitchFamily="49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6980046" y="5097988"/>
            <a:ext cx="2922171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en-US" altLang="zh-CN" sz="2400" dirty="0" err="1">
                <a:ea typeface="楷体_GB2312" panose="02010609030101010101" pitchFamily="49" charset="-122"/>
              </a:rPr>
              <a:t>insmod</a:t>
            </a:r>
            <a:r>
              <a:rPr lang="en-US" altLang="zh-CN" sz="2400" dirty="0">
                <a:ea typeface="楷体_GB2312" panose="02010609030101010101" pitchFamily="49" charset="-122"/>
              </a:rPr>
              <a:t>/</a:t>
            </a:r>
            <a:r>
              <a:rPr lang="en-US" altLang="zh-CN" sz="2400" dirty="0" err="1">
                <a:ea typeface="楷体_GB2312" panose="02010609030101010101" pitchFamily="49" charset="-122"/>
              </a:rPr>
              <a:t>modprobe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068877" y="5103378"/>
            <a:ext cx="2297041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 algn="r">
              <a:lnSpc>
                <a:spcPct val="135000"/>
              </a:lnSpc>
              <a:defRPr/>
            </a:pPr>
            <a:r>
              <a:rPr lang="zh-CN" altLang="en-US" sz="2400" dirty="0">
                <a:ea typeface="楷体_GB2312" panose="02010609030101010101" pitchFamily="49" charset="-122"/>
              </a:rPr>
              <a:t>直接运行</a:t>
            </a:r>
          </a:p>
        </p:txBody>
      </p:sp>
      <p:sp>
        <p:nvSpPr>
          <p:cNvPr id="26" name="矩形 25"/>
          <p:cNvSpPr/>
          <p:nvPr/>
        </p:nvSpPr>
        <p:spPr>
          <a:xfrm>
            <a:off x="3382027" y="5704446"/>
            <a:ext cx="1986457" cy="590931"/>
          </a:xfrm>
          <a:prstGeom prst="rect">
            <a:avLst/>
          </a:prstGeom>
          <a:ln>
            <a:solidFill>
              <a:srgbClr val="00B0F0"/>
            </a:solidFill>
            <a:prstDash val="sysDash"/>
          </a:ln>
        </p:spPr>
        <p:txBody>
          <a:bodyPr wrap="square">
            <a:spAutoFit/>
          </a:bodyPr>
          <a:lstStyle/>
          <a:p>
            <a:pPr algn="r">
              <a:lnSpc>
                <a:spcPct val="135000"/>
              </a:lnSpc>
              <a:defRPr/>
            </a:pPr>
            <a:r>
              <a:rPr lang="en-US" altLang="zh-CN" sz="2400" dirty="0" err="1">
                <a:ea typeface="楷体_GB2312" panose="02010609030101010101" pitchFamily="49" charset="-122"/>
              </a:rPr>
              <a:t>gdb</a:t>
            </a:r>
            <a:endParaRPr lang="zh-CN" altLang="en-US" sz="2400" dirty="0">
              <a:ea typeface="楷体_GB2312" panose="0201060903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9056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62922" y="1698189"/>
            <a:ext cx="6206546" cy="590931"/>
          </a:xfrm>
          <a:prstGeom prst="rect">
            <a:avLst/>
          </a:prstGeom>
          <a:ln/>
          <a:scene3d>
            <a:camera prst="perspectiveRelaxedModerately"/>
            <a:lightRig rig="threePt" dir="t"/>
          </a:scene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优点                                    缺点</a:t>
            </a:r>
          </a:p>
        </p:txBody>
      </p:sp>
      <p:sp>
        <p:nvSpPr>
          <p:cNvPr id="5" name="空心弧 4"/>
          <p:cNvSpPr/>
          <p:nvPr/>
        </p:nvSpPr>
        <p:spPr>
          <a:xfrm>
            <a:off x="405744" y="2445727"/>
            <a:ext cx="2746685" cy="2746685"/>
          </a:xfrm>
          <a:prstGeom prst="blockArc">
            <a:avLst>
              <a:gd name="adj1" fmla="val 18900000"/>
              <a:gd name="adj2" fmla="val 2700000"/>
              <a:gd name="adj3" fmla="val 786"/>
            </a:avLst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6" name="任意多边形 5"/>
          <p:cNvSpPr/>
          <p:nvPr/>
        </p:nvSpPr>
        <p:spPr>
          <a:xfrm>
            <a:off x="2760479" y="2794367"/>
            <a:ext cx="3108857" cy="501463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扩展了内核的功能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2506025" y="2775185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2908470" y="3405056"/>
            <a:ext cx="3229780" cy="501463"/>
          </a:xfrm>
          <a:custGeom>
            <a:avLst/>
            <a:gdLst>
              <a:gd name="connsiteX0" fmla="*/ 0 w 5222023"/>
              <a:gd name="connsiteY0" fmla="*/ 0 h 407125"/>
              <a:gd name="connsiteX1" fmla="*/ 5222023 w 5222023"/>
              <a:gd name="connsiteY1" fmla="*/ 0 h 407125"/>
              <a:gd name="connsiteX2" fmla="*/ 5222023 w 5222023"/>
              <a:gd name="connsiteY2" fmla="*/ 407125 h 407125"/>
              <a:gd name="connsiteX3" fmla="*/ 0 w 5222023"/>
              <a:gd name="connsiteY3" fmla="*/ 407125 h 407125"/>
              <a:gd name="connsiteX4" fmla="*/ 0 w 5222023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023" h="407125">
                <a:moveTo>
                  <a:pt x="0" y="0"/>
                </a:moveTo>
                <a:lnTo>
                  <a:pt x="5222023" y="0"/>
                </a:lnTo>
                <a:lnTo>
                  <a:pt x="5222023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具有良好的可移植性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2654015" y="3410925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/>
        </p:nvSpPr>
        <p:spPr>
          <a:xfrm>
            <a:off x="2685323" y="4015745"/>
            <a:ext cx="3845754" cy="501463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被链接后，作用域同内核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2430869" y="4059192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空心弧 12"/>
          <p:cNvSpPr/>
          <p:nvPr/>
        </p:nvSpPr>
        <p:spPr>
          <a:xfrm>
            <a:off x="4681316" y="2351389"/>
            <a:ext cx="2746685" cy="2746685"/>
          </a:xfrm>
          <a:prstGeom prst="blockArc">
            <a:avLst>
              <a:gd name="adj1" fmla="val 18900000"/>
              <a:gd name="adj2" fmla="val 2700000"/>
              <a:gd name="adj3" fmla="val 786"/>
            </a:avLst>
          </a:prstGeom>
        </p:spPr>
        <p:style>
          <a:lnRef idx="2">
            <a:schemeClr val="accent1">
              <a:shade val="60000"/>
              <a:hueOff val="0"/>
              <a:satOff val="0"/>
              <a:lumOff val="0"/>
              <a:alphaOff val="0"/>
            </a:schemeClr>
          </a:lnRef>
          <a:fillRef idx="0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14" name="任意多边形 13"/>
          <p:cNvSpPr/>
          <p:nvPr/>
        </p:nvSpPr>
        <p:spPr>
          <a:xfrm>
            <a:off x="7036051" y="2743477"/>
            <a:ext cx="2834459" cy="496381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消耗内核性能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椭圆 14"/>
          <p:cNvSpPr/>
          <p:nvPr/>
        </p:nvSpPr>
        <p:spPr>
          <a:xfrm>
            <a:off x="6781597" y="2730951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/>
        </p:nvSpPr>
        <p:spPr>
          <a:xfrm>
            <a:off x="7184041" y="3354165"/>
            <a:ext cx="3550763" cy="552353"/>
          </a:xfrm>
          <a:custGeom>
            <a:avLst/>
            <a:gdLst>
              <a:gd name="connsiteX0" fmla="*/ 0 w 5222023"/>
              <a:gd name="connsiteY0" fmla="*/ 0 h 407125"/>
              <a:gd name="connsiteX1" fmla="*/ 5222023 w 5222023"/>
              <a:gd name="connsiteY1" fmla="*/ 0 h 407125"/>
              <a:gd name="connsiteX2" fmla="*/ 5222023 w 5222023"/>
              <a:gd name="connsiteY2" fmla="*/ 407125 h 407125"/>
              <a:gd name="connsiteX3" fmla="*/ 0 w 5222023"/>
              <a:gd name="connsiteY3" fmla="*/ 407125 h 407125"/>
              <a:gd name="connsiteX4" fmla="*/ 0 w 5222023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023" h="407125">
                <a:moveTo>
                  <a:pt x="0" y="0"/>
                </a:moveTo>
                <a:lnTo>
                  <a:pt x="5222023" y="0"/>
                </a:lnTo>
                <a:lnTo>
                  <a:pt x="5222023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kern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使用不当造成系统崩溃</a:t>
            </a:r>
          </a:p>
        </p:txBody>
      </p:sp>
      <p:sp>
        <p:nvSpPr>
          <p:cNvPr id="17" name="椭圆 16"/>
          <p:cNvSpPr/>
          <p:nvPr/>
        </p:nvSpPr>
        <p:spPr>
          <a:xfrm>
            <a:off x="6929587" y="3379217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/>
        </p:nvSpPr>
        <p:spPr>
          <a:xfrm>
            <a:off x="7036051" y="4015745"/>
            <a:ext cx="3573494" cy="552354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需要维护内核符号表</a:t>
            </a:r>
            <a:endParaRPr lang="zh-CN" altLang="en-US" sz="2400" kern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椭圆 18"/>
          <p:cNvSpPr/>
          <p:nvPr/>
        </p:nvSpPr>
        <p:spPr>
          <a:xfrm>
            <a:off x="6781597" y="4027484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1166474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3335" y="2030006"/>
            <a:ext cx="4292370" cy="4349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7" name="矩形 16"/>
          <p:cNvSpPr/>
          <p:nvPr/>
        </p:nvSpPr>
        <p:spPr>
          <a:xfrm>
            <a:off x="3236439" y="1410091"/>
            <a:ext cx="5295968" cy="590931"/>
          </a:xfrm>
          <a:prstGeom prst="rect">
            <a:avLst/>
          </a:prstGeom>
          <a:ln/>
          <a:scene3d>
            <a:camera prst="perspectiveRelaxedModerately"/>
            <a:lightRig rig="threePt" dir="t"/>
          </a:scene3d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35000"/>
              </a:lnSpc>
              <a:defRPr/>
            </a:pPr>
            <a:r>
              <a:rPr lang="zh-CN" altLang="en-US" sz="2400" dirty="0">
                <a:ea typeface="楷体_GB2312" panose="02010609030101010101" pitchFamily="49" charset="-122"/>
              </a:rPr>
              <a:t>         模块间的依赖关系</a:t>
            </a:r>
          </a:p>
        </p:txBody>
      </p:sp>
      <p:sp>
        <p:nvSpPr>
          <p:cNvPr id="18" name="内容占位符 2"/>
          <p:cNvSpPr txBox="1">
            <a:spLocks/>
          </p:cNvSpPr>
          <p:nvPr/>
        </p:nvSpPr>
        <p:spPr>
          <a:xfrm rot="19236190">
            <a:off x="7889925" y="3439886"/>
            <a:ext cx="870793" cy="52251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内容占位符 2"/>
          <p:cNvSpPr txBox="1">
            <a:spLocks/>
          </p:cNvSpPr>
          <p:nvPr/>
        </p:nvSpPr>
        <p:spPr>
          <a:xfrm rot="811029">
            <a:off x="9246858" y="3559619"/>
            <a:ext cx="903831" cy="46227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内容占位符 2"/>
          <p:cNvSpPr txBox="1">
            <a:spLocks/>
          </p:cNvSpPr>
          <p:nvPr/>
        </p:nvSpPr>
        <p:spPr>
          <a:xfrm rot="17431509">
            <a:off x="7931722" y="4461667"/>
            <a:ext cx="870793" cy="522515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内容占位符 2"/>
          <p:cNvSpPr txBox="1">
            <a:spLocks/>
          </p:cNvSpPr>
          <p:nvPr/>
        </p:nvSpPr>
        <p:spPr>
          <a:xfrm rot="6366906">
            <a:off x="9123313" y="4807636"/>
            <a:ext cx="903831" cy="46227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</a:t>
            </a:r>
            <a:endParaRPr lang="zh-CN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内容占位符 2"/>
          <p:cNvSpPr txBox="1">
            <a:spLocks/>
          </p:cNvSpPr>
          <p:nvPr/>
        </p:nvSpPr>
        <p:spPr>
          <a:xfrm>
            <a:off x="1528174" y="2171533"/>
            <a:ext cx="5392258" cy="357791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如果一个内核模块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要引用另一个内核模块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全局变量或函数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（符号）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就说模块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被模块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引用，或者说模块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依赖模块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加载模块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之前需要先加载模块</a:t>
            </a:r>
            <a:r>
              <a:rPr lang="en-US" altLang="zh-CN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EXPORT_SYMBOL()/EXPORT_SYMBOL_GPL()</a:t>
            </a:r>
            <a:r>
              <a:rPr lang="zh-CN" altLang="en-US" sz="2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将符号导出。</a:t>
            </a:r>
            <a:endParaRPr lang="zh-CN" altLang="zh-CN" sz="240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" name="直接箭头连接符 22"/>
          <p:cNvCxnSpPr>
            <a:stCxn id="24" idx="2"/>
          </p:cNvCxnSpPr>
          <p:nvPr/>
        </p:nvCxnSpPr>
        <p:spPr>
          <a:xfrm>
            <a:off x="8764450" y="2725973"/>
            <a:ext cx="313470" cy="110979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8045594" y="2030007"/>
            <a:ext cx="1437712" cy="69596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</a:rPr>
              <a:t>导出的符号</a:t>
            </a:r>
          </a:p>
        </p:txBody>
      </p:sp>
      <p:cxnSp>
        <p:nvCxnSpPr>
          <p:cNvPr id="25" name="直接箭头连接符 24"/>
          <p:cNvCxnSpPr>
            <a:stCxn id="24" idx="2"/>
          </p:cNvCxnSpPr>
          <p:nvPr/>
        </p:nvCxnSpPr>
        <p:spPr>
          <a:xfrm flipH="1">
            <a:off x="8325322" y="2725973"/>
            <a:ext cx="439128" cy="1497592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>
            <a:off x="8715250" y="2725971"/>
            <a:ext cx="35961" cy="2136315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8754677" y="2728613"/>
            <a:ext cx="728629" cy="1811846"/>
          </a:xfrm>
          <a:prstGeom prst="straightConnector1">
            <a:avLst/>
          </a:prstGeom>
          <a:ln w="28575">
            <a:solidFill>
              <a:schemeClr val="accent2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59829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000"/>
                            </p:stCondLst>
                            <p:childTnLst>
                              <p:par>
                                <p:cTn id="3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/>
      <p:bldP spid="22" grpId="0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4.3.1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内核模块概述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内容占位符 2">
            <a:extLst>
              <a:ext uri="{FF2B5EF4-FFF2-40B4-BE49-F238E27FC236}">
                <a16:creationId xmlns:a16="http://schemas.microsoft.com/office/drawing/2014/main" id="{67E16DEE-98E9-C569-E6F0-3D4C60FC0CAB}"/>
              </a:ext>
            </a:extLst>
          </p:cNvPr>
          <p:cNvSpPr txBox="1">
            <a:spLocks/>
          </p:cNvSpPr>
          <p:nvPr/>
        </p:nvSpPr>
        <p:spPr>
          <a:xfrm>
            <a:off x="1378527" y="1580101"/>
            <a:ext cx="9356278" cy="121851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中定义了函数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，模块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函数。则模块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和模块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关于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及函数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导出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的方法如下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endParaRPr lang="en-US" altLang="zh-CN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47E08965-BF99-25B7-2453-FF45FA1C242F}"/>
              </a:ext>
            </a:extLst>
          </p:cNvPr>
          <p:cNvSpPr txBox="1">
            <a:spLocks/>
          </p:cNvSpPr>
          <p:nvPr/>
        </p:nvSpPr>
        <p:spPr>
          <a:xfrm>
            <a:off x="1378526" y="2847792"/>
            <a:ext cx="4717473" cy="36638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endParaRPr lang="en-US" altLang="zh-CN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extern void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);</a:t>
            </a:r>
            <a:endParaRPr lang="en-US" altLang="zh-CN" sz="2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7C125017-94C9-3ED3-C121-5CD98967B4F2}"/>
              </a:ext>
            </a:extLst>
          </p:cNvPr>
          <p:cNvSpPr txBox="1">
            <a:spLocks/>
          </p:cNvSpPr>
          <p:nvPr/>
        </p:nvSpPr>
        <p:spPr>
          <a:xfrm>
            <a:off x="6095999" y="2847792"/>
            <a:ext cx="4717473" cy="3663844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 typeface="Wingdings" panose="05000000000000000000" pitchFamily="2" charset="2"/>
              <a:buChar char="Ø"/>
              <a:defRPr/>
            </a:pPr>
            <a:r>
              <a:rPr lang="zh-CN" altLang="en-US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r>
              <a:rPr lang="en-US" altLang="zh-CN" sz="2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void 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func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 ){ }</a:t>
            </a:r>
          </a:p>
          <a:p>
            <a:pPr marL="457200" lvl="1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EXPORT_SYMBOL(fun); </a:t>
            </a:r>
          </a:p>
        </p:txBody>
      </p:sp>
    </p:spTree>
    <p:extLst>
      <p:ext uri="{BB962C8B-B14F-4D97-AF65-F5344CB8AC3E}">
        <p14:creationId xmlns:p14="http://schemas.microsoft.com/office/powerpoint/2010/main" val="12385248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查看内核模块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A4481E8-CB03-1C69-5C5D-D99BE43FBAE0}"/>
              </a:ext>
            </a:extLst>
          </p:cNvPr>
          <p:cNvSpPr txBox="1"/>
          <p:nvPr/>
        </p:nvSpPr>
        <p:spPr>
          <a:xfrm>
            <a:off x="1077191" y="1332854"/>
            <a:ext cx="10037618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提供了两个命令来查看内核模块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lsmod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查看已经加载的内核模块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modinfo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查看模块的信息</a:t>
            </a:r>
            <a:endParaRPr lang="en-US" altLang="zh-CN" sz="2400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81515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查看内核模块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任意多边形 2">
            <a:extLst>
              <a:ext uri="{FF2B5EF4-FFF2-40B4-BE49-F238E27FC236}">
                <a16:creationId xmlns:a16="http://schemas.microsoft.com/office/drawing/2014/main" id="{BD1ED229-AD6A-D319-97E0-EB64FF9AFEA6}"/>
              </a:ext>
            </a:extLst>
          </p:cNvPr>
          <p:cNvSpPr/>
          <p:nvPr/>
        </p:nvSpPr>
        <p:spPr>
          <a:xfrm>
            <a:off x="870756" y="1410700"/>
            <a:ext cx="2074568" cy="558419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lsmod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  <a:endParaRPr lang="zh-CN" altLang="en-US" sz="2400" b="1" kern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4CC8BDC-BB45-DECF-32F3-758FEC65A000}"/>
              </a:ext>
            </a:extLst>
          </p:cNvPr>
          <p:cNvSpPr/>
          <p:nvPr/>
        </p:nvSpPr>
        <p:spPr>
          <a:xfrm>
            <a:off x="616302" y="1423422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3F1D4751-1E4F-0D1C-6B3A-9720EA9FE59C}"/>
              </a:ext>
            </a:extLst>
          </p:cNvPr>
          <p:cNvSpPr txBox="1">
            <a:spLocks/>
          </p:cNvSpPr>
          <p:nvPr/>
        </p:nvSpPr>
        <p:spPr>
          <a:xfrm>
            <a:off x="3220896" y="1423422"/>
            <a:ext cx="7852229" cy="150002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lsmod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命令可以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列出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目前系统中</a:t>
            </a:r>
            <a:r>
              <a:rPr lang="zh-CN" altLang="zh-CN" sz="24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已经加载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的所有模块，这个命令没有任何参数，直接执行即可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8BA4F48-A123-75C9-F7C4-1376BF176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6053" y="2923448"/>
            <a:ext cx="6939894" cy="308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94634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查看内核模块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任意多边形 2"/>
          <p:cNvSpPr/>
          <p:nvPr/>
        </p:nvSpPr>
        <p:spPr>
          <a:xfrm>
            <a:off x="870755" y="1410700"/>
            <a:ext cx="2342881" cy="558419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modinfo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4" name="椭圆 3"/>
          <p:cNvSpPr/>
          <p:nvPr/>
        </p:nvSpPr>
        <p:spPr>
          <a:xfrm>
            <a:off x="616302" y="1423422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568509" y="1423422"/>
            <a:ext cx="7852229" cy="150002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modinfo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命令用于查看某一个内核模块具体信息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r>
              <a:rPr lang="en-US" altLang="zh-CN"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modinfo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2"/>
          <p:cNvSpPr txBox="1">
            <a:spLocks/>
          </p:cNvSpPr>
          <p:nvPr/>
        </p:nvSpPr>
        <p:spPr>
          <a:xfrm>
            <a:off x="474415" y="4118292"/>
            <a:ext cx="7852229" cy="1260581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3526E8-8D82-3385-5D12-6159663084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69" y="2690658"/>
            <a:ext cx="7310283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-a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选项：显示模块开发人员信息。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B50061-5F29-8112-1CFA-4434609A9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5175" y="3316038"/>
            <a:ext cx="7310283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选项：显示模块的使用说明。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C92E463-8D8B-A3E8-5D0A-7B343D439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915" y="3957184"/>
            <a:ext cx="7310283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选项：显示模块遵守的规范，都是遵守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规范。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EC582B2-4894-3B9A-4100-0313E1420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421" y="4598330"/>
            <a:ext cx="7310283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-h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选项：显示帮助信息。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003123B-1096-9B15-9EDD-8B9D8B90E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0927" y="5176412"/>
            <a:ext cx="7310283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-p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选项：显示模块所支持的参数。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A3448FB-2466-FEB5-4802-AC9B45A7A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1433" y="5754494"/>
            <a:ext cx="7310283" cy="461665"/>
          </a:xfrm>
          <a:prstGeom prst="rect">
            <a:avLst/>
          </a:prstGeom>
          <a:noFill/>
          <a:ln w="9525">
            <a:solidFill>
              <a:srgbClr val="00B0F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-V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选项：显示模块版本信息。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1CEBD4E6-C7E7-5706-E80D-AA7D454A0C4C}"/>
              </a:ext>
            </a:extLst>
          </p:cNvPr>
          <p:cNvSpPr txBox="1">
            <a:spLocks/>
          </p:cNvSpPr>
          <p:nvPr/>
        </p:nvSpPr>
        <p:spPr>
          <a:xfrm>
            <a:off x="749225" y="3839937"/>
            <a:ext cx="1681702" cy="63029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常用选项：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51963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/>
      <p:bldP spid="9" grpId="0"/>
      <p:bldP spid="2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4.3.2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查看内核模块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D29F10E5-693E-2FF8-F9DC-DC28C6936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79" y="2179116"/>
            <a:ext cx="11061642" cy="425508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8367654-15BD-57F0-D3F8-A7539CABF067}"/>
              </a:ext>
            </a:extLst>
          </p:cNvPr>
          <p:cNvSpPr txBox="1"/>
          <p:nvPr/>
        </p:nvSpPr>
        <p:spPr>
          <a:xfrm>
            <a:off x="1077191" y="1332854"/>
            <a:ext cx="10037618" cy="581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modinfo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命令不接参数时，输出模块的所有信息；如：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modinfo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 sg</a:t>
            </a:r>
          </a:p>
        </p:txBody>
      </p:sp>
    </p:spTree>
    <p:extLst>
      <p:ext uri="{BB962C8B-B14F-4D97-AF65-F5344CB8AC3E}">
        <p14:creationId xmlns:p14="http://schemas.microsoft.com/office/powerpoint/2010/main" val="37159829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6A4481E8-CB03-1C69-5C5D-D99BE43FBAE0}"/>
              </a:ext>
            </a:extLst>
          </p:cNvPr>
          <p:cNvSpPr txBox="1"/>
          <p:nvPr/>
        </p:nvSpPr>
        <p:spPr>
          <a:xfrm>
            <a:off x="1077191" y="1332854"/>
            <a:ext cx="1058833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模块可以动态地被加载到内核中，当模块完成相应的功能后还可以被卸载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提供以下三个命令：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insmod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命令：加载模块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rmmod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命令：卸载模块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modprobe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命令：即可加载模块也可卸载模块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246C5-05A0-2045-CB71-102E7A8FBC81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加载与卸载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805751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加载与卸载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73227" y="4083688"/>
            <a:ext cx="7852229" cy="215316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 2">
            <a:extLst>
              <a:ext uri="{FF2B5EF4-FFF2-40B4-BE49-F238E27FC236}">
                <a16:creationId xmlns:a16="http://schemas.microsoft.com/office/drawing/2014/main" id="{3B48EFB2-55D2-C03A-4C4D-54A5E75F11DA}"/>
              </a:ext>
            </a:extLst>
          </p:cNvPr>
          <p:cNvSpPr/>
          <p:nvPr/>
        </p:nvSpPr>
        <p:spPr>
          <a:xfrm>
            <a:off x="870755" y="1410700"/>
            <a:ext cx="2675817" cy="558419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30E5963-31B2-F8F2-368B-42143F706891}"/>
              </a:ext>
            </a:extLst>
          </p:cNvPr>
          <p:cNvSpPr/>
          <p:nvPr/>
        </p:nvSpPr>
        <p:spPr>
          <a:xfrm>
            <a:off x="616302" y="1423422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8615232-EE82-9C37-B39F-DBAC33325362}"/>
              </a:ext>
            </a:extLst>
          </p:cNvPr>
          <p:cNvSpPr txBox="1">
            <a:spLocks/>
          </p:cNvSpPr>
          <p:nvPr/>
        </p:nvSpPr>
        <p:spPr>
          <a:xfrm>
            <a:off x="3643459" y="1423422"/>
            <a:ext cx="7852229" cy="319706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命令不仅可以动态的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模块，还可以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卸载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模块，通过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命令加载、卸载模块时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</a:t>
            </a:r>
            <a:r>
              <a:rPr lang="en-US" altLang="zh-CN"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命令加载卸载模块时，不需要带模块的路径与扩展名。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81515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  <p:bldP spid="14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加载与卸载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676245" y="3952069"/>
            <a:ext cx="7852229" cy="215316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 2">
            <a:extLst>
              <a:ext uri="{FF2B5EF4-FFF2-40B4-BE49-F238E27FC236}">
                <a16:creationId xmlns:a16="http://schemas.microsoft.com/office/drawing/2014/main" id="{3B48EFB2-55D2-C03A-4C4D-54A5E75F11DA}"/>
              </a:ext>
            </a:extLst>
          </p:cNvPr>
          <p:cNvSpPr/>
          <p:nvPr/>
        </p:nvSpPr>
        <p:spPr>
          <a:xfrm>
            <a:off x="870755" y="1410700"/>
            <a:ext cx="2675817" cy="558419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30E5963-31B2-F8F2-368B-42143F706891}"/>
              </a:ext>
            </a:extLst>
          </p:cNvPr>
          <p:cNvSpPr/>
          <p:nvPr/>
        </p:nvSpPr>
        <p:spPr>
          <a:xfrm>
            <a:off x="616302" y="1423422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8615232-EE82-9C37-B39F-DBAC33325362}"/>
              </a:ext>
            </a:extLst>
          </p:cNvPr>
          <p:cNvSpPr txBox="1">
            <a:spLocks/>
          </p:cNvSpPr>
          <p:nvPr/>
        </p:nvSpPr>
        <p:spPr>
          <a:xfrm>
            <a:off x="3643459" y="1423422"/>
            <a:ext cx="7852229" cy="50890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vfat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 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加载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vfat</a:t>
            </a:r>
            <a:r>
              <a:rPr lang="zh-CN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lsmod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grep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vfat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：查看模块是否加载成功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–r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vfat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：卸载模块</a:t>
            </a:r>
            <a:endParaRPr lang="en-US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lsmod</a:t>
            </a:r>
            <a:r>
              <a:rPr lang="en-US" altLang="zh-CN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| grep </a:t>
            </a:r>
            <a:r>
              <a:rPr lang="en-US" altLang="zh-CN" sz="2400" dirty="0" err="1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vfat</a:t>
            </a:r>
            <a:r>
              <a:rPr lang="zh-CN" altLang="en-US" sz="2400" dirty="0">
                <a:solidFill>
                  <a:srgbClr val="1353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：查看模块是否卸载成功</a:t>
            </a:r>
            <a:endParaRPr lang="zh-CN" altLang="zh-CN" sz="2400" dirty="0">
              <a:solidFill>
                <a:srgbClr val="1353A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B14ACF2-C58A-F5A9-9666-768F04D48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899" y="4140424"/>
            <a:ext cx="6426201" cy="196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7331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  <p:bldP spid="14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6A4481E8-CB03-1C69-5C5D-D99BE43FBAE0}"/>
              </a:ext>
            </a:extLst>
          </p:cNvPr>
          <p:cNvSpPr txBox="1"/>
          <p:nvPr/>
        </p:nvSpPr>
        <p:spPr>
          <a:xfrm>
            <a:off x="1077191" y="2087927"/>
            <a:ext cx="10588336" cy="1689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值得注意的是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命令行中使用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modprobe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加载模块仅是临时有效，重启系统后内核不会再次加载模块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246C5-05A0-2045-CB71-102E7A8FBC81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加载与卸载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任意多边形 2">
            <a:extLst>
              <a:ext uri="{FF2B5EF4-FFF2-40B4-BE49-F238E27FC236}">
                <a16:creationId xmlns:a16="http://schemas.microsoft.com/office/drawing/2014/main" id="{B06E27E7-BA9E-D3E7-0015-4D765BD4D3F9}"/>
              </a:ext>
            </a:extLst>
          </p:cNvPr>
          <p:cNvSpPr/>
          <p:nvPr/>
        </p:nvSpPr>
        <p:spPr>
          <a:xfrm>
            <a:off x="870755" y="1410700"/>
            <a:ext cx="2675817" cy="558419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553E6C85-0820-61E5-C738-D9E1B8181301}"/>
              </a:ext>
            </a:extLst>
          </p:cNvPr>
          <p:cNvSpPr/>
          <p:nvPr/>
        </p:nvSpPr>
        <p:spPr>
          <a:xfrm>
            <a:off x="616302" y="1423422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165109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6A4481E8-CB03-1C69-5C5D-D99BE43FBAE0}"/>
              </a:ext>
            </a:extLst>
          </p:cNvPr>
          <p:cNvSpPr txBox="1"/>
          <p:nvPr/>
        </p:nvSpPr>
        <p:spPr>
          <a:xfrm>
            <a:off x="1077191" y="1291292"/>
            <a:ext cx="10588336" cy="4459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若需系统开机自动加载内核模块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首先，进入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sysconfig</a:t>
            </a:r>
            <a:r>
              <a:rPr lang="en-US" altLang="zh-CN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/modules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目录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其次，编写脚本文件将模块的命令写入脚本中，如</a:t>
            </a:r>
            <a:r>
              <a:rPr lang="en-US" altLang="zh-CN" sz="2400" dirty="0" err="1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vfat.modules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#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！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/bin/bash</a:t>
            </a:r>
          </a:p>
          <a:p>
            <a:pPr marL="1714500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sbin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modprobe</a:t>
            </a:r>
            <a:r>
              <a:rPr lang="en-US" altLang="zh-CN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2400" dirty="0" err="1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vfat</a:t>
            </a:r>
            <a:endParaRPr lang="en-US" altLang="zh-CN" sz="24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最后，赋予脚本执行权限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chmod</a:t>
            </a:r>
            <a:r>
              <a:rPr lang="en-US" altLang="zh-CN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 755 </a:t>
            </a:r>
            <a:r>
              <a:rPr lang="en-US" altLang="zh-CN" sz="2400" dirty="0" err="1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vfat.modules</a:t>
            </a:r>
            <a:endParaRPr lang="en-US" altLang="zh-CN" sz="2400" dirty="0">
              <a:solidFill>
                <a:srgbClr val="00B0F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重启系统，使用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lsmod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查询，则模块已经加载成功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246C5-05A0-2045-CB71-102E7A8FBC81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加载与卸载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064989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F246C5-05A0-2045-CB71-102E7A8FBC81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加载与卸载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D162CE4-9F98-3D40-6B19-9C332E4E09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323" y="1932669"/>
            <a:ext cx="8260859" cy="190635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7583438-5858-1CC9-C140-A1E1D5EE80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2809" y="4659660"/>
            <a:ext cx="6506382" cy="169664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2E7F499-8D06-B28B-C808-C88CD908DCF2}"/>
              </a:ext>
            </a:extLst>
          </p:cNvPr>
          <p:cNvSpPr txBox="1"/>
          <p:nvPr/>
        </p:nvSpPr>
        <p:spPr>
          <a:xfrm>
            <a:off x="1077191" y="1291292"/>
            <a:ext cx="10588336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设置系统开机自动加载内核模块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重启系统查看模块是否被加载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30862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加载与卸载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73227" y="4083688"/>
            <a:ext cx="7852229" cy="215316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 2">
            <a:extLst>
              <a:ext uri="{FF2B5EF4-FFF2-40B4-BE49-F238E27FC236}">
                <a16:creationId xmlns:a16="http://schemas.microsoft.com/office/drawing/2014/main" id="{3B48EFB2-55D2-C03A-4C4D-54A5E75F11DA}"/>
              </a:ext>
            </a:extLst>
          </p:cNvPr>
          <p:cNvSpPr/>
          <p:nvPr/>
        </p:nvSpPr>
        <p:spPr>
          <a:xfrm>
            <a:off x="870755" y="1410700"/>
            <a:ext cx="2675817" cy="558419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insmod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30E5963-31B2-F8F2-368B-42143F706891}"/>
              </a:ext>
            </a:extLst>
          </p:cNvPr>
          <p:cNvSpPr/>
          <p:nvPr/>
        </p:nvSpPr>
        <p:spPr>
          <a:xfrm>
            <a:off x="616302" y="1423422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8615232-EE82-9C37-B39F-DBAC33325362}"/>
              </a:ext>
            </a:extLst>
          </p:cNvPr>
          <p:cNvSpPr txBox="1">
            <a:spLocks/>
          </p:cNvSpPr>
          <p:nvPr/>
        </p:nvSpPr>
        <p:spPr>
          <a:xfrm>
            <a:off x="3643459" y="1423422"/>
            <a:ext cx="7852229" cy="167306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insmod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命令的功能和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类似，它也可实现加载模块的功能，但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insmod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命令在加载模块时需要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带上模块的绝对路径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，并且一定</a:t>
            </a:r>
            <a:r>
              <a:rPr lang="zh-CN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要有后缀名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.ko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3DAB9A0-D072-56E1-577E-3C045E4CB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37" y="4534495"/>
            <a:ext cx="9518386" cy="1251553"/>
          </a:xfrm>
          <a:prstGeom prst="rect">
            <a:avLst/>
          </a:prstGeom>
        </p:spPr>
      </p:pic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1189CD5-1FB4-9BD8-C99E-4E87936146DA}"/>
              </a:ext>
            </a:extLst>
          </p:cNvPr>
          <p:cNvSpPr txBox="1">
            <a:spLocks/>
          </p:cNvSpPr>
          <p:nvPr/>
        </p:nvSpPr>
        <p:spPr>
          <a:xfrm>
            <a:off x="616302" y="3407123"/>
            <a:ext cx="10879386" cy="2069697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insmod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加载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/lib/modules/3.10.0-514.el7.x86_64/kernel/drivers/md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目录下的模块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raid1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为例</a:t>
            </a:r>
            <a:endParaRPr lang="zh-CN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39281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  <p:bldP spid="14" grpId="0"/>
      <p:bldP spid="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6A4481E8-CB03-1C69-5C5D-D99BE43FBAE0}"/>
              </a:ext>
            </a:extLst>
          </p:cNvPr>
          <p:cNvSpPr txBox="1"/>
          <p:nvPr/>
        </p:nvSpPr>
        <p:spPr>
          <a:xfrm>
            <a:off x="1077191" y="1291292"/>
            <a:ext cx="10588336" cy="3351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值得注意的是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insmod</a:t>
            </a:r>
            <a:r>
              <a:rPr lang="zh-CN" altLang="en-US" sz="2400" dirty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在加载模块时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无法自动处理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模块之间的</a:t>
            </a:r>
            <a:r>
              <a:rPr lang="zh-CN" altLang="en-US" sz="2400" dirty="0">
                <a:solidFill>
                  <a:srgbClr val="00B050"/>
                </a:solidFill>
                <a:latin typeface="微软雅黑" pitchFamily="34" charset="-122"/>
                <a:ea typeface="微软雅黑" pitchFamily="34" charset="-122"/>
              </a:rPr>
              <a:t>依赖关系</a:t>
            </a:r>
            <a:endParaRPr lang="en-US" altLang="zh-CN" sz="2400" dirty="0">
              <a:solidFill>
                <a:srgbClr val="00B05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若加载的模块依赖其他模块，则需</a:t>
            </a:r>
            <a:r>
              <a:rPr lang="zh-CN" altLang="en-US" sz="2400" dirty="0">
                <a:solidFill>
                  <a:srgbClr val="00B0F0"/>
                </a:solidFill>
                <a:latin typeface="微软雅黑" pitchFamily="34" charset="-122"/>
                <a:ea typeface="微软雅黑" pitchFamily="34" charset="-122"/>
              </a:rPr>
              <a:t>手动加载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被依赖模块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因此在使用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insmod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命令加载模块时，需要知道模块的存放位置以及它的依赖关系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Insmod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命令用起来与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rpm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一样，需要手动解决依赖关系，</a:t>
            </a:r>
            <a:r>
              <a:rPr lang="zh-CN" altLang="en-US" sz="2400" dirty="0">
                <a:solidFill>
                  <a:srgbClr val="7030A0"/>
                </a:solidFill>
                <a:latin typeface="微软雅黑" pitchFamily="34" charset="-122"/>
                <a:ea typeface="微软雅黑" pitchFamily="34" charset="-122"/>
              </a:rPr>
              <a:t>不建议使用</a:t>
            </a:r>
            <a:endParaRPr lang="en-US" altLang="zh-CN" sz="2400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F246C5-05A0-2045-CB71-102E7A8FBC81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加载与卸载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9897862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4.3.3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加载与卸载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1773227" y="4083688"/>
            <a:ext cx="7852229" cy="215316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zh-CN" sz="20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任意多边形 2">
            <a:extLst>
              <a:ext uri="{FF2B5EF4-FFF2-40B4-BE49-F238E27FC236}">
                <a16:creationId xmlns:a16="http://schemas.microsoft.com/office/drawing/2014/main" id="{3B48EFB2-55D2-C03A-4C4D-54A5E75F11DA}"/>
              </a:ext>
            </a:extLst>
          </p:cNvPr>
          <p:cNvSpPr/>
          <p:nvPr/>
        </p:nvSpPr>
        <p:spPr>
          <a:xfrm>
            <a:off x="870755" y="1410700"/>
            <a:ext cx="2675817" cy="558419"/>
          </a:xfrm>
          <a:custGeom>
            <a:avLst/>
            <a:gdLst>
              <a:gd name="connsiteX0" fmla="*/ 0 w 5370014"/>
              <a:gd name="connsiteY0" fmla="*/ 0 h 407125"/>
              <a:gd name="connsiteX1" fmla="*/ 5370014 w 5370014"/>
              <a:gd name="connsiteY1" fmla="*/ 0 h 407125"/>
              <a:gd name="connsiteX2" fmla="*/ 5370014 w 5370014"/>
              <a:gd name="connsiteY2" fmla="*/ 407125 h 407125"/>
              <a:gd name="connsiteX3" fmla="*/ 0 w 5370014"/>
              <a:gd name="connsiteY3" fmla="*/ 407125 h 407125"/>
              <a:gd name="connsiteX4" fmla="*/ 0 w 5370014"/>
              <a:gd name="connsiteY4" fmla="*/ 0 h 407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70014" h="407125">
                <a:moveTo>
                  <a:pt x="0" y="0"/>
                </a:moveTo>
                <a:lnTo>
                  <a:pt x="5370014" y="0"/>
                </a:lnTo>
                <a:lnTo>
                  <a:pt x="5370014" y="407125"/>
                </a:lnTo>
                <a:lnTo>
                  <a:pt x="0" y="40712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spcFirstLastPara="0" vert="horz" wrap="square" lIns="323156" tIns="50800" rIns="50800" bIns="50800" numCol="1" spcCol="1270" anchor="ctr" anchorCtr="0">
            <a:noAutofit/>
          </a:bodyPr>
          <a:lstStyle/>
          <a:p>
            <a:pPr lvl="0" defTabSz="8890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altLang="zh-CN" sz="2400" b="1" dirty="0" err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rmmod</a:t>
            </a: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命令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30E5963-31B2-F8F2-368B-42143F706891}"/>
              </a:ext>
            </a:extLst>
          </p:cNvPr>
          <p:cNvSpPr/>
          <p:nvPr/>
        </p:nvSpPr>
        <p:spPr>
          <a:xfrm>
            <a:off x="616302" y="1423422"/>
            <a:ext cx="508907" cy="508907"/>
          </a:xfrm>
          <a:prstGeom prst="ellipse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hueOff val="0"/>
              <a:satOff val="0"/>
              <a:lumOff val="0"/>
              <a:alphaOff val="0"/>
            </a:schemeClr>
          </a:fillRef>
          <a:effectRef idx="0">
            <a:schemeClr val="lt1"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38615232-EE82-9C37-B39F-DBAC33325362}"/>
              </a:ext>
            </a:extLst>
          </p:cNvPr>
          <p:cNvSpPr txBox="1">
            <a:spLocks/>
          </p:cNvSpPr>
          <p:nvPr/>
        </p:nvSpPr>
        <p:spPr>
          <a:xfrm>
            <a:off x="3643459" y="1423422"/>
            <a:ext cx="7852229" cy="3197069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rmmod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命令用来卸载模块，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modprobe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命令和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insmod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命令加载的模块都可以使用这个命令完成卸载。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       </a:t>
            </a:r>
            <a:r>
              <a:rPr lang="en-US" altLang="zh-CN" sz="24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rmmod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[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 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模块名</a:t>
            </a:r>
            <a:endParaRPr lang="en-US" altLang="zh-CN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092C3D-88BC-9736-7D5C-F590160B9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6020" y="4136103"/>
            <a:ext cx="6079959" cy="1398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65399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 animBg="1"/>
      <p:bldP spid="13" grpId="0" animBg="1"/>
      <p:bldP spid="14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框 11">
            <a:extLst>
              <a:ext uri="{FF2B5EF4-FFF2-40B4-BE49-F238E27FC236}">
                <a16:creationId xmlns:a16="http://schemas.microsoft.com/office/drawing/2014/main" id="{6A4481E8-CB03-1C69-5C5D-D99BE43FBAE0}"/>
              </a:ext>
            </a:extLst>
          </p:cNvPr>
          <p:cNvSpPr txBox="1"/>
          <p:nvPr/>
        </p:nvSpPr>
        <p:spPr>
          <a:xfrm>
            <a:off x="1077191" y="1291292"/>
            <a:ext cx="10588336" cy="279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Linux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操作系统可通过修改内核参数对内核进行优化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提供了两种修改内核参数的方法</a:t>
            </a:r>
            <a:endParaRPr lang="en-US" altLang="zh-CN" sz="24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命令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进行修改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（系统重启后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效）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通过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etc</a:t>
            </a:r>
            <a:r>
              <a:rPr lang="en-US" altLang="zh-CN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/</a:t>
            </a:r>
            <a:r>
              <a:rPr lang="en-US" altLang="zh-CN" sz="2400" dirty="0" err="1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sysctl.conf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配置文件</a:t>
            </a: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进行修改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（系统重启后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效）</a:t>
            </a:r>
            <a:endParaRPr lang="en-US" altLang="zh-CN" sz="240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2400" dirty="0">
              <a:solidFill>
                <a:srgbClr val="7030A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9EBA845A-3DE4-73D0-DB70-60A7B27B2F37}"/>
              </a:ext>
            </a:extLst>
          </p:cNvPr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4.3.4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修改内核参数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940087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4.3.4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修改内核参数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420091" y="1309399"/>
            <a:ext cx="9372600" cy="2082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）通过命令进行修改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（系统重启后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效）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proc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/sys/</a:t>
            </a:r>
            <a:r>
              <a:rPr lang="zh-CN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下存放着绝大部分的内核参数，且这些参数可以在系统运行时被修改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420091" y="3566135"/>
            <a:ext cx="9352293" cy="24217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81515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"/>
          <p:cNvSpPr txBox="1"/>
          <p:nvPr/>
        </p:nvSpPr>
        <p:spPr>
          <a:xfrm>
            <a:off x="2311398" y="501700"/>
            <a:ext cx="5183226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914400" rtl="0" eaLnBrk="1" latinLnBrk="0" hangingPunct="1"/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4.3.4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修改内核参数</a:t>
            </a:r>
            <a:endParaRPr lang="zh-CN" altLang="en-US" sz="3200" kern="1200" dirty="0">
              <a:solidFill>
                <a:srgbClr val="1353A2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内容占位符 2"/>
          <p:cNvSpPr txBox="1">
            <a:spLocks/>
          </p:cNvSpPr>
          <p:nvPr/>
        </p:nvSpPr>
        <p:spPr>
          <a:xfrm>
            <a:off x="1420091" y="1309399"/>
            <a:ext cx="9372600" cy="208276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）通过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sysctl.conf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配置文件修改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（系统重启后</a:t>
            </a:r>
            <a:r>
              <a:rPr lang="zh-CN" altLang="en-US" sz="2400" b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有</a:t>
            </a:r>
            <a:r>
              <a:rPr lang="zh-CN" altLang="en-US" sz="240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效）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r>
              <a:rPr lang="en-US" altLang="zh-CN" sz="2400" dirty="0"/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etc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sysctl.conf</a:t>
            </a:r>
            <a:r>
              <a:rPr lang="zh-CN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配置文件用于保存或记录内核参数的存放位置，系统在启动时会通过此文件去读取内核参数，因此可以将内核参数写在此文件中以达到修改的目的。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420091" y="3566135"/>
            <a:ext cx="9352293" cy="2421706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150000"/>
              </a:lnSpc>
              <a:spcBef>
                <a:spcPct val="0"/>
              </a:spcBef>
              <a:buNone/>
              <a:defRPr/>
            </a:pP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14830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8"/>
          <p:cNvGrpSpPr/>
          <p:nvPr/>
        </p:nvGrpSpPr>
        <p:grpSpPr>
          <a:xfrm rot="18087484">
            <a:off x="2739771" y="2546690"/>
            <a:ext cx="313548" cy="626933"/>
            <a:chOff x="6660232" y="483518"/>
            <a:chExt cx="432048" cy="864096"/>
          </a:xfrm>
        </p:grpSpPr>
        <p:sp>
          <p:nvSpPr>
            <p:cNvPr id="16" name="等腰三角形 15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B86E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7" name="等腰三角形 16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6F3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18" name="组合 21"/>
          <p:cNvGrpSpPr/>
          <p:nvPr/>
        </p:nvGrpSpPr>
        <p:grpSpPr>
          <a:xfrm rot="12676450">
            <a:off x="5028875" y="5248224"/>
            <a:ext cx="188576" cy="377250"/>
            <a:chOff x="6660232" y="483518"/>
            <a:chExt cx="432048" cy="864096"/>
          </a:xfrm>
        </p:grpSpPr>
        <p:sp>
          <p:nvSpPr>
            <p:cNvPr id="19" name="等腰三角形 18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B86E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0" name="等腰三角形 19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6F32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24" name="组合 27"/>
          <p:cNvGrpSpPr/>
          <p:nvPr/>
        </p:nvGrpSpPr>
        <p:grpSpPr>
          <a:xfrm rot="20465634">
            <a:off x="5427304" y="1591546"/>
            <a:ext cx="99851" cy="199754"/>
            <a:chOff x="6660232" y="483518"/>
            <a:chExt cx="432048" cy="864096"/>
          </a:xfrm>
        </p:grpSpPr>
        <p:sp>
          <p:nvSpPr>
            <p:cNvPr id="25" name="等腰三角形 24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6" name="等腰三角形 25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27" name="组合 30"/>
          <p:cNvGrpSpPr/>
          <p:nvPr/>
        </p:nvGrpSpPr>
        <p:grpSpPr>
          <a:xfrm rot="16914716">
            <a:off x="3478357" y="3392275"/>
            <a:ext cx="194279" cy="388456"/>
            <a:chOff x="6660232" y="483518"/>
            <a:chExt cx="432048" cy="864096"/>
          </a:xfrm>
        </p:grpSpPr>
        <p:sp>
          <p:nvSpPr>
            <p:cNvPr id="28" name="等腰三角形 27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29" name="等腰三角形 28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0" name="组合 33"/>
          <p:cNvGrpSpPr/>
          <p:nvPr/>
        </p:nvGrpSpPr>
        <p:grpSpPr>
          <a:xfrm rot="13948803">
            <a:off x="906343" y="4633954"/>
            <a:ext cx="287684" cy="575217"/>
            <a:chOff x="6660232" y="483518"/>
            <a:chExt cx="432048" cy="864096"/>
          </a:xfrm>
        </p:grpSpPr>
        <p:sp>
          <p:nvSpPr>
            <p:cNvPr id="31" name="等腰三角形 30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2" name="等腰三角形 31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3" name="组合 36"/>
          <p:cNvGrpSpPr/>
          <p:nvPr/>
        </p:nvGrpSpPr>
        <p:grpSpPr>
          <a:xfrm rot="13953194">
            <a:off x="2464585" y="4392860"/>
            <a:ext cx="274805" cy="549466"/>
            <a:chOff x="6660232" y="483518"/>
            <a:chExt cx="432048" cy="864096"/>
          </a:xfrm>
        </p:grpSpPr>
        <p:sp>
          <p:nvSpPr>
            <p:cNvPr id="34" name="等腰三角形 33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5" name="等腰三角形 34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36" name="组合 39"/>
          <p:cNvGrpSpPr/>
          <p:nvPr/>
        </p:nvGrpSpPr>
        <p:grpSpPr>
          <a:xfrm rot="19166967">
            <a:off x="3295492" y="1914864"/>
            <a:ext cx="139828" cy="279727"/>
            <a:chOff x="6660232" y="483518"/>
            <a:chExt cx="432048" cy="864096"/>
          </a:xfrm>
        </p:grpSpPr>
        <p:sp>
          <p:nvSpPr>
            <p:cNvPr id="37" name="等腰三角形 36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38" name="等腰三角形 37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51" name="等腰三角形 50"/>
          <p:cNvSpPr/>
          <p:nvPr/>
        </p:nvSpPr>
        <p:spPr>
          <a:xfrm rot="6229131">
            <a:off x="3474683" y="2475896"/>
            <a:ext cx="111867" cy="173792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2" name="等腰三角形 51"/>
          <p:cNvSpPr/>
          <p:nvPr/>
        </p:nvSpPr>
        <p:spPr>
          <a:xfrm rot="7496882">
            <a:off x="3731670" y="1699838"/>
            <a:ext cx="107837" cy="167531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3" name="等腰三角形 52"/>
          <p:cNvSpPr/>
          <p:nvPr/>
        </p:nvSpPr>
        <p:spPr>
          <a:xfrm rot="7278906">
            <a:off x="2592230" y="1885474"/>
            <a:ext cx="198348" cy="308146"/>
          </a:xfrm>
          <a:prstGeom prst="triangle">
            <a:avLst>
              <a:gd name="adj" fmla="val 35756"/>
            </a:avLst>
          </a:prstGeom>
          <a:solidFill>
            <a:srgbClr val="45D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4" name="等腰三角形 53"/>
          <p:cNvSpPr/>
          <p:nvPr/>
        </p:nvSpPr>
        <p:spPr>
          <a:xfrm rot="1068765">
            <a:off x="2948935" y="3869120"/>
            <a:ext cx="156890" cy="135285"/>
          </a:xfrm>
          <a:prstGeom prst="triangle">
            <a:avLst/>
          </a:prstGeom>
          <a:solidFill>
            <a:srgbClr val="00B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5" name="等腰三角形 54"/>
          <p:cNvSpPr/>
          <p:nvPr/>
        </p:nvSpPr>
        <p:spPr>
          <a:xfrm rot="17959049">
            <a:off x="4422158" y="4602010"/>
            <a:ext cx="156931" cy="135250"/>
          </a:xfrm>
          <a:prstGeom prst="triangle">
            <a:avLst/>
          </a:prstGeom>
          <a:solidFill>
            <a:srgbClr val="3E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6" name="等腰三角形 55"/>
          <p:cNvSpPr/>
          <p:nvPr/>
        </p:nvSpPr>
        <p:spPr>
          <a:xfrm rot="4382759">
            <a:off x="3095593" y="5009675"/>
            <a:ext cx="146369" cy="227393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7" name="等腰三角形 56"/>
          <p:cNvSpPr/>
          <p:nvPr/>
        </p:nvSpPr>
        <p:spPr>
          <a:xfrm rot="2697357">
            <a:off x="3950026" y="5441071"/>
            <a:ext cx="121153" cy="188317"/>
          </a:xfrm>
          <a:prstGeom prst="triangle">
            <a:avLst/>
          </a:prstGeom>
          <a:solidFill>
            <a:srgbClr val="FEA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58" name="等腰三角形 57"/>
          <p:cNvSpPr/>
          <p:nvPr/>
        </p:nvSpPr>
        <p:spPr>
          <a:xfrm rot="3556479">
            <a:off x="3959493" y="4040850"/>
            <a:ext cx="127727" cy="198431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61" name="直接连接符 68"/>
          <p:cNvCxnSpPr/>
          <p:nvPr/>
        </p:nvCxnSpPr>
        <p:spPr>
          <a:xfrm flipH="1">
            <a:off x="1525190" y="1070746"/>
            <a:ext cx="1223817" cy="1224136"/>
          </a:xfrm>
          <a:prstGeom prst="line">
            <a:avLst/>
          </a:prstGeom>
          <a:ln>
            <a:solidFill>
              <a:srgbClr val="EF546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9"/>
          <p:cNvCxnSpPr/>
          <p:nvPr/>
        </p:nvCxnSpPr>
        <p:spPr>
          <a:xfrm flipH="1">
            <a:off x="7852899" y="1023764"/>
            <a:ext cx="1474501" cy="1463953"/>
          </a:xfrm>
          <a:prstGeom prst="line">
            <a:avLst/>
          </a:prstGeom>
          <a:ln>
            <a:solidFill>
              <a:srgbClr val="B86E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72"/>
          <p:cNvCxnSpPr/>
          <p:nvPr/>
        </p:nvCxnSpPr>
        <p:spPr>
          <a:xfrm flipH="1">
            <a:off x="1722905" y="4773360"/>
            <a:ext cx="1474501" cy="1463953"/>
          </a:xfrm>
          <a:prstGeom prst="line">
            <a:avLst/>
          </a:prstGeom>
          <a:ln>
            <a:solidFill>
              <a:srgbClr val="45D49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1"/>
          <p:cNvSpPr txBox="1"/>
          <p:nvPr/>
        </p:nvSpPr>
        <p:spPr>
          <a:xfrm>
            <a:off x="2319338" y="500143"/>
            <a:ext cx="5903119" cy="584776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4.4 </a:t>
            </a:r>
            <a:r>
              <a:rPr lang="zh-CN" altLang="en-US" sz="32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本章小结</a:t>
            </a:r>
          </a:p>
        </p:txBody>
      </p:sp>
      <p:sp>
        <p:nvSpPr>
          <p:cNvPr id="67" name="矩形 66"/>
          <p:cNvSpPr/>
          <p:nvPr/>
        </p:nvSpPr>
        <p:spPr>
          <a:xfrm>
            <a:off x="5209468" y="1482615"/>
            <a:ext cx="6492356" cy="2775760"/>
          </a:xfrm>
          <a:prstGeom prst="rect">
            <a:avLst/>
          </a:prstGeom>
          <a:noFill/>
          <a:ln>
            <a:noFill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>
                <a:solidFill>
                  <a:srgbClr val="1353A2"/>
                </a:solidFill>
                <a:latin typeface="微软雅黑" pitchFamily="34" charset="-122"/>
                <a:ea typeface="微软雅黑" pitchFamily="34" charset="-122"/>
              </a:rPr>
              <a:t>本章</a:t>
            </a:r>
            <a:r>
              <a:rPr lang="zh-CN" altLang="zh-CN" sz="2400" b="1" dirty="0"/>
              <a:t>主要讲解了与</a:t>
            </a:r>
            <a:r>
              <a:rPr lang="zh-CN" altLang="zh-CN" sz="2400" b="1" dirty="0">
                <a:solidFill>
                  <a:srgbClr val="FF0000"/>
                </a:solidFill>
              </a:rPr>
              <a:t>内核</a:t>
            </a:r>
            <a:r>
              <a:rPr lang="zh-CN" altLang="zh-CN" sz="2400" b="1" dirty="0"/>
              <a:t>相关的知识，包括内核的</a:t>
            </a:r>
            <a:r>
              <a:rPr lang="zh-CN" altLang="zh-CN" sz="2400" b="1" dirty="0">
                <a:solidFill>
                  <a:srgbClr val="FF0000"/>
                </a:solidFill>
              </a:rPr>
              <a:t>概念</a:t>
            </a:r>
            <a:r>
              <a:rPr lang="zh-CN" altLang="zh-CN" sz="2400" b="1" dirty="0"/>
              <a:t>、如何</a:t>
            </a:r>
            <a:r>
              <a:rPr lang="zh-CN" altLang="zh-CN" sz="2400" b="1" dirty="0">
                <a:solidFill>
                  <a:srgbClr val="FF0000"/>
                </a:solidFill>
              </a:rPr>
              <a:t>获取内核源码</a:t>
            </a:r>
            <a:r>
              <a:rPr lang="zh-CN" altLang="zh-CN" sz="2400" b="1" dirty="0"/>
              <a:t>、</a:t>
            </a:r>
            <a:r>
              <a:rPr lang="zh-CN" altLang="zh-CN" sz="2400" b="1" dirty="0">
                <a:solidFill>
                  <a:srgbClr val="FF0000"/>
                </a:solidFill>
              </a:rPr>
              <a:t>内核的编译安装</a:t>
            </a:r>
            <a:r>
              <a:rPr lang="zh-CN" altLang="zh-CN" sz="2400" b="1" dirty="0"/>
              <a:t>、</a:t>
            </a:r>
            <a:r>
              <a:rPr lang="zh-CN" altLang="zh-CN" sz="2400" b="1" dirty="0">
                <a:solidFill>
                  <a:srgbClr val="FF0000"/>
                </a:solidFill>
              </a:rPr>
              <a:t>内核模块的管理</a:t>
            </a:r>
            <a:r>
              <a:rPr lang="zh-CN" altLang="zh-CN" sz="2400" b="1" dirty="0"/>
              <a:t>。通过本章的学习，读者应对</a:t>
            </a:r>
            <a:r>
              <a:rPr lang="en-US" altLang="zh-CN" sz="2400" b="1" dirty="0"/>
              <a:t>Linux</a:t>
            </a:r>
            <a:r>
              <a:rPr lang="zh-CN" altLang="zh-CN" sz="2400" b="1" dirty="0"/>
              <a:t>内核有一个整体的了解，并掌握内核安装、内核模块管理的方法。</a:t>
            </a:r>
            <a:endParaRPr lang="en-US" altLang="zh-CN" sz="2400" b="1" dirty="0"/>
          </a:p>
        </p:txBody>
      </p:sp>
      <p:grpSp>
        <p:nvGrpSpPr>
          <p:cNvPr id="68" name="组合 5"/>
          <p:cNvGrpSpPr/>
          <p:nvPr/>
        </p:nvGrpSpPr>
        <p:grpSpPr>
          <a:xfrm rot="1223044">
            <a:off x="4619962" y="1671811"/>
            <a:ext cx="194228" cy="388557"/>
            <a:chOff x="6660232" y="483518"/>
            <a:chExt cx="432048" cy="864096"/>
          </a:xfrm>
        </p:grpSpPr>
        <p:sp>
          <p:nvSpPr>
            <p:cNvPr id="69" name="等腰三角形 68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FEA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0" name="等腰三角形 69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963"/>
              </a:avLst>
            </a:prstGeom>
            <a:solidFill>
              <a:srgbClr val="BF91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71" name="组合 9"/>
          <p:cNvGrpSpPr/>
          <p:nvPr/>
        </p:nvGrpSpPr>
        <p:grpSpPr>
          <a:xfrm rot="6407950">
            <a:off x="8821748" y="5205250"/>
            <a:ext cx="349232" cy="698282"/>
            <a:chOff x="6660232" y="483518"/>
            <a:chExt cx="432048" cy="864096"/>
          </a:xfrm>
        </p:grpSpPr>
        <p:sp>
          <p:nvSpPr>
            <p:cNvPr id="72" name="等腰三角形 71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3" name="等腰三角形 72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grpSp>
        <p:nvGrpSpPr>
          <p:cNvPr id="74" name="组合 12"/>
          <p:cNvGrpSpPr/>
          <p:nvPr/>
        </p:nvGrpSpPr>
        <p:grpSpPr>
          <a:xfrm rot="6226596">
            <a:off x="10509660" y="5333370"/>
            <a:ext cx="377870" cy="755543"/>
            <a:chOff x="6660232" y="483518"/>
            <a:chExt cx="432048" cy="864096"/>
          </a:xfrm>
        </p:grpSpPr>
        <p:sp>
          <p:nvSpPr>
            <p:cNvPr id="75" name="等腰三角形 74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3EDD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76" name="等腰三角形 75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58818"/>
              </a:avLst>
            </a:prstGeom>
            <a:solidFill>
              <a:srgbClr val="05B0F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77" name="等腰三角形 76"/>
          <p:cNvSpPr/>
          <p:nvPr/>
        </p:nvSpPr>
        <p:spPr>
          <a:xfrm rot="12209274">
            <a:off x="3340616" y="1481684"/>
            <a:ext cx="224553" cy="336917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等腰三角形 77"/>
          <p:cNvSpPr/>
          <p:nvPr/>
        </p:nvSpPr>
        <p:spPr>
          <a:xfrm rot="1409274">
            <a:off x="4462529" y="2918608"/>
            <a:ext cx="224553" cy="112306"/>
          </a:xfrm>
          <a:prstGeom prst="triangle">
            <a:avLst>
              <a:gd name="adj" fmla="val 63228"/>
            </a:avLst>
          </a:prstGeom>
          <a:solidFill>
            <a:srgbClr val="6F3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grpSp>
        <p:nvGrpSpPr>
          <p:cNvPr id="79" name="组合 24"/>
          <p:cNvGrpSpPr/>
          <p:nvPr/>
        </p:nvGrpSpPr>
        <p:grpSpPr>
          <a:xfrm rot="7346403">
            <a:off x="11657117" y="3693748"/>
            <a:ext cx="154658" cy="309235"/>
            <a:chOff x="6660232" y="483518"/>
            <a:chExt cx="432048" cy="864096"/>
          </a:xfrm>
        </p:grpSpPr>
        <p:sp>
          <p:nvSpPr>
            <p:cNvPr id="80" name="等腰三角形 79"/>
            <p:cNvSpPr/>
            <p:nvPr/>
          </p:nvSpPr>
          <p:spPr>
            <a:xfrm rot="10800000">
              <a:off x="6660232" y="699542"/>
              <a:ext cx="432048" cy="648072"/>
            </a:xfrm>
            <a:prstGeom prst="triangle">
              <a:avLst/>
            </a:prstGeom>
            <a:solidFill>
              <a:srgbClr val="45D4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81" name="等腰三角形 80"/>
            <p:cNvSpPr/>
            <p:nvPr/>
          </p:nvSpPr>
          <p:spPr>
            <a:xfrm>
              <a:off x="6660232" y="483518"/>
              <a:ext cx="432048" cy="216024"/>
            </a:xfrm>
            <a:prstGeom prst="triangle">
              <a:avLst>
                <a:gd name="adj" fmla="val 63228"/>
              </a:avLst>
            </a:prstGeom>
            <a:solidFill>
              <a:srgbClr val="00B04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</p:grpSp>
      <p:sp>
        <p:nvSpPr>
          <p:cNvPr id="82" name="等腰三角形 81"/>
          <p:cNvSpPr/>
          <p:nvPr/>
        </p:nvSpPr>
        <p:spPr>
          <a:xfrm rot="17675433">
            <a:off x="1343179" y="3421504"/>
            <a:ext cx="155723" cy="241925"/>
          </a:xfrm>
          <a:prstGeom prst="triangle">
            <a:avLst/>
          </a:prstGeom>
          <a:solidFill>
            <a:srgbClr val="FEA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3" name="等腰三角形 82"/>
          <p:cNvSpPr/>
          <p:nvPr/>
        </p:nvSpPr>
        <p:spPr>
          <a:xfrm rot="18842669">
            <a:off x="6062702" y="3897352"/>
            <a:ext cx="127727" cy="198431"/>
          </a:xfrm>
          <a:prstGeom prst="triangle">
            <a:avLst/>
          </a:prstGeom>
          <a:solidFill>
            <a:srgbClr val="B86EE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4" name="等腰三角形 83"/>
          <p:cNvSpPr/>
          <p:nvPr/>
        </p:nvSpPr>
        <p:spPr>
          <a:xfrm rot="14558547">
            <a:off x="5505625" y="2129781"/>
            <a:ext cx="155723" cy="241925"/>
          </a:xfrm>
          <a:prstGeom prst="triangle">
            <a:avLst/>
          </a:prstGeom>
          <a:solidFill>
            <a:srgbClr val="05B0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5" name="等腰三角形 84"/>
          <p:cNvSpPr/>
          <p:nvPr/>
        </p:nvSpPr>
        <p:spPr>
          <a:xfrm rot="12105279">
            <a:off x="4187620" y="1175288"/>
            <a:ext cx="111838" cy="173837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6" name="等腰三角形 85"/>
          <p:cNvSpPr/>
          <p:nvPr/>
        </p:nvSpPr>
        <p:spPr>
          <a:xfrm rot="14668738">
            <a:off x="4929800" y="2224024"/>
            <a:ext cx="107837" cy="167531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7" name="等腰三角形 86"/>
          <p:cNvSpPr/>
          <p:nvPr/>
        </p:nvSpPr>
        <p:spPr>
          <a:xfrm rot="17171880">
            <a:off x="9704124" y="5213536"/>
            <a:ext cx="107837" cy="167531"/>
          </a:xfrm>
          <a:prstGeom prst="triangle">
            <a:avLst>
              <a:gd name="adj" fmla="val 77077"/>
            </a:avLst>
          </a:prstGeom>
          <a:solidFill>
            <a:srgbClr val="6F3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8" name="等腰三角形 87"/>
          <p:cNvSpPr/>
          <p:nvPr/>
        </p:nvSpPr>
        <p:spPr>
          <a:xfrm rot="11654353">
            <a:off x="5276649" y="1246690"/>
            <a:ext cx="107809" cy="167575"/>
          </a:xfrm>
          <a:prstGeom prst="triangle">
            <a:avLst>
              <a:gd name="adj" fmla="val 35756"/>
            </a:avLst>
          </a:prstGeom>
          <a:solidFill>
            <a:srgbClr val="45D4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89" name="等腰三角形 88"/>
          <p:cNvSpPr/>
          <p:nvPr/>
        </p:nvSpPr>
        <p:spPr>
          <a:xfrm rot="19005263">
            <a:off x="5227066" y="3819557"/>
            <a:ext cx="155682" cy="241988"/>
          </a:xfrm>
          <a:prstGeom prst="triangle">
            <a:avLst>
              <a:gd name="adj" fmla="val 100000"/>
            </a:avLst>
          </a:prstGeom>
          <a:solidFill>
            <a:srgbClr val="05B0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0" name="等腰三角形 89"/>
          <p:cNvSpPr/>
          <p:nvPr/>
        </p:nvSpPr>
        <p:spPr>
          <a:xfrm rot="20250676">
            <a:off x="10500484" y="3433487"/>
            <a:ext cx="107809" cy="167575"/>
          </a:xfrm>
          <a:prstGeom prst="triangle">
            <a:avLst>
              <a:gd name="adj" fmla="val 35756"/>
            </a:avLst>
          </a:prstGeom>
          <a:solidFill>
            <a:srgbClr val="EF54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1" name="等腰三角形 90"/>
          <p:cNvSpPr/>
          <p:nvPr/>
        </p:nvSpPr>
        <p:spPr>
          <a:xfrm rot="17959049">
            <a:off x="10208234" y="3008665"/>
            <a:ext cx="156931" cy="135250"/>
          </a:xfrm>
          <a:prstGeom prst="triangle">
            <a:avLst/>
          </a:prstGeom>
          <a:solidFill>
            <a:srgbClr val="3EDD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2" name="等腰三角形 91"/>
          <p:cNvSpPr/>
          <p:nvPr/>
        </p:nvSpPr>
        <p:spPr>
          <a:xfrm rot="1068765">
            <a:off x="936441" y="4248182"/>
            <a:ext cx="156890" cy="135285"/>
          </a:xfrm>
          <a:prstGeom prst="triangle">
            <a:avLst/>
          </a:prstGeom>
          <a:solidFill>
            <a:srgbClr val="00B0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93" name="等腰三角形 92"/>
          <p:cNvSpPr/>
          <p:nvPr/>
        </p:nvSpPr>
        <p:spPr>
          <a:xfrm rot="17007495">
            <a:off x="7995445" y="5211691"/>
            <a:ext cx="155723" cy="241925"/>
          </a:xfrm>
          <a:prstGeom prst="triangle">
            <a:avLst/>
          </a:prstGeom>
          <a:solidFill>
            <a:srgbClr val="BF9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cxnSp>
        <p:nvCxnSpPr>
          <p:cNvPr id="94" name="直接连接符 71"/>
          <p:cNvCxnSpPr/>
          <p:nvPr/>
        </p:nvCxnSpPr>
        <p:spPr>
          <a:xfrm flipH="1">
            <a:off x="9202549" y="7121749"/>
            <a:ext cx="1474501" cy="1463953"/>
          </a:xfrm>
          <a:prstGeom prst="line">
            <a:avLst/>
          </a:prstGeom>
          <a:ln>
            <a:solidFill>
              <a:srgbClr val="FEA5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73"/>
          <p:cNvCxnSpPr/>
          <p:nvPr/>
        </p:nvCxnSpPr>
        <p:spPr>
          <a:xfrm flipH="1">
            <a:off x="11069007" y="5941656"/>
            <a:ext cx="658541" cy="626903"/>
          </a:xfrm>
          <a:prstGeom prst="line">
            <a:avLst/>
          </a:prstGeom>
          <a:ln>
            <a:solidFill>
              <a:srgbClr val="05B0F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459" y="1450893"/>
            <a:ext cx="4143375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7079095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747401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3d287a59f44a3aed42a385a4068be4cdf8f715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TITLE" val="2.3本章小结"/>
  <p:tag name="GENSWF_ADVANCE_TIME" val="0.00"/>
  <p:tag name="ISPRING_SLIDE_INDENT_LEVEL" val="0"/>
  <p:tag name="ISPRING_CUSTOM_TIMING_USED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2773</TotalTime>
  <Words>2858</Words>
  <Application>Microsoft Office PowerPoint</Application>
  <PresentationFormat>宽屏</PresentationFormat>
  <Paragraphs>403</Paragraphs>
  <Slides>72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72</vt:i4>
      </vt:variant>
    </vt:vector>
  </HeadingPairs>
  <TitlesOfParts>
    <vt:vector size="83" baseType="lpstr">
      <vt:lpstr>等线</vt:lpstr>
      <vt:lpstr>等线 Light</vt:lpstr>
      <vt:lpstr>方正细倩简体</vt:lpstr>
      <vt:lpstr>楷体</vt:lpstr>
      <vt:lpstr>微软雅黑</vt:lpstr>
      <vt:lpstr>Arial</vt:lpstr>
      <vt:lpstr>Broadway</vt:lpstr>
      <vt:lpstr>Franklin Gothic Medium</vt:lpstr>
      <vt:lpstr>Wingdings</vt:lpstr>
      <vt:lpstr>Office 主题​​</vt:lpstr>
      <vt:lpstr>Visio</vt:lpstr>
      <vt:lpstr>第4章 内核编译与管理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lucius</dc:creator>
  <cp:lastModifiedBy>Bruce Fang_cn</cp:lastModifiedBy>
  <cp:revision>177</cp:revision>
  <dcterms:created xsi:type="dcterms:W3CDTF">2016-08-25T05:35:30Z</dcterms:created>
  <dcterms:modified xsi:type="dcterms:W3CDTF">2022-10-31T05:46:07Z</dcterms:modified>
</cp:coreProperties>
</file>