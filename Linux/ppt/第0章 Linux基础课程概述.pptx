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60" r:id="rId4"/>
    <p:sldId id="336" r:id="rId5"/>
    <p:sldId id="309" r:id="rId6"/>
    <p:sldId id="337" r:id="rId7"/>
    <p:sldId id="264" r:id="rId8"/>
    <p:sldId id="338" r:id="rId9"/>
    <p:sldId id="283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0" autoAdjust="0"/>
    <p:restoredTop sz="93321" autoAdjust="0"/>
  </p:normalViewPr>
  <p:slideViewPr>
    <p:cSldViewPr snapToGrid="0" showGuides="1">
      <p:cViewPr varScale="1">
        <p:scale>
          <a:sx n="91" d="100"/>
          <a:sy n="91" d="100"/>
        </p:scale>
        <p:origin x="72" y="220"/>
      </p:cViewPr>
      <p:guideLst>
        <p:guide orient="horz" pos="2160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74AA3-8BAA-416F-A8D3-D530C74FA4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3376C-038D-4756-9A81-5E15553BC5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jpe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10" name="组合 9"/>
            <p:cNvGrpSpPr/>
            <p:nvPr userDrawn="1"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pic>
            <p:nvPicPr>
              <p:cNvPr id="7" name="图片 6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9495"/>
              <a:stretch>
                <a:fillRect/>
              </a:stretch>
            </p:blipFill>
            <p:spPr>
              <a:xfrm>
                <a:off x="0" y="-1"/>
                <a:ext cx="12192000" cy="720437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6173"/>
              <a:stretch>
                <a:fillRect/>
              </a:stretch>
            </p:blipFill>
            <p:spPr>
              <a:xfrm>
                <a:off x="0" y="1794933"/>
                <a:ext cx="12192000" cy="5063067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>
                <a:fillRect/>
              </a:stretch>
            </p:blipFill>
            <p:spPr>
              <a:xfrm>
                <a:off x="0" y="719378"/>
                <a:ext cx="12192000" cy="1100667"/>
              </a:xfrm>
              <a:prstGeom prst="rect">
                <a:avLst/>
              </a:prstGeom>
            </p:spPr>
          </p:pic>
        </p:grpSp>
        <p:pic>
          <p:nvPicPr>
            <p:cNvPr id="12" name="图片 11"/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94" r="-1"/>
            <a:stretch>
              <a:fillRect/>
            </a:stretch>
          </p:blipFill>
          <p:spPr>
            <a:xfrm>
              <a:off x="4552950" y="812512"/>
              <a:ext cx="3095622" cy="12382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39052" y="1515523"/>
            <a:ext cx="5071548" cy="738409"/>
          </a:xfrm>
          <a:prstGeom prst="rect">
            <a:avLst/>
          </a:prstGeom>
        </p:spPr>
      </p:pic>
      <p:grpSp>
        <p:nvGrpSpPr>
          <p:cNvPr id="9" name="组合 8"/>
          <p:cNvGrpSpPr/>
          <p:nvPr userDrawn="1"/>
        </p:nvGrpSpPr>
        <p:grpSpPr>
          <a:xfrm>
            <a:off x="0" y="0"/>
            <a:ext cx="12192000" cy="6914408"/>
            <a:chOff x="0" y="0"/>
            <a:chExt cx="12192000" cy="6914408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602"/>
            <a:stretch>
              <a:fillRect/>
            </a:stretch>
          </p:blipFill>
          <p:spPr>
            <a:xfrm>
              <a:off x="0" y="4743450"/>
              <a:ext cx="12192000" cy="2170958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 userDrawn="1"/>
          </p:nvGrpSpPr>
          <p:grpSpPr>
            <a:xfrm>
              <a:off x="0" y="0"/>
              <a:ext cx="12192000" cy="4571999"/>
              <a:chOff x="0" y="0"/>
              <a:chExt cx="12192000" cy="4571999"/>
            </a:xfrm>
          </p:grpSpPr>
          <p:pic>
            <p:nvPicPr>
              <p:cNvPr id="12" name="图片 11"/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486" b="80872"/>
              <a:stretch>
                <a:fillRect/>
              </a:stretch>
            </p:blipFill>
            <p:spPr>
              <a:xfrm>
                <a:off x="0" y="0"/>
                <a:ext cx="9084733" cy="1322589"/>
              </a:xfrm>
              <a:prstGeom prst="rect">
                <a:avLst/>
              </a:prstGeom>
            </p:spPr>
          </p:pic>
          <p:pic>
            <p:nvPicPr>
              <p:cNvPr id="13" name="图片 12"/>
              <p:cNvPicPr>
                <a:picLocks noChangeAspect="1"/>
              </p:cNvPicPr>
              <p:nvPr userDrawn="1"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>
                <a:fillRect/>
              </a:stretch>
            </p:blipFill>
            <p:spPr>
              <a:xfrm>
                <a:off x="0" y="2446866"/>
                <a:ext cx="12192000" cy="2125133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388" t="36654" r="32430" b="47892"/>
              <a:stretch>
                <a:fillRect/>
              </a:stretch>
            </p:blipFill>
            <p:spPr>
              <a:xfrm>
                <a:off x="3894670" y="2890463"/>
                <a:ext cx="4411134" cy="1068598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89" b="69265"/>
              <a:stretch>
                <a:fillRect/>
              </a:stretch>
            </p:blipFill>
            <p:spPr>
              <a:xfrm>
                <a:off x="9008533" y="0"/>
                <a:ext cx="3183467" cy="212513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1904"/>
            <a:chOff x="0" y="0"/>
            <a:chExt cx="12192000" cy="685190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190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610600" y="395272"/>
              <a:ext cx="2985655" cy="61408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514333" y="6561226"/>
              <a:ext cx="1709322" cy="22750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356480" y="1596979"/>
            <a:ext cx="9473852" cy="1912983"/>
          </a:xfrm>
        </p:spPr>
        <p:txBody>
          <a:bodyPr/>
          <a:lstStyle/>
          <a:p>
            <a:r>
              <a:rPr lang="en-US" altLang="zh-CN" b="1" dirty="0">
                <a:cs typeface="方正细倩简体"/>
              </a:rPr>
              <a:t>Linux</a:t>
            </a:r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基础 课程概述</a:t>
            </a:r>
            <a:endParaRPr lang="zh-CN" altLang="zh-CN" b="1" dirty="0"/>
          </a:p>
        </p:txBody>
      </p:sp>
      <p:sp>
        <p:nvSpPr>
          <p:cNvPr id="11" name="矩形 10"/>
          <p:cNvSpPr/>
          <p:nvPr/>
        </p:nvSpPr>
        <p:spPr>
          <a:xfrm>
            <a:off x="7269982" y="5188815"/>
            <a:ext cx="4018643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方小龙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Email: fxlfxl3113@gmail.com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75" y="4977312"/>
            <a:ext cx="2143125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课程介绍</a:t>
            </a:r>
            <a:endParaRPr lang="zh-CN" altLang="en-US" sz="36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文本框 4"/>
          <p:cNvSpPr txBox="1"/>
          <p:nvPr/>
        </p:nvSpPr>
        <p:spPr>
          <a:xfrm>
            <a:off x="3056172" y="1278600"/>
            <a:ext cx="6097162" cy="4868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一、课程的性质与目标</a:t>
            </a:r>
            <a:endParaRPr lang="zh-CN" altLang="en-US" sz="3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二、课程主要内容</a:t>
            </a:r>
            <a:endParaRPr lang="zh-CN" altLang="en-US" sz="3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三、学时分配（理论课）</a:t>
            </a:r>
            <a:endParaRPr lang="zh-CN" altLang="en-US" sz="3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四、考核模式与成绩评定办法</a:t>
            </a:r>
            <a:endParaRPr lang="zh-CN" altLang="en-US" sz="3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五、课堂要求</a:t>
            </a:r>
            <a:endParaRPr lang="zh-CN" altLang="en-US" sz="3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5451120" y="1640270"/>
            <a:ext cx="6407043" cy="3905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20725" eaLnBrk="0" hangingPunct="0"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/>
              <a:t>《Linux</a:t>
            </a:r>
            <a:r>
              <a:rPr lang="zh-CN" altLang="en-US" sz="2400" dirty="0"/>
              <a:t>系统管理与自动化运维</a:t>
            </a:r>
            <a:r>
              <a:rPr lang="en-US" altLang="zh-CN" sz="2400" dirty="0"/>
              <a:t>》</a:t>
            </a:r>
            <a:r>
              <a:rPr lang="zh-CN" altLang="en-US" sz="2400" dirty="0"/>
              <a:t>是计算机科学与技术</a:t>
            </a:r>
            <a:r>
              <a:rPr lang="zh-CN" altLang="en-US" sz="2400"/>
              <a:t>、软件工程和大数据等本科</a:t>
            </a:r>
            <a:r>
              <a:rPr lang="zh-CN" altLang="en-US" sz="2400" dirty="0"/>
              <a:t>专业的初级课程，本课程主要介绍了如何</a:t>
            </a:r>
            <a:r>
              <a:rPr lang="zh-CN" altLang="en-US" sz="2400" dirty="0">
                <a:solidFill>
                  <a:srgbClr val="00B050"/>
                </a:solidFill>
              </a:rPr>
              <a:t>使用、管理</a:t>
            </a:r>
            <a:r>
              <a:rPr lang="en-US" altLang="zh-CN" sz="2400" dirty="0">
                <a:solidFill>
                  <a:srgbClr val="00B050"/>
                </a:solidFill>
              </a:rPr>
              <a:t>Linux</a:t>
            </a:r>
            <a:r>
              <a:rPr lang="zh-CN" altLang="en-US" sz="2400" dirty="0">
                <a:solidFill>
                  <a:srgbClr val="00B050"/>
                </a:solidFill>
              </a:rPr>
              <a:t>操作系统</a:t>
            </a:r>
            <a:r>
              <a:rPr lang="zh-CN" altLang="en-US" sz="2400" dirty="0"/>
              <a:t>，以及如何实现</a:t>
            </a:r>
            <a:r>
              <a:rPr lang="en-US" altLang="zh-CN" sz="2400" dirty="0">
                <a:solidFill>
                  <a:srgbClr val="00B050"/>
                </a:solidFill>
              </a:rPr>
              <a:t>Linux</a:t>
            </a:r>
            <a:r>
              <a:rPr lang="zh-CN" altLang="en-US" sz="2400" dirty="0">
                <a:solidFill>
                  <a:srgbClr val="00B050"/>
                </a:solidFill>
              </a:rPr>
              <a:t>系统的批量、自动化运维</a:t>
            </a:r>
            <a:r>
              <a:rPr lang="zh-CN" altLang="en-US" sz="2400" dirty="0"/>
              <a:t>，目的在于帮助学生</a:t>
            </a:r>
            <a:r>
              <a:rPr lang="zh-CN" altLang="en-US" sz="2400" dirty="0">
                <a:solidFill>
                  <a:srgbClr val="FF0000"/>
                </a:solidFill>
              </a:rPr>
              <a:t>掌握</a:t>
            </a:r>
            <a:r>
              <a:rPr lang="en-US" altLang="zh-CN" sz="2400" dirty="0">
                <a:solidFill>
                  <a:srgbClr val="FF0000"/>
                </a:solidFill>
              </a:rPr>
              <a:t>Linux</a:t>
            </a:r>
            <a:r>
              <a:rPr lang="zh-CN" altLang="en-US" sz="2400" dirty="0">
                <a:solidFill>
                  <a:srgbClr val="FF0000"/>
                </a:solidFill>
              </a:rPr>
              <a:t>操作系统的使用方法与批量管理维护</a:t>
            </a:r>
            <a:r>
              <a:rPr lang="en-US" altLang="zh-CN" sz="2400" dirty="0">
                <a:solidFill>
                  <a:srgbClr val="FF0000"/>
                </a:solidFill>
              </a:rPr>
              <a:t>Linux</a:t>
            </a:r>
            <a:r>
              <a:rPr lang="zh-CN" altLang="en-US" sz="2400" dirty="0">
                <a:solidFill>
                  <a:srgbClr val="FF0000"/>
                </a:solidFill>
              </a:rPr>
              <a:t>系统的方式。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一、课程的性质与目标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386" y="1312687"/>
            <a:ext cx="3854648" cy="493420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2" y="502131"/>
            <a:ext cx="688315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二、课程主要内容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1249" y="1261466"/>
            <a:ext cx="10997852" cy="507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系统简介与环境搭建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⭐⭐⭐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 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命令与工具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		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⭐⭐⭐⭐⭐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 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					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⭐⭐⭐⭐⭐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   内核编译与管理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⭐⭐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   网络服务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⭐⭐⭐⭐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   集中化运维工具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——Ansible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SaltStack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监控系统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第八章   网络安全与防火墙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KVM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虚拟化技术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/>
          <p:nvPr/>
        </p:nvSpPr>
        <p:spPr>
          <a:xfrm>
            <a:off x="3164840" y="450215"/>
            <a:ext cx="7769225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 </a:t>
            </a:r>
            <a:r>
              <a:rPr lang="en-US" altLang="zh-CN"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3200" kern="1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学时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分配（理论</a:t>
            </a:r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28+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</a:t>
            </a:r>
            <a:r>
              <a:rPr lang="en-US" altLang="zh-CN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" name="表格 8"/>
          <p:cNvGraphicFramePr>
            <a:graphicFrameLocks noGrp="1"/>
          </p:cNvGraphicFramePr>
          <p:nvPr/>
        </p:nvGraphicFramePr>
        <p:xfrm>
          <a:off x="968285" y="1967200"/>
          <a:ext cx="9850682" cy="343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5091"/>
                <a:gridCol w="1596704"/>
                <a:gridCol w="1596704"/>
                <a:gridCol w="1462183"/>
              </a:tblGrid>
              <a:tr h="49116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2000" dirty="0"/>
                        <a:t>章节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2000" dirty="0"/>
                        <a:t>讲课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2000" dirty="0"/>
                        <a:t>实验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zh-CN" altLang="en-US" sz="2000" dirty="0"/>
                        <a:t>合计</a:t>
                      </a:r>
                      <a:endParaRPr lang="zh-CN" altLang="en-US" sz="2000" dirty="0"/>
                    </a:p>
                  </a:txBody>
                  <a:tcPr/>
                </a:tc>
              </a:tr>
              <a:tr h="49116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2000" dirty="0"/>
                        <a:t>第一章   </a:t>
                      </a:r>
                      <a:r>
                        <a:rPr lang="en-US" altLang="zh-CN" sz="2000" dirty="0"/>
                        <a:t>Linux</a:t>
                      </a:r>
                      <a:r>
                        <a:rPr lang="zh-CN" altLang="en-US" sz="2000" dirty="0"/>
                        <a:t>系统简介与环境搭建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4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2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6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</a:tr>
              <a:tr h="49116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2000" dirty="0">
                          <a:solidFill>
                            <a:srgbClr val="FF0000"/>
                          </a:solidFill>
                        </a:rPr>
                        <a:t>第二章   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Linux</a:t>
                      </a:r>
                      <a:r>
                        <a:rPr lang="zh-CN" altLang="en-US" sz="2000" dirty="0">
                          <a:solidFill>
                            <a:srgbClr val="FF0000"/>
                          </a:solidFill>
                        </a:rPr>
                        <a:t>命令与工具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8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2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10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</a:tr>
              <a:tr h="49116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2000" dirty="0">
                          <a:solidFill>
                            <a:srgbClr val="FF0000"/>
                          </a:solidFill>
                        </a:rPr>
                        <a:t>第三章   </a:t>
                      </a:r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Shell</a:t>
                      </a:r>
                      <a:endParaRPr lang="en-US" altLang="zh-CN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8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2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10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</a:tr>
              <a:tr h="49116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2000" dirty="0"/>
                        <a:t>第四章   内核编译与管理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2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2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4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</a:tr>
              <a:tr h="49116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2000" dirty="0">
                          <a:solidFill>
                            <a:srgbClr val="FF0000"/>
                          </a:solidFill>
                        </a:rPr>
                        <a:t>第五章   网络服务</a:t>
                      </a:r>
                      <a:endParaRPr lang="zh-CN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6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4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10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</a:tr>
              <a:tr h="49116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zh-CN" altLang="en-US" sz="2000" dirty="0"/>
                        <a:t>合计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28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12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lang="en-US" altLang="zh-CN" sz="2000" dirty="0"/>
                        <a:t>40</a:t>
                      </a:r>
                      <a:r>
                        <a:rPr lang="zh-CN" altLang="en-US" sz="2000" dirty="0"/>
                        <a:t>学时</a:t>
                      </a:r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2" y="502131"/>
            <a:ext cx="599987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四、考核模式与成绩评定办法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1249" y="1261466"/>
            <a:ext cx="10997852" cy="4523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本课程为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课程，期末考试采用百分制的闭卷考试模式。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学生的考试成绩由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平时成绩（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期末考试（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平时成绩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不限于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课堂考勤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迟到、旷课、早退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    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课堂纪律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打游戏、看视频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    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平时实验（实验结果、实验报告）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课后作业、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课堂表现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2308382" y="502131"/>
            <a:ext cx="5999875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zh-CN" altLang="en-US" sz="3200" kern="1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、课堂要求</a:t>
            </a:r>
            <a:endParaRPr lang="zh-CN" altLang="en-US" sz="3200" kern="1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1253" y="1277832"/>
            <a:ext cx="7698658" cy="507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保持课堂安静；</a:t>
            </a:r>
            <a:endParaRPr lang="en-US" altLang="zh-CN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禁止迟到、早退，随时随机点名；</a:t>
            </a:r>
            <a:endParaRPr lang="en-US" altLang="zh-CN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禁止玩游戏、看视频；</a:t>
            </a:r>
            <a:endParaRPr lang="zh-CN" altLang="en-US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禁止上课吃东西；</a:t>
            </a:r>
            <a:endParaRPr lang="zh-CN" altLang="en-US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endParaRPr lang="en-US" altLang="zh-CN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defTabSz="720725">
              <a:lnSpc>
                <a:spcPct val="1500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以上要求纳入平时考核成绩。</a:t>
            </a:r>
            <a:endParaRPr lang="en-US" altLang="zh-CN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ISPRING_RESOURCE_PATHS_HASH_PRESENTER" val="3d287a59f44a3aed42a385a4068be4cdf8f715a"/>
  <p:tag name="commondata" val="eyJoZGlkIjoiN2EwZjRiMDZmYWE2MTI1MzU1ODA3NmMxZTI0ZTU4ZD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</Words>
  <Application>WPS 演示</Application>
  <PresentationFormat>宽屏</PresentationFormat>
  <Paragraphs>107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方正细倩简体</vt:lpstr>
      <vt:lpstr>Segoe Print</vt:lpstr>
      <vt:lpstr>Arial Unicode MS</vt:lpstr>
      <vt:lpstr>等线 Light</vt:lpstr>
      <vt:lpstr>等线</vt:lpstr>
      <vt:lpstr>Calibri</vt:lpstr>
      <vt:lpstr>Office 主题​​</vt:lpstr>
      <vt:lpstr>Linux基础 课程概述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lucius</dc:creator>
  <cp:lastModifiedBy>fxlfx</cp:lastModifiedBy>
  <cp:revision>154</cp:revision>
  <dcterms:created xsi:type="dcterms:W3CDTF">2016-08-25T05:35:00Z</dcterms:created>
  <dcterms:modified xsi:type="dcterms:W3CDTF">2023-10-10T09:37:53Z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5281D742D0D542CBA04AA693463A88C2_12</vt:lpwstr>
  </property>
  <property fmtid="{D5CDD505-2E9C-101B-9397-08002B2CF9AE}" pid="3" name="KSOProductBuildVer">
    <vt:lpwstr>2052-12.1.0.15712</vt:lpwstr>
  </property>
</Properties>
</file>