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454" r:id="rId5"/>
    <p:sldId id="455" r:id="rId6"/>
    <p:sldId id="453" r:id="rId7"/>
    <p:sldId id="452" r:id="rId8"/>
    <p:sldId id="336" r:id="rId9"/>
    <p:sldId id="456" r:id="rId10"/>
    <p:sldId id="457" r:id="rId11"/>
    <p:sldId id="458" r:id="rId12"/>
    <p:sldId id="337" r:id="rId13"/>
    <p:sldId id="459" r:id="rId14"/>
    <p:sldId id="460" r:id="rId15"/>
    <p:sldId id="461" r:id="rId16"/>
    <p:sldId id="387" r:id="rId17"/>
    <p:sldId id="464" r:id="rId18"/>
    <p:sldId id="462" r:id="rId19"/>
    <p:sldId id="338" r:id="rId20"/>
    <p:sldId id="465" r:id="rId21"/>
    <p:sldId id="466" r:id="rId22"/>
    <p:sldId id="467" r:id="rId23"/>
    <p:sldId id="468" r:id="rId24"/>
    <p:sldId id="446" r:id="rId25"/>
    <p:sldId id="469" r:id="rId26"/>
    <p:sldId id="340" r:id="rId27"/>
    <p:sldId id="470" r:id="rId28"/>
    <p:sldId id="471" r:id="rId29"/>
    <p:sldId id="341" r:id="rId30"/>
    <p:sldId id="472" r:id="rId31"/>
    <p:sldId id="473" r:id="rId32"/>
    <p:sldId id="390" r:id="rId33"/>
    <p:sldId id="474" r:id="rId34"/>
    <p:sldId id="391" r:id="rId35"/>
    <p:sldId id="475" r:id="rId36"/>
    <p:sldId id="476" r:id="rId37"/>
    <p:sldId id="477" r:id="rId38"/>
    <p:sldId id="478" r:id="rId39"/>
    <p:sldId id="479" r:id="rId40"/>
    <p:sldId id="480" r:id="rId41"/>
    <p:sldId id="392" r:id="rId42"/>
    <p:sldId id="393" r:id="rId43"/>
    <p:sldId id="481" r:id="rId44"/>
    <p:sldId id="482" r:id="rId45"/>
    <p:sldId id="394" r:id="rId46"/>
    <p:sldId id="483" r:id="rId47"/>
    <p:sldId id="484" r:id="rId48"/>
    <p:sldId id="447" r:id="rId49"/>
    <p:sldId id="395" r:id="rId50"/>
    <p:sldId id="485" r:id="rId51"/>
    <p:sldId id="486" r:id="rId52"/>
    <p:sldId id="487" r:id="rId53"/>
    <p:sldId id="404" r:id="rId54"/>
    <p:sldId id="488" r:id="rId55"/>
    <p:sldId id="489" r:id="rId56"/>
    <p:sldId id="490" r:id="rId57"/>
    <p:sldId id="491" r:id="rId58"/>
    <p:sldId id="405" r:id="rId59"/>
    <p:sldId id="406" r:id="rId60"/>
    <p:sldId id="407" r:id="rId61"/>
    <p:sldId id="492" r:id="rId62"/>
    <p:sldId id="448" r:id="rId63"/>
    <p:sldId id="408" r:id="rId64"/>
    <p:sldId id="493" r:id="rId65"/>
    <p:sldId id="399" r:id="rId66"/>
    <p:sldId id="494" r:id="rId67"/>
    <p:sldId id="502" r:id="rId68"/>
    <p:sldId id="400" r:id="rId69"/>
    <p:sldId id="495" r:id="rId70"/>
    <p:sldId id="499" r:id="rId71"/>
    <p:sldId id="496" r:id="rId72"/>
    <p:sldId id="497" r:id="rId73"/>
    <p:sldId id="498" r:id="rId74"/>
    <p:sldId id="501" r:id="rId75"/>
    <p:sldId id="503" r:id="rId76"/>
    <p:sldId id="401" r:id="rId77"/>
    <p:sldId id="504" r:id="rId78"/>
    <p:sldId id="507" r:id="rId79"/>
    <p:sldId id="500" r:id="rId80"/>
    <p:sldId id="505" r:id="rId81"/>
    <p:sldId id="506" r:id="rId82"/>
    <p:sldId id="449" r:id="rId83"/>
    <p:sldId id="508" r:id="rId84"/>
    <p:sldId id="538" r:id="rId85"/>
    <p:sldId id="402" r:id="rId86"/>
    <p:sldId id="509" r:id="rId87"/>
    <p:sldId id="510" r:id="rId88"/>
    <p:sldId id="403" r:id="rId89"/>
    <p:sldId id="397" r:id="rId90"/>
    <p:sldId id="511" r:id="rId91"/>
    <p:sldId id="512" r:id="rId92"/>
    <p:sldId id="398" r:id="rId93"/>
    <p:sldId id="415" r:id="rId94"/>
    <p:sldId id="513" r:id="rId95"/>
    <p:sldId id="414" r:id="rId96"/>
    <p:sldId id="411" r:id="rId97"/>
    <p:sldId id="412" r:id="rId98"/>
    <p:sldId id="409" r:id="rId99"/>
    <p:sldId id="514" r:id="rId100"/>
    <p:sldId id="515" r:id="rId101"/>
    <p:sldId id="516" r:id="rId102"/>
    <p:sldId id="410" r:id="rId103"/>
    <p:sldId id="517" r:id="rId104"/>
    <p:sldId id="518" r:id="rId105"/>
    <p:sldId id="519" r:id="rId106"/>
    <p:sldId id="424" r:id="rId107"/>
    <p:sldId id="421" r:id="rId108"/>
    <p:sldId id="422" r:id="rId109"/>
    <p:sldId id="520" r:id="rId110"/>
    <p:sldId id="419" r:id="rId111"/>
    <p:sldId id="522" r:id="rId112"/>
    <p:sldId id="523" r:id="rId113"/>
    <p:sldId id="420" r:id="rId114"/>
    <p:sldId id="525" r:id="rId115"/>
    <p:sldId id="524" r:id="rId116"/>
    <p:sldId id="526" r:id="rId117"/>
    <p:sldId id="417" r:id="rId118"/>
    <p:sldId id="527" r:id="rId119"/>
    <p:sldId id="418" r:id="rId120"/>
    <p:sldId id="450" r:id="rId121"/>
    <p:sldId id="431" r:id="rId122"/>
    <p:sldId id="530" r:id="rId123"/>
    <p:sldId id="529" r:id="rId124"/>
    <p:sldId id="528" r:id="rId125"/>
    <p:sldId id="535" r:id="rId126"/>
    <p:sldId id="432" r:id="rId127"/>
    <p:sldId id="534" r:id="rId128"/>
    <p:sldId id="531" r:id="rId129"/>
    <p:sldId id="429" r:id="rId130"/>
    <p:sldId id="533" r:id="rId131"/>
    <p:sldId id="532" r:id="rId132"/>
    <p:sldId id="430" r:id="rId133"/>
    <p:sldId id="536" r:id="rId134"/>
    <p:sldId id="427" r:id="rId135"/>
    <p:sldId id="537" r:id="rId136"/>
    <p:sldId id="428" r:id="rId137"/>
    <p:sldId id="425" r:id="rId138"/>
    <p:sldId id="539" r:id="rId139"/>
    <p:sldId id="540" r:id="rId140"/>
    <p:sldId id="426" r:id="rId141"/>
    <p:sldId id="396" r:id="rId142"/>
    <p:sldId id="444" r:id="rId143"/>
    <p:sldId id="541" r:id="rId144"/>
    <p:sldId id="542" r:id="rId145"/>
    <p:sldId id="445" r:id="rId146"/>
    <p:sldId id="543" r:id="rId147"/>
    <p:sldId id="442" r:id="rId148"/>
    <p:sldId id="544" r:id="rId149"/>
    <p:sldId id="545" r:id="rId150"/>
    <p:sldId id="440" r:id="rId151"/>
    <p:sldId id="546" r:id="rId152"/>
    <p:sldId id="441" r:id="rId153"/>
    <p:sldId id="438" r:id="rId154"/>
    <p:sldId id="547" r:id="rId155"/>
    <p:sldId id="451" r:id="rId156"/>
    <p:sldId id="439" r:id="rId157"/>
    <p:sldId id="548" r:id="rId158"/>
    <p:sldId id="559" r:id="rId159"/>
    <p:sldId id="561" r:id="rId160"/>
    <p:sldId id="560" r:id="rId161"/>
    <p:sldId id="436" r:id="rId162"/>
    <p:sldId id="555" r:id="rId163"/>
    <p:sldId id="550" r:id="rId164"/>
    <p:sldId id="556" r:id="rId165"/>
    <p:sldId id="551" r:id="rId166"/>
    <p:sldId id="552" r:id="rId167"/>
    <p:sldId id="557" r:id="rId168"/>
    <p:sldId id="553" r:id="rId169"/>
    <p:sldId id="558" r:id="rId170"/>
    <p:sldId id="434" r:id="rId171"/>
    <p:sldId id="563" r:id="rId172"/>
    <p:sldId id="562" r:id="rId173"/>
    <p:sldId id="435" r:id="rId174"/>
    <p:sldId id="335" r:id="rId175"/>
    <p:sldId id="283" r:id="rId176"/>
  </p:sldIdLst>
  <p:sldSz cx="12192000" cy="6858000"/>
  <p:notesSz cx="6858000" cy="9144000"/>
  <p:custDataLst>
    <p:tags r:id="rId1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-244"/>
      </p:cViewPr>
      <p:guideLst>
        <p:guide orient="horz" pos="1412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8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22B14BC-CB3E-F910-F875-EF20B037B36C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7C39BC4-90DE-830D-FAA0-D08ADCF96534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42EE0AC2-B423-A4C4-119E-7D3C71D0772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9495"/>
              <a:stretch/>
            </p:blipFill>
            <p:spPr>
              <a:xfrm>
                <a:off x="0" y="-1"/>
                <a:ext cx="12192000" cy="720437"/>
              </a:xfrm>
              <a:prstGeom prst="rect">
                <a:avLst/>
              </a:prstGeom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73EDFFFF-B1EE-388B-CC7A-98B2B4BD83F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173"/>
              <a:stretch/>
            </p:blipFill>
            <p:spPr>
              <a:xfrm>
                <a:off x="0" y="1794933"/>
                <a:ext cx="12192000" cy="5063067"/>
              </a:xfrm>
              <a:prstGeom prst="rect">
                <a:avLst/>
              </a:prstGeom>
            </p:spPr>
          </p:pic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273951E3-83D3-03A2-626C-B26DED519D8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719378"/>
                <a:ext cx="12192000" cy="1100667"/>
              </a:xfrm>
              <a:prstGeom prst="rect">
                <a:avLst/>
              </a:prstGeom>
            </p:spPr>
          </p:pic>
        </p:grp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E37A869-6753-AA2B-44FF-E75908A5EA3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94" r="-1"/>
            <a:stretch/>
          </p:blipFill>
          <p:spPr>
            <a:xfrm>
              <a:off x="4552950" y="812512"/>
              <a:ext cx="3095622" cy="1238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F5AADD-D242-D035-02A9-FC1C6E52FA78}"/>
              </a:ext>
            </a:extLst>
          </p:cNvPr>
          <p:cNvGrpSpPr/>
          <p:nvPr userDrawn="1"/>
        </p:nvGrpSpPr>
        <p:grpSpPr>
          <a:xfrm>
            <a:off x="0" y="0"/>
            <a:ext cx="12192000" cy="6914408"/>
            <a:chOff x="0" y="0"/>
            <a:chExt cx="12192000" cy="6914408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602"/>
            <a:stretch/>
          </p:blipFill>
          <p:spPr>
            <a:xfrm>
              <a:off x="0" y="4743450"/>
              <a:ext cx="12192000" cy="2170958"/>
            </a:xfrm>
            <a:prstGeom prst="rect">
              <a:avLst/>
            </a:prstGeom>
          </p:spPr>
        </p:pic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F8240B4-A116-67C3-87FF-8210CBA5087A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4571999"/>
              <a:chOff x="0" y="0"/>
              <a:chExt cx="12192000" cy="4571999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3A14D013-73B4-CE5B-A1F7-7B1E4D25979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486" b="80872"/>
              <a:stretch/>
            </p:blipFill>
            <p:spPr>
              <a:xfrm>
                <a:off x="0" y="0"/>
                <a:ext cx="9084733" cy="1322589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5AC4E5A-DCD2-49AD-F23B-07B45307F67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2446866"/>
                <a:ext cx="12192000" cy="2125133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038124C3-E99E-C95E-68FB-EF0D1A8B528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388" t="36654" r="32430" b="47892"/>
              <a:stretch/>
            </p:blipFill>
            <p:spPr>
              <a:xfrm>
                <a:off x="3894670" y="2890463"/>
                <a:ext cx="4411134" cy="1068598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0340715-2469-1E4A-2062-39883428F2A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89" b="69265"/>
              <a:stretch/>
            </p:blipFill>
            <p:spPr>
              <a:xfrm>
                <a:off x="9008533" y="0"/>
                <a:ext cx="3183467" cy="212513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35BFE67-616C-B856-CB89-2F2AC86116AA}"/>
              </a:ext>
            </a:extLst>
          </p:cNvPr>
          <p:cNvGrpSpPr/>
          <p:nvPr userDrawn="1"/>
        </p:nvGrpSpPr>
        <p:grpSpPr>
          <a:xfrm>
            <a:off x="0" y="0"/>
            <a:ext cx="12192000" cy="6851904"/>
            <a:chOff x="0" y="0"/>
            <a:chExt cx="12192000" cy="685190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190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60D00C8-B98D-62FA-D511-2B98F93C59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610600" y="395272"/>
              <a:ext cx="2985655" cy="61408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82EB4BC-E3B1-3178-978F-090BA98C4C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514333" y="6561226"/>
              <a:ext cx="1709322" cy="227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5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9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9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9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9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9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9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9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9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4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9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9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9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9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9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9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9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9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9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9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9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9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9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9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3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</a:t>
            </a:r>
            <a:r>
              <a:rPr lang="en-US" altLang="zh-CN" b="1" dirty="0"/>
              <a:t>Shell</a:t>
            </a:r>
            <a:endParaRPr lang="zh-CN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6794097" y="5243490"/>
            <a:ext cx="241253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正则表达式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文本处理工具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Shell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脚本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75" y="4977312"/>
            <a:ext cx="21431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554026" y="5256016"/>
            <a:ext cx="209937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Shell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概述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Shell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中的变量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Shell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中的符号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38892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1E725-F2E7-4498-9A67-F6A5478F28AD}"/>
              </a:ext>
            </a:extLst>
          </p:cNvPr>
          <p:cNvSpPr txBox="1"/>
          <p:nvPr/>
        </p:nvSpPr>
        <p:spPr>
          <a:xfrm>
            <a:off x="5374032" y="1507899"/>
            <a:ext cx="144393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知识点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4601FE-C289-B8D9-604D-6A2CFA7744EC}"/>
              </a:ext>
            </a:extLst>
          </p:cNvPr>
          <p:cNvSpPr/>
          <p:nvPr/>
        </p:nvSpPr>
        <p:spPr>
          <a:xfrm>
            <a:off x="4034236" y="2322153"/>
            <a:ext cx="4138214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脚本语法</a:t>
            </a:r>
          </a:p>
        </p:txBody>
      </p:sp>
    </p:spTree>
    <p:extLst>
      <p:ext uri="{BB962C8B-B14F-4D97-AF65-F5344CB8AC3E}">
        <p14:creationId xmlns:p14="http://schemas.microsoft.com/office/powerpoint/2010/main" val="34751981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B8F2FD3-76C9-AEE4-6144-E4F2218C1007}"/>
              </a:ext>
            </a:extLst>
          </p:cNvPr>
          <p:cNvSpPr txBox="1"/>
          <p:nvPr/>
        </p:nvSpPr>
        <p:spPr>
          <a:xfrm>
            <a:off x="751288" y="3103745"/>
            <a:ext cx="1083724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重点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84424695-0DCD-092C-83F9-DEF50A23013C}"/>
              </a:ext>
            </a:extLst>
          </p:cNvPr>
          <p:cNvSpPr txBox="1"/>
          <p:nvPr/>
        </p:nvSpPr>
        <p:spPr>
          <a:xfrm>
            <a:off x="6596689" y="3107463"/>
            <a:ext cx="1074498" cy="581057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难点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96070C-A97B-598C-C519-C92224B9C728}"/>
              </a:ext>
            </a:extLst>
          </p:cNvPr>
          <p:cNvSpPr/>
          <p:nvPr/>
        </p:nvSpPr>
        <p:spPr>
          <a:xfrm>
            <a:off x="1538515" y="2552810"/>
            <a:ext cx="4056798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脚本语法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AE1A0D-271D-F126-BA6A-CAA7CF243094}"/>
              </a:ext>
            </a:extLst>
          </p:cNvPr>
          <p:cNvSpPr/>
          <p:nvPr/>
        </p:nvSpPr>
        <p:spPr>
          <a:xfrm>
            <a:off x="7543454" y="3075243"/>
            <a:ext cx="3434235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</p:spTree>
    <p:extLst>
      <p:ext uri="{BB962C8B-B14F-4D97-AF65-F5344CB8AC3E}">
        <p14:creationId xmlns:p14="http://schemas.microsoft.com/office/powerpoint/2010/main" val="32758564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65F3BB-899F-EF86-6D13-A6578F18FD3B}"/>
              </a:ext>
            </a:extLst>
          </p:cNvPr>
          <p:cNvSpPr/>
          <p:nvPr/>
        </p:nvSpPr>
        <p:spPr>
          <a:xfrm>
            <a:off x="3986621" y="1960488"/>
            <a:ext cx="7035340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了解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中变量与符号的用法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熟悉正则表达式与文本处理工具的用法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脚本语法</a:t>
            </a:r>
          </a:p>
          <a:p>
            <a:pPr lvl="2" defTabSz="720725">
              <a:lnSpc>
                <a:spcPct val="150000"/>
              </a:lnSpc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完成相关测试题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掌握正则表达式和文本处理工具的用法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脚本语法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985A49F-4A25-5E08-9E3B-8C17B1EF7C7B}"/>
              </a:ext>
            </a:extLst>
          </p:cNvPr>
          <p:cNvSpPr txBox="1"/>
          <p:nvPr/>
        </p:nvSpPr>
        <p:spPr>
          <a:xfrm>
            <a:off x="1737644" y="2627062"/>
            <a:ext cx="1851030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基本要求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328D3C9C-7118-0D35-D009-9EE09B07CC08}"/>
              </a:ext>
            </a:extLst>
          </p:cNvPr>
          <p:cNvSpPr txBox="1"/>
          <p:nvPr/>
        </p:nvSpPr>
        <p:spPr>
          <a:xfrm>
            <a:off x="1524606" y="4738627"/>
            <a:ext cx="227710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实践与练习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5147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163165" y="1807247"/>
            <a:ext cx="5834687" cy="293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200000"/>
              </a:lnSpc>
            </a:pPr>
            <a:r>
              <a:rPr lang="en-US" altLang="zh-CN" sz="2400" dirty="0"/>
              <a:t>IT</a:t>
            </a:r>
            <a:r>
              <a:rPr lang="zh-CN" altLang="en-US" sz="2400" dirty="0"/>
              <a:t>环境维护时，采用</a:t>
            </a:r>
            <a:r>
              <a:rPr lang="zh-CN" altLang="en-US" sz="2400" dirty="0">
                <a:solidFill>
                  <a:srgbClr val="FF0000"/>
                </a:solidFill>
              </a:rPr>
              <a:t>脚本处理大量重复性工作</a:t>
            </a:r>
            <a:r>
              <a:rPr lang="zh-CN" altLang="en-US" sz="2400" dirty="0"/>
              <a:t>，以提高效率，减少出错</a:t>
            </a:r>
            <a:endParaRPr lang="en-US" altLang="zh-CN" sz="2400" dirty="0"/>
          </a:p>
          <a:p>
            <a:pPr indent="0">
              <a:lnSpc>
                <a:spcPct val="20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</a:rPr>
              <a:t>是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中最常用的</a:t>
            </a:r>
            <a:r>
              <a:rPr lang="zh-CN" altLang="en-US" sz="2400" dirty="0">
                <a:solidFill>
                  <a:srgbClr val="FF0000"/>
                </a:solidFill>
              </a:rPr>
              <a:t>脚本语言</a:t>
            </a:r>
            <a:r>
              <a:rPr lang="zh-CN" altLang="en-US" sz="2400" dirty="0">
                <a:solidFill>
                  <a:srgbClr val="1353A2"/>
                </a:solidFill>
              </a:rPr>
              <a:t>，可以实现针对性的自动化运维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11" name="Picture 2" descr="http://pic2.ooopic.com/12/65/14/53bOOOPIC20_102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82" y="1844825"/>
            <a:ext cx="3562975" cy="387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34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163165" y="1807247"/>
            <a:ext cx="58346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200000"/>
              </a:lnSpc>
            </a:pPr>
            <a:r>
              <a:rPr lang="zh-CN" altLang="zh-CN" sz="2400" dirty="0"/>
              <a:t>在计算机中，用户是无法直接与硬件或内核交互的。用户一般通过应用程序发送指令给内核，内核在收到指令后分析用户需求，调度硬件资源来完成操作</a:t>
            </a:r>
            <a:r>
              <a:rPr lang="zh-CN" altLang="en-US" sz="2400" dirty="0"/>
              <a:t>。</a:t>
            </a:r>
            <a:r>
              <a:rPr lang="zh-CN" altLang="zh-CN" sz="2400" dirty="0"/>
              <a:t>在</a:t>
            </a:r>
            <a:r>
              <a:rPr lang="en-US" altLang="zh-CN" sz="2400" dirty="0"/>
              <a:t>Linux</a:t>
            </a:r>
            <a:r>
              <a:rPr lang="zh-CN" altLang="zh-CN" sz="2400" dirty="0"/>
              <a:t>系统中，这个应用程序就是</a:t>
            </a:r>
            <a:r>
              <a:rPr lang="en-US" altLang="zh-CN" sz="2400" dirty="0">
                <a:solidFill>
                  <a:srgbClr val="FF0000"/>
                </a:solidFill>
              </a:rPr>
              <a:t>Shell</a:t>
            </a:r>
            <a:r>
              <a:rPr lang="zh-CN" altLang="en-US" sz="2400" dirty="0"/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11" name="Picture 2" descr="http://pic2.ooopic.com/12/65/14/53bOOOPIC20_102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82" y="1844825"/>
            <a:ext cx="3562975" cy="387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102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52" y="466725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流程图: 可选过程 14"/>
          <p:cNvSpPr/>
          <p:nvPr/>
        </p:nvSpPr>
        <p:spPr>
          <a:xfrm>
            <a:off x="5180915" y="1688998"/>
            <a:ext cx="6155140" cy="4392692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中它是一种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具备特殊功能的程序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，处于用户与内核之间，提供了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用户与内核进行交互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操作的一种接口。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它接收用户输入的命令，并把它送入到内核去执行。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内核接收到用户的命令后调度硬件资源来完成操作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68394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52" y="466725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流程图: 可选过程 14"/>
          <p:cNvSpPr/>
          <p:nvPr/>
        </p:nvSpPr>
        <p:spPr>
          <a:xfrm>
            <a:off x="5180914" y="1688998"/>
            <a:ext cx="6366849" cy="4320474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也被称为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命令解释器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传递命令时，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将命令解释为二进制形式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返回结果时，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将结果解释为字符形式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拥有内建的命令集合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章中的命令都是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命令集中的命令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26890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52" y="466725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流程图: 可选过程 14"/>
          <p:cNvSpPr/>
          <p:nvPr/>
        </p:nvSpPr>
        <p:spPr>
          <a:xfrm>
            <a:off x="5180914" y="1688998"/>
            <a:ext cx="6366849" cy="3094606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也是一个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解释型的程序设计语言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语言编写的程序称为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脚本支持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变量、数组和控制结构和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4637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71" y="466725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流程图: 可选过程 14"/>
          <p:cNvSpPr/>
          <p:nvPr/>
        </p:nvSpPr>
        <p:spPr>
          <a:xfrm>
            <a:off x="3754583" y="1688998"/>
            <a:ext cx="7585362" cy="4320474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两种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方式实现用户与内核之间的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通信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交互式通信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输入一条命令，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解释执行一条命令（立即响应）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非交互式通信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	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语言规范编写程序并保存为文件，在需要时执行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文件（一次性执行所有）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5699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846954" y="2909175"/>
            <a:ext cx="2348108" cy="1625514"/>
          </a:xfrm>
          <a:custGeom>
            <a:avLst/>
            <a:gdLst>
              <a:gd name="connsiteX0" fmla="*/ 0 w 1712976"/>
              <a:gd name="connsiteY0" fmla="*/ 738442 h 1476884"/>
              <a:gd name="connsiteX1" fmla="*/ 369221 w 1712976"/>
              <a:gd name="connsiteY1" fmla="*/ 0 h 1476884"/>
              <a:gd name="connsiteX2" fmla="*/ 1343755 w 1712976"/>
              <a:gd name="connsiteY2" fmla="*/ 0 h 1476884"/>
              <a:gd name="connsiteX3" fmla="*/ 1712976 w 1712976"/>
              <a:gd name="connsiteY3" fmla="*/ 738442 h 1476884"/>
              <a:gd name="connsiteX4" fmla="*/ 1343755 w 1712976"/>
              <a:gd name="connsiteY4" fmla="*/ 1476884 h 1476884"/>
              <a:gd name="connsiteX5" fmla="*/ 369221 w 1712976"/>
              <a:gd name="connsiteY5" fmla="*/ 1476884 h 1476884"/>
              <a:gd name="connsiteX6" fmla="*/ 0 w 1712976"/>
              <a:gd name="connsiteY6" fmla="*/ 738442 h 1476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2976" h="1476884">
                <a:moveTo>
                  <a:pt x="0" y="738442"/>
                </a:moveTo>
                <a:lnTo>
                  <a:pt x="369221" y="0"/>
                </a:lnTo>
                <a:lnTo>
                  <a:pt x="1343755" y="0"/>
                </a:lnTo>
                <a:lnTo>
                  <a:pt x="1712976" y="738442"/>
                </a:lnTo>
                <a:lnTo>
                  <a:pt x="1343755" y="1476884"/>
                </a:lnTo>
                <a:lnTo>
                  <a:pt x="369221" y="1476884"/>
                </a:lnTo>
                <a:lnTo>
                  <a:pt x="0" y="73844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5822" tIns="279985" rIns="265822" bIns="279985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endParaRPr lang="zh-CN" altLang="en-US" sz="40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008429" y="2869293"/>
            <a:ext cx="1838525" cy="1286528"/>
            <a:chOff x="2462150" y="3265497"/>
            <a:chExt cx="1268021" cy="1044527"/>
          </a:xfrm>
        </p:grpSpPr>
        <p:sp>
          <p:nvSpPr>
            <p:cNvPr id="12" name="六边形 11"/>
            <p:cNvSpPr/>
            <p:nvPr/>
          </p:nvSpPr>
          <p:spPr>
            <a:xfrm>
              <a:off x="2462150" y="3265497"/>
              <a:ext cx="1268021" cy="1044527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72227" y="3534377"/>
              <a:ext cx="798671" cy="42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zsh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101745" y="1327113"/>
            <a:ext cx="1838525" cy="1286528"/>
            <a:chOff x="3963956" y="2025068"/>
            <a:chExt cx="1268021" cy="1044527"/>
          </a:xfrm>
        </p:grpSpPr>
        <p:sp>
          <p:nvSpPr>
            <p:cNvPr id="15" name="六边形 14"/>
            <p:cNvSpPr/>
            <p:nvPr/>
          </p:nvSpPr>
          <p:spPr>
            <a:xfrm>
              <a:off x="3963956" y="2025068"/>
              <a:ext cx="1268021" cy="1044527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43965" y="2304609"/>
              <a:ext cx="624115" cy="42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sh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195062" y="2907505"/>
            <a:ext cx="1997378" cy="1286528"/>
            <a:chOff x="5473156" y="3265497"/>
            <a:chExt cx="1377581" cy="1044527"/>
          </a:xfrm>
        </p:grpSpPr>
        <p:sp>
          <p:nvSpPr>
            <p:cNvPr id="18" name="六边形 17"/>
            <p:cNvSpPr/>
            <p:nvPr/>
          </p:nvSpPr>
          <p:spPr>
            <a:xfrm>
              <a:off x="5473156" y="3265497"/>
              <a:ext cx="1268021" cy="1044527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48922" y="3316667"/>
              <a:ext cx="1101815" cy="774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csh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tcsh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312418" y="4629260"/>
            <a:ext cx="1838525" cy="1286528"/>
            <a:chOff x="4888138" y="4727953"/>
            <a:chExt cx="1268021" cy="1044527"/>
          </a:xfrm>
        </p:grpSpPr>
        <p:sp>
          <p:nvSpPr>
            <p:cNvPr id="21" name="六边形 20"/>
            <p:cNvSpPr/>
            <p:nvPr/>
          </p:nvSpPr>
          <p:spPr>
            <a:xfrm>
              <a:off x="4888138" y="4727953"/>
              <a:ext cx="1268021" cy="1044527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23542" y="5007495"/>
              <a:ext cx="1012651" cy="42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bash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927273" y="4719674"/>
            <a:ext cx="1838525" cy="1286528"/>
            <a:chOff x="3067133" y="4727954"/>
            <a:chExt cx="1268021" cy="1044527"/>
          </a:xfrm>
        </p:grpSpPr>
        <p:sp>
          <p:nvSpPr>
            <p:cNvPr id="24" name="六边形 23"/>
            <p:cNvSpPr/>
            <p:nvPr/>
          </p:nvSpPr>
          <p:spPr>
            <a:xfrm>
              <a:off x="3067133" y="4727954"/>
              <a:ext cx="1268021" cy="1044527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389273" y="4999602"/>
              <a:ext cx="936368" cy="42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ksh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487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497724" y="1667970"/>
            <a:ext cx="8274659" cy="75657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命令查看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etc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/shells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文件（主机支持的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类型）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464F01-D4A4-9A6C-CC7F-DBBC65A82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0" y="2730184"/>
            <a:ext cx="4741340" cy="272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187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497724" y="1667970"/>
            <a:ext cx="8274659" cy="33543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echo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打印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环境变量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（它记录了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当前用户所使用的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类型）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本机当前使用的是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bash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，即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系统默认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4B254B-E4B3-CD79-6DF2-F0AFAF41D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44" y="3006040"/>
            <a:ext cx="5541896" cy="11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209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824346" y="1647187"/>
            <a:ext cx="5534891" cy="45250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直接输入各类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的文件名开启一个新的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，如：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/bin/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csh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该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Shell(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csh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bash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之后登陆的，称为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bash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子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Shell(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下级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Shell)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echo $SHELL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只能显示用户登录的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Shell,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无法显示子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8A8A11-547B-AE05-429D-678E666A0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443" y="2156916"/>
            <a:ext cx="4446720" cy="300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9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6518339" y="1870892"/>
            <a:ext cx="1782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32" name="矩形 31"/>
          <p:cNvSpPr/>
          <p:nvPr/>
        </p:nvSpPr>
        <p:spPr>
          <a:xfrm>
            <a:off x="1070151" y="1741802"/>
            <a:ext cx="1294981" cy="90450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补齐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087E9-6BB6-86C6-5523-C18F87D8E4A9}"/>
              </a:ext>
            </a:extLst>
          </p:cNvPr>
          <p:cNvSpPr txBox="1"/>
          <p:nvPr/>
        </p:nvSpPr>
        <p:spPr>
          <a:xfrm>
            <a:off x="2563090" y="1693072"/>
            <a:ext cx="8894613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根据输入的字符串自动识别匹配的命令、文件、目录等。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Tab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键完成。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1.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自动补齐（一次，当前只有一个匹配项）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2.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列出所有（俩次，当前有多个匹配项）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BC9598-B638-76D6-2AE0-551BE3220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580" y="3936122"/>
            <a:ext cx="7376839" cy="23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35904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6518339" y="1870892"/>
            <a:ext cx="1782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087E9-6BB6-86C6-5523-C18F87D8E4A9}"/>
              </a:ext>
            </a:extLst>
          </p:cNvPr>
          <p:cNvSpPr txBox="1"/>
          <p:nvPr/>
        </p:nvSpPr>
        <p:spPr>
          <a:xfrm>
            <a:off x="4627418" y="1693072"/>
            <a:ext cx="6830285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bash_history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文件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上下方向键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History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Ctrl+r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快捷键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任意多边形 25">
            <a:extLst>
              <a:ext uri="{FF2B5EF4-FFF2-40B4-BE49-F238E27FC236}">
                <a16:creationId xmlns:a16="http://schemas.microsoft.com/office/drawing/2014/main" id="{7EF5D9B8-199B-E1B4-B414-F469EB7F6E68}"/>
              </a:ext>
            </a:extLst>
          </p:cNvPr>
          <p:cNvSpPr/>
          <p:nvPr/>
        </p:nvSpPr>
        <p:spPr>
          <a:xfrm>
            <a:off x="1038777" y="1754749"/>
            <a:ext cx="3490518" cy="950524"/>
          </a:xfrm>
          <a:custGeom>
            <a:avLst/>
            <a:gdLst>
              <a:gd name="connsiteX0" fmla="*/ 0 w 1857374"/>
              <a:gd name="connsiteY0" fmla="*/ 0 h 742949"/>
              <a:gd name="connsiteX1" fmla="*/ 1857374 w 1857374"/>
              <a:gd name="connsiteY1" fmla="*/ 0 h 742949"/>
              <a:gd name="connsiteX2" fmla="*/ 1857374 w 1857374"/>
              <a:gd name="connsiteY2" fmla="*/ 742949 h 742949"/>
              <a:gd name="connsiteX3" fmla="*/ 0 w 1857374"/>
              <a:gd name="connsiteY3" fmla="*/ 742949 h 742949"/>
              <a:gd name="connsiteX4" fmla="*/ 0 w 1857374"/>
              <a:gd name="connsiteY4" fmla="*/ 0 h 74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7374" h="742949">
                <a:moveTo>
                  <a:pt x="0" y="0"/>
                </a:moveTo>
                <a:lnTo>
                  <a:pt x="1857374" y="0"/>
                </a:lnTo>
                <a:lnTo>
                  <a:pt x="1857374" y="742949"/>
                </a:lnTo>
                <a:lnTo>
                  <a:pt x="0" y="7429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0472" tIns="125984" rIns="220472" bIns="125984" numCol="1" spcCol="1270" anchor="ctr" anchorCtr="0">
            <a:noAutofit/>
          </a:bodyPr>
          <a:lstStyle/>
          <a:p>
            <a:pPr lvl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保存命令历史记录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7257EC-3164-0EC1-033C-48CBFBF90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47" y="3956014"/>
            <a:ext cx="7233505" cy="232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98536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任意多边形 48"/>
          <p:cNvSpPr/>
          <p:nvPr/>
        </p:nvSpPr>
        <p:spPr>
          <a:xfrm>
            <a:off x="640820" y="1761675"/>
            <a:ext cx="2504162" cy="950524"/>
          </a:xfrm>
          <a:custGeom>
            <a:avLst/>
            <a:gdLst>
              <a:gd name="connsiteX0" fmla="*/ 0 w 1857374"/>
              <a:gd name="connsiteY0" fmla="*/ 0 h 742949"/>
              <a:gd name="connsiteX1" fmla="*/ 1857374 w 1857374"/>
              <a:gd name="connsiteY1" fmla="*/ 0 h 742949"/>
              <a:gd name="connsiteX2" fmla="*/ 1857374 w 1857374"/>
              <a:gd name="connsiteY2" fmla="*/ 742949 h 742949"/>
              <a:gd name="connsiteX3" fmla="*/ 0 w 1857374"/>
              <a:gd name="connsiteY3" fmla="*/ 742949 h 742949"/>
              <a:gd name="connsiteX4" fmla="*/ 0 w 1857374"/>
              <a:gd name="connsiteY4" fmla="*/ 0 h 74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7374" h="742949">
                <a:moveTo>
                  <a:pt x="0" y="0"/>
                </a:moveTo>
                <a:lnTo>
                  <a:pt x="1857374" y="0"/>
                </a:lnTo>
                <a:lnTo>
                  <a:pt x="1857374" y="742949"/>
                </a:lnTo>
                <a:lnTo>
                  <a:pt x="0" y="7429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0472" tIns="125984" rIns="220472" bIns="125984" numCol="1" spcCol="1270" anchor="ctr" anchorCtr="0">
            <a:noAutofit/>
          </a:bodyPr>
          <a:lstStyle/>
          <a:p>
            <a:pPr lvl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命令替换</a:t>
            </a:r>
            <a:endParaRPr lang="zh-CN" altLang="en-US" sz="24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A166AA-5853-0E5F-4FB6-C3D3BFD91B01}"/>
              </a:ext>
            </a:extLst>
          </p:cNvPr>
          <p:cNvSpPr txBox="1"/>
          <p:nvPr/>
        </p:nvSpPr>
        <p:spPr>
          <a:xfrm>
            <a:off x="3532910" y="1693072"/>
            <a:ext cx="737061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反引号（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``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）：将命令字符替换为命令的执行结果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$()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符号：与上述功能相同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AB24DB-E8D3-1F62-FC27-17D8A9485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901" y="3461959"/>
            <a:ext cx="8304414" cy="20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016554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006876" y="1700814"/>
            <a:ext cx="8310864" cy="3858750"/>
          </a:xfrm>
          <a:custGeom>
            <a:avLst/>
            <a:gdLst>
              <a:gd name="connsiteX0" fmla="*/ 0 w 3348990"/>
              <a:gd name="connsiteY0" fmla="*/ 0 h 1046559"/>
              <a:gd name="connsiteX1" fmla="*/ 3348990 w 3348990"/>
              <a:gd name="connsiteY1" fmla="*/ 0 h 1046559"/>
              <a:gd name="connsiteX2" fmla="*/ 3348990 w 3348990"/>
              <a:gd name="connsiteY2" fmla="*/ 1046559 h 1046559"/>
              <a:gd name="connsiteX3" fmla="*/ 0 w 3348990"/>
              <a:gd name="connsiteY3" fmla="*/ 1046559 h 1046559"/>
              <a:gd name="connsiteX4" fmla="*/ 0 w 3348990"/>
              <a:gd name="connsiteY4" fmla="*/ 0 h 10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990" h="1046559">
                <a:moveTo>
                  <a:pt x="0" y="0"/>
                </a:moveTo>
                <a:lnTo>
                  <a:pt x="3348990" y="0"/>
                </a:lnTo>
                <a:lnTo>
                  <a:pt x="3348990" y="1046559"/>
                </a:lnTo>
                <a:lnTo>
                  <a:pt x="0" y="10465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08870" tIns="179070" rIns="179070" bIns="179070" numCol="1" spcCol="127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标准输入（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STDIN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）：文件描述符是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，命令输入，默认为键盘。重定向输入符号：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标准输出（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STDOUT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）：文件描述符是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，命令输出，默认为屏幕。重定向输出符号：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标准错误（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STDERR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）：文件描述符是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，命令错误输出，默认为屏幕。重定向输出符号：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4119" y="1700814"/>
            <a:ext cx="1715597" cy="89656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I/O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</a:p>
        </p:txBody>
      </p:sp>
    </p:spTree>
    <p:extLst>
      <p:ext uri="{BB962C8B-B14F-4D97-AF65-F5344CB8AC3E}">
        <p14:creationId xmlns:p14="http://schemas.microsoft.com/office/powerpoint/2010/main" val="1626259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4119" y="1700814"/>
            <a:ext cx="1715597" cy="89656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I/O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795AA9-7487-45F3-2036-57F4AEA46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10" y="3525364"/>
            <a:ext cx="6168487" cy="19679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79320D8-78DC-9EFF-55D3-10650F9601C4}"/>
              </a:ext>
            </a:extLst>
          </p:cNvPr>
          <p:cNvSpPr txBox="1"/>
          <p:nvPr/>
        </p:nvSpPr>
        <p:spPr>
          <a:xfrm>
            <a:off x="2888673" y="1693072"/>
            <a:ext cx="870758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标准输入（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STDIN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）：文件描述符是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，命令输入，默认为键盘。重定向输出符号：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将右值作为左值的输入</a:t>
            </a:r>
          </a:p>
        </p:txBody>
      </p:sp>
    </p:spTree>
    <p:extLst>
      <p:ext uri="{BB962C8B-B14F-4D97-AF65-F5344CB8AC3E}">
        <p14:creationId xmlns:p14="http://schemas.microsoft.com/office/powerpoint/2010/main" val="120987377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4119" y="1700814"/>
            <a:ext cx="1715597" cy="89656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I/O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E2A865-C141-44C8-8C73-8E0E07AFFA23}"/>
              </a:ext>
            </a:extLst>
          </p:cNvPr>
          <p:cNvSpPr txBox="1"/>
          <p:nvPr/>
        </p:nvSpPr>
        <p:spPr>
          <a:xfrm>
            <a:off x="2888673" y="1693072"/>
            <a:ext cx="8707582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标准输出（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STDOUT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）：文件描述符是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，命令输出，默认为屏幕。重定向输出符号：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将右值作为左值的输出端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&gt;&gt;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追加形式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DFF87D-32A3-EFA4-1323-ABB380A9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76" y="3306837"/>
            <a:ext cx="6116051" cy="315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525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4119" y="1700814"/>
            <a:ext cx="1715597" cy="89656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I/O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54C3E2-A9DC-FA52-F2A4-4CCCD5652E99}"/>
              </a:ext>
            </a:extLst>
          </p:cNvPr>
          <p:cNvSpPr txBox="1"/>
          <p:nvPr/>
        </p:nvSpPr>
        <p:spPr>
          <a:xfrm>
            <a:off x="2888673" y="1693072"/>
            <a:ext cx="870758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标准错误（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STDERR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）：文件描述符是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，命令错误输出，默认为屏幕。重定向输出符号：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不可以被省略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2A0D91-3745-B1BF-40DC-90BBB7CFF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22" y="2985592"/>
            <a:ext cx="5050955" cy="29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128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的使用技巧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4119" y="1700814"/>
            <a:ext cx="1715597" cy="89656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54C3E2-A9DC-FA52-F2A4-4CCCD5652E99}"/>
              </a:ext>
            </a:extLst>
          </p:cNvPr>
          <p:cNvSpPr txBox="1"/>
          <p:nvPr/>
        </p:nvSpPr>
        <p:spPr>
          <a:xfrm>
            <a:off x="2765644" y="2334173"/>
            <a:ext cx="870758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将多个简单的命令连接起来，将前面的输出作为后面的输入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258F64-8FD1-1A04-B515-82E3A0E2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619" y="3233083"/>
            <a:ext cx="7780762" cy="3067105"/>
          </a:xfrm>
          <a:prstGeom prst="rect">
            <a:avLst/>
          </a:prstGeom>
        </p:spPr>
      </p:pic>
      <p:sp>
        <p:nvSpPr>
          <p:cNvPr id="6" name="任意多边形 45">
            <a:extLst>
              <a:ext uri="{FF2B5EF4-FFF2-40B4-BE49-F238E27FC236}">
                <a16:creationId xmlns:a16="http://schemas.microsoft.com/office/drawing/2014/main" id="{901C5FC6-CE09-E20D-44A1-1E2F5E447B13}"/>
              </a:ext>
            </a:extLst>
          </p:cNvPr>
          <p:cNvSpPr/>
          <p:nvPr/>
        </p:nvSpPr>
        <p:spPr>
          <a:xfrm>
            <a:off x="2898507" y="1721751"/>
            <a:ext cx="4498327" cy="494513"/>
          </a:xfrm>
          <a:custGeom>
            <a:avLst/>
            <a:gdLst>
              <a:gd name="connsiteX0" fmla="*/ 0 w 4396510"/>
              <a:gd name="connsiteY0" fmla="*/ 81122 h 486720"/>
              <a:gd name="connsiteX1" fmla="*/ 81122 w 4396510"/>
              <a:gd name="connsiteY1" fmla="*/ 0 h 486720"/>
              <a:gd name="connsiteX2" fmla="*/ 4315388 w 4396510"/>
              <a:gd name="connsiteY2" fmla="*/ 0 h 486720"/>
              <a:gd name="connsiteX3" fmla="*/ 4396510 w 4396510"/>
              <a:gd name="connsiteY3" fmla="*/ 81122 h 486720"/>
              <a:gd name="connsiteX4" fmla="*/ 4396510 w 4396510"/>
              <a:gd name="connsiteY4" fmla="*/ 405598 h 486720"/>
              <a:gd name="connsiteX5" fmla="*/ 4315388 w 4396510"/>
              <a:gd name="connsiteY5" fmla="*/ 486720 h 486720"/>
              <a:gd name="connsiteX6" fmla="*/ 81122 w 4396510"/>
              <a:gd name="connsiteY6" fmla="*/ 486720 h 486720"/>
              <a:gd name="connsiteX7" fmla="*/ 0 w 4396510"/>
              <a:gd name="connsiteY7" fmla="*/ 405598 h 486720"/>
              <a:gd name="connsiteX8" fmla="*/ 0 w 4396510"/>
              <a:gd name="connsiteY8" fmla="*/ 81122 h 48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6510" h="486720">
                <a:moveTo>
                  <a:pt x="0" y="81122"/>
                </a:moveTo>
                <a:cubicBezTo>
                  <a:pt x="0" y="36320"/>
                  <a:pt x="36320" y="0"/>
                  <a:pt x="81122" y="0"/>
                </a:cubicBezTo>
                <a:lnTo>
                  <a:pt x="4315388" y="0"/>
                </a:lnTo>
                <a:cubicBezTo>
                  <a:pt x="4360190" y="0"/>
                  <a:pt x="4396510" y="36320"/>
                  <a:pt x="4396510" y="81122"/>
                </a:cubicBezTo>
                <a:lnTo>
                  <a:pt x="4396510" y="405598"/>
                </a:lnTo>
                <a:cubicBezTo>
                  <a:pt x="4396510" y="450400"/>
                  <a:pt x="4360190" y="486720"/>
                  <a:pt x="4315388" y="486720"/>
                </a:cubicBezTo>
                <a:lnTo>
                  <a:pt x="81122" y="486720"/>
                </a:lnTo>
                <a:cubicBezTo>
                  <a:pt x="36320" y="486720"/>
                  <a:pt x="0" y="450400"/>
                  <a:pt x="0" y="405598"/>
                </a:cubicBezTo>
                <a:lnTo>
                  <a:pt x="0" y="811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150" tIns="96150" rIns="96150" bIns="96150" numCol="1" spcCol="1270" anchor="ctr" anchorCtr="0">
            <a:no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|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|…|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6564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706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65132" y="447215"/>
            <a:ext cx="5384968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54C3E2-A9DC-FA52-F2A4-4CCCD5652E99}"/>
              </a:ext>
            </a:extLst>
          </p:cNvPr>
          <p:cNvSpPr txBox="1"/>
          <p:nvPr/>
        </p:nvSpPr>
        <p:spPr>
          <a:xfrm>
            <a:off x="1080655" y="1693072"/>
            <a:ext cx="10037618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中的变量，可以保存路径名、文件名或数值等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中常用的变量有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种：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本地变量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位置变量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特殊变量</a:t>
            </a:r>
          </a:p>
        </p:txBody>
      </p:sp>
    </p:spTree>
    <p:extLst>
      <p:ext uri="{BB962C8B-B14F-4D97-AF65-F5344CB8AC3E}">
        <p14:creationId xmlns:p14="http://schemas.microsoft.com/office/powerpoint/2010/main" val="195245611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330606" y="1828241"/>
            <a:ext cx="5581562" cy="1167063"/>
            <a:chOff x="1120776" y="1813727"/>
            <a:chExt cx="4801049" cy="898607"/>
          </a:xfrm>
        </p:grpSpPr>
        <p:sp>
          <p:nvSpPr>
            <p:cNvPr id="12" name="任意多边形 11"/>
            <p:cNvSpPr/>
            <p:nvPr/>
          </p:nvSpPr>
          <p:spPr>
            <a:xfrm>
              <a:off x="1770272" y="1924723"/>
              <a:ext cx="4151553" cy="787611"/>
            </a:xfrm>
            <a:custGeom>
              <a:avLst/>
              <a:gdLst>
                <a:gd name="connsiteX0" fmla="*/ 0 w 1904255"/>
                <a:gd name="connsiteY0" fmla="*/ 0 h 1270138"/>
                <a:gd name="connsiteX1" fmla="*/ 1904255 w 1904255"/>
                <a:gd name="connsiteY1" fmla="*/ 0 h 1270138"/>
                <a:gd name="connsiteX2" fmla="*/ 1904255 w 1904255"/>
                <a:gd name="connsiteY2" fmla="*/ 1270138 h 1270138"/>
                <a:gd name="connsiteX3" fmla="*/ 0 w 1904255"/>
                <a:gd name="connsiteY3" fmla="*/ 1270138 h 1270138"/>
                <a:gd name="connsiteX4" fmla="*/ 0 w 1904255"/>
                <a:gd name="connsiteY4" fmla="*/ 0 h 127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255" h="1270138">
                  <a:moveTo>
                    <a:pt x="0" y="0"/>
                  </a:moveTo>
                  <a:lnTo>
                    <a:pt x="1904255" y="0"/>
                  </a:lnTo>
                  <a:lnTo>
                    <a:pt x="1904255" y="1270138"/>
                  </a:lnTo>
                  <a:lnTo>
                    <a:pt x="0" y="127013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681" tIns="305816" rIns="305816" bIns="305816" numCol="1" spcCol="1270" anchor="ctr" anchorCtr="0">
              <a:noAutofit/>
            </a:bodyPr>
            <a:lstStyle/>
            <a:p>
              <a:pPr lvl="0" algn="l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NAME=value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1120776" y="1813727"/>
              <a:ext cx="1201681" cy="898607"/>
            </a:xfrm>
            <a:custGeom>
              <a:avLst/>
              <a:gdLst>
                <a:gd name="connsiteX0" fmla="*/ 0 w 1269503"/>
                <a:gd name="connsiteY0" fmla="*/ 634752 h 1269503"/>
                <a:gd name="connsiteX1" fmla="*/ 634752 w 1269503"/>
                <a:gd name="connsiteY1" fmla="*/ 0 h 1269503"/>
                <a:gd name="connsiteX2" fmla="*/ 1269504 w 1269503"/>
                <a:gd name="connsiteY2" fmla="*/ 634752 h 1269503"/>
                <a:gd name="connsiteX3" fmla="*/ 634752 w 1269503"/>
                <a:gd name="connsiteY3" fmla="*/ 1269504 h 1269503"/>
                <a:gd name="connsiteX4" fmla="*/ 0 w 1269503"/>
                <a:gd name="connsiteY4" fmla="*/ 634752 h 126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503" h="1269503">
                  <a:moveTo>
                    <a:pt x="0" y="634752"/>
                  </a:moveTo>
                  <a:cubicBezTo>
                    <a:pt x="0" y="284188"/>
                    <a:pt x="284188" y="0"/>
                    <a:pt x="634752" y="0"/>
                  </a:cubicBezTo>
                  <a:cubicBezTo>
                    <a:pt x="985316" y="0"/>
                    <a:pt x="1269504" y="284188"/>
                    <a:pt x="1269504" y="634752"/>
                  </a:cubicBezTo>
                  <a:cubicBezTo>
                    <a:pt x="1269504" y="985316"/>
                    <a:pt x="985316" y="1269504"/>
                    <a:pt x="634752" y="1269504"/>
                  </a:cubicBezTo>
                  <a:cubicBezTo>
                    <a:pt x="284188" y="1269504"/>
                    <a:pt x="0" y="985316"/>
                    <a:pt x="0" y="63475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5914" tIns="185914" rIns="185914" bIns="185914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56878" y="3147325"/>
            <a:ext cx="5551019" cy="1167063"/>
            <a:chOff x="1120776" y="1813727"/>
            <a:chExt cx="4774777" cy="898607"/>
          </a:xfrm>
        </p:grpSpPr>
        <p:sp>
          <p:nvSpPr>
            <p:cNvPr id="15" name="任意多边形 14"/>
            <p:cNvSpPr/>
            <p:nvPr/>
          </p:nvSpPr>
          <p:spPr>
            <a:xfrm>
              <a:off x="1871870" y="1924723"/>
              <a:ext cx="4023683" cy="787611"/>
            </a:xfrm>
            <a:custGeom>
              <a:avLst/>
              <a:gdLst>
                <a:gd name="connsiteX0" fmla="*/ 0 w 1904255"/>
                <a:gd name="connsiteY0" fmla="*/ 0 h 1270138"/>
                <a:gd name="connsiteX1" fmla="*/ 1904255 w 1904255"/>
                <a:gd name="connsiteY1" fmla="*/ 0 h 1270138"/>
                <a:gd name="connsiteX2" fmla="*/ 1904255 w 1904255"/>
                <a:gd name="connsiteY2" fmla="*/ 1270138 h 1270138"/>
                <a:gd name="connsiteX3" fmla="*/ 0 w 1904255"/>
                <a:gd name="connsiteY3" fmla="*/ 1270138 h 1270138"/>
                <a:gd name="connsiteX4" fmla="*/ 0 w 1904255"/>
                <a:gd name="connsiteY4" fmla="*/ 0 h 127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255" h="1270138">
                  <a:moveTo>
                    <a:pt x="0" y="0"/>
                  </a:moveTo>
                  <a:lnTo>
                    <a:pt x="1904255" y="0"/>
                  </a:lnTo>
                  <a:lnTo>
                    <a:pt x="1904255" y="1270138"/>
                  </a:lnTo>
                  <a:lnTo>
                    <a:pt x="0" y="127013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681" tIns="305816" rIns="305816" bIns="305816" numCol="1" spcCol="1270" anchor="ctr" anchorCtr="0">
              <a:noAutofit/>
            </a:bodyPr>
            <a:lstStyle/>
            <a:p>
              <a:pPr lvl="0" algn="l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echo $NAME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120776" y="1813727"/>
              <a:ext cx="1201681" cy="898607"/>
            </a:xfrm>
            <a:custGeom>
              <a:avLst/>
              <a:gdLst>
                <a:gd name="connsiteX0" fmla="*/ 0 w 1269503"/>
                <a:gd name="connsiteY0" fmla="*/ 634752 h 1269503"/>
                <a:gd name="connsiteX1" fmla="*/ 634752 w 1269503"/>
                <a:gd name="connsiteY1" fmla="*/ 0 h 1269503"/>
                <a:gd name="connsiteX2" fmla="*/ 1269504 w 1269503"/>
                <a:gd name="connsiteY2" fmla="*/ 634752 h 1269503"/>
                <a:gd name="connsiteX3" fmla="*/ 634752 w 1269503"/>
                <a:gd name="connsiteY3" fmla="*/ 1269504 h 1269503"/>
                <a:gd name="connsiteX4" fmla="*/ 0 w 1269503"/>
                <a:gd name="connsiteY4" fmla="*/ 634752 h 126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503" h="1269503">
                  <a:moveTo>
                    <a:pt x="0" y="634752"/>
                  </a:moveTo>
                  <a:cubicBezTo>
                    <a:pt x="0" y="284188"/>
                    <a:pt x="284188" y="0"/>
                    <a:pt x="634752" y="0"/>
                  </a:cubicBezTo>
                  <a:cubicBezTo>
                    <a:pt x="985316" y="0"/>
                    <a:pt x="1269504" y="284188"/>
                    <a:pt x="1269504" y="634752"/>
                  </a:cubicBezTo>
                  <a:cubicBezTo>
                    <a:pt x="1269504" y="985316"/>
                    <a:pt x="985316" y="1269504"/>
                    <a:pt x="634752" y="1269504"/>
                  </a:cubicBezTo>
                  <a:cubicBezTo>
                    <a:pt x="284188" y="1269504"/>
                    <a:pt x="0" y="985316"/>
                    <a:pt x="0" y="63475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5914" tIns="185914" rIns="185914" bIns="185914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圆角矩形标注 16"/>
          <p:cNvSpPr/>
          <p:nvPr/>
        </p:nvSpPr>
        <p:spPr>
          <a:xfrm>
            <a:off x="9248785" y="2333042"/>
            <a:ext cx="2052798" cy="1289950"/>
          </a:xfrm>
          <a:prstGeom prst="wedgeRoundRectCallout">
            <a:avLst>
              <a:gd name="adj1" fmla="val -49865"/>
              <a:gd name="adj2" fmla="val 8948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5367384" y="4482175"/>
            <a:ext cx="5538805" cy="1167063"/>
            <a:chOff x="1120776" y="1813727"/>
            <a:chExt cx="4764271" cy="898607"/>
          </a:xfrm>
        </p:grpSpPr>
        <p:sp>
          <p:nvSpPr>
            <p:cNvPr id="19" name="任意多边形 18"/>
            <p:cNvSpPr/>
            <p:nvPr/>
          </p:nvSpPr>
          <p:spPr>
            <a:xfrm>
              <a:off x="1857356" y="1924723"/>
              <a:ext cx="4027691" cy="787611"/>
            </a:xfrm>
            <a:custGeom>
              <a:avLst/>
              <a:gdLst>
                <a:gd name="connsiteX0" fmla="*/ 0 w 1904255"/>
                <a:gd name="connsiteY0" fmla="*/ 0 h 1270138"/>
                <a:gd name="connsiteX1" fmla="*/ 1904255 w 1904255"/>
                <a:gd name="connsiteY1" fmla="*/ 0 h 1270138"/>
                <a:gd name="connsiteX2" fmla="*/ 1904255 w 1904255"/>
                <a:gd name="connsiteY2" fmla="*/ 1270138 h 1270138"/>
                <a:gd name="connsiteX3" fmla="*/ 0 w 1904255"/>
                <a:gd name="connsiteY3" fmla="*/ 1270138 h 1270138"/>
                <a:gd name="connsiteX4" fmla="*/ 0 w 1904255"/>
                <a:gd name="connsiteY4" fmla="*/ 0 h 127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255" h="1270138">
                  <a:moveTo>
                    <a:pt x="0" y="0"/>
                  </a:moveTo>
                  <a:lnTo>
                    <a:pt x="1904255" y="0"/>
                  </a:lnTo>
                  <a:lnTo>
                    <a:pt x="1904255" y="1270138"/>
                  </a:lnTo>
                  <a:lnTo>
                    <a:pt x="0" y="127013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681" tIns="305816" rIns="305816" bIns="305816" numCol="1" spcCol="1270" anchor="ctr" anchorCtr="0">
              <a:noAutofit/>
            </a:bodyPr>
            <a:lstStyle/>
            <a:p>
              <a:pPr lvl="0" algn="l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2400" kern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unset NAME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20776" y="1813727"/>
              <a:ext cx="1201681" cy="898607"/>
            </a:xfrm>
            <a:custGeom>
              <a:avLst/>
              <a:gdLst>
                <a:gd name="connsiteX0" fmla="*/ 0 w 1269503"/>
                <a:gd name="connsiteY0" fmla="*/ 634752 h 1269503"/>
                <a:gd name="connsiteX1" fmla="*/ 634752 w 1269503"/>
                <a:gd name="connsiteY1" fmla="*/ 0 h 1269503"/>
                <a:gd name="connsiteX2" fmla="*/ 1269504 w 1269503"/>
                <a:gd name="connsiteY2" fmla="*/ 634752 h 1269503"/>
                <a:gd name="connsiteX3" fmla="*/ 634752 w 1269503"/>
                <a:gd name="connsiteY3" fmla="*/ 1269504 h 1269503"/>
                <a:gd name="connsiteX4" fmla="*/ 0 w 1269503"/>
                <a:gd name="connsiteY4" fmla="*/ 634752 h 126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503" h="1269503">
                  <a:moveTo>
                    <a:pt x="0" y="634752"/>
                  </a:moveTo>
                  <a:cubicBezTo>
                    <a:pt x="0" y="284188"/>
                    <a:pt x="284188" y="0"/>
                    <a:pt x="634752" y="0"/>
                  </a:cubicBezTo>
                  <a:cubicBezTo>
                    <a:pt x="985316" y="0"/>
                    <a:pt x="1269504" y="284188"/>
                    <a:pt x="1269504" y="634752"/>
                  </a:cubicBezTo>
                  <a:cubicBezTo>
                    <a:pt x="1269504" y="985316"/>
                    <a:pt x="985316" y="1269504"/>
                    <a:pt x="634752" y="1269504"/>
                  </a:cubicBezTo>
                  <a:cubicBezTo>
                    <a:pt x="284188" y="1269504"/>
                    <a:pt x="0" y="985316"/>
                    <a:pt x="0" y="63475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5914" tIns="185914" rIns="185914" bIns="185914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F3FE993-5ED1-CFA8-5599-B018548DE298}"/>
              </a:ext>
            </a:extLst>
          </p:cNvPr>
          <p:cNvSpPr txBox="1"/>
          <p:nvPr/>
        </p:nvSpPr>
        <p:spPr>
          <a:xfrm>
            <a:off x="1080655" y="1693072"/>
            <a:ext cx="4052454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本地变量相当于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语言中的局部变量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只在本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中有效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退出则销毁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522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3FE993-5ED1-CFA8-5599-B018548DE298}"/>
              </a:ext>
            </a:extLst>
          </p:cNvPr>
          <p:cNvSpPr txBox="1"/>
          <p:nvPr/>
        </p:nvSpPr>
        <p:spPr>
          <a:xfrm>
            <a:off x="1152044" y="2752944"/>
            <a:ext cx="4578927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注意“空格”的使用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注意不给变量指定值有“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EA5B77-BF54-FE71-D877-5C2FDBD5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30" y="1812286"/>
            <a:ext cx="5045170" cy="336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17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3FE993-5ED1-CFA8-5599-B018548DE298}"/>
              </a:ext>
            </a:extLst>
          </p:cNvPr>
          <p:cNvSpPr txBox="1"/>
          <p:nvPr/>
        </p:nvSpPr>
        <p:spPr>
          <a:xfrm>
            <a:off x="660207" y="2787579"/>
            <a:ext cx="4556029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使用变量加上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符号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可连续输出多个变量值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unset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删除变量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823374-60BE-19D9-0A34-0F859BC4D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45" y="1983722"/>
            <a:ext cx="6192550" cy="315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4808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066800" y="1667969"/>
            <a:ext cx="10113818" cy="36681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环境变量用于初始化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的启动环境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环境变量的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定义、使用、清除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与本地变量是相同的。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但是，环境 变量在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使用时，要先导出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，否则无法使用。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NAME=value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（定义）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export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NAME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（导出，非常重要）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echo NAME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（使用）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unset NAME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（清除）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726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066800" y="1667969"/>
            <a:ext cx="10113818" cy="36681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环境变量定义格式：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export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ENVIRON-VARIBALE=value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export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关键字作用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声明此变量为环境变量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env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：查看所有环境变量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062191-9EDE-36A2-0EE0-F30EDF83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543" y="3502028"/>
            <a:ext cx="6596914" cy="257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706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1052945" y="1541015"/>
            <a:ext cx="10086110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用于帮助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找到用户所输入的命令。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PATH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中包含了多个目录，他们之间用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冒号分隔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，这些目录保存命令的可执行文件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中添加新目录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注意格式：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	PATH=$PATH : /new directory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69815C0-6D60-CDE9-818D-0347B5EA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77" y="5051791"/>
            <a:ext cx="10871414" cy="118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7640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B89476A-D77C-23CD-B1C4-A63B0BCD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111" y="3429000"/>
            <a:ext cx="4539777" cy="217058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ABEE59D-CFD0-B351-9F11-A5716D9FF4F9}"/>
              </a:ext>
            </a:extLst>
          </p:cNvPr>
          <p:cNvSpPr/>
          <p:nvPr/>
        </p:nvSpPr>
        <p:spPr bwMode="auto">
          <a:xfrm>
            <a:off x="1052945" y="1541015"/>
            <a:ext cx="10086110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OLDPWD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记录当前系统目录；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OLDPWD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记录旧有的工作目录。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0027624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6242AE-EF6E-3454-66B6-FCF4EA9F62D3}"/>
              </a:ext>
            </a:extLst>
          </p:cNvPr>
          <p:cNvSpPr/>
          <p:nvPr/>
        </p:nvSpPr>
        <p:spPr bwMode="auto">
          <a:xfrm>
            <a:off x="1052945" y="1541015"/>
            <a:ext cx="10086110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HOME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当前用户的根目录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，用于保存用户自己的文件。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51D0DF-5DD4-54F1-8182-1E322B3EB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98" y="3429000"/>
            <a:ext cx="4873204" cy="187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1122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93D53F-6937-F838-5702-95619B6D53F5}"/>
              </a:ext>
            </a:extLst>
          </p:cNvPr>
          <p:cNvSpPr/>
          <p:nvPr/>
        </p:nvSpPr>
        <p:spPr bwMode="auto">
          <a:xfrm>
            <a:off x="1052945" y="1541015"/>
            <a:ext cx="10086110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变量保存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的值，默认的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/bin/bash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USER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UID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USER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是保存已登录用户的名字和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241441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541015"/>
            <a:ext cx="10086110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PS2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PS1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提示符变量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，用于设置提示符格式。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提示符如下：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[ 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中包含了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当前用户名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、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主机名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当前目录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等信息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上述信息可以通过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设置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A652A3-DE07-FBA3-2DA3-D50BF617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43" y="3259920"/>
            <a:ext cx="3849834" cy="33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36916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541015"/>
            <a:ext cx="10086110" cy="4459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用于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设置一级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提示符（主提示符）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变量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包含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项内容：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\u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：当前用户名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\h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：主机名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\w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：当前目录名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\$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：命令提示符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$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：普通用户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		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root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用户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521C8D-6C23-B965-6F57-09FC431E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98" y="2385308"/>
            <a:ext cx="4215757" cy="118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35383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541014"/>
            <a:ext cx="5043055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PS2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用于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设置二级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提示符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PS2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的值为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&gt;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符号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输入命令不完整时，则出现二级提示符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FDA0FE-2183-D9D7-60AD-ED3F855F7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502" y="2170202"/>
            <a:ext cx="4637794" cy="23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65420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541014"/>
            <a:ext cx="10148455" cy="390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中环境变量包括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系统级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环境变量：对每个用户有效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用户级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环境变量：仅对当前用户有效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环境变量配置文件也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系统级，如：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/profile, 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bashrc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，如：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.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bash_profile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, .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bashrc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两个文件，位于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/home/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用户名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目录下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用户级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739834527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312414"/>
            <a:ext cx="101484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.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bash_profile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文件定义当前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B32BB6-C23C-62F9-3748-E8C3B834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500" y="2274299"/>
            <a:ext cx="6549000" cy="352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61467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2B79E-26AB-D2E6-83ED-017E5BD8AE21}"/>
              </a:ext>
            </a:extLst>
          </p:cNvPr>
          <p:cNvSpPr/>
          <p:nvPr/>
        </p:nvSpPr>
        <p:spPr bwMode="auto">
          <a:xfrm>
            <a:off x="1052945" y="1312414"/>
            <a:ext cx="10148455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.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bashrc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文件用于定义子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当前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创建一个子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bashrc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文件使子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的环境变量与当前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环境变量相分离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DBEC08-1E3D-C153-2BA4-F096C8EEE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53" y="3065547"/>
            <a:ext cx="8157894" cy="293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7113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2" descr="http://pic.pptbz.com/201504/201506167515765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035" y="1189974"/>
            <a:ext cx="8783508" cy="511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 rot="515041">
            <a:off x="5887786" y="2816685"/>
            <a:ext cx="33796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$HOME/.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bash_profile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 rot="547333">
            <a:off x="5937299" y="3593590"/>
            <a:ext cx="31645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$HOME/.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7217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位置变量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流程图: 可选过程 4"/>
          <p:cNvSpPr/>
          <p:nvPr/>
        </p:nvSpPr>
        <p:spPr>
          <a:xfrm>
            <a:off x="727364" y="2064065"/>
            <a:ext cx="6305399" cy="3707540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位置变量用来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向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脚本传递参数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位置变量也成为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位置参数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它是以单个整数来命名的：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▶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表示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个位置参数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注意：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符号不能少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变量名中整数大于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时，要用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 {n}</a:t>
            </a:r>
          </a:p>
        </p:txBody>
      </p:sp>
      <p:pic>
        <p:nvPicPr>
          <p:cNvPr id="94210" name="Picture 2" descr="http://pic.pptbz.com/201504/20150616751583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526" y="1913477"/>
            <a:ext cx="4413168" cy="33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3873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位置变量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4210" name="Picture 2" descr="http://pic.pptbz.com/201504/20150616751583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526" y="1913477"/>
            <a:ext cx="4413168" cy="33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5D3C9C-A6A2-97B4-D306-146944538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087" y="2003928"/>
            <a:ext cx="5406275" cy="343412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52A2F62-A73E-D57D-90B1-EEFE59D29BEC}"/>
              </a:ext>
            </a:extLst>
          </p:cNvPr>
          <p:cNvSpPr/>
          <p:nvPr/>
        </p:nvSpPr>
        <p:spPr bwMode="auto">
          <a:xfrm>
            <a:off x="1052945" y="1312414"/>
            <a:ext cx="101484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test.sh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脚本文件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6238245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位置变量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4210" name="Picture 2" descr="http://pic.pptbz.com/201504/20150616751583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526" y="1913477"/>
            <a:ext cx="4413168" cy="33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BB4FDC-61DE-51EA-092F-F48408989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10" y="1956591"/>
            <a:ext cx="5800554" cy="370681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D8EEF74-A648-821D-9CAD-66AA3B489ABE}"/>
              </a:ext>
            </a:extLst>
          </p:cNvPr>
          <p:cNvSpPr/>
          <p:nvPr/>
        </p:nvSpPr>
        <p:spPr bwMode="auto">
          <a:xfrm>
            <a:off x="1052945" y="1312414"/>
            <a:ext cx="101484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输出结果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880481069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特殊变量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4470594" y="1505204"/>
            <a:ext cx="6085628" cy="1087476"/>
          </a:xfrm>
          <a:custGeom>
            <a:avLst/>
            <a:gdLst>
              <a:gd name="connsiteX0" fmla="*/ 0 w 4396510"/>
              <a:gd name="connsiteY0" fmla="*/ 81122 h 486720"/>
              <a:gd name="connsiteX1" fmla="*/ 81122 w 4396510"/>
              <a:gd name="connsiteY1" fmla="*/ 0 h 486720"/>
              <a:gd name="connsiteX2" fmla="*/ 4315388 w 4396510"/>
              <a:gd name="connsiteY2" fmla="*/ 0 h 486720"/>
              <a:gd name="connsiteX3" fmla="*/ 4396510 w 4396510"/>
              <a:gd name="connsiteY3" fmla="*/ 81122 h 486720"/>
              <a:gd name="connsiteX4" fmla="*/ 4396510 w 4396510"/>
              <a:gd name="connsiteY4" fmla="*/ 405598 h 486720"/>
              <a:gd name="connsiteX5" fmla="*/ 4315388 w 4396510"/>
              <a:gd name="connsiteY5" fmla="*/ 486720 h 486720"/>
              <a:gd name="connsiteX6" fmla="*/ 81122 w 4396510"/>
              <a:gd name="connsiteY6" fmla="*/ 486720 h 486720"/>
              <a:gd name="connsiteX7" fmla="*/ 0 w 4396510"/>
              <a:gd name="connsiteY7" fmla="*/ 405598 h 486720"/>
              <a:gd name="connsiteX8" fmla="*/ 0 w 4396510"/>
              <a:gd name="connsiteY8" fmla="*/ 81122 h 48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6510" h="486720">
                <a:moveTo>
                  <a:pt x="0" y="81122"/>
                </a:moveTo>
                <a:cubicBezTo>
                  <a:pt x="0" y="36320"/>
                  <a:pt x="36320" y="0"/>
                  <a:pt x="81122" y="0"/>
                </a:cubicBezTo>
                <a:lnTo>
                  <a:pt x="4315388" y="0"/>
                </a:lnTo>
                <a:cubicBezTo>
                  <a:pt x="4360190" y="0"/>
                  <a:pt x="4396510" y="36320"/>
                  <a:pt x="4396510" y="81122"/>
                </a:cubicBezTo>
                <a:lnTo>
                  <a:pt x="4396510" y="405598"/>
                </a:lnTo>
                <a:cubicBezTo>
                  <a:pt x="4396510" y="450400"/>
                  <a:pt x="4360190" y="486720"/>
                  <a:pt x="4315388" y="486720"/>
                </a:cubicBezTo>
                <a:lnTo>
                  <a:pt x="81122" y="486720"/>
                </a:lnTo>
                <a:cubicBezTo>
                  <a:pt x="36320" y="486720"/>
                  <a:pt x="0" y="450400"/>
                  <a:pt x="0" y="405598"/>
                </a:cubicBezTo>
                <a:lnTo>
                  <a:pt x="0" y="811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150" tIns="96150" rIns="96150" bIns="96150" numCol="1" spcCol="1270" anchor="ctr" anchorCtr="0">
            <a:noAutofit/>
          </a:bodyPr>
          <a:lstStyle/>
          <a:p>
            <a:pPr lvl="0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：传递到脚本的参数变量。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470594" y="2244309"/>
            <a:ext cx="5808136" cy="961998"/>
          </a:xfrm>
          <a:custGeom>
            <a:avLst/>
            <a:gdLst>
              <a:gd name="connsiteX0" fmla="*/ 0 w 4396510"/>
              <a:gd name="connsiteY0" fmla="*/ 0 h 430560"/>
              <a:gd name="connsiteX1" fmla="*/ 4396510 w 4396510"/>
              <a:gd name="connsiteY1" fmla="*/ 0 h 430560"/>
              <a:gd name="connsiteX2" fmla="*/ 4396510 w 4396510"/>
              <a:gd name="connsiteY2" fmla="*/ 430560 h 430560"/>
              <a:gd name="connsiteX3" fmla="*/ 0 w 4396510"/>
              <a:gd name="connsiteY3" fmla="*/ 430560 h 430560"/>
              <a:gd name="connsiteX4" fmla="*/ 0 w 4396510"/>
              <a:gd name="connsiteY4" fmla="*/ 0 h 43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6510" h="430560">
                <a:moveTo>
                  <a:pt x="0" y="0"/>
                </a:moveTo>
                <a:lnTo>
                  <a:pt x="4396510" y="0"/>
                </a:lnTo>
                <a:lnTo>
                  <a:pt x="4396510" y="430560"/>
                </a:lnTo>
                <a:lnTo>
                  <a:pt x="0" y="4305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589" tIns="24130" rIns="135128" bIns="24130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endPara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470593" y="2637626"/>
            <a:ext cx="6085628" cy="1087476"/>
          </a:xfrm>
          <a:custGeom>
            <a:avLst/>
            <a:gdLst>
              <a:gd name="connsiteX0" fmla="*/ 0 w 4396510"/>
              <a:gd name="connsiteY0" fmla="*/ 81122 h 486720"/>
              <a:gd name="connsiteX1" fmla="*/ 81122 w 4396510"/>
              <a:gd name="connsiteY1" fmla="*/ 0 h 486720"/>
              <a:gd name="connsiteX2" fmla="*/ 4315388 w 4396510"/>
              <a:gd name="connsiteY2" fmla="*/ 0 h 486720"/>
              <a:gd name="connsiteX3" fmla="*/ 4396510 w 4396510"/>
              <a:gd name="connsiteY3" fmla="*/ 81122 h 486720"/>
              <a:gd name="connsiteX4" fmla="*/ 4396510 w 4396510"/>
              <a:gd name="connsiteY4" fmla="*/ 405598 h 486720"/>
              <a:gd name="connsiteX5" fmla="*/ 4315388 w 4396510"/>
              <a:gd name="connsiteY5" fmla="*/ 486720 h 486720"/>
              <a:gd name="connsiteX6" fmla="*/ 81122 w 4396510"/>
              <a:gd name="connsiteY6" fmla="*/ 486720 h 486720"/>
              <a:gd name="connsiteX7" fmla="*/ 0 w 4396510"/>
              <a:gd name="connsiteY7" fmla="*/ 405598 h 486720"/>
              <a:gd name="connsiteX8" fmla="*/ 0 w 4396510"/>
              <a:gd name="connsiteY8" fmla="*/ 81122 h 48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6510" h="486720">
                <a:moveTo>
                  <a:pt x="0" y="81122"/>
                </a:moveTo>
                <a:cubicBezTo>
                  <a:pt x="0" y="36320"/>
                  <a:pt x="36320" y="0"/>
                  <a:pt x="81122" y="0"/>
                </a:cubicBezTo>
                <a:lnTo>
                  <a:pt x="4315388" y="0"/>
                </a:lnTo>
                <a:cubicBezTo>
                  <a:pt x="4360190" y="0"/>
                  <a:pt x="4396510" y="36320"/>
                  <a:pt x="4396510" y="81122"/>
                </a:cubicBezTo>
                <a:lnTo>
                  <a:pt x="4396510" y="405598"/>
                </a:lnTo>
                <a:cubicBezTo>
                  <a:pt x="4396510" y="450400"/>
                  <a:pt x="4360190" y="486720"/>
                  <a:pt x="4315388" y="486720"/>
                </a:cubicBezTo>
                <a:lnTo>
                  <a:pt x="81122" y="486720"/>
                </a:lnTo>
                <a:cubicBezTo>
                  <a:pt x="36320" y="486720"/>
                  <a:pt x="0" y="450400"/>
                  <a:pt x="0" y="405598"/>
                </a:cubicBezTo>
                <a:lnTo>
                  <a:pt x="0" y="811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150" tIns="96150" rIns="96150" bIns="96150" numCol="1" spcCol="1270" anchor="ctr" anchorCtr="0">
            <a:noAutofit/>
          </a:bodyPr>
          <a:lstStyle/>
          <a:p>
            <a:pPr lvl="0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$*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$@</a:t>
            </a:r>
            <a:r>
              <a:rPr lang="en-US" altLang="zh-CN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：传递到脚本的所有参数。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4470593" y="3114292"/>
            <a:ext cx="5927809" cy="961998"/>
          </a:xfrm>
          <a:custGeom>
            <a:avLst/>
            <a:gdLst>
              <a:gd name="connsiteX0" fmla="*/ 0 w 4396510"/>
              <a:gd name="connsiteY0" fmla="*/ 0 h 430560"/>
              <a:gd name="connsiteX1" fmla="*/ 4396510 w 4396510"/>
              <a:gd name="connsiteY1" fmla="*/ 0 h 430560"/>
              <a:gd name="connsiteX2" fmla="*/ 4396510 w 4396510"/>
              <a:gd name="connsiteY2" fmla="*/ 430560 h 430560"/>
              <a:gd name="connsiteX3" fmla="*/ 0 w 4396510"/>
              <a:gd name="connsiteY3" fmla="*/ 430560 h 430560"/>
              <a:gd name="connsiteX4" fmla="*/ 0 w 4396510"/>
              <a:gd name="connsiteY4" fmla="*/ 0 h 43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6510" h="430560">
                <a:moveTo>
                  <a:pt x="0" y="0"/>
                </a:moveTo>
                <a:lnTo>
                  <a:pt x="4396510" y="0"/>
                </a:lnTo>
                <a:lnTo>
                  <a:pt x="4396510" y="430560"/>
                </a:lnTo>
                <a:lnTo>
                  <a:pt x="0" y="4305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589" tIns="24130" rIns="135128" bIns="24130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endPara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470593" y="3771656"/>
            <a:ext cx="6085628" cy="1087476"/>
          </a:xfrm>
          <a:custGeom>
            <a:avLst/>
            <a:gdLst>
              <a:gd name="connsiteX0" fmla="*/ 0 w 4396510"/>
              <a:gd name="connsiteY0" fmla="*/ 81122 h 486720"/>
              <a:gd name="connsiteX1" fmla="*/ 81122 w 4396510"/>
              <a:gd name="connsiteY1" fmla="*/ 0 h 486720"/>
              <a:gd name="connsiteX2" fmla="*/ 4315388 w 4396510"/>
              <a:gd name="connsiteY2" fmla="*/ 0 h 486720"/>
              <a:gd name="connsiteX3" fmla="*/ 4396510 w 4396510"/>
              <a:gd name="connsiteY3" fmla="*/ 81122 h 486720"/>
              <a:gd name="connsiteX4" fmla="*/ 4396510 w 4396510"/>
              <a:gd name="connsiteY4" fmla="*/ 405598 h 486720"/>
              <a:gd name="connsiteX5" fmla="*/ 4315388 w 4396510"/>
              <a:gd name="connsiteY5" fmla="*/ 486720 h 486720"/>
              <a:gd name="connsiteX6" fmla="*/ 81122 w 4396510"/>
              <a:gd name="connsiteY6" fmla="*/ 486720 h 486720"/>
              <a:gd name="connsiteX7" fmla="*/ 0 w 4396510"/>
              <a:gd name="connsiteY7" fmla="*/ 405598 h 486720"/>
              <a:gd name="connsiteX8" fmla="*/ 0 w 4396510"/>
              <a:gd name="connsiteY8" fmla="*/ 81122 h 48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6510" h="486720">
                <a:moveTo>
                  <a:pt x="0" y="81122"/>
                </a:moveTo>
                <a:cubicBezTo>
                  <a:pt x="0" y="36320"/>
                  <a:pt x="36320" y="0"/>
                  <a:pt x="81122" y="0"/>
                </a:cubicBezTo>
                <a:lnTo>
                  <a:pt x="4315388" y="0"/>
                </a:lnTo>
                <a:cubicBezTo>
                  <a:pt x="4360190" y="0"/>
                  <a:pt x="4396510" y="36320"/>
                  <a:pt x="4396510" y="81122"/>
                </a:cubicBezTo>
                <a:lnTo>
                  <a:pt x="4396510" y="405598"/>
                </a:lnTo>
                <a:cubicBezTo>
                  <a:pt x="4396510" y="450400"/>
                  <a:pt x="4360190" y="486720"/>
                  <a:pt x="4315388" y="486720"/>
                </a:cubicBezTo>
                <a:lnTo>
                  <a:pt x="81122" y="486720"/>
                </a:lnTo>
                <a:cubicBezTo>
                  <a:pt x="36320" y="486720"/>
                  <a:pt x="0" y="450400"/>
                  <a:pt x="0" y="405598"/>
                </a:cubicBezTo>
                <a:lnTo>
                  <a:pt x="0" y="811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150" tIns="96150" rIns="96150" bIns="96150" numCol="1" spcCol="1270" anchor="ctr" anchorCtr="0">
            <a:noAutofit/>
          </a:bodyPr>
          <a:lstStyle/>
          <a:p>
            <a:pPr lvl="0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$?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：命令退出状态：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无错误，非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错误。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4470593" y="4921762"/>
            <a:ext cx="6085628" cy="1087476"/>
          </a:xfrm>
          <a:custGeom>
            <a:avLst/>
            <a:gdLst>
              <a:gd name="connsiteX0" fmla="*/ 0 w 4396510"/>
              <a:gd name="connsiteY0" fmla="*/ 81122 h 486720"/>
              <a:gd name="connsiteX1" fmla="*/ 81122 w 4396510"/>
              <a:gd name="connsiteY1" fmla="*/ 0 h 486720"/>
              <a:gd name="connsiteX2" fmla="*/ 4315388 w 4396510"/>
              <a:gd name="connsiteY2" fmla="*/ 0 h 486720"/>
              <a:gd name="connsiteX3" fmla="*/ 4396510 w 4396510"/>
              <a:gd name="connsiteY3" fmla="*/ 81122 h 486720"/>
              <a:gd name="connsiteX4" fmla="*/ 4396510 w 4396510"/>
              <a:gd name="connsiteY4" fmla="*/ 405598 h 486720"/>
              <a:gd name="connsiteX5" fmla="*/ 4315388 w 4396510"/>
              <a:gd name="connsiteY5" fmla="*/ 486720 h 486720"/>
              <a:gd name="connsiteX6" fmla="*/ 81122 w 4396510"/>
              <a:gd name="connsiteY6" fmla="*/ 486720 h 486720"/>
              <a:gd name="connsiteX7" fmla="*/ 0 w 4396510"/>
              <a:gd name="connsiteY7" fmla="*/ 405598 h 486720"/>
              <a:gd name="connsiteX8" fmla="*/ 0 w 4396510"/>
              <a:gd name="connsiteY8" fmla="*/ 81122 h 48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6510" h="486720">
                <a:moveTo>
                  <a:pt x="0" y="81122"/>
                </a:moveTo>
                <a:cubicBezTo>
                  <a:pt x="0" y="36320"/>
                  <a:pt x="36320" y="0"/>
                  <a:pt x="81122" y="0"/>
                </a:cubicBezTo>
                <a:lnTo>
                  <a:pt x="4315388" y="0"/>
                </a:lnTo>
                <a:cubicBezTo>
                  <a:pt x="4360190" y="0"/>
                  <a:pt x="4396510" y="36320"/>
                  <a:pt x="4396510" y="81122"/>
                </a:cubicBezTo>
                <a:lnTo>
                  <a:pt x="4396510" y="405598"/>
                </a:lnTo>
                <a:cubicBezTo>
                  <a:pt x="4396510" y="450400"/>
                  <a:pt x="4360190" y="486720"/>
                  <a:pt x="4315388" y="486720"/>
                </a:cubicBezTo>
                <a:lnTo>
                  <a:pt x="81122" y="486720"/>
                </a:lnTo>
                <a:cubicBezTo>
                  <a:pt x="36320" y="486720"/>
                  <a:pt x="0" y="450400"/>
                  <a:pt x="0" y="405598"/>
                </a:cubicBezTo>
                <a:lnTo>
                  <a:pt x="0" y="811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150" tIns="96150" rIns="96150" bIns="96150" numCol="1" spcCol="1270" anchor="ctr" anchorCtr="0">
            <a:noAutofit/>
          </a:bodyPr>
          <a:lstStyle/>
          <a:p>
            <a:pPr lvl="0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● </a:t>
            </a:r>
            <a:r>
              <a:rPr lang="en-US" altLang="zh-CN" sz="24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$$</a:t>
            </a:r>
            <a:r>
              <a:rPr lang="en-US" altLang="zh-CN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：表示本程序的进程</a:t>
            </a:r>
            <a:r>
              <a:rPr lang="en-US" altLang="zh-CN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号。</a:t>
            </a:r>
          </a:p>
        </p:txBody>
      </p:sp>
      <p:sp>
        <p:nvSpPr>
          <p:cNvPr id="3" name="流程图: 可选过程 2">
            <a:extLst>
              <a:ext uri="{FF2B5EF4-FFF2-40B4-BE49-F238E27FC236}">
                <a16:creationId xmlns:a16="http://schemas.microsoft.com/office/drawing/2014/main" id="{AB4E3708-B8E6-DC9C-D428-D93AD96F87CD}"/>
              </a:ext>
            </a:extLst>
          </p:cNvPr>
          <p:cNvSpPr/>
          <p:nvPr/>
        </p:nvSpPr>
        <p:spPr>
          <a:xfrm>
            <a:off x="900547" y="2574678"/>
            <a:ext cx="2417618" cy="1914192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特殊变量用来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查看脚本的运行信息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6197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特殊变量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23CB853-4F9F-F37B-B5E4-11793598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796" y="1859012"/>
            <a:ext cx="5700408" cy="417156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90F76D6-7E74-97D3-F44C-C817D3B17EA1}"/>
              </a:ext>
            </a:extLst>
          </p:cNvPr>
          <p:cNvSpPr/>
          <p:nvPr/>
        </p:nvSpPr>
        <p:spPr bwMode="auto">
          <a:xfrm>
            <a:off x="1052945" y="1312414"/>
            <a:ext cx="101484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原有的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test.sh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中新增几行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727116625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特殊变量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10C7B75-FAC9-9AA2-9D73-2266474E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052" y="1858447"/>
            <a:ext cx="6209148" cy="393693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06A953F-2A3C-AC64-1492-B7315DF6E226}"/>
              </a:ext>
            </a:extLst>
          </p:cNvPr>
          <p:cNvSpPr/>
          <p:nvPr/>
        </p:nvSpPr>
        <p:spPr bwMode="auto">
          <a:xfrm>
            <a:off x="1052945" y="1312414"/>
            <a:ext cx="1014845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输出结果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48153386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706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012768" y="2872557"/>
            <a:ext cx="7745285" cy="1127125"/>
            <a:chOff x="1910363" y="2286295"/>
            <a:chExt cx="6433229" cy="1127125"/>
          </a:xfrm>
        </p:grpSpPr>
        <p:sp>
          <p:nvSpPr>
            <p:cNvPr id="6" name="任意多边形 5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2699350" y="2286295"/>
              <a:ext cx="5511799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</a:p>
          </p:txBody>
        </p:sp>
        <p:sp>
          <p:nvSpPr>
            <p:cNvPr id="9" name="矩形 19"/>
            <p:cNvSpPr>
              <a:spLocks noChangeArrowheads="1"/>
            </p:cNvSpPr>
            <p:nvPr/>
          </p:nvSpPr>
          <p:spPr bwMode="auto">
            <a:xfrm>
              <a:off x="2892689" y="2447432"/>
              <a:ext cx="54509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</a:pP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单引号：它可以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屏蔽</a:t>
              </a:r>
              <a:r>
                <a:rPr lang="en-US" altLang="zh-CN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Shell</a:t>
              </a: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中元字符的功能。</a:t>
              </a:r>
              <a:endPara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012769" y="3897353"/>
            <a:ext cx="7585830" cy="1127125"/>
            <a:chOff x="1910363" y="3265414"/>
            <a:chExt cx="6300786" cy="1126563"/>
          </a:xfrm>
        </p:grpSpPr>
        <p:sp>
          <p:nvSpPr>
            <p:cNvPr id="11" name="任意多边形 10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699350" y="3265414"/>
              <a:ext cx="5511799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/>
          </p:nvSpPr>
          <p:spPr bwMode="auto">
            <a:xfrm>
              <a:off x="2892688" y="3409277"/>
              <a:ext cx="5318461" cy="461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</a:pP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双引号：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屏蔽</a:t>
              </a: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不会屏蔽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\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``</a:t>
              </a: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符号。</a:t>
              </a:r>
              <a:endPara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3012769" y="4875253"/>
            <a:ext cx="7585830" cy="1127125"/>
            <a:chOff x="1910363" y="4243265"/>
            <a:chExt cx="6300785" cy="1127269"/>
          </a:xfrm>
        </p:grpSpPr>
        <p:sp>
          <p:nvSpPr>
            <p:cNvPr id="15" name="任意多边形 14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同侧圆角矩形 15"/>
            <p:cNvSpPr/>
            <p:nvPr/>
          </p:nvSpPr>
          <p:spPr>
            <a:xfrm rot="5400000">
              <a:off x="5088489" y="1854125"/>
              <a:ext cx="733519" cy="5511799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矩形 21"/>
            <p:cNvSpPr>
              <a:spLocks noChangeArrowheads="1"/>
            </p:cNvSpPr>
            <p:nvPr/>
          </p:nvSpPr>
          <p:spPr bwMode="auto">
            <a:xfrm>
              <a:off x="2892690" y="4389335"/>
              <a:ext cx="5113674" cy="46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反引号：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命令替换</a:t>
              </a:r>
              <a:r>
                <a:rPr lang="zh-CN" altLang="en-US" sz="2400" dirty="0">
                  <a:solidFill>
                    <a:srgbClr val="1353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，可与引号结合使用。</a:t>
              </a:r>
            </a:p>
          </p:txBody>
        </p:sp>
      </p:grpSp>
      <p:sp>
        <p:nvSpPr>
          <p:cNvPr id="18" name="剪去对角的矩形 17"/>
          <p:cNvSpPr/>
          <p:nvPr/>
        </p:nvSpPr>
        <p:spPr bwMode="auto">
          <a:xfrm>
            <a:off x="1896728" y="2870856"/>
            <a:ext cx="872587" cy="3261230"/>
          </a:xfrm>
          <a:prstGeom prst="snip2DiagRect">
            <a:avLst/>
          </a:prstGeom>
          <a:solidFill>
            <a:schemeClr val="accent5">
              <a:lumMod val="75000"/>
            </a:schemeClr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"/>
          <p:cNvSpPr>
            <a:spLocks noChangeArrowheads="1"/>
          </p:cNvSpPr>
          <p:nvPr/>
        </p:nvSpPr>
        <p:spPr bwMode="auto">
          <a:xfrm>
            <a:off x="2056023" y="2446359"/>
            <a:ext cx="553998" cy="324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lvl="2"/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中的引号</a:t>
            </a:r>
            <a:endParaRPr lang="zh-CN" altLang="zh-CN" sz="2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19">
            <a:extLst>
              <a:ext uri="{FF2B5EF4-FFF2-40B4-BE49-F238E27FC236}">
                <a16:creationId xmlns:a16="http://schemas.microsoft.com/office/drawing/2014/main" id="{DE0A79B2-F297-BDF9-5FC4-494E1B220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452760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引号：主要用来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转换元字符的含义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元字符：在正则表达式中具有特殊处理能力的字符，如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等字符</a:t>
            </a:r>
          </a:p>
        </p:txBody>
      </p:sp>
    </p:spTree>
    <p:extLst>
      <p:ext uri="{BB962C8B-B14F-4D97-AF65-F5344CB8AC3E}">
        <p14:creationId xmlns:p14="http://schemas.microsoft.com/office/powerpoint/2010/main" val="106468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556E6C96-2D3B-5E64-102B-063B5AF3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单引号：将中间的字符还原为字面意义，实现屏蔽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元字符的功能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单引号中的字符串是一个单纯的字符串，无任何含义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A7AF59-30C4-3B55-2505-06E36F8B4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911" y="3255945"/>
            <a:ext cx="5288178" cy="23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2647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556E6C96-2D3B-5E64-102B-063B5AF3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双引号：具有屏蔽作用，但是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不会屏蔽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``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（反引号）符号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3A444B-EF15-26F7-8763-FA168773A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97" y="2476887"/>
            <a:ext cx="4605005" cy="266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17858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556E6C96-2D3B-5E64-102B-063B5AF3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反引号：进行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命令替换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反引号可以和双引号结合使用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C068D0-7533-AC65-AADA-BC9E99AB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97" y="2621771"/>
            <a:ext cx="4605004" cy="330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76375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697028"/>
              </p:ext>
            </p:extLst>
          </p:nvPr>
        </p:nvGraphicFramePr>
        <p:xfrm>
          <a:off x="2484961" y="2361857"/>
          <a:ext cx="7245961" cy="369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4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9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通配符“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将与零个或多个字符匹配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9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通配符“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与任何单个字符匹配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9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通配符“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[]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[]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中的任一字符相匹配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193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通配符“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[!]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[]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之外的任一字符匹配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19">
            <a:extLst>
              <a:ext uri="{FF2B5EF4-FFF2-40B4-BE49-F238E27FC236}">
                <a16:creationId xmlns:a16="http://schemas.microsoft.com/office/drawing/2014/main" id="{65FC21C7-E662-1BD4-5A39-CB5E41F0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452760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通配符：用于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数据处理或文件名匹配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799566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556E6C96-2D3B-5E64-102B-063B5AF3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通配符“*”：将与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零个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字符匹配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选项：仅对目标目录本身进行处理，不递归处理目录中的文件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98849F-6B98-30BA-62DE-4101B407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11" y="2900099"/>
            <a:ext cx="8851177" cy="3248208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81EB9ED3-5864-6187-E678-E74F4A303210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284795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556E6C96-2D3B-5E64-102B-063B5AF3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通配符“？”：与任何单个字符匹配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FA1076-B7D1-1659-485D-839004FDA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311" y="2465462"/>
            <a:ext cx="8129378" cy="3370909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2E6BF32C-C340-D96C-FE9A-8D411AF67063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5022078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92E4F31D-08B7-F524-023D-026A9B64E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中的任一字符相匹配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50CA88-612F-B845-5C4B-64DCD1E7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635" y="2610364"/>
            <a:ext cx="6878729" cy="2813689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287C483F-0121-1A2F-3803-4EE342A351F9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429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[!]”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之外的任一字符匹配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82B889-9AB4-0928-8005-6DE9D8ED8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277" y="2509626"/>
            <a:ext cx="6929446" cy="2967659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8DC42202-F374-A1FC-1B41-9791F292E56A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0948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通配符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362" y="1308107"/>
            <a:ext cx="7591356" cy="505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 rot="20925861">
            <a:off x="2939026" y="3126644"/>
            <a:ext cx="6718300" cy="50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（1）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root@localhost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]#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-d sys*</a:t>
            </a:r>
            <a:endParaRPr lang="zh-CN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 rot="20925861">
            <a:off x="2949532" y="3578598"/>
            <a:ext cx="6718300" cy="50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root@localhost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]#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-d ??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 rot="20925861">
            <a:off x="2987814" y="4062084"/>
            <a:ext cx="6718300" cy="50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root@localhost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]#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[f-h]*.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conf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 rot="20925861">
            <a:off x="2997068" y="4514038"/>
            <a:ext cx="6718300" cy="50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x-none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root@localhost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]#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-d y*[!.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conf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754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1866315" y="1902106"/>
            <a:ext cx="8498214" cy="108355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/>
          <p:cNvSpPr/>
          <p:nvPr/>
        </p:nvSpPr>
        <p:spPr bwMode="auto">
          <a:xfrm>
            <a:off x="2045702" y="1522692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”连接符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045702" y="2278923"/>
            <a:ext cx="7958137" cy="24727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使用“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”运算符，命令会按照先后次序依次执行。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1A315A-856F-D34D-39AB-E52B732A6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22" y="3140369"/>
            <a:ext cx="10810199" cy="246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938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1948489" y="1803010"/>
            <a:ext cx="8773790" cy="18170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/>
          <p:cNvSpPr/>
          <p:nvPr/>
        </p:nvSpPr>
        <p:spPr bwMode="auto">
          <a:xfrm>
            <a:off x="2127878" y="1511278"/>
            <a:ext cx="3033274" cy="58726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”连接符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127878" y="2220435"/>
            <a:ext cx="8393985" cy="12497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使用“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&amp;&amp;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”运算符，其前后命令的执行遵循逻辑与关系，只有该连接符前面的命令执行成功后，它后面的命令才被执行。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5D42038-BE7F-2252-AA5F-106F89B9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97" y="3797509"/>
            <a:ext cx="6188806" cy="23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26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1958996" y="1841278"/>
            <a:ext cx="8763283" cy="178851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任意多边形 9"/>
          <p:cNvSpPr/>
          <p:nvPr/>
        </p:nvSpPr>
        <p:spPr bwMode="auto">
          <a:xfrm>
            <a:off x="2138384" y="1461864"/>
            <a:ext cx="3033274" cy="58726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”连接符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2138384" y="2171021"/>
            <a:ext cx="8383479" cy="12497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使用“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||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”运算符，其前后命令的执行遵循逻辑或关系，只有该连接符之前的命令执行失败时，才会执行后面的命令。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1B3335-9D39-6010-271E-F5B91930A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567" y="3825203"/>
            <a:ext cx="6144866" cy="248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482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706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正则表达式的概念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00" y="501700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流程图: 可选过程 9"/>
          <p:cNvSpPr/>
          <p:nvPr/>
        </p:nvSpPr>
        <p:spPr>
          <a:xfrm>
            <a:off x="5183201" y="2228671"/>
            <a:ext cx="5802125" cy="3166824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正则表达式是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对文本进行过滤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的工具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它定义了一系列的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元字符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，通过元字符配合其它的字符来表达出一种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规则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，只有符合规则的文本才能保留下来，而不符合规则的文本则被过滤掉。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835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正则表达式的概念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00" y="501700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流程图: 可选过程 9"/>
          <p:cNvSpPr/>
          <p:nvPr/>
        </p:nvSpPr>
        <p:spPr>
          <a:xfrm>
            <a:off x="5183201" y="2228671"/>
            <a:ext cx="5802125" cy="3094606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正则表达式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可以理解为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描述字符串结构模式的形式化表达“方法”或者“思想”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，与特定的工具搭配使用，可实现包括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添加、删除、分离、插入、选择等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各种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文本分析功能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136079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49" y="617038"/>
            <a:ext cx="3815582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9289"/>
              </p:ext>
            </p:extLst>
          </p:nvPr>
        </p:nvGraphicFramePr>
        <p:xfrm>
          <a:off x="4489591" y="2427471"/>
          <a:ext cx="6639570" cy="2773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383100" imgH="1447081" progId="Visio.Drawing.11">
                  <p:embed/>
                </p:oleObj>
              </mc:Choice>
              <mc:Fallback>
                <p:oleObj name="Visio" r:id="rId3" imgW="3383100" imgH="144708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591" y="2427471"/>
                        <a:ext cx="6639570" cy="27731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正则表达式的概念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799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41" y="672457"/>
            <a:ext cx="3815582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正则表达式的概念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CC725A04-97E8-A04A-5196-C5E96F0BC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823" y="2180122"/>
            <a:ext cx="6336577" cy="278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元字符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有一些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意义不完全相同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9263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41" y="672457"/>
            <a:ext cx="3815582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正则表达式的概念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AE2AC2CD-983D-60EA-7789-66A03B49D6FA}"/>
              </a:ext>
            </a:extLst>
          </p:cNvPr>
          <p:cNvSpPr/>
          <p:nvPr/>
        </p:nvSpPr>
        <p:spPr>
          <a:xfrm>
            <a:off x="4484198" y="2408780"/>
            <a:ext cx="6447962" cy="1868739"/>
          </a:xfrm>
          <a:prstGeom prst="flowChartAlternateProcess">
            <a:avLst/>
          </a:prstGeom>
          <a:noFill/>
          <a:ln w="31750">
            <a:noFill/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POSIX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规定的两种正则表达式语法：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基本正则表达式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扩展正则表达式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968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1400937" y="2046623"/>
            <a:ext cx="9734703" cy="4003448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/>
          <p:cNvSpPr/>
          <p:nvPr/>
        </p:nvSpPr>
        <p:spPr bwMode="auto">
          <a:xfrm>
            <a:off x="1580323" y="1503123"/>
            <a:ext cx="3979070" cy="633987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基础正则表达式元字符 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80533" y="2392131"/>
            <a:ext cx="9329846" cy="34700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）限定符“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”：用于匹配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前面一个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普通字符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次或多次重复。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）单个字符匹配符号“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”：匹配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任意单个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字符（除却“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）行首定位符“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”：用来匹配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）行尾定位符“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”：定位文本行的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末尾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”作用相反。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）字符集匹配符号“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”：用于指定一个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匹配字符集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）字符集不匹配符号“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[^]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不匹配字符集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的任意字符。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754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限定符“*”：用于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匹配前面一个普通字符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元字符：文本搜索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通配符：文件名匹配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8086438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元字符“*” 区别于 通配符“*”</a:t>
            </a:r>
            <a:endParaRPr lang="zh-CN" altLang="en-US" sz="3200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22B48E-2B95-0790-90B9-46EC6BFE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300" y="2278912"/>
            <a:ext cx="6022237" cy="400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单个字符匹配符号“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：匹配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任意单个字符（除却“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\n”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的位置表示该位置有一个字符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5DEA5E-69A7-B709-7282-93CBD86F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192" y="2788704"/>
            <a:ext cx="5595616" cy="3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1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行首定位符“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：用来匹配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行首字符（一个字符）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”开头，但应理解为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以匹配“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”开头，第二三个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字符依次是“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36B019-39AB-9413-5B9C-FEACE84FB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587" y="2330658"/>
            <a:ext cx="5786649" cy="353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1563595"/>
            <a:ext cx="1048601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行尾定位符“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匹配文本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行尾字符（一个字符）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作用相反。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3AF0D2-DCFB-4EC8-AD8F-45E4E907C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225" y="2420146"/>
            <a:ext cx="6659550" cy="35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307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字符集匹配符号“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：用于指定一个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匹配的字符集集合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7" y="501700"/>
            <a:ext cx="712354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[] 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区别于 通配符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[]</a:t>
            </a:r>
            <a:endParaRPr lang="zh-CN" altLang="en-US" sz="3200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EEE80C-C00D-03E4-C2C0-C4CA4394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29" y="2264035"/>
            <a:ext cx="6220541" cy="409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806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字符集不匹配符号“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[^]”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不匹配字符集的任意字符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8107220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元字符“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[^]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区别于 通配符“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[!]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endParaRPr lang="zh-CN" altLang="en-US" sz="3200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B581A3-63E1-D002-CB4F-58D13748E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615" y="2400962"/>
            <a:ext cx="5840769" cy="37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834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值得注意的是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元字符“*”“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”位于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符号中，表示一个普通字符，无特殊意义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6E87A4-20E4-7498-CB28-7A7D95FE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29" y="2779916"/>
            <a:ext cx="5973742" cy="357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485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447453" y="2082689"/>
            <a:ext cx="9775868" cy="351860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1614313" y="1503123"/>
            <a:ext cx="3979070" cy="657527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扩展正则表达式元字符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639367" y="2440723"/>
            <a:ext cx="9433642" cy="29366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）限定符“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”：匹配其前面的字符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次或多次。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）限定符“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”：限定前面的字符最多出现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次（即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”符号：表示多个正则表达式之间的“或”关系。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           表达式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1 | </a:t>
            </a: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2 | …| </a:t>
            </a: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”符号：表示一组可选值的集合。“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”与“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”常结合使用。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5938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：匹配其前面的字符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次或多次。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至少匹配一次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区别于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限定符“*”：匹配前导字符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次或多次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670836-ED61-8F1A-B6DB-6FA814FF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240" y="3138054"/>
            <a:ext cx="5987519" cy="263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086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：匹配其前面的字符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次或多次。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至少匹配一次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区别于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限定符“*”：匹配前导字符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次或多次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”符号时，使用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egrep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命令或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 –E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P120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使用基本正则表达式，可以使用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egrep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命令默认使用扩展正则表达式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0680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限定符“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：限定前面的字符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最多出现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次或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次）。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32A74D-C3F5-61D4-C37F-52005E7E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348" y="2144652"/>
            <a:ext cx="5873304" cy="422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698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BD1215E-BCF2-8DE7-37E1-2ADCD555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符号：表示多个正则表达式之间的“或”关系。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|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| …|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符号：表示一组可选值的集合。“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常结合使用。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996F3D-6ACF-2F0F-56DA-EF9B2F9A2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987" y="3753495"/>
            <a:ext cx="6002025" cy="215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569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14AF8ED0-8CED-ED75-C1CC-BFF69A1623E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元字符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19">
            <a:extLst>
              <a:ext uri="{FF2B5EF4-FFF2-40B4-BE49-F238E27FC236}">
                <a16:creationId xmlns:a16="http://schemas.microsoft.com/office/drawing/2014/main" id="{ABFC1472-CCF1-74EF-336C-B7E991645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值得注意的是：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“（）”与“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”符号组合可以实现“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”的功能，如（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a|b|c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“（）”与“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”符号组合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匹配多个字符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”符号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匹配单个字符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86D915-E5FB-C994-3485-66BA43612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298" r="26280"/>
          <a:stretch/>
        </p:blipFill>
        <p:spPr>
          <a:xfrm>
            <a:off x="6562963" y="4470060"/>
            <a:ext cx="5218283" cy="8243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EECB41-29B5-F281-E614-7C55FCDA3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409" r="7618" b="9203"/>
          <a:stretch/>
        </p:blipFill>
        <p:spPr>
          <a:xfrm>
            <a:off x="410754" y="4240705"/>
            <a:ext cx="5830719" cy="147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867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706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41" y="672457"/>
            <a:ext cx="3815582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AE2AC2CD-983D-60EA-7789-66A03B49D6FA}"/>
              </a:ext>
            </a:extLst>
          </p:cNvPr>
          <p:cNvSpPr/>
          <p:nvPr/>
        </p:nvSpPr>
        <p:spPr>
          <a:xfrm>
            <a:off x="4359507" y="1681504"/>
            <a:ext cx="6447962" cy="3707540"/>
          </a:xfrm>
          <a:prstGeom prst="flowChartAlternateProcess">
            <a:avLst/>
          </a:prstGeom>
          <a:noFill/>
          <a:ln w="31750">
            <a:noFill/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正则表达式主要用于过滤文本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常与文本处理工具结合使用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中三个强大的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文本处理工具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grep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：文本搜索命令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文本编辑命令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：也是一种编程语言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194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41" y="672457"/>
            <a:ext cx="3815582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AE2AC2CD-983D-60EA-7789-66A03B49D6FA}"/>
              </a:ext>
            </a:extLst>
          </p:cNvPr>
          <p:cNvSpPr/>
          <p:nvPr/>
        </p:nvSpPr>
        <p:spPr>
          <a:xfrm>
            <a:off x="4359507" y="1681504"/>
            <a:ext cx="6447962" cy="4320474"/>
          </a:xfrm>
          <a:prstGeom prst="flowChartAlternateProcess">
            <a:avLst/>
          </a:prstGeom>
          <a:noFill/>
          <a:ln w="31750">
            <a:noFill/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命令替换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重定向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管道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引号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通配符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连接符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元字符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9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6237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9">
            <a:extLst>
              <a:ext uri="{FF2B5EF4-FFF2-40B4-BE49-F238E27FC236}">
                <a16:creationId xmlns:a16="http://schemas.microsoft.com/office/drawing/2014/main" id="{79089233-948D-F3CE-BCDF-99181D55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4459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全称是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Global Search Regular Expression and Print out the line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全局搜索正则表达式并打印文本行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它是一个强大的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文本搜索命令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一个或多个文件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中搜索与指定模式匹配的文本行，并打印匹配结果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 [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文件名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多个文件名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空格分隔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3626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698079" y="1370014"/>
            <a:ext cx="4168266" cy="766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grep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…]</a:t>
            </a:r>
            <a:endParaRPr lang="zh-CN" altLang="zh-CN" sz="2400" dirty="0">
              <a:ln>
                <a:solidFill>
                  <a:schemeClr val="accent1"/>
                </a:solidFill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567510" y="2187690"/>
            <a:ext cx="6740141" cy="46166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选项：只显示包含模式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行的数量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578016" y="2813070"/>
            <a:ext cx="6740141" cy="46166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选项：列出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所有匹配行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显示行号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572756" y="3454216"/>
            <a:ext cx="6740141" cy="46166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不包含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模式的所有行。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583262" y="4095362"/>
            <a:ext cx="6740141" cy="46166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选项：匹配时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不区分大小写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593768" y="4673444"/>
            <a:ext cx="6740141" cy="46166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选项：查询文件时不显示文件名。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604274" y="5251526"/>
            <a:ext cx="6740141" cy="830997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选项：只列出匹配的文件名，而不列出具体的匹配行。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645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06126" y="1963082"/>
            <a:ext cx="9842872" cy="4337509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 bwMode="auto">
          <a:xfrm>
            <a:off x="1885514" y="1453019"/>
            <a:ext cx="2166171" cy="600551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匹配行首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960670" y="2245527"/>
            <a:ext cx="9488120" cy="39047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正则表达式中的元字符“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^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”表示行首。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例如：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查找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sysctl.conf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文件中以“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”符号开头文本行，并显示每行的行号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#grep -n ^#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sysctl.conf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3DCCCE-BFD8-F318-E8CB-912AD82B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4" y="3596394"/>
            <a:ext cx="6256526" cy="263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087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06126" y="1963082"/>
            <a:ext cx="9842872" cy="4337509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 bwMode="auto">
          <a:xfrm>
            <a:off x="1885514" y="1453019"/>
            <a:ext cx="2166171" cy="600551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匹配行首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960670" y="2245527"/>
            <a:ext cx="9488120" cy="39047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结合“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$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”符号搜索文件中的空白行。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例如搜索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yum.conf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文件中的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空白行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非空白行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grep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-c ^$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yum.conf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E97C48-D9BA-3A7A-24D0-6243D9A19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13" y="3898276"/>
            <a:ext cx="7421574" cy="219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35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718652" y="1969956"/>
            <a:ext cx="8740582" cy="163754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1898040" y="1427967"/>
            <a:ext cx="2386888" cy="632474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设置大小写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898040" y="2121772"/>
            <a:ext cx="8435934" cy="1398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使用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选项可以使用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grep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命令不区分大小写，利用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[]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符号也可以实现这一功能。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FC0175-7F76-F4D1-DF5F-AF7B9E71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882" y="3877642"/>
            <a:ext cx="8320236" cy="176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93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29158" y="1939124"/>
            <a:ext cx="8730076" cy="1629651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 bwMode="auto">
          <a:xfrm>
            <a:off x="1908545" y="1377915"/>
            <a:ext cx="2029541" cy="651696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转义字符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908546" y="2163513"/>
            <a:ext cx="7958137" cy="81097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如果匹配的目标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字符串中包含元字符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，则需要利用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转义字符“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\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”屏蔽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其意义。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55483-5FCD-30F3-48E9-5983B338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075" y="3702677"/>
            <a:ext cx="6097849" cy="241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627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3.5.1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036430" y="2354761"/>
            <a:ext cx="3521715" cy="347800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 bwMode="auto">
          <a:xfrm>
            <a:off x="1215817" y="1793551"/>
            <a:ext cx="2029541" cy="651696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转义字符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215819" y="2579149"/>
            <a:ext cx="3238418" cy="35476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横杠（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不属于正则表达式元字符，但“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”字符是引出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grep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命令的选项的特殊字符，也需要转义字符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055E53-F12D-E610-4AD9-FC71C8D5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107" y="2001555"/>
            <a:ext cx="6120463" cy="374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761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命令族</a:t>
            </a:r>
            <a:endParaRPr lang="zh-CN" altLang="en-US" sz="32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sym typeface="宋体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93184" y="1301568"/>
            <a:ext cx="8797456" cy="4234935"/>
            <a:chOff x="238839" y="2209431"/>
            <a:chExt cx="8116884" cy="3305998"/>
          </a:xfrm>
        </p:grpSpPr>
        <p:sp>
          <p:nvSpPr>
            <p:cNvPr id="6" name="单圆角矩形 5"/>
            <p:cNvSpPr/>
            <p:nvPr/>
          </p:nvSpPr>
          <p:spPr bwMode="auto">
            <a:xfrm>
              <a:off x="2413170" y="2420569"/>
              <a:ext cx="5942553" cy="3094860"/>
            </a:xfrm>
            <a:prstGeom prst="round1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7" name="Picture 1" descr="C:\Users\admin\Desktop\8879-12034419353077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839" y="2209431"/>
              <a:ext cx="3181218" cy="312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矩形 8"/>
          <p:cNvSpPr/>
          <p:nvPr/>
        </p:nvSpPr>
        <p:spPr bwMode="auto">
          <a:xfrm>
            <a:off x="4859250" y="1858781"/>
            <a:ext cx="5468343" cy="1284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800" b="1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egrep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grep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命令的扩展，与</a:t>
            </a:r>
            <a:r>
              <a:rPr lang="en-US" altLang="zh-CN" sz="2800" b="1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grep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-E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是等价的。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840576" y="3266170"/>
            <a:ext cx="5505690" cy="1930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800" b="1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fgrep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fast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grep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的缩写，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不支持正则表达式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，所有字母都被看做单词。与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grep –F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26286946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7F664760-5BCD-CD19-7EE4-1A1B98B74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全称是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tream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itor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它是一个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非交互式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的文本处理命令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可以从文本文件和标准输入进行编辑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标准输入：键盘、文件重定向、字符串、变量等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编辑命令复杂，文件过大、文本处理需要执行多个函数时使用该命令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一次性处理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所有的编辑任务，提高效率，节约时间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4031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7F664760-5BCD-CD19-7EE4-1A1B98B74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处理文本时，将读取的数据复制到缓冲区，在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缓冲区中进行数据处理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，处理完成之后再输出到屏幕（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不修改源文件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选项实现）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该缓冲区称为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模式空间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D9006D3-F0C0-A3B6-9312-3ADB1947ED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840387"/>
              </p:ext>
            </p:extLst>
          </p:nvPr>
        </p:nvGraphicFramePr>
        <p:xfrm>
          <a:off x="2311398" y="3667700"/>
          <a:ext cx="8331950" cy="186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59100" imgH="701166" progId="Visio.Drawing.11">
                  <p:embed/>
                </p:oleObj>
              </mc:Choice>
              <mc:Fallback>
                <p:oleObj name="Visio" r:id="rId2" imgW="3059100" imgH="701166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398" y="3667700"/>
                        <a:ext cx="8331950" cy="1862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7516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769106" y="3085110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选项：关闭默认的模式空间输出。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74366" y="3713187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选项：将下一个字符串解析为命令。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769106" y="4354333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选项：编辑脚本内容，表明正在使用脚本。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779612" y="4995479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选项：在脚本指令中使用扩展正则表达式。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790118" y="5573561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选项：直接修改原文件，此选项要慎用。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49419" y="4971174"/>
            <a:ext cx="5273457" cy="766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ln>
                <a:solidFill>
                  <a:schemeClr val="accent1"/>
                </a:solidFill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9">
            <a:extLst>
              <a:ext uri="{FF2B5EF4-FFF2-40B4-BE49-F238E27FC236}">
                <a16:creationId xmlns:a16="http://schemas.microsoft.com/office/drawing/2014/main" id="{91A53151-F7B1-ED50-DDEB-C76FD769C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 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'sed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编辑命令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输入文件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编辑命令要用单引号括起来</a:t>
            </a: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257C6BC9-E5BF-D927-C605-6A3741D17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878" y="3214094"/>
            <a:ext cx="538449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常用选项</a:t>
            </a:r>
          </a:p>
        </p:txBody>
      </p:sp>
    </p:spTree>
    <p:extLst>
      <p:ext uri="{BB962C8B-B14F-4D97-AF65-F5344CB8AC3E}">
        <p14:creationId xmlns:p14="http://schemas.microsoft.com/office/powerpoint/2010/main" val="2595077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/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58928"/>
              </p:ext>
            </p:extLst>
          </p:nvPr>
        </p:nvGraphicFramePr>
        <p:xfrm>
          <a:off x="1766169" y="1402923"/>
          <a:ext cx="8642959" cy="48350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3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18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sed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常用编辑命令</a:t>
                      </a:r>
                      <a:endParaRPr lang="en-US" altLang="zh-CN" sz="2000" kern="100" dirty="0"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选项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打印匹配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显示文件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行号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a\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在定位行号之后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文本信息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在定位行号之前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插入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文本信息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定位行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c\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用新文本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替换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定位文本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使用替换模式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替换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相应模式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从一个文件中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将文本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入到一个文件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{}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在定位行执行命令组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变换字符（不能对正则表达式使用</a:t>
                      </a: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选项）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将模式缓冲区的文本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复制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到保持缓冲区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8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将模式缓冲区的文本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</a:t>
                      </a: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到保持缓冲区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031436"/>
      </p:ext>
    </p:extLst>
  </p:cSld>
  <p:clrMapOvr>
    <a:masterClrMapping/>
  </p:clrMapOvr>
  <p:transition spd="slow">
    <p:push dir="u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8" descr="http://pic01.taopic.com/140925/235067-1409250F42040-l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92" y="1261902"/>
            <a:ext cx="4309480" cy="523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1123928" y="1411518"/>
            <a:ext cx="4208744" cy="47480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#This is a poem#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 rain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==================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Rain is falling all around, 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It falls on field and tree, 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It rains on the umbrella here, 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And on the ships at sea. 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by R. L. Stevenson, 1850-1894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7F41A1-5E9A-FC89-49B1-BE88A52FB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52" y="1470511"/>
            <a:ext cx="5220673" cy="4313759"/>
          </a:xfrm>
          <a:prstGeom prst="rect">
            <a:avLst/>
          </a:prstGeom>
        </p:spPr>
      </p:pic>
      <p:sp>
        <p:nvSpPr>
          <p:cNvPr id="10" name="矩形 19">
            <a:extLst>
              <a:ext uri="{FF2B5EF4-FFF2-40B4-BE49-F238E27FC236}">
                <a16:creationId xmlns:a16="http://schemas.microsoft.com/office/drawing/2014/main" id="{EC02427E-5ADB-17B0-A361-F298B489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150" y="5784270"/>
            <a:ext cx="2311831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“=”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显示行号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5077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5012914" y="1627781"/>
            <a:ext cx="2166171" cy="637197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追加文本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3859308" y="2662167"/>
            <a:ext cx="4658107" cy="766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sed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n>
                  <a:solidFill>
                    <a:schemeClr val="accent1"/>
                  </a:solidFill>
                </a:ln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zh-CN" sz="2400" b="1" dirty="0">
                <a:ln>
                  <a:solidFill>
                    <a:schemeClr val="accent1"/>
                  </a:solidFill>
                </a:ln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指定地址</a:t>
            </a:r>
            <a:r>
              <a:rPr lang="en-US" altLang="zh-CN" sz="2400" b="1" dirty="0">
                <a:ln>
                  <a:solidFill>
                    <a:schemeClr val="accent1"/>
                  </a:solidFill>
                </a:ln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a\text' </a:t>
            </a:r>
            <a:r>
              <a:rPr lang="zh-CN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输入文件</a:t>
            </a: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542535D9-5C41-49E5-439A-A5575A6B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798" y="3875358"/>
            <a:ext cx="7449129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编辑命令‘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\a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’,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一行或多行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追加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到指定位置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指定位置以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匹配模式“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/pattern/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或行号形式给出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不指定，则默认放在每一行后面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4031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542535D9-5C41-49E5-439A-A5575A6B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追加文本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命令实现：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$sed '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/For rain/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a\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 new line!!!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poem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66BA2B-DB31-D3CA-86B8-4D99DEB5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290" y="3175768"/>
            <a:ext cx="6871419" cy="28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700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542535D9-5C41-49E5-439A-A5575A6B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追加文本脚本实现：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 add.sh</a:t>
            </a:r>
          </a:p>
          <a:p>
            <a:pPr lvl="1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/For rain/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a\</a:t>
            </a:r>
          </a:p>
          <a:p>
            <a:pPr lvl="1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 add a new line!!!</a:t>
            </a:r>
          </a:p>
          <a:p>
            <a:pPr lvl="1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/==/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a\</a:t>
            </a:r>
          </a:p>
          <a:p>
            <a:pPr lvl="1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another new line!!!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 –f add.sh poem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E68E51-C66C-E56B-9CA1-2DFE7B1A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482" y="1389362"/>
            <a:ext cx="4848027" cy="458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806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542535D9-5C41-49E5-439A-A5575A6B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4"/>
            <a:ext cx="4848026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追加操作仅在标准输出中对输出结果进行追加，不修改源文件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修改源文件使用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D9B4C7-CAB6-C72C-746F-8C38D34DCF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81" r="4015"/>
          <a:stretch/>
        </p:blipFill>
        <p:spPr>
          <a:xfrm>
            <a:off x="6954984" y="1999645"/>
            <a:ext cx="3643745" cy="4356655"/>
          </a:xfrm>
          <a:prstGeom prst="rect">
            <a:avLst/>
          </a:prstGeom>
        </p:spPr>
      </p:pic>
      <p:sp>
        <p:nvSpPr>
          <p:cNvPr id="7" name="矩形 19">
            <a:extLst>
              <a:ext uri="{FF2B5EF4-FFF2-40B4-BE49-F238E27FC236}">
                <a16:creationId xmlns:a16="http://schemas.microsoft.com/office/drawing/2014/main" id="{03F424C2-E9A8-FFB6-7371-94BD7E33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09" y="1273065"/>
            <a:ext cx="475797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查看文件是否变化（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EB99FA9-C733-3891-5863-71537FAE2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78" y="3546451"/>
            <a:ext cx="3929295" cy="263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228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5012914" y="1588175"/>
            <a:ext cx="2166171" cy="544656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删除文本</a:t>
            </a:r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E0D2C483-82FF-375B-2E07-7343F9D2F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671" y="2344001"/>
            <a:ext cx="4636657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删除某一行，使用编辑命令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4433FC1-481B-C077-D2F6-6E450C9C5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065" y="3136228"/>
            <a:ext cx="4811870" cy="288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77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9EBD2FA5-A518-FAC2-D627-63434B20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指定命令解释器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add.sh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中没有指定命令解释器，需要调用相应的命令来执行脚本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sed –f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add.sh poem</a:t>
            </a: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add.sh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脚本文件中（第一行）指定命令解释器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/bin/sed -f</a:t>
            </a: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296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3.5.2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9EBD2FA5-A518-FAC2-D627-63434B20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445831"/>
            <a:ext cx="5117377" cy="55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/bin/sed –f</a:t>
            </a: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第一行以“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！”符号开头，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后面是解释器路径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-f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表示正在调用脚本文件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命令解释器一般在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/bin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目录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下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Which sed</a:t>
            </a: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输出：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usr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/bin/sed</a:t>
            </a: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3D9599-2077-2679-3B94-48AAA85C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023" y="1196578"/>
            <a:ext cx="4872863" cy="50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31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9EBD2FA5-A518-FAC2-D627-63434B20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是一种非常强大的数据处理工具，其本身是一种程序设计语言。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在读取分析数据时，从头到尾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逐行扫描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文件内容，寻找与指定模式匹配的行，并对匹配的文本行进行处理</a:t>
            </a:r>
          </a:p>
        </p:txBody>
      </p:sp>
    </p:spTree>
    <p:extLst>
      <p:ext uri="{BB962C8B-B14F-4D97-AF65-F5344CB8AC3E}">
        <p14:creationId xmlns:p14="http://schemas.microsoft.com/office/powerpoint/2010/main" val="2095322730"/>
      </p:ext>
    </p:extLst>
  </p:cSld>
  <p:clrMapOvr>
    <a:masterClrMapping/>
  </p:clrMapOvr>
  <p:transition spd="slow">
    <p:push dir="u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 rot="8426669">
            <a:off x="3858490" y="2836319"/>
            <a:ext cx="1749466" cy="910097"/>
            <a:chOff x="2058187" y="4708795"/>
            <a:chExt cx="3754439" cy="852849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7" name="任意多边形 6"/>
            <p:cNvSpPr/>
            <p:nvPr/>
          </p:nvSpPr>
          <p:spPr bwMode="auto">
            <a:xfrm rot="21456134">
              <a:off x="2058187" y="4708795"/>
              <a:ext cx="3754439" cy="852849"/>
            </a:xfrm>
            <a:custGeom>
              <a:avLst/>
              <a:gdLst>
                <a:gd name="connsiteX0" fmla="*/ 0 w 3474720"/>
                <a:gd name="connsiteY0" fmla="*/ 143596 h 1148767"/>
                <a:gd name="connsiteX1" fmla="*/ 2900337 w 3474720"/>
                <a:gd name="connsiteY1" fmla="*/ 143596 h 1148767"/>
                <a:gd name="connsiteX2" fmla="*/ 2900337 w 3474720"/>
                <a:gd name="connsiteY2" fmla="*/ 0 h 1148767"/>
                <a:gd name="connsiteX3" fmla="*/ 3474720 w 3474720"/>
                <a:gd name="connsiteY3" fmla="*/ 574384 h 1148767"/>
                <a:gd name="connsiteX4" fmla="*/ 2900337 w 3474720"/>
                <a:gd name="connsiteY4" fmla="*/ 1148767 h 1148767"/>
                <a:gd name="connsiteX5" fmla="*/ 2900337 w 3474720"/>
                <a:gd name="connsiteY5" fmla="*/ 1005171 h 1148767"/>
                <a:gd name="connsiteX6" fmla="*/ 0 w 3474720"/>
                <a:gd name="connsiteY6" fmla="*/ 1005171 h 1148767"/>
                <a:gd name="connsiteX7" fmla="*/ 0 w 3474720"/>
                <a:gd name="connsiteY7" fmla="*/ 143596 h 1148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4720" h="1148767">
                  <a:moveTo>
                    <a:pt x="0" y="143596"/>
                  </a:moveTo>
                  <a:lnTo>
                    <a:pt x="2900337" y="143596"/>
                  </a:lnTo>
                  <a:lnTo>
                    <a:pt x="2900337" y="0"/>
                  </a:lnTo>
                  <a:lnTo>
                    <a:pt x="3474720" y="574384"/>
                  </a:lnTo>
                  <a:lnTo>
                    <a:pt x="2900337" y="1148767"/>
                  </a:lnTo>
                  <a:lnTo>
                    <a:pt x="2900337" y="1005171"/>
                  </a:lnTo>
                  <a:lnTo>
                    <a:pt x="0" y="1005171"/>
                  </a:lnTo>
                  <a:lnTo>
                    <a:pt x="0" y="143596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875" tIns="159471" rIns="446663" bIns="159471" spcCol="1270"/>
            <a:lstStyle/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4"/>
            <p:cNvSpPr>
              <a:spLocks noChangeArrowheads="1"/>
            </p:cNvSpPr>
            <p:nvPr/>
          </p:nvSpPr>
          <p:spPr bwMode="auto">
            <a:xfrm rot="10738858">
              <a:off x="2471529" y="4986456"/>
              <a:ext cx="2597981" cy="37494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模式匹配</a:t>
              </a:r>
              <a:endPara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20492579">
            <a:off x="6459996" y="2420931"/>
            <a:ext cx="759095" cy="1678164"/>
            <a:chOff x="5640306" y="2928150"/>
            <a:chExt cx="457503" cy="1339111"/>
          </a:xfrm>
        </p:grpSpPr>
        <p:sp>
          <p:nvSpPr>
            <p:cNvPr id="11" name="任意多边形 10"/>
            <p:cNvSpPr/>
            <p:nvPr/>
          </p:nvSpPr>
          <p:spPr bwMode="auto">
            <a:xfrm rot="3623841">
              <a:off x="5199502" y="3368954"/>
              <a:ext cx="1339111" cy="457503"/>
            </a:xfrm>
            <a:custGeom>
              <a:avLst/>
              <a:gdLst>
                <a:gd name="connsiteX0" fmla="*/ 0 w 3474720"/>
                <a:gd name="connsiteY0" fmla="*/ 143596 h 1148767"/>
                <a:gd name="connsiteX1" fmla="*/ 2900337 w 3474720"/>
                <a:gd name="connsiteY1" fmla="*/ 143596 h 1148767"/>
                <a:gd name="connsiteX2" fmla="*/ 2900337 w 3474720"/>
                <a:gd name="connsiteY2" fmla="*/ 0 h 1148767"/>
                <a:gd name="connsiteX3" fmla="*/ 3474720 w 3474720"/>
                <a:gd name="connsiteY3" fmla="*/ 574384 h 1148767"/>
                <a:gd name="connsiteX4" fmla="*/ 2900337 w 3474720"/>
                <a:gd name="connsiteY4" fmla="*/ 1148767 h 1148767"/>
                <a:gd name="connsiteX5" fmla="*/ 2900337 w 3474720"/>
                <a:gd name="connsiteY5" fmla="*/ 1005171 h 1148767"/>
                <a:gd name="connsiteX6" fmla="*/ 0 w 3474720"/>
                <a:gd name="connsiteY6" fmla="*/ 1005171 h 1148767"/>
                <a:gd name="connsiteX7" fmla="*/ 0 w 3474720"/>
                <a:gd name="connsiteY7" fmla="*/ 143596 h 1148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4720" h="1148767">
                  <a:moveTo>
                    <a:pt x="0" y="143596"/>
                  </a:moveTo>
                  <a:lnTo>
                    <a:pt x="2900337" y="143596"/>
                  </a:lnTo>
                  <a:lnTo>
                    <a:pt x="2900337" y="0"/>
                  </a:lnTo>
                  <a:lnTo>
                    <a:pt x="3474720" y="574384"/>
                  </a:lnTo>
                  <a:lnTo>
                    <a:pt x="2900337" y="1148767"/>
                  </a:lnTo>
                  <a:lnTo>
                    <a:pt x="2900337" y="1005171"/>
                  </a:lnTo>
                  <a:lnTo>
                    <a:pt x="0" y="1005171"/>
                  </a:lnTo>
                  <a:lnTo>
                    <a:pt x="0" y="14359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875" tIns="159471" rIns="446663" bIns="159471" spcCol="1270"/>
            <a:lstStyle/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4"/>
            <p:cNvSpPr>
              <a:spLocks noChangeArrowheads="1"/>
            </p:cNvSpPr>
            <p:nvPr/>
          </p:nvSpPr>
          <p:spPr bwMode="auto">
            <a:xfrm rot="3558890">
              <a:off x="5361956" y="3372715"/>
              <a:ext cx="966003" cy="241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处理数据</a:t>
              </a:r>
              <a:endPara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Picture 18" descr="C:\Users\admin\Desktop\201777-12062Q12024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66" y="1373485"/>
            <a:ext cx="2938607" cy="116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4419919" y="1649911"/>
            <a:ext cx="2616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awk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由两部分组成：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Picture 18" descr="C:\Users\admin\Desktop\201777-12062Q12024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86" y="3909066"/>
            <a:ext cx="3253538" cy="2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2710259" y="4197405"/>
            <a:ext cx="26163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如果没有指定匹配模式，则默认匹配所有数据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7" name="Picture 18" descr="C:\Users\admin\Desktop\201777-12062Q12024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317" y="3824981"/>
            <a:ext cx="4431410" cy="255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6816208" y="3924128"/>
            <a:ext cx="382408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匹配，则处理数据；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不匹配，则不作任何处理。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未指定处理方式，则输出。</a:t>
            </a:r>
          </a:p>
        </p:txBody>
      </p:sp>
    </p:spTree>
    <p:extLst>
      <p:ext uri="{BB962C8B-B14F-4D97-AF65-F5344CB8AC3E}">
        <p14:creationId xmlns:p14="http://schemas.microsoft.com/office/powerpoint/2010/main" val="550733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473075"/>
              </p:ext>
            </p:extLst>
          </p:nvPr>
        </p:nvGraphicFramePr>
        <p:xfrm>
          <a:off x="5325453" y="1777184"/>
          <a:ext cx="5568661" cy="4311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42640" imgH="2969104" progId="Visio.Drawing.11">
                  <p:embed/>
                </p:oleObj>
              </mc:Choice>
              <mc:Fallback>
                <p:oleObj name="Visio" r:id="rId2" imgW="3842640" imgH="29691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453" y="1777184"/>
                        <a:ext cx="5568661" cy="43112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标注 6"/>
          <p:cNvSpPr/>
          <p:nvPr/>
        </p:nvSpPr>
        <p:spPr>
          <a:xfrm>
            <a:off x="9291242" y="1244890"/>
            <a:ext cx="1765739" cy="788167"/>
          </a:xfrm>
          <a:prstGeom prst="wedgeRoundRectCallout">
            <a:avLst>
              <a:gd name="adj1" fmla="val -54965"/>
              <a:gd name="adj2" fmla="val 6399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BEGIN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标识开始读取数据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9561406" y="4569405"/>
            <a:ext cx="1765739" cy="788167"/>
          </a:xfrm>
          <a:prstGeom prst="wedgeRoundRectCallout">
            <a:avLst>
              <a:gd name="adj1" fmla="val -58104"/>
              <a:gd name="adj2" fmla="val 877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END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标识数据读取完毕</a:t>
            </a: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82361BF7-9477-FFC1-A2C0-8A74F91B0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80" y="1570411"/>
            <a:ext cx="4204745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两种特殊的模式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：放置在读取数据之前执行，标志数据读取即将开始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：放置在读取数据之后执行，标志数据读取已经完毕</a:t>
            </a:r>
          </a:p>
        </p:txBody>
      </p:sp>
    </p:spTree>
    <p:extLst>
      <p:ext uri="{BB962C8B-B14F-4D97-AF65-F5344CB8AC3E}">
        <p14:creationId xmlns:p14="http://schemas.microsoft.com/office/powerpoint/2010/main" val="395735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8CEECF6B-9776-E68A-0C27-D43ABF98C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24" y="1487285"/>
            <a:ext cx="10691029" cy="6121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命令基本格式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 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pattern {actions}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文本符合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时则执行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操作，至少有一个：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匹配模式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（可选）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则对所有文本执行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actions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执行的操作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（可选）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则将匹配结果打印到终端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733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868135" y="2544596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选项：指定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作为输入行的分隔符。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878641" y="3264572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-v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选项：赋值一个用户定义的变量。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873381" y="3968782"/>
            <a:ext cx="6643268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选项：从脚本文件读取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3574528" y="1507963"/>
            <a:ext cx="5042944" cy="7668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] pattern {actions} </a:t>
            </a:r>
            <a:r>
              <a:rPr lang="zh-CN" altLang="zh-CN" sz="2400" dirty="0">
                <a:ln>
                  <a:solidFill>
                    <a:schemeClr val="accent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ln>
                <a:solidFill>
                  <a:schemeClr val="accent1"/>
                </a:solidFill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C1236092-7D78-FA14-6DD2-EDDF41A68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166" y="4921581"/>
            <a:ext cx="8439667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匹配模式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主要包括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关系表达式、正则表达式、混合模式、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77942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26D5B4-8875-B86A-4329-1A36066E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513" y="2214934"/>
            <a:ext cx="7278974" cy="316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5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03749" y="1492812"/>
            <a:ext cx="9106422" cy="17013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关系表达式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允许用户使用关系表达式作为匹配模式，当文本行满足关系表达式时，将会执行相应操作。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821274" y="3436367"/>
          <a:ext cx="6361167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运算符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含义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运算符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含义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大于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==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等于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小于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!=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不等于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&lt;=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小于等于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~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匹配正则表达式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&gt;=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大于等于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不匹配正则表达式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638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A93B7C-BCD1-F41A-6FD7-F5ABCAD1B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70" y="1321339"/>
            <a:ext cx="4756609" cy="17714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F0DA40-18F1-E75B-F883-39FD52A73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91" y="3429000"/>
            <a:ext cx="5417004" cy="2225591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B1F6195-52E5-C937-7953-14752CD647D7}"/>
              </a:ext>
            </a:extLst>
          </p:cNvPr>
          <p:cNvSpPr txBox="1">
            <a:spLocks/>
          </p:cNvSpPr>
          <p:nvPr/>
        </p:nvSpPr>
        <p:spPr>
          <a:xfrm>
            <a:off x="1803749" y="1492812"/>
            <a:ext cx="4119069" cy="45200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关系表达式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引用第二列的值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所有列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变量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$NF: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最后一列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{print}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：打印匹配的所有行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22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96350" y="1229766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正则表达式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支持以正则表达式作为匹配模式，它的用法与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一样。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/^x/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匹配与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开头的文本行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0A71A6-10D5-1A81-F072-6634F5B4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15" y="3581065"/>
            <a:ext cx="4211012" cy="17356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E907E6-9050-DB75-A849-1D56293A4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747" y="3638867"/>
            <a:ext cx="663596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33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96350" y="1229766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正则表达式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支持以正则表达式作为匹配模式，它的用法与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一样。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匹配以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zhang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或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li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开头的文本行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819445-347B-8D98-F7EF-84FE6048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7" y="3725048"/>
            <a:ext cx="6437403" cy="23603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AD131D-11C2-1BD1-6749-B526D48D7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864" y="2409102"/>
            <a:ext cx="4523329" cy="159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08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96350" y="1229766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混合模式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提供了三个逻辑运算符。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96350" y="2309092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68793"/>
              </p:ext>
            </p:extLst>
          </p:nvPr>
        </p:nvGraphicFramePr>
        <p:xfrm>
          <a:off x="2818356" y="2801300"/>
          <a:ext cx="6801634" cy="2883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0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运算符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运算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范例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结果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非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!a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如果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为假，则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!a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&amp;&amp;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与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a&amp;&amp;b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如果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为真，则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!a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9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||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或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a||b</a:t>
                      </a:r>
                      <a:endPara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只要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有一个为真，则结果为真；二者都为假，结果为假。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716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96350" y="1229766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混合模式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匹配文本行开头是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li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且第二列值大于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80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的内容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96350" y="2309092"/>
            <a:ext cx="8374993" cy="11793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FC7ACA-6F70-C36C-FB03-CF47BCA0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87" y="4167738"/>
            <a:ext cx="5594767" cy="16663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E771A9-FCB6-C6EC-8A24-F7465F88D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06" y="2537499"/>
            <a:ext cx="5618669" cy="1666373"/>
          </a:xfrm>
          <a:prstGeom prst="rect">
            <a:avLst/>
          </a:prstGeom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FFD205E8-48C7-388E-1B70-5D80493CFCD3}"/>
              </a:ext>
            </a:extLst>
          </p:cNvPr>
          <p:cNvSpPr txBox="1">
            <a:spLocks/>
          </p:cNvSpPr>
          <p:nvPr/>
        </p:nvSpPr>
        <p:spPr>
          <a:xfrm>
            <a:off x="799106" y="4790718"/>
            <a:ext cx="4626105" cy="15511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混合模式中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多个条件实现精确匹配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34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28592" y="1722168"/>
            <a:ext cx="9181577" cy="28999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区间模式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	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还支持区间模式，通过模式可以匹配一段连续的文本行。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pattern1, pattern2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从匹配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行开始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，到匹配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行结束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中间连续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几个文本行都会被匹配到。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35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28592" y="1507422"/>
            <a:ext cx="9181577" cy="28999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区间模式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BF05F8-E45F-3265-4ED0-7F557A71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8" y="2326947"/>
            <a:ext cx="5204686" cy="17670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8B8A4F-A4ED-9741-6BEA-A90B412A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982" y="3321421"/>
            <a:ext cx="5755100" cy="21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311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3.5.3 </a:t>
            </a:r>
            <a:r>
              <a:rPr lang="en-US" altLang="zh-CN" sz="32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90596" y="1705754"/>
            <a:ext cx="9519781" cy="304161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5.BEGIN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模式和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模式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模式执行在读取数据之前，当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读取数据之后，便不再有效。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读取完所有数据后执行，也中被执行一次。用户可以将善后工作放在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模式中。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733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706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 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1B9752F0-E872-7692-40A5-5218E6E31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79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脚本程序：一系列控制计算机进行运算操作命令的组合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在其中可以实现一定的逻辑结构，包括：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判断结构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719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1B9752F0-E872-7692-40A5-5218E6E31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编程中，对某一个条件或某几个条件进行判断，根据判断结果执行不同的命令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常用的几种判断结构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if/else</a:t>
            </a: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/else</a:t>
            </a: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8610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4" descr="http://pic.pptbz.com/201210/201411206966756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0" b="5965"/>
          <a:stretch/>
        </p:blipFill>
        <p:spPr bwMode="auto">
          <a:xfrm>
            <a:off x="2311398" y="2747196"/>
            <a:ext cx="6850742" cy="291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1572000" y="1395587"/>
            <a:ext cx="9289394" cy="12597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语句是最简单的判断结构，它对条件进行判断，如果判断结果为真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。则执行下面的命令，其判断的两种形式：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表示判断结构结束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注意：第二种表达形式中。分号后面有一个空格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649165" y="3376919"/>
            <a:ext cx="1868404" cy="1625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 expression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then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4720766" y="3376919"/>
            <a:ext cx="2481942" cy="15094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 expression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then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4487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58146" y="1459016"/>
            <a:ext cx="9289394" cy="12597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语句是最简单的判断结构，它对条件进行判断，如果判断结果为真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文件操作符：判断文件是否存在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E2B8C8F-9D28-F7AB-A5F7-780D52600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056" y="3406708"/>
            <a:ext cx="3678871" cy="18570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DA6CD0-40EC-555A-54F7-CFE9C74D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76" y="4042167"/>
            <a:ext cx="5882553" cy="196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888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690D9D-C105-F4F5-E843-DF6D21533B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792"/>
          <a:stretch/>
        </p:blipFill>
        <p:spPr>
          <a:xfrm>
            <a:off x="266400" y="1588175"/>
            <a:ext cx="5829600" cy="438468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8588466-6C78-5C9A-8AE2-882704B12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8306"/>
            <a:ext cx="5696243" cy="46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03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4" descr="http://p0.so.qhimgs1.com/bdr/_240_/t01eaa65e9ee3ba39f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15" y="2123674"/>
            <a:ext cx="6899054" cy="420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1515650" y="1355026"/>
            <a:ext cx="9607462" cy="144384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if/else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if/else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结构指如果满足条件则执行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后面的操作，如果不满足条件，则执行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后面的操作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662963" y="4149054"/>
            <a:ext cx="2917371" cy="1904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 expression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then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else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9848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15650" y="1355026"/>
            <a:ext cx="9607462" cy="144384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if/else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-z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操作符：判断字符串是否为空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5F8D28-51F7-51FA-9EA5-98E67A21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12" y="3429000"/>
            <a:ext cx="5435141" cy="21963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C598452-3ADE-5DB3-056E-C6C3F06F1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37" y="2707645"/>
            <a:ext cx="6630220" cy="219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25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DD6BA41-7E81-A0C5-FDE2-E90C72940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862" y="1588175"/>
            <a:ext cx="6588276" cy="43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44498"/>
      </p:ext>
    </p:extLst>
  </p:cSld>
  <p:clrMapOvr>
    <a:masterClrMapping/>
  </p:clrMapOvr>
  <p:transition spd="slow">
    <p:push dir="u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 descr="http://pic.pptbz.com/201210/20141120696611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185" y="1277655"/>
            <a:ext cx="8074679" cy="515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1628186" y="1329975"/>
            <a:ext cx="8287656" cy="113904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elif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/else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结构可以进行多种情况的判断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3239266" y="2916413"/>
            <a:ext cx="3773714" cy="29724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 expression1; then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elif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expression2; then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……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else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19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D5185A-80F1-C6E9-AC1E-6482C56C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8175"/>
            <a:ext cx="6156186" cy="48981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F7FB1FB-05D1-B836-F9AC-B44E0B7B31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800"/>
          <a:stretch/>
        </p:blipFill>
        <p:spPr>
          <a:xfrm>
            <a:off x="4634182" y="3043561"/>
            <a:ext cx="4016510" cy="28385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18CB74-592E-3B63-4AC2-AEDE60A22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437" y="1132960"/>
            <a:ext cx="5549563" cy="313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70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8186" y="1329975"/>
            <a:ext cx="9441596" cy="113904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elif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/else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结构可以进行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多种情况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的判断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71F3B6E-73BE-9229-D23A-B040FF53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2" y="3064765"/>
            <a:ext cx="5549563" cy="31351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19EABC-2418-6DF2-212C-4E826253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192" y="2358185"/>
            <a:ext cx="6151427" cy="300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49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12" descr="http://pic.pptbz.com/201201/201501274104987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2086428"/>
            <a:ext cx="6058808" cy="441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1415441" y="1367553"/>
            <a:ext cx="10121030" cy="113904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case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结构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结构也用于进行判断，只是它的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判断条件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只能是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4538435" y="2934903"/>
            <a:ext cx="3773714" cy="29724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case "$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var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 in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var1)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1;;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……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*)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n;;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esac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48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7658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判断结构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case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结构例</a:t>
            </a:r>
            <a:endParaRPr lang="zh-CN" altLang="en-US" sz="3200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0B2A7B-C881-D8BC-0FE7-FE52483FD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1" y="3202452"/>
            <a:ext cx="6272329" cy="30280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50343E-9762-9AEA-769F-2C423FE1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587" y="1362354"/>
            <a:ext cx="3727558" cy="4875047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DBA874A-7BBF-7415-AF15-7AD369471455}"/>
              </a:ext>
            </a:extLst>
          </p:cNvPr>
          <p:cNvSpPr txBox="1">
            <a:spLocks/>
          </p:cNvSpPr>
          <p:nvPr/>
        </p:nvSpPr>
        <p:spPr>
          <a:xfrm>
            <a:off x="1415441" y="1367553"/>
            <a:ext cx="10121030" cy="113904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注意：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1.case/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esac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 2.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两个分号；；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3.*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）无</a:t>
            </a:r>
            <a:r>
              <a:rPr lang="zh-CN" altLang="en-US" sz="24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匹配项输出  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514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C3811D44-9454-7AAE-16FD-ECB0140D9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79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重复执行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某一命令后某一段程序，采用循环结构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中常用的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种循环结构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Until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719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33510" y="1931223"/>
            <a:ext cx="9627597" cy="291786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编程中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的循环，它通常从一个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中读取元素赋予变量，然后执行循环体中的命令语句，执行完毕之后再次从列表中读取元素赋予变量，再次执行循环体中的命令语句，如此循环直到列表中元素被读取完毕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5195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 descr="http://pic.pptbz.com/201210/201411206966064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1705755"/>
            <a:ext cx="6078449" cy="45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内容占位符 2"/>
          <p:cNvSpPr txBox="1">
            <a:spLocks/>
          </p:cNvSpPr>
          <p:nvPr/>
        </p:nvSpPr>
        <p:spPr>
          <a:xfrm>
            <a:off x="4894934" y="2287001"/>
            <a:ext cx="3106064" cy="19418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 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var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in {list}</a:t>
            </a:r>
            <a:endParaRPr lang="zh-CN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</a:t>
            </a:r>
            <a:endParaRPr lang="zh-CN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don</a:t>
            </a:r>
            <a:r>
              <a:rPr lang="en-US" altLang="zh-CN" sz="2000" dirty="0">
                <a:solidFill>
                  <a:srgbClr val="FF0000"/>
                </a:solidFill>
              </a:rPr>
              <a:t>e</a:t>
            </a:r>
            <a:endParaRPr lang="zh-CN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48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88205" y="2509578"/>
            <a:ext cx="8175580" cy="616531"/>
          </a:xfrm>
          <a:prstGeom prst="rect">
            <a:avLst/>
          </a:prstGeom>
          <a:ln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var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in 1 2 3 4 5 6    #1~6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列表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46B897-F643-20C3-6A32-950A9630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566" y="3579493"/>
            <a:ext cx="5555000" cy="22066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351FBB-636D-76E8-887D-9ADA48F06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37" y="3669959"/>
            <a:ext cx="3670489" cy="2025754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5D918BF-B596-5A83-F823-41E1A960642F}"/>
              </a:ext>
            </a:extLst>
          </p:cNvPr>
          <p:cNvSpPr txBox="1">
            <a:spLocks/>
          </p:cNvSpPr>
          <p:nvPr/>
        </p:nvSpPr>
        <p:spPr>
          <a:xfrm>
            <a:off x="1958381" y="1335952"/>
            <a:ext cx="8157279" cy="6165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循环遍历一个列表，则有三种写法：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列表元素较少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时，可采用：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19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58381" y="1335952"/>
            <a:ext cx="8157279" cy="6165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循环遍历一个列表，则有三种写法：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列表元素较多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时，可采用：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88205" y="2509578"/>
            <a:ext cx="8175580" cy="616531"/>
          </a:xfrm>
          <a:prstGeom prst="rect">
            <a:avLst/>
          </a:prstGeom>
          <a:ln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 var in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｛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1 ..6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｝    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#1~6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列表简写形式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B61F31-2286-53C7-3FBF-1253340DE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8" y="3596053"/>
            <a:ext cx="3972596" cy="21756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64B522-7935-C514-B4F2-B10C62430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757" y="3429000"/>
            <a:ext cx="5467480" cy="222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28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88205" y="2509578"/>
            <a:ext cx="8175580" cy="616531"/>
          </a:xfrm>
          <a:prstGeom prst="rect">
            <a:avLst/>
          </a:prstGeom>
          <a:ln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 var in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｛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1 ..6..2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｝ 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以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为步长，读取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1~6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列表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60C2D3-AD11-5255-6578-6B8EA87F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423" y="3731892"/>
            <a:ext cx="5332395" cy="20117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F6A1400-2FDC-A2C8-67C3-0560F41D7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8" y="3596053"/>
            <a:ext cx="4099626" cy="2117546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716B6E89-9052-A891-A5A5-3DFDE00E0BEF}"/>
              </a:ext>
            </a:extLst>
          </p:cNvPr>
          <p:cNvSpPr txBox="1">
            <a:spLocks/>
          </p:cNvSpPr>
          <p:nvPr/>
        </p:nvSpPr>
        <p:spPr>
          <a:xfrm>
            <a:off x="1958381" y="1335952"/>
            <a:ext cx="8157279" cy="6165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循环遍历一个列表，则有三种写法：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按步长跳跃读取列表时，可采用：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211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 descr="http://pic.pptbz.com/201210/201411206966231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8" b="13676"/>
          <a:stretch/>
        </p:blipFill>
        <p:spPr bwMode="auto">
          <a:xfrm>
            <a:off x="1625348" y="2241550"/>
            <a:ext cx="7300937" cy="331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1625350" y="1530391"/>
            <a:ext cx="8157279" cy="6165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语言风格的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循环格式：</a:t>
            </a:r>
            <a:endParaRPr lang="en-US" altLang="zh-CN" sz="24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3323774" y="3220977"/>
            <a:ext cx="5544455" cy="209005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for((expression1; expression2; expression3))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命令执行语句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done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48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4" descr="http://img.taopic.com/uploads/allimg/120211/6380-1202112002298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628" y="1504746"/>
            <a:ext cx="6894286" cy="492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1746034" y="1530391"/>
            <a:ext cx="8157279" cy="6165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语言风格的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循环格式：</a:t>
            </a:r>
            <a:endParaRPr lang="en-US" altLang="zh-CN" sz="24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91933" y="2433116"/>
            <a:ext cx="2402114" cy="258532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语言风格的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循环只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适用于</a:t>
            </a:r>
            <a:r>
              <a:rPr lang="zh-CN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次数已知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的循环，而且不适用于字符串、文件作为变量的循环，因此它在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编程中较少使用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5416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4" descr="http://www.pptbz.com/d/file/p/201708/e9cc06daca035237a5039ba828856d4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745" y="2241359"/>
            <a:ext cx="5456333" cy="409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1971504" y="1287355"/>
            <a:ext cx="8157279" cy="10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循环相比，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循环要简单一些，它只有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一个判断条件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，条件为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真则执行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循环体中的命令语句，条件为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假则退出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 rot="21135768">
            <a:off x="3842512" y="2954684"/>
            <a:ext cx="2264227" cy="18288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while expression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done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046018" y="1287355"/>
            <a:ext cx="10106891" cy="10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，必须要有退出循环的条件，避免陷入死循环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let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BASH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中用于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计算的工具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，用于执行一个或多个表达式，变量计算中不需要加上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$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来表示变量。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957BA4-EF4E-A18E-0DA7-FA46E4216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885" y="3578484"/>
            <a:ext cx="5573643" cy="21295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094F4A-8F7B-F287-7D2C-9066A092F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29" y="3761837"/>
            <a:ext cx="3666343" cy="21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896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046018" y="1287355"/>
            <a:ext cx="10106891" cy="10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，必须要有推出循环的条件，避免陷入死循环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AC3705-5F17-B5DE-13C5-A7E61F12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257" y="2045598"/>
            <a:ext cx="5812938" cy="377331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CE99C4-72F9-78F0-282E-32938D534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66" y="3605686"/>
            <a:ext cx="3929008" cy="2502233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C89689-D428-4A89-C75A-89765EF52F7C}"/>
              </a:ext>
            </a:extLst>
          </p:cNvPr>
          <p:cNvSpPr txBox="1">
            <a:spLocks/>
          </p:cNvSpPr>
          <p:nvPr/>
        </p:nvSpPr>
        <p:spPr>
          <a:xfrm>
            <a:off x="1039092" y="2045597"/>
            <a:ext cx="4412672" cy="13834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Shift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：将变量的值依次向左传递，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#$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自动减一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81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4" descr="http://pic.pptbz.com/201210/20141120696607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820" y="2139570"/>
            <a:ext cx="4876800" cy="426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2021609" y="1467760"/>
            <a:ext cx="8157279" cy="10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until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的格式与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循环类似，但在判断循环条件时，只有循环条件为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假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才会去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执行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循环体，如果循环条件为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，则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退出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4853778" y="3083004"/>
            <a:ext cx="2264227" cy="1494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until expression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命令语句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done</a:t>
            </a:r>
            <a:endParaRPr lang="zh-CN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093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021609" y="1467760"/>
            <a:ext cx="8157279" cy="10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until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假执行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真退出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E1C8C4-C036-E7A4-091E-19028290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54" y="3948809"/>
            <a:ext cx="5162960" cy="20265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673C6A-1B13-93E8-ADCC-8632724F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831" y="1467760"/>
            <a:ext cx="3161746" cy="20265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C81201B-CCA5-9942-E501-57699F7A31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553" r="22358" b="12212"/>
          <a:stretch/>
        </p:blipFill>
        <p:spPr>
          <a:xfrm>
            <a:off x="588819" y="3371249"/>
            <a:ext cx="4779818" cy="16279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EBC103C-7E5E-4E5E-1C27-BFB25B6B55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1866"/>
          <a:stretch/>
        </p:blipFill>
        <p:spPr>
          <a:xfrm>
            <a:off x="662876" y="2382364"/>
            <a:ext cx="6156186" cy="8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67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3.6.3 break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8005" y="2332226"/>
            <a:ext cx="4876800" cy="4129435"/>
            <a:chOff x="2250813" y="2570221"/>
            <a:chExt cx="4876800" cy="4129435"/>
          </a:xfrm>
        </p:grpSpPr>
        <p:pic>
          <p:nvPicPr>
            <p:cNvPr id="7" name="Picture 2" descr="http://www.51pptmoban.com/d/file/2016/02/15/8bd2b104f55da9d510f10e679b258435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0813" y="2570221"/>
              <a:ext cx="4876800" cy="4129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 rot="20998878">
              <a:off x="2873636" y="3385054"/>
              <a:ext cx="1608548" cy="566046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break</a:t>
              </a:r>
              <a:endPara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" name="内容占位符 2"/>
            <p:cNvSpPr txBox="1">
              <a:spLocks/>
            </p:cNvSpPr>
            <p:nvPr/>
          </p:nvSpPr>
          <p:spPr>
            <a:xfrm rot="790094">
              <a:off x="5174740" y="3357877"/>
              <a:ext cx="1608549" cy="566046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continue</a:t>
              </a:r>
              <a:endPara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1" name="内容占位符 2"/>
          <p:cNvSpPr txBox="1">
            <a:spLocks/>
          </p:cNvSpPr>
          <p:nvPr/>
        </p:nvSpPr>
        <p:spPr>
          <a:xfrm>
            <a:off x="2136198" y="1467760"/>
            <a:ext cx="8999440" cy="11100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在循环过程中，如果达到某一个条件需要退出循环，就需要使用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循环控制符跳出循环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中提供了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两个循环控制符：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break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continue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3.6.3 break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44CC316C-1D7A-1A30-8BD8-B634C27B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循环控制符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强制退出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循环，忽略循环条件的作用，退出循环后，执行循环之外的命令。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until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38C7EB7-A32C-0F59-A16F-B5F986A6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120" y="3252647"/>
            <a:ext cx="6339419" cy="18402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3A91F4A-F0A0-D009-4DFB-266D4E85A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14" y="3312825"/>
            <a:ext cx="3951142" cy="308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00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3.6.3 break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44CC316C-1D7A-1A30-8BD8-B634C27B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contiune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循环控制符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终止本次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循环，接着执行下一次循环，但不会退出循环，只是跳过本次循环，循环会按照循环条件正常退出。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2176EC-BE29-E8B3-2D1F-90E72263B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71" y="2789496"/>
            <a:ext cx="5449025" cy="31785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A8F48F-9C3D-C96D-602E-A2D4C416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11" y="3069763"/>
            <a:ext cx="3814615" cy="301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6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7" y="501700"/>
            <a:ext cx="725848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3.6.4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脚本的基本元素与执行方式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4" descr="http://p2.so.qhmsg.com/bdr/_240_/t01ba833f72c4d45b2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45" y="1774969"/>
            <a:ext cx="4815222" cy="358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3008444" y="2745963"/>
            <a:ext cx="2894618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#!/bin/bash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echo“Hello,Bash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Shell : $SHELL”</a:t>
            </a:r>
          </a:p>
        </p:txBody>
      </p:sp>
      <p:sp>
        <p:nvSpPr>
          <p:cNvPr id="9" name="流程图: 可选过程 8"/>
          <p:cNvSpPr/>
          <p:nvPr/>
        </p:nvSpPr>
        <p:spPr>
          <a:xfrm>
            <a:off x="6489867" y="1951095"/>
            <a:ext cx="4495460" cy="3779758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第一行：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#!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开头，指定命令解释器。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可调用任何解释器。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第二行：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可执行语句。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可以根据需要加入逻辑分支。</a:t>
            </a:r>
          </a:p>
        </p:txBody>
      </p:sp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7" y="501700"/>
            <a:ext cx="725848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3.6.4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脚本的基本元素与执行方式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ED7172-BAE7-828F-6B05-E22144CEF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29" y="4462415"/>
            <a:ext cx="6806557" cy="13997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E14B67-3DF7-39C7-A5EC-4716657C7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616" y="2817405"/>
            <a:ext cx="6638641" cy="1341947"/>
          </a:xfrm>
          <a:prstGeom prst="rect">
            <a:avLst/>
          </a:prstGeom>
        </p:spPr>
      </p:pic>
      <p:sp>
        <p:nvSpPr>
          <p:cNvPr id="13" name="矩形 19">
            <a:extLst>
              <a:ext uri="{FF2B5EF4-FFF2-40B4-BE49-F238E27FC236}">
                <a16:creationId xmlns:a16="http://schemas.microsoft.com/office/drawing/2014/main" id="{3CBA7411-776A-9E63-6623-0431A860D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输出语句后以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”符号开头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的部分是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注释部分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脚本可读性，便于阅读者理解脚本</a:t>
            </a:r>
          </a:p>
        </p:txBody>
      </p:sp>
    </p:spTree>
    <p:extLst>
      <p:ext uri="{BB962C8B-B14F-4D97-AF65-F5344CB8AC3E}">
        <p14:creationId xmlns:p14="http://schemas.microsoft.com/office/powerpoint/2010/main" val="917347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7" y="501700"/>
            <a:ext cx="725848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3.6.4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脚本的基本元素与执行方式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111328" y="2170371"/>
            <a:ext cx="8137525" cy="1421793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2290716" y="1653436"/>
            <a:ext cx="3619141" cy="607422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1.Shell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解释器运行脚本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2290716" y="2373986"/>
            <a:ext cx="7958137" cy="12181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将脚本文件作为参数传递给解释器。这种运行方式只要对文件有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读取权限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就可以。如：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bash hello.sh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116248" y="4397599"/>
            <a:ext cx="8137525" cy="1421793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 bwMode="auto">
          <a:xfrm>
            <a:off x="2295636" y="3880664"/>
            <a:ext cx="3619141" cy="607422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运行脚本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2295636" y="4601214"/>
            <a:ext cx="7958137" cy="12181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Source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内部命令，它的功能是读取指定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程序文件，并依次执行其中的所有语句。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093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7" y="501700"/>
            <a:ext cx="725848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3.6.4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脚本的基本元素与执行方式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236588" y="2283105"/>
            <a:ext cx="8137525" cy="2702254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2415976" y="1778696"/>
            <a:ext cx="4091089" cy="594896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直接运行脚本（有权限）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2415976" y="2486719"/>
            <a:ext cx="7958137" cy="205578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这种方式在前面学习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awk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时已经学习过了。它就是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赋予脚本执行权限，然后直接运行脚本。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它的运行原理与第一种方式相同，都是先调用解释器创建一个子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，然后由解释器解释执行脚本程序。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7" y="501700"/>
            <a:ext cx="7258487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3.6.4 Shell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脚本的基本元素与执行方式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9">
            <a:extLst>
              <a:ext uri="{FF2B5EF4-FFF2-40B4-BE49-F238E27FC236}">
                <a16:creationId xmlns:a16="http://schemas.microsoft.com/office/drawing/2014/main" id="{1C7CD797-6C01-B1D3-53BA-49752A98D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4958" y="2021083"/>
            <a:ext cx="4404324" cy="335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Bash: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脚本文件作为参数传递给解释器（读写权限即可）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Source: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简单读取脚本中的语句，未创建子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赋予脚本执行权限，直接运行脚本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6A02E95-EE8D-EFBE-57F0-8A4B81736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2" y="2241550"/>
            <a:ext cx="6216365" cy="291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00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11601" y="1841570"/>
            <a:ext cx="18699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中的符号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971666" y="17712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9"/>
          <p:cNvSpPr>
            <a:spLocks noChangeArrowheads="1"/>
          </p:cNvSpPr>
          <p:nvPr/>
        </p:nvSpPr>
        <p:spPr bwMode="auto">
          <a:xfrm>
            <a:off x="5988893" y="1843658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cxnSp>
        <p:nvCxnSpPr>
          <p:cNvPr id="27" name="直接连接符 52"/>
          <p:cNvCxnSpPr>
            <a:cxnSpLocks noChangeShapeType="1"/>
          </p:cNvCxnSpPr>
          <p:nvPr/>
        </p:nvCxnSpPr>
        <p:spPr bwMode="auto">
          <a:xfrm>
            <a:off x="7868744" y="13615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7177"/>
          <p:cNvSpPr txBox="1">
            <a:spLocks noChangeArrowheads="1"/>
          </p:cNvSpPr>
          <p:nvPr/>
        </p:nvSpPr>
        <p:spPr bwMode="auto">
          <a:xfrm>
            <a:off x="5879807" y="10511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910218" y="16905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6304013" y="4276461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9" name="矩形 21"/>
          <p:cNvSpPr>
            <a:spLocks noChangeArrowheads="1"/>
          </p:cNvSpPr>
          <p:nvPr/>
        </p:nvSpPr>
        <p:spPr bwMode="auto">
          <a:xfrm>
            <a:off x="8205301" y="4276461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1" name="矩形 22"/>
          <p:cNvSpPr>
            <a:spLocks noChangeArrowheads="1"/>
          </p:cNvSpPr>
          <p:nvPr/>
        </p:nvSpPr>
        <p:spPr bwMode="auto">
          <a:xfrm>
            <a:off x="10092720" y="4276461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52" name="矩形 28"/>
          <p:cNvSpPr>
            <a:spLocks noChangeArrowheads="1"/>
          </p:cNvSpPr>
          <p:nvPr/>
        </p:nvSpPr>
        <p:spPr bwMode="auto">
          <a:xfrm>
            <a:off x="8139170" y="4348858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</a:t>
            </a:r>
          </a:p>
        </p:txBody>
      </p:sp>
      <p:sp>
        <p:nvSpPr>
          <p:cNvPr id="53" name="矩形 29"/>
          <p:cNvSpPr>
            <a:spLocks noChangeArrowheads="1"/>
          </p:cNvSpPr>
          <p:nvPr/>
        </p:nvSpPr>
        <p:spPr bwMode="auto">
          <a:xfrm>
            <a:off x="10109947" y="4348858"/>
            <a:ext cx="1811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脚本运维实例</a:t>
            </a:r>
          </a:p>
        </p:txBody>
      </p:sp>
      <p:cxnSp>
        <p:nvCxnSpPr>
          <p:cNvPr id="54" name="直接连接符 7167"/>
          <p:cNvCxnSpPr>
            <a:cxnSpLocks noChangeShapeType="1"/>
          </p:cNvCxnSpPr>
          <p:nvPr/>
        </p:nvCxnSpPr>
        <p:spPr bwMode="auto">
          <a:xfrm>
            <a:off x="6279908" y="4195765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172"/>
          <p:cNvCxnSpPr>
            <a:cxnSpLocks noChangeShapeType="1"/>
          </p:cNvCxnSpPr>
          <p:nvPr/>
        </p:nvCxnSpPr>
        <p:spPr bwMode="auto">
          <a:xfrm>
            <a:off x="6279908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50"/>
          <p:cNvCxnSpPr>
            <a:cxnSpLocks noChangeShapeType="1"/>
          </p:cNvCxnSpPr>
          <p:nvPr/>
        </p:nvCxnSpPr>
        <p:spPr bwMode="auto">
          <a:xfrm>
            <a:off x="8170377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51"/>
          <p:cNvCxnSpPr>
            <a:cxnSpLocks noChangeShapeType="1"/>
          </p:cNvCxnSpPr>
          <p:nvPr/>
        </p:nvCxnSpPr>
        <p:spPr bwMode="auto">
          <a:xfrm>
            <a:off x="10051221" y="3875416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2"/>
          <p:cNvCxnSpPr>
            <a:cxnSpLocks noChangeShapeType="1"/>
          </p:cNvCxnSpPr>
          <p:nvPr/>
        </p:nvCxnSpPr>
        <p:spPr bwMode="auto">
          <a:xfrm>
            <a:off x="11989798" y="3866703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7177"/>
          <p:cNvSpPr txBox="1">
            <a:spLocks noChangeArrowheads="1"/>
          </p:cNvSpPr>
          <p:nvPr/>
        </p:nvSpPr>
        <p:spPr bwMode="auto">
          <a:xfrm>
            <a:off x="6279908" y="3556383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0" name="TextBox 7177"/>
          <p:cNvSpPr txBox="1">
            <a:spLocks noChangeArrowheads="1"/>
          </p:cNvSpPr>
          <p:nvPr/>
        </p:nvSpPr>
        <p:spPr bwMode="auto">
          <a:xfrm>
            <a:off x="8182562" y="3556384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1" name="TextBox 7177"/>
          <p:cNvSpPr txBox="1">
            <a:spLocks noChangeArrowheads="1"/>
          </p:cNvSpPr>
          <p:nvPr/>
        </p:nvSpPr>
        <p:spPr bwMode="auto">
          <a:xfrm>
            <a:off x="10000861" y="3556383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63" name="矩形 28"/>
          <p:cNvSpPr>
            <a:spLocks noChangeArrowheads="1"/>
          </p:cNvSpPr>
          <p:nvPr/>
        </p:nvSpPr>
        <p:spPr bwMode="auto">
          <a:xfrm>
            <a:off x="6164880" y="4367632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文本处理工具</a:t>
            </a:r>
          </a:p>
        </p:txBody>
      </p:sp>
      <p:cxnSp>
        <p:nvCxnSpPr>
          <p:cNvPr id="64" name="直接连接符 63"/>
          <p:cNvCxnSpPr/>
          <p:nvPr/>
        </p:nvCxnSpPr>
        <p:spPr bwMode="auto">
          <a:xfrm>
            <a:off x="8170377" y="4195765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10031272" y="4195765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52" y="2395546"/>
            <a:ext cx="1214414" cy="1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 descr="http://7mnpep.com2.z0.glb.qiniucdn.com/uploads/image/file/6b/58/6b58690fc302668db7ce01c4460269d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2394934"/>
            <a:ext cx="1531035" cy="1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img2.qqhbx.com/uploads/allimg/150521/014151A64-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06" y="2395568"/>
            <a:ext cx="1605552" cy="11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 descr="http://a2.att.hudong.com/17/11/0130054305248914240411691065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31" y="2370516"/>
            <a:ext cx="1592720" cy="11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 descr="http://pic.9ht.com/up/2015-7/20157149484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32" y="4892308"/>
            <a:ext cx="1733957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2" name="Picture 12" descr="http://www.51wendang.com/pic/e21bc397e40871933b5e8971/1-810-jpg_6-1080-0-0-108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52" y="4892309"/>
            <a:ext cx="1662300" cy="120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4" name="Picture 14" descr="http://s1.51cto.com/oss/201711/10/75bb22570b69bd701ea88618853cb37b.jpg-wh_651x-s_74152106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530" y="4902856"/>
            <a:ext cx="1702596" cy="12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695101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91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9" fill="hold">
                                <p:stCondLst>
                                  <p:cond delay="6400"/>
                                </p:stCondLst>
                                <p:childTnLst>
                                  <p:par>
                                    <p:cTn id="110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  <p:bldP spid="25" grpId="0" animBg="1"/>
          <p:bldP spid="26" grpId="0"/>
          <p:bldP spid="28" grpId="0"/>
          <p:bldP spid="33" grpId="0" animBg="1"/>
          <p:bldP spid="49" grpId="0" animBg="1"/>
          <p:bldP spid="51" grpId="0" animBg="1"/>
          <p:bldP spid="52" grpId="0"/>
          <p:bldP spid="53" grpId="0"/>
          <p:bldP spid="59" grpId="0"/>
          <p:bldP spid="60" grpId="0"/>
          <p:bldP spid="61" grpId="0"/>
          <p:bldP spid="63" grpId="0"/>
        </p:bldLst>
      </p:timing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模拟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11" descr="http://p0.so.qhimgs1.com/bdr/_240_/t01a9c3b0783aadad3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672" y="1270063"/>
            <a:ext cx="6446583" cy="510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 rot="21232117">
            <a:off x="3844356" y="1403615"/>
            <a:ext cx="5303225" cy="444053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000" dirty="0"/>
              <a:t>#!/bin/bash</a:t>
            </a:r>
            <a:endParaRPr lang="zh-CN" altLang="zh-CN" sz="2000" dirty="0"/>
          </a:p>
          <a:p>
            <a:pPr lvl="0"/>
            <a:r>
              <a:rPr lang="en-US" altLang="zh-CN" sz="2000" dirty="0"/>
              <a:t>echo "user:"</a:t>
            </a:r>
            <a:endParaRPr lang="zh-CN" altLang="zh-CN" sz="2000" dirty="0"/>
          </a:p>
          <a:p>
            <a:pPr lvl="0"/>
            <a:r>
              <a:rPr lang="en-US" altLang="zh-CN" sz="2000" dirty="0"/>
              <a:t>read user                   #</a:t>
            </a:r>
            <a:r>
              <a:rPr lang="zh-CN" altLang="zh-CN" sz="2000" dirty="0"/>
              <a:t>读取用户名</a:t>
            </a:r>
          </a:p>
          <a:p>
            <a:pPr lvl="0"/>
            <a:r>
              <a:rPr lang="en-US" altLang="zh-CN" sz="2000" dirty="0"/>
              <a:t>echo "</a:t>
            </a:r>
            <a:r>
              <a:rPr lang="en-US" altLang="zh-CN" sz="2000" dirty="0" err="1"/>
              <a:t>passwd</a:t>
            </a:r>
            <a:r>
              <a:rPr lang="en-US" altLang="zh-CN" sz="2000" dirty="0"/>
              <a:t>:"</a:t>
            </a:r>
            <a:endParaRPr lang="zh-CN" altLang="zh-CN" sz="2000" dirty="0"/>
          </a:p>
          <a:p>
            <a:pPr lvl="0"/>
            <a:r>
              <a:rPr lang="en-US" altLang="zh-CN" sz="2000" dirty="0"/>
              <a:t>read </a:t>
            </a:r>
            <a:r>
              <a:rPr lang="en-US" altLang="zh-CN" sz="2000" dirty="0" err="1"/>
              <a:t>passwd</a:t>
            </a:r>
            <a:r>
              <a:rPr lang="en-US" altLang="zh-CN" sz="2000" dirty="0"/>
              <a:t>                #</a:t>
            </a:r>
            <a:r>
              <a:rPr lang="zh-CN" altLang="zh-CN" sz="2000" dirty="0"/>
              <a:t>读取密码</a:t>
            </a:r>
          </a:p>
          <a:p>
            <a:pPr lvl="0"/>
            <a:r>
              <a:rPr lang="en-US" altLang="zh-CN" sz="2000" dirty="0"/>
              <a:t>if [ "$user" = "</a:t>
            </a:r>
            <a:r>
              <a:rPr lang="en-US" altLang="zh-CN" sz="2000" dirty="0" err="1"/>
              <a:t>itheima</a:t>
            </a:r>
            <a:r>
              <a:rPr lang="en-US" altLang="zh-CN" sz="2000" dirty="0"/>
              <a:t>" ] &amp;&amp; [ "$</a:t>
            </a:r>
            <a:r>
              <a:rPr lang="en-US" altLang="zh-CN" sz="2000" dirty="0" err="1"/>
              <a:t>passwd</a:t>
            </a:r>
            <a:r>
              <a:rPr lang="en-US" altLang="zh-CN" sz="2000" dirty="0"/>
              <a:t>" = "123456" ]; then</a:t>
            </a:r>
            <a:endParaRPr lang="zh-CN" altLang="zh-CN" sz="2000" dirty="0"/>
          </a:p>
          <a:p>
            <a:pPr lvl="0"/>
            <a:r>
              <a:rPr lang="en-US" altLang="zh-CN" sz="2000" dirty="0"/>
              <a:t>echo "SUCCESS!"           #</a:t>
            </a:r>
            <a:r>
              <a:rPr lang="zh-CN" altLang="zh-CN" sz="2000" dirty="0"/>
              <a:t>用</a:t>
            </a:r>
            <a:r>
              <a:rPr lang="en-US" altLang="zh-CN" sz="2000" dirty="0"/>
              <a:t>if</a:t>
            </a:r>
            <a:r>
              <a:rPr lang="zh-CN" altLang="zh-CN" sz="2000" dirty="0"/>
              <a:t>语句判断用户名与密码是否匹配</a:t>
            </a:r>
          </a:p>
          <a:p>
            <a:pPr lvl="0"/>
            <a:r>
              <a:rPr lang="en-US" altLang="zh-CN" sz="2000" dirty="0"/>
              <a:t>else echo "user name or </a:t>
            </a:r>
            <a:r>
              <a:rPr lang="en-US" altLang="zh-CN" sz="2000" dirty="0" err="1"/>
              <a:t>passwd</a:t>
            </a:r>
            <a:r>
              <a:rPr lang="en-US" altLang="zh-CN" sz="2000" dirty="0"/>
              <a:t> ERROR!" </a:t>
            </a:r>
            <a:endParaRPr lang="zh-CN" altLang="zh-CN" sz="2000" dirty="0"/>
          </a:p>
          <a:p>
            <a:r>
              <a:rPr lang="en-US" altLang="zh-CN" sz="2000" dirty="0"/>
              <a:t>fi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93093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模拟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280340-B91B-9B8D-480A-CD8BB0FB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3" y="1588175"/>
            <a:ext cx="5437997" cy="43462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ECCD9D-760C-114D-9FEC-C494FE7EF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2093604"/>
            <a:ext cx="5467653" cy="341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257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45E7FEA1-3671-5903-89D7-F5C5F0D0B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4" y="2714516"/>
            <a:ext cx="1013777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监控系统运行情况是运维人员一项重要的日常工作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可以编写一个监控系统运行情况的脚本减少日常操作的麻烦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01435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F049C3-CE5B-21DE-6916-98F3C9B157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486"/>
          <a:stretch/>
        </p:blipFill>
        <p:spPr>
          <a:xfrm>
            <a:off x="1646556" y="2190748"/>
            <a:ext cx="9269094" cy="3801882"/>
          </a:xfrm>
          <a:prstGeom prst="rect">
            <a:avLst/>
          </a:prstGeom>
        </p:spPr>
      </p:pic>
      <p:sp>
        <p:nvSpPr>
          <p:cNvPr id="9" name="矩形 19">
            <a:extLst>
              <a:ext uri="{FF2B5EF4-FFF2-40B4-BE49-F238E27FC236}">
                <a16:creationId xmlns:a16="http://schemas.microsoft.com/office/drawing/2014/main" id="{45E7FEA1-3671-5903-89D7-F5C5F0D0B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system.sh (Part1)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2693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19">
            <a:extLst>
              <a:ext uri="{FF2B5EF4-FFF2-40B4-BE49-F238E27FC236}">
                <a16:creationId xmlns:a16="http://schemas.microsoft.com/office/drawing/2014/main" id="{83979EEB-B0C5-43B6-03B3-EABDCCFF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system.sh (Part2)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B82C16-73B4-C97F-AEB6-F61C8980CA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179"/>
          <a:stretch/>
        </p:blipFill>
        <p:spPr>
          <a:xfrm>
            <a:off x="1646556" y="2530535"/>
            <a:ext cx="9269094" cy="34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005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代码行显示主机时间与当前用户信息。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date: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显示时间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w: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显示当前用户信息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2A3593-5521-3F1D-FEBD-9423CEFB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20" y="3252647"/>
            <a:ext cx="6179459" cy="295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代码行显示主机时间与当前用户信息。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（执行结果）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A672C1-2E29-72E2-8A16-63B11A14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72" y="3225698"/>
            <a:ext cx="10238014" cy="144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97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6~8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代码显示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使用情况。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系统运行状态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 -6: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显示结果前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、内存、交换分区使用情况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7BA12C-AB84-7DC2-D113-F7BEA41B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13" y="3729766"/>
            <a:ext cx="7278473" cy="202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47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6~8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代码显示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使用情况。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（执行结果）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782BF7-7EA5-E6B5-0EE7-7CD3696A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04" y="3285028"/>
            <a:ext cx="9263492" cy="175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98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9~12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代码行显示硬盘与内存的使用情况。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（执行结果）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使用情况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-m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使用情况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xargs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：将参数格式重新组合，避免参数列表过长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597308-EE22-D4CA-27EE-ED0ED8D31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612" y="3892234"/>
            <a:ext cx="7980675" cy="24024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96774D-C750-3CB2-86F2-25DE60132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45" y="2257665"/>
            <a:ext cx="4105803" cy="10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65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35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13~15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行代码行代码显示终端下的所有进程。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auxf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：显示终端下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所有进程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16~18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行代码显示虚拟内存使用情况。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vmstat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：一秒统计一次，共统计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3616BFF-0E91-F49E-E3D8-39F5E73B1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301" y="1952235"/>
            <a:ext cx="3755392" cy="315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76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3B6F09FB-FA0C-F486-F476-5324844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4459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13~15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行代码行代码显示终端下的所有进程。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（部分结果）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16~18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行代码显示虚拟内存使用情况。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（部分结果）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90F480-648F-5474-2054-AA09006BF6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455"/>
          <a:stretch/>
        </p:blipFill>
        <p:spPr>
          <a:xfrm>
            <a:off x="1733545" y="2331357"/>
            <a:ext cx="8940810" cy="13099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E7E600-D591-1768-65CD-D17F8F4045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444"/>
          <a:stretch/>
        </p:blipFill>
        <p:spPr>
          <a:xfrm>
            <a:off x="1650091" y="4713387"/>
            <a:ext cx="8940810" cy="135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788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46112D-A972-34A5-766F-4C5B20DC5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072" y="1816994"/>
            <a:ext cx="3840014" cy="3224012"/>
          </a:xfrm>
          <a:prstGeom prst="rect">
            <a:avLst/>
          </a:prstGeom>
        </p:spPr>
      </p:pic>
      <p:sp>
        <p:nvSpPr>
          <p:cNvPr id="7" name="矩形 19">
            <a:extLst>
              <a:ext uri="{FF2B5EF4-FFF2-40B4-BE49-F238E27FC236}">
                <a16:creationId xmlns:a16="http://schemas.microsoft.com/office/drawing/2014/main" id="{FA3BB1E1-9AD3-59ED-C4B3-FDA2DBC74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19~21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行代码扫描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192.168.175.*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网段来查看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在线主机信息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nmap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yum install 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nmap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“*”符号：匹配整个网段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22~24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查看每个进程显示的具体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 –pl</a:t>
            </a:r>
          </a:p>
        </p:txBody>
      </p:sp>
    </p:spTree>
    <p:extLst>
      <p:ext uri="{BB962C8B-B14F-4D97-AF65-F5344CB8AC3E}">
        <p14:creationId xmlns:p14="http://schemas.microsoft.com/office/powerpoint/2010/main" val="13178624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监控系统运行情况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19">
            <a:extLst>
              <a:ext uri="{FF2B5EF4-FFF2-40B4-BE49-F238E27FC236}">
                <a16:creationId xmlns:a16="http://schemas.microsoft.com/office/drawing/2014/main" id="{FA3BB1E1-9AD3-59ED-C4B3-FDA2DBC74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19~21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行代码扫描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22~24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（部分结果）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EA5098-1F92-172A-1C73-A2B01291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848" y="1318667"/>
            <a:ext cx="5678959" cy="29499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180D821-3303-3F52-2B74-19B0137C2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57" y="4403684"/>
            <a:ext cx="10433586" cy="159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773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185D4D78-2BA4-0756-C973-F567CD16D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5013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运维中对数据库备份，需要考虑的问题：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对哪些数据库文件备份？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备份到哪个目录下？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备份保存多长时间？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备份过程中意外情况处理？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备份数据库不存在、数据库已经备份完成等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以备份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数据库为例，脚本文件：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cmysql.sh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153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185D4D78-2BA4-0756-C973-F567CD16D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4" y="1563595"/>
            <a:ext cx="10137772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首先，当前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Centos7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中是否有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数据，若无，则需安装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rpm -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ivh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mysql-community-release-el7-5.noarch.rpm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其次，新建脚本文件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cmysql.sh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实现数据库备份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 cmysql.sh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执行脚本文件完成数据库备份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bash cmysql.sh</a:t>
            </a:r>
          </a:p>
          <a:p>
            <a:pPr marL="285750" indent="-285750" eaLnBrk="0" hangingPunct="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00230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Picture 13" descr="http://p1.so.qhmsg.com/bdr/_240_/t01c6ff55ade8f074e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779" y="1459384"/>
            <a:ext cx="6312522" cy="472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3222574" y="1919110"/>
            <a:ext cx="5265172" cy="35422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if [ ! -n "$DBLIST" ]; then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DBLIST=`$MYSQLCMD -N -s -e "show databases" | </a:t>
            </a:r>
            <a:r>
              <a:rPr lang="en-US" altLang="zh-CN" sz="2000" b="1" dirty="0" err="1">
                <a:solidFill>
                  <a:srgbClr val="0070C0"/>
                </a:solidFill>
              </a:rPr>
              <a:t>grep</a:t>
            </a:r>
            <a:r>
              <a:rPr lang="en-US" altLang="zh-CN" sz="2000" b="1" dirty="0">
                <a:solidFill>
                  <a:srgbClr val="0070C0"/>
                </a:solidFill>
              </a:rPr>
              <a:t> -</a:t>
            </a:r>
            <a:r>
              <a:rPr lang="en-US" altLang="zh-CN" sz="2000" b="1" dirty="0" err="1">
                <a:solidFill>
                  <a:srgbClr val="0070C0"/>
                </a:solidFill>
              </a:rPr>
              <a:t>viE</a:t>
            </a:r>
            <a:r>
              <a:rPr lang="en-US" altLang="zh-CN" sz="2000" b="1" dirty="0">
                <a:solidFill>
                  <a:srgbClr val="0070C0"/>
                </a:solidFill>
              </a:rPr>
              <a:t> '(</a:t>
            </a:r>
            <a:r>
              <a:rPr lang="en-US" altLang="zh-CN" sz="2000" b="1" dirty="0" err="1">
                <a:solidFill>
                  <a:srgbClr val="0070C0"/>
                </a:solidFill>
              </a:rPr>
              <a:t>information_schema|performance_schema|mysql|test</a:t>
            </a:r>
            <a:r>
              <a:rPr lang="en-US" altLang="zh-CN" sz="2000" b="1" dirty="0">
                <a:solidFill>
                  <a:srgbClr val="0070C0"/>
                </a:solidFill>
              </a:rPr>
              <a:t>)'`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if [ ! -n "$DBLIST" ]; then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  ERROR "Invalid database list"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fi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fi </a:t>
            </a:r>
            <a:endParaRPr lang="zh-CN" altLang="zh-CN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8444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3.7.3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13" descr="http://p1.so.qhmsg.com/bdr/_240_/t01c6ff55ade8f074e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675" y="1522014"/>
            <a:ext cx="6312522" cy="472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3349298" y="1760512"/>
            <a:ext cx="5265172" cy="395094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 if [ ! -n "$BACKUPDIR" ]; then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ERROR "Invalid backup directory"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fi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marL="0" lvl="0" indent="0">
              <a:buNone/>
            </a:pPr>
            <a:endParaRPr lang="en-US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if [[ ! $NUMDAYS =~ ^[0-9]+$ ]]; then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ERROR "Invalid number of days: $NUMDAYS"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 err="1">
                <a:solidFill>
                  <a:srgbClr val="0070C0"/>
                </a:solidFill>
              </a:rPr>
              <a:t>elif</a:t>
            </a:r>
            <a:r>
              <a:rPr lang="en-US" altLang="zh-CN" sz="2000" b="1" dirty="0">
                <a:solidFill>
                  <a:srgbClr val="0070C0"/>
                </a:solidFill>
              </a:rPr>
              <a:t> [ "$NUMDAYS" -</a:t>
            </a:r>
            <a:r>
              <a:rPr lang="en-US" altLang="zh-CN" sz="2000" b="1" dirty="0" err="1">
                <a:solidFill>
                  <a:srgbClr val="0070C0"/>
                </a:solidFill>
              </a:rPr>
              <a:t>eq</a:t>
            </a:r>
            <a:r>
              <a:rPr lang="en-US" altLang="zh-CN" sz="2000" b="1" dirty="0">
                <a:solidFill>
                  <a:srgbClr val="0070C0"/>
                </a:solidFill>
              </a:rPr>
              <a:t> "0" ]; then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0"/>
            <a:r>
              <a:rPr lang="en-US" altLang="zh-CN" sz="2000" b="1" dirty="0">
                <a:solidFill>
                  <a:srgbClr val="0070C0"/>
                </a:solidFill>
              </a:rPr>
              <a:t>  ERROR "Number of days must be greater than zero"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r>
              <a:rPr lang="en-US" altLang="zh-CN" sz="2000" b="1" dirty="0">
                <a:solidFill>
                  <a:srgbClr val="0070C0"/>
                </a:solidFill>
              </a:rPr>
              <a:t>fi</a:t>
            </a:r>
            <a:endParaRPr lang="zh-CN" altLang="zh-CN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93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8"/>
          <p:cNvGrpSpPr/>
          <p:nvPr/>
        </p:nvGrpSpPr>
        <p:grpSpPr>
          <a:xfrm rot="18087484">
            <a:off x="2739771" y="2546690"/>
            <a:ext cx="313548" cy="626933"/>
            <a:chOff x="6660232" y="483518"/>
            <a:chExt cx="432048" cy="864096"/>
          </a:xfrm>
        </p:grpSpPr>
        <p:sp>
          <p:nvSpPr>
            <p:cNvPr id="16" name="等腰三角形 15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18" name="组合 21"/>
          <p:cNvGrpSpPr/>
          <p:nvPr/>
        </p:nvGrpSpPr>
        <p:grpSpPr>
          <a:xfrm rot="12676450">
            <a:off x="5028875" y="5248224"/>
            <a:ext cx="188576" cy="377250"/>
            <a:chOff x="6660232" y="483518"/>
            <a:chExt cx="432048" cy="864096"/>
          </a:xfrm>
        </p:grpSpPr>
        <p:sp>
          <p:nvSpPr>
            <p:cNvPr id="19" name="等腰三角形 1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4" name="组合 27"/>
          <p:cNvGrpSpPr/>
          <p:nvPr/>
        </p:nvGrpSpPr>
        <p:grpSpPr>
          <a:xfrm rot="20465634">
            <a:off x="5427304" y="1591546"/>
            <a:ext cx="99851" cy="199754"/>
            <a:chOff x="6660232" y="483518"/>
            <a:chExt cx="432048" cy="864096"/>
          </a:xfrm>
        </p:grpSpPr>
        <p:sp>
          <p:nvSpPr>
            <p:cNvPr id="25" name="等腰三角形 2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7" name="组合 30"/>
          <p:cNvGrpSpPr/>
          <p:nvPr/>
        </p:nvGrpSpPr>
        <p:grpSpPr>
          <a:xfrm rot="16914716">
            <a:off x="3478357" y="3392275"/>
            <a:ext cx="194279" cy="388456"/>
            <a:chOff x="6660232" y="483518"/>
            <a:chExt cx="432048" cy="864096"/>
          </a:xfrm>
        </p:grpSpPr>
        <p:sp>
          <p:nvSpPr>
            <p:cNvPr id="28" name="等腰三角形 27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0" name="组合 33"/>
          <p:cNvGrpSpPr/>
          <p:nvPr/>
        </p:nvGrpSpPr>
        <p:grpSpPr>
          <a:xfrm rot="13948803">
            <a:off x="906343" y="4633954"/>
            <a:ext cx="287684" cy="575217"/>
            <a:chOff x="6660232" y="483518"/>
            <a:chExt cx="432048" cy="864096"/>
          </a:xfrm>
        </p:grpSpPr>
        <p:sp>
          <p:nvSpPr>
            <p:cNvPr id="31" name="等腰三角形 30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6"/>
          <p:cNvGrpSpPr/>
          <p:nvPr/>
        </p:nvGrpSpPr>
        <p:grpSpPr>
          <a:xfrm rot="13953194">
            <a:off x="2464585" y="4392860"/>
            <a:ext cx="274805" cy="549466"/>
            <a:chOff x="6660232" y="483518"/>
            <a:chExt cx="432048" cy="864096"/>
          </a:xfrm>
        </p:grpSpPr>
        <p:sp>
          <p:nvSpPr>
            <p:cNvPr id="34" name="等腰三角形 33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6" name="组合 39"/>
          <p:cNvGrpSpPr/>
          <p:nvPr/>
        </p:nvGrpSpPr>
        <p:grpSpPr>
          <a:xfrm rot="19166967">
            <a:off x="3295492" y="1914864"/>
            <a:ext cx="139828" cy="279727"/>
            <a:chOff x="6660232" y="483518"/>
            <a:chExt cx="432048" cy="864096"/>
          </a:xfrm>
        </p:grpSpPr>
        <p:sp>
          <p:nvSpPr>
            <p:cNvPr id="37" name="等腰三角形 36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51" name="等腰三角形 50"/>
          <p:cNvSpPr/>
          <p:nvPr/>
        </p:nvSpPr>
        <p:spPr>
          <a:xfrm rot="6229131">
            <a:off x="3474683" y="2475896"/>
            <a:ext cx="111867" cy="173792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2" name="等腰三角形 51"/>
          <p:cNvSpPr/>
          <p:nvPr/>
        </p:nvSpPr>
        <p:spPr>
          <a:xfrm rot="7496882">
            <a:off x="3731670" y="1699838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3" name="等腰三角形 52"/>
          <p:cNvSpPr/>
          <p:nvPr/>
        </p:nvSpPr>
        <p:spPr>
          <a:xfrm rot="7278906">
            <a:off x="2592230" y="1885474"/>
            <a:ext cx="198348" cy="308146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4" name="等腰三角形 53"/>
          <p:cNvSpPr/>
          <p:nvPr/>
        </p:nvSpPr>
        <p:spPr>
          <a:xfrm rot="1068765">
            <a:off x="2948935" y="3869120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5" name="等腰三角形 54"/>
          <p:cNvSpPr/>
          <p:nvPr/>
        </p:nvSpPr>
        <p:spPr>
          <a:xfrm rot="17959049">
            <a:off x="4422158" y="4602010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6" name="等腰三角形 55"/>
          <p:cNvSpPr/>
          <p:nvPr/>
        </p:nvSpPr>
        <p:spPr>
          <a:xfrm rot="4382759">
            <a:off x="3095593" y="5009675"/>
            <a:ext cx="146369" cy="227393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7" name="等腰三角形 56"/>
          <p:cNvSpPr/>
          <p:nvPr/>
        </p:nvSpPr>
        <p:spPr>
          <a:xfrm rot="2697357">
            <a:off x="3950026" y="5441071"/>
            <a:ext cx="121153" cy="188317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8" name="等腰三角形 57"/>
          <p:cNvSpPr/>
          <p:nvPr/>
        </p:nvSpPr>
        <p:spPr>
          <a:xfrm rot="3556479">
            <a:off x="3959493" y="4040850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61" name="直接连接符 68"/>
          <p:cNvCxnSpPr/>
          <p:nvPr/>
        </p:nvCxnSpPr>
        <p:spPr>
          <a:xfrm flipH="1">
            <a:off x="1525190" y="1070746"/>
            <a:ext cx="1223817" cy="1224136"/>
          </a:xfrm>
          <a:prstGeom prst="line">
            <a:avLst/>
          </a:prstGeom>
          <a:ln>
            <a:solidFill>
              <a:srgbClr val="EF5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9"/>
          <p:cNvCxnSpPr/>
          <p:nvPr/>
        </p:nvCxnSpPr>
        <p:spPr>
          <a:xfrm flipH="1">
            <a:off x="7852899" y="1023764"/>
            <a:ext cx="1474501" cy="1463953"/>
          </a:xfrm>
          <a:prstGeom prst="line">
            <a:avLst/>
          </a:prstGeom>
          <a:ln>
            <a:solidFill>
              <a:srgbClr val="B86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72"/>
          <p:cNvCxnSpPr/>
          <p:nvPr/>
        </p:nvCxnSpPr>
        <p:spPr>
          <a:xfrm flipH="1">
            <a:off x="1722905" y="4773360"/>
            <a:ext cx="1474501" cy="1463953"/>
          </a:xfrm>
          <a:prstGeom prst="line">
            <a:avLst/>
          </a:prstGeom>
          <a:ln>
            <a:solidFill>
              <a:srgbClr val="45D4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3.10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sp>
        <p:nvSpPr>
          <p:cNvPr id="67" name="矩形 66"/>
          <p:cNvSpPr/>
          <p:nvPr/>
        </p:nvSpPr>
        <p:spPr>
          <a:xfrm>
            <a:off x="5200872" y="1532719"/>
            <a:ext cx="6288009" cy="424731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主要学习了自动化运维的命令工具。首先学习了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的使用，包括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的概念、变量、符号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；然后学习了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，正则表达式中的符号与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符号的区别，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与正则表达式结合使用；接着学习了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文本处理命令工具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，包括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grep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sed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awk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；最后学习了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脚本编写的语法格式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，并用三个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脚本安全来增加读者对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脚本的理解。通过本章的学习，读者可以对自动化运维有一个基础的了解，为后续章节使用自动化软件进行批量运维作下铺垫。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8" name="组合 5"/>
          <p:cNvGrpSpPr/>
          <p:nvPr/>
        </p:nvGrpSpPr>
        <p:grpSpPr>
          <a:xfrm rot="1223044">
            <a:off x="4619962" y="1671811"/>
            <a:ext cx="194228" cy="388557"/>
            <a:chOff x="6660232" y="483518"/>
            <a:chExt cx="432048" cy="864096"/>
          </a:xfrm>
        </p:grpSpPr>
        <p:sp>
          <p:nvSpPr>
            <p:cNvPr id="69" name="等腰三角形 6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0" name="等腰三角形 6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1" name="组合 9"/>
          <p:cNvGrpSpPr/>
          <p:nvPr/>
        </p:nvGrpSpPr>
        <p:grpSpPr>
          <a:xfrm rot="6407950">
            <a:off x="8821748" y="5205250"/>
            <a:ext cx="349232" cy="698282"/>
            <a:chOff x="6660232" y="483518"/>
            <a:chExt cx="432048" cy="864096"/>
          </a:xfrm>
        </p:grpSpPr>
        <p:sp>
          <p:nvSpPr>
            <p:cNvPr id="72" name="等腰三角形 71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3" name="等腰三角形 72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4" name="组合 12"/>
          <p:cNvGrpSpPr/>
          <p:nvPr/>
        </p:nvGrpSpPr>
        <p:grpSpPr>
          <a:xfrm rot="6226596">
            <a:off x="10509660" y="5333370"/>
            <a:ext cx="377870" cy="755543"/>
            <a:chOff x="6660232" y="483518"/>
            <a:chExt cx="432048" cy="864096"/>
          </a:xfrm>
        </p:grpSpPr>
        <p:sp>
          <p:nvSpPr>
            <p:cNvPr id="75" name="等腰三角形 7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6" name="等腰三角形 7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77" name="等腰三角形 76"/>
          <p:cNvSpPr/>
          <p:nvPr/>
        </p:nvSpPr>
        <p:spPr>
          <a:xfrm rot="12209274">
            <a:off x="3340616" y="1481684"/>
            <a:ext cx="224553" cy="336917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等腰三角形 77"/>
          <p:cNvSpPr/>
          <p:nvPr/>
        </p:nvSpPr>
        <p:spPr>
          <a:xfrm rot="1409274">
            <a:off x="4462529" y="2918608"/>
            <a:ext cx="224553" cy="112306"/>
          </a:xfrm>
          <a:prstGeom prst="triangle">
            <a:avLst>
              <a:gd name="adj" fmla="val 63228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pSp>
        <p:nvGrpSpPr>
          <p:cNvPr id="79" name="组合 24"/>
          <p:cNvGrpSpPr/>
          <p:nvPr/>
        </p:nvGrpSpPr>
        <p:grpSpPr>
          <a:xfrm rot="7346403">
            <a:off x="11657117" y="3693748"/>
            <a:ext cx="154658" cy="309235"/>
            <a:chOff x="6660232" y="483518"/>
            <a:chExt cx="432048" cy="864096"/>
          </a:xfrm>
        </p:grpSpPr>
        <p:sp>
          <p:nvSpPr>
            <p:cNvPr id="80" name="等腰三角形 79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1" name="等腰三角形 80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82" name="等腰三角形 81"/>
          <p:cNvSpPr/>
          <p:nvPr/>
        </p:nvSpPr>
        <p:spPr>
          <a:xfrm rot="17675433">
            <a:off x="1343179" y="3421504"/>
            <a:ext cx="155723" cy="241925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3" name="等腰三角形 82"/>
          <p:cNvSpPr/>
          <p:nvPr/>
        </p:nvSpPr>
        <p:spPr>
          <a:xfrm rot="18842669">
            <a:off x="6062702" y="3897352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4" name="等腰三角形 83"/>
          <p:cNvSpPr/>
          <p:nvPr/>
        </p:nvSpPr>
        <p:spPr>
          <a:xfrm rot="14558547">
            <a:off x="5505625" y="2129781"/>
            <a:ext cx="155723" cy="241925"/>
          </a:xfrm>
          <a:prstGeom prst="triangle">
            <a:avLst/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5" name="等腰三角形 84"/>
          <p:cNvSpPr/>
          <p:nvPr/>
        </p:nvSpPr>
        <p:spPr>
          <a:xfrm rot="12105279">
            <a:off x="4187620" y="1175288"/>
            <a:ext cx="111838" cy="173837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6" name="等腰三角形 85"/>
          <p:cNvSpPr/>
          <p:nvPr/>
        </p:nvSpPr>
        <p:spPr>
          <a:xfrm rot="14668738">
            <a:off x="4929800" y="2224024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7" name="等腰三角形 86"/>
          <p:cNvSpPr/>
          <p:nvPr/>
        </p:nvSpPr>
        <p:spPr>
          <a:xfrm rot="17171880">
            <a:off x="9704124" y="5213536"/>
            <a:ext cx="107837" cy="167531"/>
          </a:xfrm>
          <a:prstGeom prst="triangle">
            <a:avLst>
              <a:gd name="adj" fmla="val 77077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8" name="等腰三角形 87"/>
          <p:cNvSpPr/>
          <p:nvPr/>
        </p:nvSpPr>
        <p:spPr>
          <a:xfrm rot="11654353">
            <a:off x="5276649" y="1246690"/>
            <a:ext cx="107809" cy="167575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9" name="等腰三角形 88"/>
          <p:cNvSpPr/>
          <p:nvPr/>
        </p:nvSpPr>
        <p:spPr>
          <a:xfrm rot="19005263">
            <a:off x="5227066" y="3819557"/>
            <a:ext cx="155682" cy="241988"/>
          </a:xfrm>
          <a:prstGeom prst="triangle">
            <a:avLst>
              <a:gd name="adj" fmla="val 100000"/>
            </a:avLst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0" name="等腰三角形 89"/>
          <p:cNvSpPr/>
          <p:nvPr/>
        </p:nvSpPr>
        <p:spPr>
          <a:xfrm rot="20250676">
            <a:off x="10500484" y="3433487"/>
            <a:ext cx="107809" cy="167575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1" name="等腰三角形 90"/>
          <p:cNvSpPr/>
          <p:nvPr/>
        </p:nvSpPr>
        <p:spPr>
          <a:xfrm rot="17959049">
            <a:off x="10208234" y="3008665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2" name="等腰三角形 91"/>
          <p:cNvSpPr/>
          <p:nvPr/>
        </p:nvSpPr>
        <p:spPr>
          <a:xfrm rot="1068765">
            <a:off x="936441" y="4248182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3" name="等腰三角形 92"/>
          <p:cNvSpPr/>
          <p:nvPr/>
        </p:nvSpPr>
        <p:spPr>
          <a:xfrm rot="17007495">
            <a:off x="7995445" y="5211691"/>
            <a:ext cx="155723" cy="241925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9" y="1450893"/>
            <a:ext cx="41433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d287a59f44a3aed42a385a4068be4cdf8f71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3本章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3527</TotalTime>
  <Words>6970</Words>
  <Application>Microsoft Office PowerPoint</Application>
  <PresentationFormat>宽屏</PresentationFormat>
  <Paragraphs>996</Paragraphs>
  <Slides>175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175</vt:i4>
      </vt:variant>
    </vt:vector>
  </HeadingPairs>
  <TitlesOfParts>
    <vt:vector size="187" baseType="lpstr">
      <vt:lpstr>等线</vt:lpstr>
      <vt:lpstr>等线 Light</vt:lpstr>
      <vt:lpstr>方正细倩简体</vt:lpstr>
      <vt:lpstr>楷体</vt:lpstr>
      <vt:lpstr>微软雅黑</vt:lpstr>
      <vt:lpstr>Arial</vt:lpstr>
      <vt:lpstr>Broadway</vt:lpstr>
      <vt:lpstr>Franklin Gothic Medium</vt:lpstr>
      <vt:lpstr>Lucida Sans Unicode</vt:lpstr>
      <vt:lpstr>Wingdings</vt:lpstr>
      <vt:lpstr>Office 主题​​</vt:lpstr>
      <vt:lpstr>Visio</vt:lpstr>
      <vt:lpstr>第3章 Shell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lucius</dc:creator>
  <cp:lastModifiedBy>Fang_cn Bruce</cp:lastModifiedBy>
  <cp:revision>195</cp:revision>
  <dcterms:created xsi:type="dcterms:W3CDTF">2016-08-25T05:35:30Z</dcterms:created>
  <dcterms:modified xsi:type="dcterms:W3CDTF">2023-03-23T14:58:23Z</dcterms:modified>
</cp:coreProperties>
</file>