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4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5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6.xml" ContentType="application/vnd.openxmlformats-officedocument.presentationml.notesSlid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7.xml" ContentType="application/vnd.openxmlformats-officedocument.presentationml.notesSlide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notesSlides/notesSlide8.xml" ContentType="application/vnd.openxmlformats-officedocument.presentationml.notesSlide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notesSlides/notesSlide9.xml" ContentType="application/vnd.openxmlformats-officedocument.presentationml.notesSlide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6"/>
  </p:notesMasterIdLst>
  <p:sldIdLst>
    <p:sldId id="256" r:id="rId2"/>
    <p:sldId id="260" r:id="rId3"/>
    <p:sldId id="512" r:id="rId4"/>
    <p:sldId id="513" r:id="rId5"/>
    <p:sldId id="514" r:id="rId6"/>
    <p:sldId id="262" r:id="rId7"/>
    <p:sldId id="308" r:id="rId8"/>
    <p:sldId id="402" r:id="rId9"/>
    <p:sldId id="379" r:id="rId10"/>
    <p:sldId id="515" r:id="rId11"/>
    <p:sldId id="310" r:id="rId12"/>
    <p:sldId id="517" r:id="rId13"/>
    <p:sldId id="516" r:id="rId14"/>
    <p:sldId id="518" r:id="rId15"/>
    <p:sldId id="51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3" r:id="rId28"/>
    <p:sldId id="525" r:id="rId29"/>
    <p:sldId id="521" r:id="rId30"/>
    <p:sldId id="520" r:id="rId31"/>
    <p:sldId id="523" r:id="rId32"/>
    <p:sldId id="391" r:id="rId33"/>
    <p:sldId id="392" r:id="rId34"/>
    <p:sldId id="526" r:id="rId35"/>
    <p:sldId id="527" r:id="rId36"/>
    <p:sldId id="396" r:id="rId37"/>
    <p:sldId id="528" r:id="rId38"/>
    <p:sldId id="397" r:id="rId39"/>
    <p:sldId id="398" r:id="rId40"/>
    <p:sldId id="399" r:id="rId41"/>
    <p:sldId id="400" r:id="rId42"/>
    <p:sldId id="401" r:id="rId43"/>
    <p:sldId id="403" r:id="rId44"/>
    <p:sldId id="404" r:id="rId45"/>
    <p:sldId id="405" r:id="rId46"/>
    <p:sldId id="406" r:id="rId47"/>
    <p:sldId id="314" r:id="rId48"/>
    <p:sldId id="312" r:id="rId49"/>
    <p:sldId id="529" r:id="rId50"/>
    <p:sldId id="271" r:id="rId51"/>
    <p:sldId id="311" r:id="rId52"/>
    <p:sldId id="332" r:id="rId53"/>
    <p:sldId id="530" r:id="rId54"/>
    <p:sldId id="313" r:id="rId55"/>
    <p:sldId id="315" r:id="rId56"/>
    <p:sldId id="316" r:id="rId57"/>
    <p:sldId id="317" r:id="rId58"/>
    <p:sldId id="318" r:id="rId59"/>
    <p:sldId id="320" r:id="rId60"/>
    <p:sldId id="321" r:id="rId61"/>
    <p:sldId id="319" r:id="rId62"/>
    <p:sldId id="322" r:id="rId63"/>
    <p:sldId id="323" r:id="rId64"/>
    <p:sldId id="324" r:id="rId65"/>
    <p:sldId id="326" r:id="rId66"/>
    <p:sldId id="407" r:id="rId67"/>
    <p:sldId id="325" r:id="rId68"/>
    <p:sldId id="327" r:id="rId69"/>
    <p:sldId id="408" r:id="rId70"/>
    <p:sldId id="409" r:id="rId71"/>
    <p:sldId id="411" r:id="rId72"/>
    <p:sldId id="412" r:id="rId73"/>
    <p:sldId id="413" r:id="rId74"/>
    <p:sldId id="414" r:id="rId75"/>
    <p:sldId id="328" r:id="rId76"/>
    <p:sldId id="531" r:id="rId77"/>
    <p:sldId id="532" r:id="rId78"/>
    <p:sldId id="329" r:id="rId79"/>
    <p:sldId id="533" r:id="rId80"/>
    <p:sldId id="330" r:id="rId81"/>
    <p:sldId id="331" r:id="rId82"/>
    <p:sldId id="536" r:id="rId83"/>
    <p:sldId id="535" r:id="rId84"/>
    <p:sldId id="537" r:id="rId85"/>
    <p:sldId id="333" r:id="rId86"/>
    <p:sldId id="334" r:id="rId87"/>
    <p:sldId id="345" r:id="rId88"/>
    <p:sldId id="349" r:id="rId89"/>
    <p:sldId id="415" r:id="rId90"/>
    <p:sldId id="538" r:id="rId91"/>
    <p:sldId id="347" r:id="rId92"/>
    <p:sldId id="416" r:id="rId93"/>
    <p:sldId id="539" r:id="rId94"/>
    <p:sldId id="417" r:id="rId95"/>
    <p:sldId id="346" r:id="rId96"/>
    <p:sldId id="348" r:id="rId97"/>
    <p:sldId id="418" r:id="rId98"/>
    <p:sldId id="552" r:id="rId99"/>
    <p:sldId id="419" r:id="rId100"/>
    <p:sldId id="340" r:id="rId101"/>
    <p:sldId id="420" r:id="rId102"/>
    <p:sldId id="350" r:id="rId103"/>
    <p:sldId id="352" r:id="rId104"/>
    <p:sldId id="421" r:id="rId105"/>
    <p:sldId id="422" r:id="rId106"/>
    <p:sldId id="423" r:id="rId107"/>
    <p:sldId id="424" r:id="rId108"/>
    <p:sldId id="541" r:id="rId109"/>
    <p:sldId id="425" r:id="rId110"/>
    <p:sldId id="428" r:id="rId111"/>
    <p:sldId id="429" r:id="rId112"/>
    <p:sldId id="540" r:id="rId113"/>
    <p:sldId id="430" r:id="rId114"/>
    <p:sldId id="542" r:id="rId115"/>
    <p:sldId id="426" r:id="rId116"/>
    <p:sldId id="431" r:id="rId117"/>
    <p:sldId id="543" r:id="rId118"/>
    <p:sldId id="432" r:id="rId119"/>
    <p:sldId id="433" r:id="rId120"/>
    <p:sldId id="544" r:id="rId121"/>
    <p:sldId id="434" r:id="rId122"/>
    <p:sldId id="545" r:id="rId123"/>
    <p:sldId id="435" r:id="rId124"/>
    <p:sldId id="436" r:id="rId125"/>
    <p:sldId id="437" r:id="rId126"/>
    <p:sldId id="546" r:id="rId127"/>
    <p:sldId id="438" r:id="rId128"/>
    <p:sldId id="440" r:id="rId129"/>
    <p:sldId id="441" r:id="rId130"/>
    <p:sldId id="442" r:id="rId131"/>
    <p:sldId id="443" r:id="rId132"/>
    <p:sldId id="444" r:id="rId133"/>
    <p:sldId id="445" r:id="rId134"/>
    <p:sldId id="547" r:id="rId135"/>
    <p:sldId id="446" r:id="rId136"/>
    <p:sldId id="548" r:id="rId137"/>
    <p:sldId id="550" r:id="rId138"/>
    <p:sldId id="551" r:id="rId139"/>
    <p:sldId id="447" r:id="rId140"/>
    <p:sldId id="549" r:id="rId141"/>
    <p:sldId id="553" r:id="rId142"/>
    <p:sldId id="554" r:id="rId143"/>
    <p:sldId id="555" r:id="rId144"/>
    <p:sldId id="556" r:id="rId145"/>
    <p:sldId id="448" r:id="rId146"/>
    <p:sldId id="450" r:id="rId147"/>
    <p:sldId id="558" r:id="rId148"/>
    <p:sldId id="451" r:id="rId149"/>
    <p:sldId id="452" r:id="rId150"/>
    <p:sldId id="453" r:id="rId151"/>
    <p:sldId id="559" r:id="rId152"/>
    <p:sldId id="454" r:id="rId153"/>
    <p:sldId id="560" r:id="rId154"/>
    <p:sldId id="456" r:id="rId155"/>
    <p:sldId id="561" r:id="rId156"/>
    <p:sldId id="458" r:id="rId157"/>
    <p:sldId id="459" r:id="rId158"/>
    <p:sldId id="461" r:id="rId159"/>
    <p:sldId id="460" r:id="rId160"/>
    <p:sldId id="462" r:id="rId161"/>
    <p:sldId id="463" r:id="rId162"/>
    <p:sldId id="464" r:id="rId163"/>
    <p:sldId id="465" r:id="rId164"/>
    <p:sldId id="562" r:id="rId165"/>
    <p:sldId id="457" r:id="rId166"/>
    <p:sldId id="466" r:id="rId167"/>
    <p:sldId id="467" r:id="rId168"/>
    <p:sldId id="470" r:id="rId169"/>
    <p:sldId id="471" r:id="rId170"/>
    <p:sldId id="487" r:id="rId171"/>
    <p:sldId id="472" r:id="rId172"/>
    <p:sldId id="474" r:id="rId173"/>
    <p:sldId id="475" r:id="rId174"/>
    <p:sldId id="476" r:id="rId175"/>
    <p:sldId id="477" r:id="rId176"/>
    <p:sldId id="478" r:id="rId177"/>
    <p:sldId id="479" r:id="rId178"/>
    <p:sldId id="480" r:id="rId179"/>
    <p:sldId id="481" r:id="rId180"/>
    <p:sldId id="563" r:id="rId181"/>
    <p:sldId id="482" r:id="rId182"/>
    <p:sldId id="483" r:id="rId183"/>
    <p:sldId id="564" r:id="rId184"/>
    <p:sldId id="485" r:id="rId185"/>
    <p:sldId id="484" r:id="rId186"/>
    <p:sldId id="486" r:id="rId187"/>
    <p:sldId id="489" r:id="rId188"/>
    <p:sldId id="490" r:id="rId189"/>
    <p:sldId id="565" r:id="rId190"/>
    <p:sldId id="488" r:id="rId191"/>
    <p:sldId id="493" r:id="rId192"/>
    <p:sldId id="494" r:id="rId193"/>
    <p:sldId id="495" r:id="rId194"/>
    <p:sldId id="566" r:id="rId195"/>
    <p:sldId id="497" r:id="rId196"/>
    <p:sldId id="496" r:id="rId197"/>
    <p:sldId id="491" r:id="rId198"/>
    <p:sldId id="357" r:id="rId199"/>
    <p:sldId id="500" r:id="rId200"/>
    <p:sldId id="502" r:id="rId201"/>
    <p:sldId id="503" r:id="rId202"/>
    <p:sldId id="504" r:id="rId203"/>
    <p:sldId id="505" r:id="rId204"/>
    <p:sldId id="507" r:id="rId205"/>
    <p:sldId id="508" r:id="rId206"/>
    <p:sldId id="509" r:id="rId207"/>
    <p:sldId id="510" r:id="rId208"/>
    <p:sldId id="511" r:id="rId209"/>
    <p:sldId id="498" r:id="rId210"/>
    <p:sldId id="499" r:id="rId211"/>
    <p:sldId id="359" r:id="rId212"/>
    <p:sldId id="360" r:id="rId213"/>
    <p:sldId id="361" r:id="rId214"/>
    <p:sldId id="363" r:id="rId215"/>
    <p:sldId id="362" r:id="rId216"/>
    <p:sldId id="492" r:id="rId217"/>
    <p:sldId id="364" r:id="rId218"/>
    <p:sldId id="365" r:id="rId219"/>
    <p:sldId id="366" r:id="rId220"/>
    <p:sldId id="367" r:id="rId221"/>
    <p:sldId id="368" r:id="rId222"/>
    <p:sldId id="358" r:id="rId223"/>
    <p:sldId id="370" r:id="rId224"/>
    <p:sldId id="378" r:id="rId225"/>
  </p:sldIdLst>
  <p:sldSz cx="12192000" cy="6858000"/>
  <p:notesSz cx="6858000" cy="9144000"/>
  <p:custDataLst>
    <p:tags r:id="rId2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4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3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12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tags" Target="tags/tag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presProps" Target="pres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viewProps" Target="viewProps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theme" Target="theme/theme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231" Type="http://schemas.openxmlformats.org/officeDocument/2006/relationships/tableStyles" Target="tableStyles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A871-6D25-4B1E-B8EA-0045FFA0F3C7}" type="datetimeFigureOut">
              <a:rPr lang="zh-CN" altLang="en-US" smtClean="0"/>
              <a:t>2023/11/16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6634B-C24B-4908-BF41-7C856108756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F6634B-C24B-4908-BF41-7C856108756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F6634B-C24B-4908-BF41-7C856108756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F6634B-C24B-4908-BF41-7C856108756C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F6634B-C24B-4908-BF41-7C856108756C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F6634B-C24B-4908-BF41-7C856108756C}" type="slidenum">
              <a:rPr lang="zh-CN" altLang="en-US" smtClean="0"/>
              <a:t>99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F6634B-C24B-4908-BF41-7C856108756C}" type="slidenum">
              <a:rPr lang="zh-CN" altLang="en-US" smtClean="0"/>
              <a:t>165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F6634B-C24B-4908-BF41-7C856108756C}" type="slidenum">
              <a:rPr lang="zh-CN" altLang="en-US" smtClean="0"/>
              <a:t>190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F6634B-C24B-4908-BF41-7C856108756C}" type="slidenum">
              <a:rPr lang="zh-CN" altLang="en-US" smtClean="0"/>
              <a:t>197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F6634B-C24B-4908-BF41-7C856108756C}" type="slidenum">
              <a:rPr lang="zh-CN" altLang="en-US" smtClean="0"/>
              <a:t>209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9" name="组合 8"/>
            <p:cNvGrpSpPr/>
            <p:nvPr userDrawn="1"/>
          </p:nvGrpSpPr>
          <p:grpSpPr>
            <a:xfrm>
              <a:off x="0" y="-1"/>
              <a:ext cx="12192000" cy="6858001"/>
              <a:chOff x="0" y="-1"/>
              <a:chExt cx="12192000" cy="6858001"/>
            </a:xfrm>
          </p:grpSpPr>
          <p:pic>
            <p:nvPicPr>
              <p:cNvPr id="11" name="图片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9495"/>
              <a:stretch>
                <a:fillRect/>
              </a:stretch>
            </p:blipFill>
            <p:spPr>
              <a:xfrm>
                <a:off x="0" y="-1"/>
                <a:ext cx="12192000" cy="720437"/>
              </a:xfrm>
              <a:prstGeom prst="rect">
                <a:avLst/>
              </a:prstGeom>
            </p:spPr>
          </p:pic>
          <p:pic>
            <p:nvPicPr>
              <p:cNvPr id="12" name="图片 11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6173"/>
              <a:stretch>
                <a:fillRect/>
              </a:stretch>
            </p:blipFill>
            <p:spPr>
              <a:xfrm>
                <a:off x="0" y="1794933"/>
                <a:ext cx="12192000" cy="5063067"/>
              </a:xfrm>
              <a:prstGeom prst="rect">
                <a:avLst/>
              </a:prstGeom>
            </p:spPr>
          </p:pic>
          <p:pic>
            <p:nvPicPr>
              <p:cNvPr id="13" name="图片 12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691" b="59260"/>
              <a:stretch>
                <a:fillRect/>
              </a:stretch>
            </p:blipFill>
            <p:spPr>
              <a:xfrm>
                <a:off x="0" y="719378"/>
                <a:ext cx="12192000" cy="1100667"/>
              </a:xfrm>
              <a:prstGeom prst="rect">
                <a:avLst/>
              </a:prstGeom>
            </p:spPr>
          </p:pic>
        </p:grpSp>
        <p:pic>
          <p:nvPicPr>
            <p:cNvPr id="10" name="图片 9"/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94" r="-1"/>
            <a:stretch>
              <a:fillRect/>
            </a:stretch>
          </p:blipFill>
          <p:spPr>
            <a:xfrm>
              <a:off x="4552950" y="812512"/>
              <a:ext cx="3095622" cy="12382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2023/11/16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2023/11/16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0"/>
            <a:ext cx="12192000" cy="6914408"/>
            <a:chOff x="0" y="0"/>
            <a:chExt cx="12192000" cy="6914408"/>
          </a:xfrm>
        </p:grpSpPr>
        <p:pic>
          <p:nvPicPr>
            <p:cNvPr id="6" name="图片 5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602"/>
            <a:stretch>
              <a:fillRect/>
            </a:stretch>
          </p:blipFill>
          <p:spPr>
            <a:xfrm>
              <a:off x="0" y="4743450"/>
              <a:ext cx="12192000" cy="2170958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 userDrawn="1"/>
          </p:nvGrpSpPr>
          <p:grpSpPr>
            <a:xfrm>
              <a:off x="0" y="0"/>
              <a:ext cx="12192000" cy="4571999"/>
              <a:chOff x="0" y="0"/>
              <a:chExt cx="12192000" cy="4571999"/>
            </a:xfrm>
          </p:grpSpPr>
          <p:pic>
            <p:nvPicPr>
              <p:cNvPr id="8" name="图片 7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486" b="80872"/>
              <a:stretch>
                <a:fillRect/>
              </a:stretch>
            </p:blipFill>
            <p:spPr>
              <a:xfrm>
                <a:off x="0" y="0"/>
                <a:ext cx="9084733" cy="1322589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691" b="59260"/>
              <a:stretch>
                <a:fillRect/>
              </a:stretch>
            </p:blipFill>
            <p:spPr>
              <a:xfrm>
                <a:off x="0" y="2446866"/>
                <a:ext cx="12192000" cy="2125133"/>
              </a:xfrm>
              <a:prstGeom prst="rect">
                <a:avLst/>
              </a:prstGeom>
            </p:spPr>
          </p:pic>
          <p:pic>
            <p:nvPicPr>
              <p:cNvPr id="10" name="图片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388" t="36654" r="32430" b="47892"/>
              <a:stretch>
                <a:fillRect/>
              </a:stretch>
            </p:blipFill>
            <p:spPr>
              <a:xfrm>
                <a:off x="3894670" y="2890463"/>
                <a:ext cx="4411134" cy="1068598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89" b="69265"/>
              <a:stretch>
                <a:fillRect/>
              </a:stretch>
            </p:blipFill>
            <p:spPr>
              <a:xfrm>
                <a:off x="9008533" y="0"/>
                <a:ext cx="3183467" cy="212513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79B1-94F2-44A5-8271-BE7A17D6686D}" type="datetimeFigureOut">
              <a:rPr lang="zh-CN" altLang="en-US" smtClean="0"/>
              <a:t>2023/11/16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0"/>
            <a:ext cx="12192000" cy="6851904"/>
            <a:chOff x="0" y="0"/>
            <a:chExt cx="12192000" cy="685190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190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8610600" y="395272"/>
              <a:ext cx="2985655" cy="61408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514333" y="6561226"/>
              <a:ext cx="1709322" cy="22750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8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5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6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7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0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7.xml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9.xml"/><Relationship Id="rId4" Type="http://schemas.openxmlformats.org/officeDocument/2006/relationships/image" Target="../media/image4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1.xml"/><Relationship Id="rId4" Type="http://schemas.openxmlformats.org/officeDocument/2006/relationships/image" Target="../media/image4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2.xml"/><Relationship Id="rId4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3.xml"/><Relationship Id="rId4" Type="http://schemas.openxmlformats.org/officeDocument/2006/relationships/image" Target="../media/image4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4.xml"/><Relationship Id="rId4" Type="http://schemas.openxmlformats.org/officeDocument/2006/relationships/image" Target="../media/image4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6.xml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8.xml"/><Relationship Id="rId5" Type="http://schemas.openxmlformats.org/officeDocument/2006/relationships/image" Target="../media/image46.png"/><Relationship Id="rId4" Type="http://schemas.openxmlformats.org/officeDocument/2006/relationships/image" Target="../media/image2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0.xml"/><Relationship Id="rId4" Type="http://schemas.openxmlformats.org/officeDocument/2006/relationships/image" Target="../media/image4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1.xml"/><Relationship Id="rId4" Type="http://schemas.openxmlformats.org/officeDocument/2006/relationships/image" Target="../media/image4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2.xml"/><Relationship Id="rId4" Type="http://schemas.openxmlformats.org/officeDocument/2006/relationships/image" Target="../media/image4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4.xml"/><Relationship Id="rId4" Type="http://schemas.openxmlformats.org/officeDocument/2006/relationships/image" Target="../media/image5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7.xml"/><Relationship Id="rId4" Type="http://schemas.openxmlformats.org/officeDocument/2006/relationships/image" Target="../media/image5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8.xml"/><Relationship Id="rId4" Type="http://schemas.openxmlformats.org/officeDocument/2006/relationships/image" Target="../media/image5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9.xml"/><Relationship Id="rId4" Type="http://schemas.openxmlformats.org/officeDocument/2006/relationships/image" Target="../media/image5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1.xml"/><Relationship Id="rId4" Type="http://schemas.openxmlformats.org/officeDocument/2006/relationships/image" Target="../media/image5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2.xml"/><Relationship Id="rId4" Type="http://schemas.openxmlformats.org/officeDocument/2006/relationships/image" Target="../media/image5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3.xml"/><Relationship Id="rId4" Type="http://schemas.openxmlformats.org/officeDocument/2006/relationships/image" Target="../media/image5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4.xml"/><Relationship Id="rId4" Type="http://schemas.openxmlformats.org/officeDocument/2006/relationships/image" Target="../media/image5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6.xml"/><Relationship Id="rId4" Type="http://schemas.openxmlformats.org/officeDocument/2006/relationships/image" Target="../media/image4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7.xml"/><Relationship Id="rId4" Type="http://schemas.openxmlformats.org/officeDocument/2006/relationships/image" Target="../media/image4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0.xml"/><Relationship Id="rId4" Type="http://schemas.openxmlformats.org/officeDocument/2006/relationships/image" Target="../media/image2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2.xml"/><Relationship Id="rId4" Type="http://schemas.openxmlformats.org/officeDocument/2006/relationships/image" Target="../media/image6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4.xml"/><Relationship Id="rId4" Type="http://schemas.openxmlformats.org/officeDocument/2006/relationships/image" Target="../media/image6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5.xml"/><Relationship Id="rId4" Type="http://schemas.openxmlformats.org/officeDocument/2006/relationships/image" Target="../media/image2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6.xml"/><Relationship Id="rId4" Type="http://schemas.openxmlformats.org/officeDocument/2006/relationships/image" Target="../media/image2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0.xml"/><Relationship Id="rId4" Type="http://schemas.openxmlformats.org/officeDocument/2006/relationships/image" Target="../media/image67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4.xml"/><Relationship Id="rId4" Type="http://schemas.openxmlformats.org/officeDocument/2006/relationships/image" Target="../media/image69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8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3.xml"/><Relationship Id="rId4" Type="http://schemas.openxmlformats.org/officeDocument/2006/relationships/image" Target="../media/image7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4.xml"/><Relationship Id="rId4" Type="http://schemas.openxmlformats.org/officeDocument/2006/relationships/image" Target="../media/image73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7" Type="http://schemas.openxmlformats.org/officeDocument/2006/relationships/image" Target="../media/image75.png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image" Target="../media/image74.png"/><Relationship Id="rId5" Type="http://schemas.openxmlformats.org/officeDocument/2006/relationships/image" Target="../media/image21.png"/><Relationship Id="rId4" Type="http://schemas.openxmlformats.org/officeDocument/2006/relationships/slideLayout" Target="../slideLayouts/slideLayout10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0.xml"/><Relationship Id="rId4" Type="http://schemas.openxmlformats.org/officeDocument/2006/relationships/image" Target="../media/image7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1.xml"/><Relationship Id="rId4" Type="http://schemas.openxmlformats.org/officeDocument/2006/relationships/image" Target="../media/image2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2.xml"/><Relationship Id="rId4" Type="http://schemas.openxmlformats.org/officeDocument/2006/relationships/image" Target="../media/image2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3.xml"/><Relationship Id="rId4" Type="http://schemas.openxmlformats.org/officeDocument/2006/relationships/image" Target="../media/image2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4.xml"/><Relationship Id="rId4" Type="http://schemas.openxmlformats.org/officeDocument/2006/relationships/image" Target="../media/image2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5.xml"/><Relationship Id="rId4" Type="http://schemas.openxmlformats.org/officeDocument/2006/relationships/image" Target="../media/image8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6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8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9.xml"/><Relationship Id="rId4" Type="http://schemas.openxmlformats.org/officeDocument/2006/relationships/image" Target="../media/image82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0.xml"/><Relationship Id="rId4" Type="http://schemas.openxmlformats.org/officeDocument/2006/relationships/image" Target="../media/image83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2.xml"/><Relationship Id="rId4" Type="http://schemas.openxmlformats.org/officeDocument/2006/relationships/image" Target="../media/image84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3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4.xml"/><Relationship Id="rId4" Type="http://schemas.openxmlformats.org/officeDocument/2006/relationships/image" Target="../media/image85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5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6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8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9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0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3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4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5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6.xml"/><Relationship Id="rId4" Type="http://schemas.openxmlformats.org/officeDocument/2006/relationships/image" Target="../media/image89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8.xml"/><Relationship Id="rId4" Type="http://schemas.openxmlformats.org/officeDocument/2006/relationships/image" Target="../media/image9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9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0.xml"/><Relationship Id="rId4" Type="http://schemas.openxmlformats.org/officeDocument/2006/relationships/image" Target="../media/image9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1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2.xml"/><Relationship Id="rId4" Type="http://schemas.openxmlformats.org/officeDocument/2006/relationships/image" Target="../media/image92.pn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4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5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6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7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8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9.xml"/><Relationship Id="rId4" Type="http://schemas.openxmlformats.org/officeDocument/2006/relationships/image" Target="../media/image95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0.xml"/><Relationship Id="rId4" Type="http://schemas.openxmlformats.org/officeDocument/2006/relationships/image" Target="../media/image96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1.xml"/><Relationship Id="rId4" Type="http://schemas.openxmlformats.org/officeDocument/2006/relationships/image" Target="../media/image97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2.xml"/><Relationship Id="rId4" Type="http://schemas.openxmlformats.org/officeDocument/2006/relationships/image" Target="../media/image98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3.xml"/><Relationship Id="rId4" Type="http://schemas.openxmlformats.org/officeDocument/2006/relationships/image" Target="../media/image99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4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5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6.xml"/><Relationship Id="rId4" Type="http://schemas.openxmlformats.org/officeDocument/2006/relationships/image" Target="../media/image102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7.xml"/><Relationship Id="rId4" Type="http://schemas.openxmlformats.org/officeDocument/2006/relationships/image" Target="../media/image103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8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9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0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2.xml"/><Relationship Id="rId4" Type="http://schemas.openxmlformats.org/officeDocument/2006/relationships/image" Target="../media/image108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3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4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5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6.xml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68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69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0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1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3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4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5.xml"/><Relationship Id="rId4" Type="http://schemas.openxmlformats.org/officeDocument/2006/relationships/image" Target="../media/image115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6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7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8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9.xml"/><Relationship Id="rId4" Type="http://schemas.openxmlformats.org/officeDocument/2006/relationships/image" Target="../media/image2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0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1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2.xml"/><Relationship Id="rId4" Type="http://schemas.openxmlformats.org/officeDocument/2006/relationships/image" Target="../media/image117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3.xml"/><Relationship Id="rId4" Type="http://schemas.openxmlformats.org/officeDocument/2006/relationships/image" Target="../media/image118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4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5.xml"/><Relationship Id="rId4" Type="http://schemas.openxmlformats.org/officeDocument/2006/relationships/image" Target="../media/image119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6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7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8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9.xml"/><Relationship Id="rId4" Type="http://schemas.openxmlformats.org/officeDocument/2006/relationships/image" Target="../media/image120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0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1.xml"/></Relationships>
</file>

<file path=ppt/slides/_rels/slide1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3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4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5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6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7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8.xml"/></Relationships>
</file>

<file path=ppt/slides/_rels/slide1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0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3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4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5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6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7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8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9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0.xml"/></Relationships>
</file>

<file path=ppt/slides/_rels/slide2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2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3.xml"/><Relationship Id="rId4" Type="http://schemas.openxmlformats.org/officeDocument/2006/relationships/image" Target="../media/image127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4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5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6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7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8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9.xml"/><Relationship Id="rId4" Type="http://schemas.openxmlformats.org/officeDocument/2006/relationships/image" Target="../media/image128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0.xml"/><Relationship Id="rId4" Type="http://schemas.openxmlformats.org/officeDocument/2006/relationships/image" Target="../media/image129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1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2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3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4.xml"/><Relationship Id="rId4" Type="http://schemas.openxmlformats.org/officeDocument/2006/relationships/image" Target="../media/image130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5.xml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/>
          <a:lstStyle/>
          <a:p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第</a:t>
            </a:r>
            <a:r>
              <a:rPr lang="en-US" altLang="zh-CN" b="1" dirty="0">
                <a:latin typeface="方正细倩简体"/>
                <a:ea typeface="方正细倩简体"/>
                <a:cs typeface="方正细倩简体"/>
              </a:rPr>
              <a:t>2</a:t>
            </a:r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章 </a:t>
            </a:r>
            <a:r>
              <a:rPr lang="en-US" altLang="zh-CN" b="1" dirty="0">
                <a:latin typeface="方正细倩简体"/>
                <a:ea typeface="方正细倩简体"/>
                <a:cs typeface="方正细倩简体"/>
              </a:rPr>
              <a:t>Linux</a:t>
            </a:r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命令与工具</a:t>
            </a:r>
          </a:p>
        </p:txBody>
      </p:sp>
      <p:sp>
        <p:nvSpPr>
          <p:cNvPr id="11" name="矩形 10"/>
          <p:cNvSpPr/>
          <p:nvPr/>
        </p:nvSpPr>
        <p:spPr>
          <a:xfrm>
            <a:off x="4414157" y="4852624"/>
            <a:ext cx="265052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用户与用户组管理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文件管理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存储管理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75" y="4977312"/>
            <a:ext cx="2143125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7622907" y="4852624"/>
            <a:ext cx="288642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进程管理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服务管理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软件包管理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文本编辑器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8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9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70" name="矩形 28"/>
          <p:cNvSpPr>
            <a:spLocks noChangeArrowheads="1"/>
          </p:cNvSpPr>
          <p:nvPr/>
        </p:nvSpPr>
        <p:spPr bwMode="auto">
          <a:xfrm>
            <a:off x="2099550" y="1660809"/>
            <a:ext cx="18921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用户与用户组管理</a:t>
            </a:r>
          </a:p>
        </p:txBody>
      </p:sp>
      <p:sp>
        <p:nvSpPr>
          <p:cNvPr id="71" name="矩形 29"/>
          <p:cNvSpPr>
            <a:spLocks noChangeArrowheads="1"/>
          </p:cNvSpPr>
          <p:nvPr/>
        </p:nvSpPr>
        <p:spPr bwMode="auto">
          <a:xfrm>
            <a:off x="4070327" y="1841570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</a:t>
            </a:r>
          </a:p>
        </p:txBody>
      </p:sp>
      <p:cxnSp>
        <p:nvCxnSpPr>
          <p:cNvPr id="72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8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9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80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命令格式</a:t>
            </a:r>
          </a:p>
        </p:txBody>
      </p:sp>
      <p:cxnSp>
        <p:nvCxnSpPr>
          <p:cNvPr id="81" name="直接连接符 80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直接连接符 81"/>
          <p:cNvCxnSpPr/>
          <p:nvPr/>
        </p:nvCxnSpPr>
        <p:spPr bwMode="auto">
          <a:xfrm>
            <a:off x="3991652" y="1688477"/>
            <a:ext cx="399995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矩形 1"/>
          <p:cNvSpPr>
            <a:spLocks noChangeArrowheads="1"/>
          </p:cNvSpPr>
          <p:nvPr/>
        </p:nvSpPr>
        <p:spPr bwMode="auto">
          <a:xfrm>
            <a:off x="5950179" y="1769174"/>
            <a:ext cx="1890800" cy="202326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4" name="矩形 21"/>
          <p:cNvSpPr>
            <a:spLocks noChangeArrowheads="1"/>
          </p:cNvSpPr>
          <p:nvPr/>
        </p:nvSpPr>
        <p:spPr bwMode="auto">
          <a:xfrm>
            <a:off x="4009019" y="4479805"/>
            <a:ext cx="1724176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5" name="矩形 22"/>
          <p:cNvSpPr>
            <a:spLocks noChangeArrowheads="1"/>
          </p:cNvSpPr>
          <p:nvPr/>
        </p:nvSpPr>
        <p:spPr bwMode="auto">
          <a:xfrm>
            <a:off x="5742508" y="4489427"/>
            <a:ext cx="1727610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6" name="矩形 28"/>
          <p:cNvSpPr>
            <a:spLocks noChangeArrowheads="1"/>
          </p:cNvSpPr>
          <p:nvPr/>
        </p:nvSpPr>
        <p:spPr bwMode="auto">
          <a:xfrm>
            <a:off x="3963530" y="4560959"/>
            <a:ext cx="176966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</a:p>
        </p:txBody>
      </p:sp>
      <p:sp>
        <p:nvSpPr>
          <p:cNvPr id="87" name="矩形 29"/>
          <p:cNvSpPr>
            <a:spLocks noChangeArrowheads="1"/>
          </p:cNvSpPr>
          <p:nvPr/>
        </p:nvSpPr>
        <p:spPr bwMode="auto">
          <a:xfrm>
            <a:off x="5733195" y="4566723"/>
            <a:ext cx="1713648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</a:p>
        </p:txBody>
      </p:sp>
      <p:cxnSp>
        <p:nvCxnSpPr>
          <p:cNvPr id="88" name="直接连接符 51"/>
          <p:cNvCxnSpPr>
            <a:cxnSpLocks noChangeShapeType="1"/>
          </p:cNvCxnSpPr>
          <p:nvPr/>
        </p:nvCxnSpPr>
        <p:spPr bwMode="auto">
          <a:xfrm>
            <a:off x="5688897" y="4159855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" name="TextBox 7177"/>
          <p:cNvSpPr txBox="1">
            <a:spLocks noChangeArrowheads="1"/>
          </p:cNvSpPr>
          <p:nvPr/>
        </p:nvSpPr>
        <p:spPr bwMode="auto">
          <a:xfrm>
            <a:off x="5984045" y="1060096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0" name="TextBox 7177"/>
          <p:cNvSpPr txBox="1">
            <a:spLocks noChangeArrowheads="1"/>
          </p:cNvSpPr>
          <p:nvPr/>
        </p:nvSpPr>
        <p:spPr bwMode="auto">
          <a:xfrm>
            <a:off x="3954924" y="3783090"/>
            <a:ext cx="9970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1" name="TextBox 7177"/>
          <p:cNvSpPr txBox="1">
            <a:spLocks noChangeArrowheads="1"/>
          </p:cNvSpPr>
          <p:nvPr/>
        </p:nvSpPr>
        <p:spPr bwMode="auto">
          <a:xfrm>
            <a:off x="5737237" y="3803149"/>
            <a:ext cx="15200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</a:p>
        </p:txBody>
      </p:sp>
      <p:cxnSp>
        <p:nvCxnSpPr>
          <p:cNvPr id="93" name="直接连接符 19"/>
          <p:cNvCxnSpPr/>
          <p:nvPr/>
        </p:nvCxnSpPr>
        <p:spPr bwMode="auto">
          <a:xfrm>
            <a:off x="4029328" y="4427930"/>
            <a:ext cx="1678967" cy="776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直接连接符 20"/>
          <p:cNvCxnSpPr/>
          <p:nvPr/>
        </p:nvCxnSpPr>
        <p:spPr bwMode="auto">
          <a:xfrm>
            <a:off x="5709923" y="4428744"/>
            <a:ext cx="183470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5816" y="5280100"/>
            <a:ext cx="1538977" cy="1046463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7" name="直接连接符 52"/>
          <p:cNvCxnSpPr>
            <a:cxnSpLocks noChangeShapeType="1"/>
          </p:cNvCxnSpPr>
          <p:nvPr/>
        </p:nvCxnSpPr>
        <p:spPr bwMode="auto">
          <a:xfrm>
            <a:off x="4005598" y="4173190"/>
            <a:ext cx="1" cy="296447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矩形 1"/>
          <p:cNvSpPr>
            <a:spLocks noChangeArrowheads="1"/>
          </p:cNvSpPr>
          <p:nvPr/>
        </p:nvSpPr>
        <p:spPr bwMode="auto">
          <a:xfrm>
            <a:off x="7490535" y="4485614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cxnSp>
        <p:nvCxnSpPr>
          <p:cNvPr id="100" name="直接连接符 7167"/>
          <p:cNvCxnSpPr>
            <a:cxnSpLocks noChangeShapeType="1"/>
          </p:cNvCxnSpPr>
          <p:nvPr/>
        </p:nvCxnSpPr>
        <p:spPr bwMode="auto">
          <a:xfrm flipV="1">
            <a:off x="7466430" y="4427930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直接连接符 7172"/>
          <p:cNvCxnSpPr>
            <a:cxnSpLocks noChangeShapeType="1"/>
          </p:cNvCxnSpPr>
          <p:nvPr/>
        </p:nvCxnSpPr>
        <p:spPr bwMode="auto">
          <a:xfrm>
            <a:off x="7465525" y="4074072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" name="TextBox 7177"/>
          <p:cNvSpPr txBox="1">
            <a:spLocks noChangeArrowheads="1"/>
          </p:cNvSpPr>
          <p:nvPr/>
        </p:nvSpPr>
        <p:spPr bwMode="auto">
          <a:xfrm>
            <a:off x="7509602" y="3751901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03" name="矩形 28"/>
          <p:cNvSpPr>
            <a:spLocks noChangeArrowheads="1"/>
          </p:cNvSpPr>
          <p:nvPr/>
        </p:nvSpPr>
        <p:spPr bwMode="auto">
          <a:xfrm>
            <a:off x="7470337" y="4607439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软件包管理</a:t>
            </a:r>
          </a:p>
        </p:txBody>
      </p:sp>
      <p:pic>
        <p:nvPicPr>
          <p:cNvPr id="10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150" y="2604066"/>
            <a:ext cx="1364458" cy="104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" name="矩形 1"/>
          <p:cNvSpPr>
            <a:spLocks noChangeArrowheads="1"/>
          </p:cNvSpPr>
          <p:nvPr/>
        </p:nvSpPr>
        <p:spPr bwMode="auto">
          <a:xfrm>
            <a:off x="9221062" y="4485515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pic>
        <p:nvPicPr>
          <p:cNvPr id="123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76403" y="5321538"/>
            <a:ext cx="1457809" cy="99727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直接连接符 7167"/>
          <p:cNvCxnSpPr>
            <a:cxnSpLocks noChangeShapeType="1"/>
          </p:cNvCxnSpPr>
          <p:nvPr/>
        </p:nvCxnSpPr>
        <p:spPr bwMode="auto">
          <a:xfrm flipV="1">
            <a:off x="9196957" y="4427831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5" name="直接连接符 7172"/>
          <p:cNvCxnSpPr>
            <a:cxnSpLocks noChangeShapeType="1"/>
          </p:cNvCxnSpPr>
          <p:nvPr/>
        </p:nvCxnSpPr>
        <p:spPr bwMode="auto">
          <a:xfrm>
            <a:off x="9196052" y="4073973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" name="TextBox 7177"/>
          <p:cNvSpPr txBox="1">
            <a:spLocks noChangeArrowheads="1"/>
          </p:cNvSpPr>
          <p:nvPr/>
        </p:nvSpPr>
        <p:spPr bwMode="auto">
          <a:xfrm>
            <a:off x="9240129" y="3751802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8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27" name="矩形 28"/>
          <p:cNvSpPr>
            <a:spLocks noChangeArrowheads="1"/>
          </p:cNvSpPr>
          <p:nvPr/>
        </p:nvSpPr>
        <p:spPr bwMode="auto">
          <a:xfrm>
            <a:off x="9221062" y="4601675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文本编辑器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4" y="2604066"/>
            <a:ext cx="1533716" cy="104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35" y="2596545"/>
            <a:ext cx="1654397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548" y="5279692"/>
            <a:ext cx="1530043" cy="104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140" y="5292164"/>
            <a:ext cx="1420225" cy="1000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2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001" y="2596545"/>
            <a:ext cx="1679893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44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44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命令与工具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5374032" y="1507899"/>
            <a:ext cx="144393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知识点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591" y="2222139"/>
            <a:ext cx="5847906" cy="3351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用户与用户组管理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用户切换命令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文件管理命令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压缩解压命令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文件权限管理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磁盘管理（分区、格式化、挂载）</a:t>
            </a:r>
          </a:p>
        </p:txBody>
      </p:sp>
      <p:sp>
        <p:nvSpPr>
          <p:cNvPr id="7" name="矩形 6"/>
          <p:cNvSpPr/>
          <p:nvPr/>
        </p:nvSpPr>
        <p:spPr>
          <a:xfrm>
            <a:off x="6042837" y="2230952"/>
            <a:ext cx="5847906" cy="3351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LVM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磁盘阵列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进程与进程管理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软件包管理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文本编辑器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命令与工具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1288" y="3103745"/>
            <a:ext cx="1083724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6596689" y="3107463"/>
            <a:ext cx="1074498" cy="581057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38515" y="1981302"/>
            <a:ext cx="4056798" cy="2797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用户与用户组管理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用户切换命令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文件管理命令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服务管理命令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软件包管理工具</a:t>
            </a:r>
          </a:p>
        </p:txBody>
      </p:sp>
      <p:sp>
        <p:nvSpPr>
          <p:cNvPr id="9" name="矩形 8"/>
          <p:cNvSpPr/>
          <p:nvPr/>
        </p:nvSpPr>
        <p:spPr>
          <a:xfrm>
            <a:off x="7543454" y="2846641"/>
            <a:ext cx="3434235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权限设置命令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存储原理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命令与工具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86621" y="1789036"/>
            <a:ext cx="7035340" cy="3905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掌握用户管理命令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掌握文件管理命令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熟练使用服务管理命令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熟练使用软件包管理工具</a:t>
            </a: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defTabSz="720725">
              <a:lnSpc>
                <a:spcPct val="150000"/>
              </a:lnSpc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 defTabSz="7207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上机练习熟悉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命令与工具的用法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737644" y="2627062"/>
            <a:ext cx="1851030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基本要求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1524606" y="5152971"/>
            <a:ext cx="227710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实践与练习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Linux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命令格式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44"/>
          <p:cNvSpPr txBox="1">
            <a:spLocks noChangeArrowheads="1"/>
          </p:cNvSpPr>
          <p:nvPr/>
        </p:nvSpPr>
        <p:spPr bwMode="auto">
          <a:xfrm>
            <a:off x="4221126" y="2004753"/>
            <a:ext cx="7332189" cy="3674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</a:pPr>
            <a:r>
              <a:rPr lang="en-US" altLang="zh-CN" sz="2400" dirty="0"/>
              <a:t>Linux</a:t>
            </a:r>
            <a:r>
              <a:rPr lang="zh-CN" altLang="zh-CN" sz="2400" dirty="0"/>
              <a:t>系统中几乎所有操作，如</a:t>
            </a:r>
            <a:r>
              <a:rPr lang="zh-CN" altLang="zh-CN" sz="2400" dirty="0">
                <a:solidFill>
                  <a:srgbClr val="00B0F0"/>
                </a:solidFill>
              </a:rPr>
              <a:t>文件、账户、软件包的管理、磁盘分区、性能监控、网络配置等</a:t>
            </a:r>
            <a:r>
              <a:rPr lang="zh-CN" altLang="zh-CN" sz="2400" dirty="0"/>
              <a:t>都可通过命令实现，实现这些功能的命令大多遵循如下格式：</a:t>
            </a: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command [options] [arguments]</a:t>
            </a:r>
          </a:p>
          <a:p>
            <a:pPr>
              <a:lnSpc>
                <a:spcPct val="200000"/>
              </a:lnSpc>
            </a:pPr>
            <a:r>
              <a:rPr lang="en-US" altLang="zh-CN" sz="2400" dirty="0" err="1">
                <a:solidFill>
                  <a:srgbClr val="FF0000"/>
                </a:solidFill>
              </a:rPr>
              <a:t>Eg</a:t>
            </a:r>
            <a:r>
              <a:rPr lang="en-US" altLang="zh-CN" sz="2400" dirty="0">
                <a:solidFill>
                  <a:srgbClr val="FF0000"/>
                </a:solidFill>
              </a:rPr>
              <a:t>: 	ls -a -l; 	ls -al; 	</a:t>
            </a:r>
            <a:r>
              <a:rPr lang="en-US" altLang="zh-CN" sz="2400" dirty="0" err="1">
                <a:solidFill>
                  <a:srgbClr val="FF0000"/>
                </a:solidFill>
              </a:rPr>
              <a:t>ll</a:t>
            </a:r>
            <a:endParaRPr lang="zh-CN" altLang="zh-CN" sz="2400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45" y="1628775"/>
            <a:ext cx="3138301" cy="3687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Linux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命令格式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44"/>
          <p:cNvSpPr txBox="1">
            <a:spLocks noChangeArrowheads="1"/>
          </p:cNvSpPr>
          <p:nvPr/>
        </p:nvSpPr>
        <p:spPr bwMode="auto">
          <a:xfrm>
            <a:off x="842871" y="1176369"/>
            <a:ext cx="10510431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$</a:t>
            </a:r>
            <a:r>
              <a:rPr lang="en-US" altLang="zh-CN" sz="2400" dirty="0">
                <a:solidFill>
                  <a:srgbClr val="FF0000"/>
                </a:solidFill>
              </a:rPr>
              <a:t>rm</a:t>
            </a:r>
            <a:r>
              <a:rPr lang="en-US" altLang="zh-CN" sz="2400" dirty="0">
                <a:solidFill>
                  <a:srgbClr val="0070C0"/>
                </a:solidFill>
              </a:rPr>
              <a:t> –rf </a:t>
            </a:r>
            <a:r>
              <a:rPr lang="en-US" altLang="zh-CN" sz="2400" dirty="0" err="1">
                <a:solidFill>
                  <a:srgbClr val="0070C0"/>
                </a:solidFill>
              </a:rPr>
              <a:t>dir</a:t>
            </a:r>
            <a:endParaRPr lang="en-US" altLang="zh-CN" sz="2400" dirty="0">
              <a:solidFill>
                <a:srgbClr val="0070C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02137" y="1795641"/>
            <a:ext cx="3704077" cy="64633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--recursive </a:t>
            </a:r>
            <a:r>
              <a:rPr lang="en-US" altLang="zh-CN" sz="24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标注 11"/>
          <p:cNvSpPr/>
          <p:nvPr/>
        </p:nvSpPr>
        <p:spPr>
          <a:xfrm>
            <a:off x="588723" y="2441972"/>
            <a:ext cx="1259910" cy="588391"/>
          </a:xfrm>
          <a:prstGeom prst="wedgeRectCallout">
            <a:avLst>
              <a:gd name="adj1" fmla="val 46457"/>
              <a:gd name="adj2" fmla="val -78005"/>
            </a:avLst>
          </a:prstGeom>
          <a:solidFill>
            <a:srgbClr val="1353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</a:p>
        </p:txBody>
      </p:sp>
      <p:sp>
        <p:nvSpPr>
          <p:cNvPr id="14" name="矩形标注 13"/>
          <p:cNvSpPr/>
          <p:nvPr/>
        </p:nvSpPr>
        <p:spPr>
          <a:xfrm>
            <a:off x="5095138" y="2507246"/>
            <a:ext cx="1259910" cy="588391"/>
          </a:xfrm>
          <a:prstGeom prst="wedgeRectCallout">
            <a:avLst>
              <a:gd name="adj1" fmla="val 46457"/>
              <a:gd name="adj2" fmla="val -78005"/>
            </a:avLst>
          </a:prstGeom>
          <a:solidFill>
            <a:srgbClr val="1353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</a:p>
        </p:txBody>
      </p:sp>
      <p:sp>
        <p:nvSpPr>
          <p:cNvPr id="15" name="矩形标注 14"/>
          <p:cNvSpPr/>
          <p:nvPr/>
        </p:nvSpPr>
        <p:spPr>
          <a:xfrm>
            <a:off x="2622567" y="3030363"/>
            <a:ext cx="1498495" cy="588391"/>
          </a:xfrm>
          <a:prstGeom prst="wedgeRectCallout">
            <a:avLst>
              <a:gd name="adj1" fmla="val -84778"/>
              <a:gd name="adj2" fmla="val -190834"/>
            </a:avLst>
          </a:prstGeom>
          <a:solidFill>
            <a:srgbClr val="1353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短选项</a:t>
            </a:r>
          </a:p>
        </p:txBody>
      </p:sp>
      <p:sp>
        <p:nvSpPr>
          <p:cNvPr id="16" name="矩形标注 15"/>
          <p:cNvSpPr/>
          <p:nvPr/>
        </p:nvSpPr>
        <p:spPr>
          <a:xfrm>
            <a:off x="7873060" y="3100036"/>
            <a:ext cx="1498495" cy="588391"/>
          </a:xfrm>
          <a:prstGeom prst="wedgeRectCallout">
            <a:avLst>
              <a:gd name="adj1" fmla="val -84778"/>
              <a:gd name="adj2" fmla="val -190834"/>
            </a:avLst>
          </a:prstGeom>
          <a:solidFill>
            <a:srgbClr val="1353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长选项</a:t>
            </a:r>
          </a:p>
        </p:txBody>
      </p:sp>
      <p:sp>
        <p:nvSpPr>
          <p:cNvPr id="17" name="矩形标注 16"/>
          <p:cNvSpPr/>
          <p:nvPr/>
        </p:nvSpPr>
        <p:spPr>
          <a:xfrm>
            <a:off x="3371814" y="1806121"/>
            <a:ext cx="1259910" cy="588391"/>
          </a:xfrm>
          <a:prstGeom prst="wedgeRectCallout">
            <a:avLst>
              <a:gd name="adj1" fmla="val -89748"/>
              <a:gd name="adj2" fmla="val 2892"/>
            </a:avLst>
          </a:prstGeom>
          <a:solidFill>
            <a:srgbClr val="1353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</a:p>
        </p:txBody>
      </p:sp>
      <p:sp>
        <p:nvSpPr>
          <p:cNvPr id="18" name="矩形标注 17"/>
          <p:cNvSpPr/>
          <p:nvPr/>
        </p:nvSpPr>
        <p:spPr>
          <a:xfrm>
            <a:off x="9148400" y="1853581"/>
            <a:ext cx="1259910" cy="588391"/>
          </a:xfrm>
          <a:prstGeom prst="wedgeRectCallout">
            <a:avLst>
              <a:gd name="adj1" fmla="val -89748"/>
              <a:gd name="adj2" fmla="val 2892"/>
            </a:avLst>
          </a:prstGeom>
          <a:solidFill>
            <a:srgbClr val="1353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</a:p>
        </p:txBody>
      </p:sp>
      <p:sp>
        <p:nvSpPr>
          <p:cNvPr id="19" name="Text Box 44"/>
          <p:cNvSpPr txBox="1">
            <a:spLocks noChangeArrowheads="1"/>
          </p:cNvSpPr>
          <p:nvPr/>
        </p:nvSpPr>
        <p:spPr bwMode="auto">
          <a:xfrm>
            <a:off x="830372" y="2561555"/>
            <a:ext cx="10510431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说明：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使用</a:t>
            </a:r>
            <a:r>
              <a:rPr lang="zh-CN" altLang="en-US" sz="2400" dirty="0">
                <a:solidFill>
                  <a:srgbClr val="FF0000"/>
                </a:solidFill>
              </a:rPr>
              <a:t>短选项</a:t>
            </a:r>
            <a:r>
              <a:rPr lang="zh-CN" altLang="en-US" sz="2400" dirty="0">
                <a:solidFill>
                  <a:srgbClr val="1353A2"/>
                </a:solidFill>
              </a:rPr>
              <a:t>时，可将</a:t>
            </a:r>
            <a:r>
              <a:rPr lang="zh-CN" altLang="en-US" sz="2400" dirty="0">
                <a:solidFill>
                  <a:srgbClr val="FF0000"/>
                </a:solidFill>
              </a:rPr>
              <a:t>多个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zh-CN" altLang="en-US" sz="2400" dirty="0">
                <a:solidFill>
                  <a:srgbClr val="FF0000"/>
                </a:solidFill>
              </a:rPr>
              <a:t>合并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</a:t>
            </a:r>
            <a:r>
              <a:rPr lang="en-US" altLang="zh-CN" sz="2400" dirty="0" err="1">
                <a:solidFill>
                  <a:srgbClr val="1353A2"/>
                </a:solidFill>
              </a:rPr>
              <a:t>Eg</a:t>
            </a:r>
            <a:r>
              <a:rPr lang="en-US" altLang="zh-CN" sz="2400" dirty="0">
                <a:solidFill>
                  <a:srgbClr val="1353A2"/>
                </a:solidFill>
              </a:rPr>
              <a:t>: tar </a:t>
            </a:r>
            <a:r>
              <a:rPr lang="en-US" altLang="zh-CN" sz="2400" dirty="0">
                <a:solidFill>
                  <a:srgbClr val="FF0000"/>
                </a:solidFill>
              </a:rPr>
              <a:t>–</a:t>
            </a:r>
            <a:r>
              <a:rPr lang="en-US" altLang="zh-CN" sz="2400" dirty="0" err="1">
                <a:solidFill>
                  <a:srgbClr val="FF0000"/>
                </a:solidFill>
              </a:rPr>
              <a:t>zxvf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1353A2"/>
                </a:solidFill>
              </a:rPr>
              <a:t>filename.tar.gz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使用长选项时，只能</a:t>
            </a:r>
            <a:r>
              <a:rPr lang="zh-CN" altLang="en-US" sz="2400" dirty="0">
                <a:solidFill>
                  <a:srgbClr val="FF0000"/>
                </a:solidFill>
              </a:rPr>
              <a:t>单独</a:t>
            </a:r>
            <a:r>
              <a:rPr lang="zh-CN" altLang="en-US" sz="2400" dirty="0">
                <a:solidFill>
                  <a:srgbClr val="1353A2"/>
                </a:solidFill>
              </a:rPr>
              <a:t>使用。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1"/>
      <p:bldP spid="2" grpId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8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9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70" name="矩形 28"/>
          <p:cNvSpPr>
            <a:spLocks noChangeArrowheads="1"/>
          </p:cNvSpPr>
          <p:nvPr/>
        </p:nvSpPr>
        <p:spPr bwMode="auto">
          <a:xfrm>
            <a:off x="2099550" y="1660809"/>
            <a:ext cx="18921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用户与用户组管理</a:t>
            </a:r>
          </a:p>
        </p:txBody>
      </p:sp>
      <p:sp>
        <p:nvSpPr>
          <p:cNvPr id="71" name="矩形 29"/>
          <p:cNvSpPr>
            <a:spLocks noChangeArrowheads="1"/>
          </p:cNvSpPr>
          <p:nvPr/>
        </p:nvSpPr>
        <p:spPr bwMode="auto">
          <a:xfrm>
            <a:off x="4070327" y="1841570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</a:t>
            </a:r>
          </a:p>
        </p:txBody>
      </p:sp>
      <p:cxnSp>
        <p:nvCxnSpPr>
          <p:cNvPr id="72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8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9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80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命令格式</a:t>
            </a:r>
          </a:p>
        </p:txBody>
      </p:sp>
      <p:cxnSp>
        <p:nvCxnSpPr>
          <p:cNvPr id="81" name="直接连接符 80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直接连接符 81"/>
          <p:cNvCxnSpPr/>
          <p:nvPr/>
        </p:nvCxnSpPr>
        <p:spPr bwMode="auto">
          <a:xfrm>
            <a:off x="3991652" y="1688477"/>
            <a:ext cx="399995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矩形 1"/>
          <p:cNvSpPr>
            <a:spLocks noChangeArrowheads="1"/>
          </p:cNvSpPr>
          <p:nvPr/>
        </p:nvSpPr>
        <p:spPr bwMode="auto">
          <a:xfrm>
            <a:off x="5950179" y="1769174"/>
            <a:ext cx="1890800" cy="202326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4" name="矩形 21"/>
          <p:cNvSpPr>
            <a:spLocks noChangeArrowheads="1"/>
          </p:cNvSpPr>
          <p:nvPr/>
        </p:nvSpPr>
        <p:spPr bwMode="auto">
          <a:xfrm>
            <a:off x="4009019" y="4479805"/>
            <a:ext cx="1724176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5" name="矩形 22"/>
          <p:cNvSpPr>
            <a:spLocks noChangeArrowheads="1"/>
          </p:cNvSpPr>
          <p:nvPr/>
        </p:nvSpPr>
        <p:spPr bwMode="auto">
          <a:xfrm>
            <a:off x="5742508" y="4489427"/>
            <a:ext cx="1727610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6" name="矩形 28"/>
          <p:cNvSpPr>
            <a:spLocks noChangeArrowheads="1"/>
          </p:cNvSpPr>
          <p:nvPr/>
        </p:nvSpPr>
        <p:spPr bwMode="auto">
          <a:xfrm>
            <a:off x="3963530" y="4560959"/>
            <a:ext cx="176966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</a:p>
        </p:txBody>
      </p:sp>
      <p:sp>
        <p:nvSpPr>
          <p:cNvPr id="87" name="矩形 29"/>
          <p:cNvSpPr>
            <a:spLocks noChangeArrowheads="1"/>
          </p:cNvSpPr>
          <p:nvPr/>
        </p:nvSpPr>
        <p:spPr bwMode="auto">
          <a:xfrm>
            <a:off x="5733195" y="4566723"/>
            <a:ext cx="1713648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</a:p>
        </p:txBody>
      </p:sp>
      <p:cxnSp>
        <p:nvCxnSpPr>
          <p:cNvPr id="88" name="直接连接符 51"/>
          <p:cNvCxnSpPr>
            <a:cxnSpLocks noChangeShapeType="1"/>
          </p:cNvCxnSpPr>
          <p:nvPr/>
        </p:nvCxnSpPr>
        <p:spPr bwMode="auto">
          <a:xfrm>
            <a:off x="5688897" y="4159855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" name="TextBox 7177"/>
          <p:cNvSpPr txBox="1">
            <a:spLocks noChangeArrowheads="1"/>
          </p:cNvSpPr>
          <p:nvPr/>
        </p:nvSpPr>
        <p:spPr bwMode="auto">
          <a:xfrm>
            <a:off x="5984045" y="1060096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0" name="TextBox 7177"/>
          <p:cNvSpPr txBox="1">
            <a:spLocks noChangeArrowheads="1"/>
          </p:cNvSpPr>
          <p:nvPr/>
        </p:nvSpPr>
        <p:spPr bwMode="auto">
          <a:xfrm>
            <a:off x="3954924" y="3783090"/>
            <a:ext cx="9970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1" name="TextBox 7177"/>
          <p:cNvSpPr txBox="1">
            <a:spLocks noChangeArrowheads="1"/>
          </p:cNvSpPr>
          <p:nvPr/>
        </p:nvSpPr>
        <p:spPr bwMode="auto">
          <a:xfrm>
            <a:off x="5737237" y="3803149"/>
            <a:ext cx="15200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</a:p>
        </p:txBody>
      </p:sp>
      <p:cxnSp>
        <p:nvCxnSpPr>
          <p:cNvPr id="93" name="直接连接符 19"/>
          <p:cNvCxnSpPr/>
          <p:nvPr/>
        </p:nvCxnSpPr>
        <p:spPr bwMode="auto">
          <a:xfrm>
            <a:off x="4029328" y="4427930"/>
            <a:ext cx="1678967" cy="776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直接连接符 20"/>
          <p:cNvCxnSpPr/>
          <p:nvPr/>
        </p:nvCxnSpPr>
        <p:spPr bwMode="auto">
          <a:xfrm>
            <a:off x="5709923" y="4428744"/>
            <a:ext cx="183470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5816" y="5280100"/>
            <a:ext cx="1538977" cy="1046463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7" name="直接连接符 52"/>
          <p:cNvCxnSpPr>
            <a:cxnSpLocks noChangeShapeType="1"/>
          </p:cNvCxnSpPr>
          <p:nvPr/>
        </p:nvCxnSpPr>
        <p:spPr bwMode="auto">
          <a:xfrm>
            <a:off x="4005598" y="4173190"/>
            <a:ext cx="1" cy="296447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矩形 1"/>
          <p:cNvSpPr>
            <a:spLocks noChangeArrowheads="1"/>
          </p:cNvSpPr>
          <p:nvPr/>
        </p:nvSpPr>
        <p:spPr bwMode="auto">
          <a:xfrm>
            <a:off x="7490535" y="4485614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cxnSp>
        <p:nvCxnSpPr>
          <p:cNvPr id="100" name="直接连接符 7167"/>
          <p:cNvCxnSpPr>
            <a:cxnSpLocks noChangeShapeType="1"/>
          </p:cNvCxnSpPr>
          <p:nvPr/>
        </p:nvCxnSpPr>
        <p:spPr bwMode="auto">
          <a:xfrm flipV="1">
            <a:off x="7466430" y="4427930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直接连接符 7172"/>
          <p:cNvCxnSpPr>
            <a:cxnSpLocks noChangeShapeType="1"/>
          </p:cNvCxnSpPr>
          <p:nvPr/>
        </p:nvCxnSpPr>
        <p:spPr bwMode="auto">
          <a:xfrm>
            <a:off x="7465525" y="4074072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" name="TextBox 7177"/>
          <p:cNvSpPr txBox="1">
            <a:spLocks noChangeArrowheads="1"/>
          </p:cNvSpPr>
          <p:nvPr/>
        </p:nvSpPr>
        <p:spPr bwMode="auto">
          <a:xfrm>
            <a:off x="7509602" y="3751901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03" name="矩形 28"/>
          <p:cNvSpPr>
            <a:spLocks noChangeArrowheads="1"/>
          </p:cNvSpPr>
          <p:nvPr/>
        </p:nvSpPr>
        <p:spPr bwMode="auto">
          <a:xfrm>
            <a:off x="7470337" y="4607439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软件包管理</a:t>
            </a:r>
          </a:p>
        </p:txBody>
      </p:sp>
      <p:pic>
        <p:nvPicPr>
          <p:cNvPr id="10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150" y="2604066"/>
            <a:ext cx="1364458" cy="104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" name="矩形 1"/>
          <p:cNvSpPr>
            <a:spLocks noChangeArrowheads="1"/>
          </p:cNvSpPr>
          <p:nvPr/>
        </p:nvSpPr>
        <p:spPr bwMode="auto">
          <a:xfrm>
            <a:off x="9221062" y="4485515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pic>
        <p:nvPicPr>
          <p:cNvPr id="123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76403" y="5321538"/>
            <a:ext cx="1457809" cy="99727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直接连接符 7167"/>
          <p:cNvCxnSpPr>
            <a:cxnSpLocks noChangeShapeType="1"/>
          </p:cNvCxnSpPr>
          <p:nvPr/>
        </p:nvCxnSpPr>
        <p:spPr bwMode="auto">
          <a:xfrm flipV="1">
            <a:off x="9196957" y="4427831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5" name="直接连接符 7172"/>
          <p:cNvCxnSpPr>
            <a:cxnSpLocks noChangeShapeType="1"/>
          </p:cNvCxnSpPr>
          <p:nvPr/>
        </p:nvCxnSpPr>
        <p:spPr bwMode="auto">
          <a:xfrm>
            <a:off x="9196052" y="4073973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" name="TextBox 7177"/>
          <p:cNvSpPr txBox="1">
            <a:spLocks noChangeArrowheads="1"/>
          </p:cNvSpPr>
          <p:nvPr/>
        </p:nvSpPr>
        <p:spPr bwMode="auto">
          <a:xfrm>
            <a:off x="9240129" y="3751802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8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27" name="矩形 28"/>
          <p:cNvSpPr>
            <a:spLocks noChangeArrowheads="1"/>
          </p:cNvSpPr>
          <p:nvPr/>
        </p:nvSpPr>
        <p:spPr bwMode="auto">
          <a:xfrm>
            <a:off x="9221062" y="4601675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文本编辑器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4" y="2604066"/>
            <a:ext cx="1533716" cy="104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35" y="2596545"/>
            <a:ext cx="1654397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548" y="5279692"/>
            <a:ext cx="1530043" cy="104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140" y="5292164"/>
            <a:ext cx="1420225" cy="1000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2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001" y="2596545"/>
            <a:ext cx="1679893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44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44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134308" y="1661785"/>
            <a:ext cx="640704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/>
              <a:t>Linux</a:t>
            </a:r>
            <a:r>
              <a:rPr lang="zh-CN" altLang="zh-CN" sz="2400" dirty="0"/>
              <a:t>是一个</a:t>
            </a:r>
            <a:r>
              <a:rPr lang="zh-CN" altLang="zh-CN" sz="2400" dirty="0">
                <a:solidFill>
                  <a:srgbClr val="FF0000"/>
                </a:solidFill>
              </a:rPr>
              <a:t>多用户、多任务</a:t>
            </a:r>
            <a:r>
              <a:rPr lang="zh-CN" altLang="zh-CN" sz="2400" dirty="0"/>
              <a:t>的</a:t>
            </a:r>
            <a:r>
              <a:rPr lang="zh-CN" altLang="zh-CN" sz="2400" b="1" dirty="0">
                <a:solidFill>
                  <a:srgbClr val="FF0000"/>
                </a:solidFill>
              </a:rPr>
              <a:t>分时</a:t>
            </a:r>
            <a:r>
              <a:rPr lang="zh-CN" altLang="zh-CN" sz="2400" dirty="0"/>
              <a:t>操作系统，在一台</a:t>
            </a:r>
            <a:r>
              <a:rPr lang="en-US" altLang="zh-CN" sz="2400" dirty="0"/>
              <a:t>Linux</a:t>
            </a:r>
            <a:r>
              <a:rPr lang="zh-CN" altLang="zh-CN" sz="2400" dirty="0"/>
              <a:t>主机上，可</a:t>
            </a:r>
            <a:r>
              <a:rPr lang="zh-CN" altLang="zh-CN" sz="2400" b="1" dirty="0">
                <a:solidFill>
                  <a:srgbClr val="FF0000"/>
                </a:solidFill>
              </a:rPr>
              <a:t>同时</a:t>
            </a:r>
            <a:r>
              <a:rPr lang="zh-CN" altLang="zh-CN" sz="2400" dirty="0"/>
              <a:t>登录</a:t>
            </a:r>
            <a:r>
              <a:rPr lang="zh-CN" altLang="zh-CN" sz="2400" dirty="0">
                <a:solidFill>
                  <a:srgbClr val="FF0000"/>
                </a:solidFill>
              </a:rPr>
              <a:t>多名</a:t>
            </a:r>
            <a:r>
              <a:rPr lang="zh-CN" altLang="zh-CN" sz="2400" dirty="0"/>
              <a:t>用户，为了对用户的状态进行跟踪，并对其可访问的资源进行控制，每名用户在使用</a:t>
            </a:r>
            <a:r>
              <a:rPr lang="en-US" altLang="zh-CN" sz="2400" dirty="0"/>
              <a:t>Linux</a:t>
            </a:r>
            <a:r>
              <a:rPr lang="zh-CN" altLang="zh-CN" sz="2400" dirty="0"/>
              <a:t>之前，必须先向系统管理员申请一个账号，并设置密码，之后才能登录并访问系统资源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用户与用户组管理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05" y="1519848"/>
            <a:ext cx="4275405" cy="4145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134308" y="2483907"/>
            <a:ext cx="6407043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/>
              <a:t>Linux</a:t>
            </a:r>
            <a:r>
              <a:rPr lang="zh-CN" altLang="en-US" sz="2400" dirty="0"/>
              <a:t>中用户分为两类：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1353A2"/>
                </a:solidFill>
              </a:rPr>
              <a:t>超级用户</a:t>
            </a:r>
            <a:r>
              <a:rPr lang="en-US" altLang="zh-CN" sz="2400" dirty="0">
                <a:solidFill>
                  <a:srgbClr val="1353A2"/>
                </a:solidFill>
              </a:rPr>
              <a:t>ROOT</a:t>
            </a:r>
            <a:r>
              <a:rPr lang="zh-CN" altLang="en-US" sz="2400" dirty="0">
                <a:solidFill>
                  <a:srgbClr val="1353A2"/>
                </a:solidFill>
              </a:rPr>
              <a:t>（所有权限）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1353A2"/>
                </a:solidFill>
              </a:rPr>
              <a:t>普通用户（部分权限）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用户与用户组管理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05" y="1519848"/>
            <a:ext cx="4275405" cy="4145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89" y="1564234"/>
            <a:ext cx="4273122" cy="4084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5071730" y="2058334"/>
            <a:ext cx="6402111" cy="293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用户管理</a:t>
            </a:r>
            <a:r>
              <a:rPr lang="zh-CN" altLang="en-US" sz="2400" dirty="0">
                <a:solidFill>
                  <a:srgbClr val="1353A2"/>
                </a:solidFill>
              </a:rPr>
              <a:t>即对用户账号进行的管理，包括</a:t>
            </a:r>
            <a:r>
              <a:rPr lang="zh-CN" altLang="en-US" sz="2400" dirty="0">
                <a:solidFill>
                  <a:srgbClr val="00B0F0"/>
                </a:solidFill>
              </a:rPr>
              <a:t>账号的添加、密码设置、修改和删除</a:t>
            </a:r>
            <a:r>
              <a:rPr lang="zh-CN" altLang="en-US" sz="2400" dirty="0">
                <a:solidFill>
                  <a:srgbClr val="1353A2"/>
                </a:solidFill>
              </a:rPr>
              <a:t>；</a:t>
            </a:r>
            <a:r>
              <a:rPr lang="zh-CN" altLang="en-US" sz="2400" dirty="0">
                <a:solidFill>
                  <a:srgbClr val="FF0000"/>
                </a:solidFill>
              </a:rPr>
              <a:t>用户组管理</a:t>
            </a:r>
            <a:r>
              <a:rPr lang="zh-CN" altLang="en-US" sz="2400" dirty="0">
                <a:solidFill>
                  <a:srgbClr val="1353A2"/>
                </a:solidFill>
              </a:rPr>
              <a:t>包括</a:t>
            </a:r>
            <a:r>
              <a:rPr lang="zh-CN" altLang="en-US" sz="2400" dirty="0">
                <a:solidFill>
                  <a:srgbClr val="00B0F0"/>
                </a:solidFill>
              </a:rPr>
              <a:t>用户组的添加、更改和删除操作、用户组切换等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96286" y="2058334"/>
            <a:ext cx="10777555" cy="441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400" dirty="0"/>
              <a:t>一个安全的系统，系统登陆密码是必要的。在登陆的时候，系统会验证用户名和密码，验证合格才能登陆，这样既起到了身份识别的作用，更能在一定程度上避免系统受到意外攻击。</a:t>
            </a:r>
          </a:p>
          <a:p>
            <a:pPr>
              <a:lnSpc>
                <a:spcPct val="200000"/>
              </a:lnSpc>
            </a:pPr>
            <a:r>
              <a:rPr lang="zh-CN" altLang="en-US" sz="2400" dirty="0"/>
              <a:t>      我们熟悉的</a:t>
            </a:r>
            <a:r>
              <a:rPr lang="en-US" altLang="zh-CN" sz="2400" dirty="0"/>
              <a:t>Windows</a:t>
            </a:r>
            <a:r>
              <a:rPr lang="zh-CN" altLang="en-US" sz="2400" dirty="0"/>
              <a:t>操作系统的密码是存储在</a:t>
            </a:r>
            <a:r>
              <a:rPr lang="en-US" altLang="zh-CN" sz="2400" dirty="0">
                <a:solidFill>
                  <a:srgbClr val="0070C0"/>
                </a:solidFill>
              </a:rPr>
              <a:t>c:\windows\system32\config\sam </a:t>
            </a:r>
            <a:r>
              <a:rPr lang="zh-CN" altLang="en-US" sz="2400" dirty="0"/>
              <a:t>里，</a:t>
            </a:r>
            <a:r>
              <a:rPr lang="zh-CN" altLang="en-US" sz="2400" dirty="0">
                <a:solidFill>
                  <a:srgbClr val="FF0000"/>
                </a:solidFill>
              </a:rPr>
              <a:t>那么</a:t>
            </a:r>
            <a:r>
              <a:rPr lang="en-US" altLang="zh-CN" sz="2400" dirty="0">
                <a:solidFill>
                  <a:srgbClr val="FF0000"/>
                </a:solidFill>
              </a:rPr>
              <a:t>Linux</a:t>
            </a:r>
            <a:r>
              <a:rPr lang="zh-CN" altLang="en-US" sz="2400" dirty="0">
                <a:solidFill>
                  <a:srgbClr val="FF0000"/>
                </a:solidFill>
              </a:rPr>
              <a:t>关于用户相关配置是存放在哪里的呢？</a:t>
            </a:r>
          </a:p>
        </p:txBody>
      </p:sp>
      <p:grpSp>
        <p:nvGrpSpPr>
          <p:cNvPr id="2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3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4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用户账号配置文件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96286" y="2058334"/>
            <a:ext cx="10777555" cy="293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文件“</a:t>
            </a:r>
            <a:r>
              <a:rPr lang="en-US" altLang="zh-CN" sz="2400" dirty="0">
                <a:solidFill>
                  <a:srgbClr val="FF0000"/>
                </a:solidFill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</a:rPr>
              <a:t>etc</a:t>
            </a:r>
            <a:r>
              <a:rPr lang="en-US" altLang="zh-CN" sz="2400" dirty="0">
                <a:solidFill>
                  <a:srgbClr val="FF0000"/>
                </a:solidFill>
              </a:rPr>
              <a:t>/passwd</a:t>
            </a:r>
            <a:r>
              <a:rPr lang="en-US" altLang="zh-CN" sz="2400" dirty="0"/>
              <a:t>”</a:t>
            </a:r>
            <a:r>
              <a:rPr lang="zh-CN" altLang="en-US" sz="2400" dirty="0"/>
              <a:t>以行为单位，每行以冒号分隔为</a:t>
            </a:r>
            <a:r>
              <a:rPr lang="en-US" altLang="zh-CN" sz="2400" dirty="0"/>
              <a:t>7</a:t>
            </a:r>
            <a:r>
              <a:rPr lang="zh-CN" altLang="en-US" sz="2400" dirty="0"/>
              <a:t>个数据域，保存用户的账号信息。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由于所有用户都对</a:t>
            </a:r>
            <a:r>
              <a:rPr lang="en-US" altLang="zh-CN" sz="2400" dirty="0"/>
              <a:t>passwd</a:t>
            </a:r>
            <a:r>
              <a:rPr lang="zh-CN" altLang="en-US" sz="2400" dirty="0"/>
              <a:t>有读权限，所以该文件中只定义用户账号，而不保存口令。</a:t>
            </a:r>
          </a:p>
        </p:txBody>
      </p:sp>
      <p:grpSp>
        <p:nvGrpSpPr>
          <p:cNvPr id="2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3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4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用户账号配置文件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3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4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用户账号文件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“/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etc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/passwd”</a:t>
              </a:r>
              <a:endParaRPr lang="zh-CN" altLang="en-US" sz="32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t="87428" r="22975" b="6471"/>
          <a:stretch>
            <a:fillRect/>
          </a:stretch>
        </p:blipFill>
        <p:spPr>
          <a:xfrm>
            <a:off x="687363" y="2509664"/>
            <a:ext cx="10817274" cy="344987"/>
          </a:xfrm>
          <a:prstGeom prst="rect">
            <a:avLst/>
          </a:prstGeom>
        </p:spPr>
      </p:pic>
      <p:sp>
        <p:nvSpPr>
          <p:cNvPr id="10" name="圆角矩形标注 54278"/>
          <p:cNvSpPr/>
          <p:nvPr/>
        </p:nvSpPr>
        <p:spPr>
          <a:xfrm>
            <a:off x="5138583" y="3603680"/>
            <a:ext cx="3124200" cy="1752600"/>
          </a:xfrm>
          <a:prstGeom prst="wedgeRoundRectCallout">
            <a:avLst>
              <a:gd name="adj1" fmla="val -64838"/>
              <a:gd name="adj2" fmla="val -97102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在</a:t>
            </a:r>
            <a:r>
              <a:rPr lang="en-US" altLang="zh-CN" sz="2400" dirty="0" err="1">
                <a:latin typeface="等线" panose="02010600030101010101" charset="-122"/>
                <a:ea typeface="等线" panose="02010600030101010101" charset="-122"/>
              </a:rPr>
              <a:t>passwd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文件中，每行定义了一个用户信息，行中各字段用“：”隔开。</a:t>
            </a:r>
          </a:p>
        </p:txBody>
      </p:sp>
      <p:sp>
        <p:nvSpPr>
          <p:cNvPr id="11" name="圆角矩形标注 54279"/>
          <p:cNvSpPr/>
          <p:nvPr/>
        </p:nvSpPr>
        <p:spPr>
          <a:xfrm>
            <a:off x="767500" y="3522521"/>
            <a:ext cx="2399786" cy="1636213"/>
          </a:xfrm>
          <a:prstGeom prst="wedgeRoundRectCallout">
            <a:avLst>
              <a:gd name="adj1" fmla="val -30338"/>
              <a:gd name="adj2" fmla="val -90694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 dirty="0">
                <a:latin typeface="等线" panose="02010600030101010101" charset="-122"/>
                <a:ea typeface="等线" panose="02010600030101010101" charset="-122"/>
              </a:rPr>
              <a:t>Account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：使用者在系统中的名字，它不能包含大写字母。</a:t>
            </a:r>
          </a:p>
        </p:txBody>
      </p:sp>
      <p:sp>
        <p:nvSpPr>
          <p:cNvPr id="12" name="圆角矩形标注 54280"/>
          <p:cNvSpPr/>
          <p:nvPr/>
        </p:nvSpPr>
        <p:spPr>
          <a:xfrm>
            <a:off x="1866935" y="3723318"/>
            <a:ext cx="3581400" cy="2438400"/>
          </a:xfrm>
          <a:prstGeom prst="wedgeRoundRectCallout">
            <a:avLst>
              <a:gd name="adj1" fmla="val -28722"/>
              <a:gd name="adj2" fmla="val -88023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 dirty="0">
                <a:latin typeface="等线" panose="02010600030101010101" charset="-122"/>
                <a:ea typeface="等线" panose="02010600030101010101" charset="-122"/>
              </a:rPr>
              <a:t>Password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：用户口令，出于安全考虑，现在不使用该字段保存口令，而用字母“</a:t>
            </a:r>
            <a:r>
              <a:rPr lang="en-US" altLang="zh-CN" sz="2400" dirty="0">
                <a:latin typeface="等线" panose="02010600030101010101" charset="-122"/>
                <a:ea typeface="等线" panose="02010600030101010101" charset="-122"/>
              </a:rPr>
              <a:t>x”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来填充该字段，真正的密码保存在</a:t>
            </a:r>
            <a:r>
              <a:rPr lang="en-US" altLang="zh-CN" sz="24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shadow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文件。</a:t>
            </a:r>
          </a:p>
        </p:txBody>
      </p:sp>
      <p:sp>
        <p:nvSpPr>
          <p:cNvPr id="13" name="圆角矩形标注 54281"/>
          <p:cNvSpPr/>
          <p:nvPr/>
        </p:nvSpPr>
        <p:spPr>
          <a:xfrm>
            <a:off x="2623983" y="3710934"/>
            <a:ext cx="2514600" cy="1447800"/>
          </a:xfrm>
          <a:prstGeom prst="wedgeRoundRectCallout">
            <a:avLst>
              <a:gd name="adj1" fmla="val -18875"/>
              <a:gd name="adj2" fmla="val -115130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>
                <a:latin typeface="等线" panose="02010600030101010101" charset="-122"/>
                <a:ea typeface="等线" panose="02010600030101010101" charset="-122"/>
              </a:rPr>
              <a:t>UID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：用户 </a:t>
            </a:r>
            <a:r>
              <a:rPr lang="en-US" altLang="zh-CN" sz="2400">
                <a:latin typeface="等线" panose="02010600030101010101" charset="-122"/>
                <a:ea typeface="等线" panose="02010600030101010101" charset="-122"/>
              </a:rPr>
              <a:t>ID 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号，惟一表示某用户的数字。</a:t>
            </a:r>
          </a:p>
        </p:txBody>
      </p:sp>
      <p:sp>
        <p:nvSpPr>
          <p:cNvPr id="14" name="圆角矩形标注 54282"/>
          <p:cNvSpPr/>
          <p:nvPr/>
        </p:nvSpPr>
        <p:spPr>
          <a:xfrm>
            <a:off x="3522816" y="3643926"/>
            <a:ext cx="2971800" cy="1752600"/>
          </a:xfrm>
          <a:prstGeom prst="wedgeRoundRectCallout">
            <a:avLst>
              <a:gd name="adj1" fmla="val -26227"/>
              <a:gd name="adj2" fmla="val -99458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>
                <a:latin typeface="等线" panose="02010600030101010101" charset="-122"/>
                <a:ea typeface="等线" panose="02010600030101010101" charset="-122"/>
              </a:rPr>
              <a:t>GID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：用户所属的私有组号，该数字对应</a:t>
            </a:r>
            <a:r>
              <a:rPr lang="en-US" altLang="zh-CN" sz="2400">
                <a:latin typeface="等线" panose="02010600030101010101" charset="-122"/>
                <a:ea typeface="等线" panose="02010600030101010101" charset="-122"/>
              </a:rPr>
              <a:t>group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文件中的</a:t>
            </a:r>
            <a:r>
              <a:rPr lang="en-US" altLang="zh-CN" sz="2400">
                <a:latin typeface="等线" panose="02010600030101010101" charset="-122"/>
                <a:ea typeface="等线" panose="02010600030101010101" charset="-122"/>
              </a:rPr>
              <a:t>GID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。</a:t>
            </a:r>
          </a:p>
        </p:txBody>
      </p:sp>
      <p:sp>
        <p:nvSpPr>
          <p:cNvPr id="15" name="圆角矩形标注 54283"/>
          <p:cNvSpPr/>
          <p:nvPr/>
        </p:nvSpPr>
        <p:spPr>
          <a:xfrm>
            <a:off x="5176683" y="3723318"/>
            <a:ext cx="2514600" cy="1447800"/>
          </a:xfrm>
          <a:prstGeom prst="wedgeRoundRectCallout">
            <a:avLst>
              <a:gd name="adj1" fmla="val -32259"/>
              <a:gd name="adj2" fmla="val -114144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>
                <a:latin typeface="等线" panose="02010600030101010101" charset="-122"/>
                <a:ea typeface="等线" panose="02010600030101010101" charset="-122"/>
              </a:rPr>
              <a:t>GECOS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：用户名全称，这字段是可选的。</a:t>
            </a:r>
          </a:p>
        </p:txBody>
      </p:sp>
      <p:sp>
        <p:nvSpPr>
          <p:cNvPr id="16" name="圆角矩形标注 54284"/>
          <p:cNvSpPr/>
          <p:nvPr/>
        </p:nvSpPr>
        <p:spPr>
          <a:xfrm>
            <a:off x="7494624" y="3751287"/>
            <a:ext cx="2514600" cy="1676400"/>
          </a:xfrm>
          <a:prstGeom prst="wedgeRoundRectCallout">
            <a:avLst>
              <a:gd name="adj1" fmla="val -32384"/>
              <a:gd name="adj2" fmla="val -105301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>
                <a:latin typeface="等线" panose="02010600030101010101" charset="-122"/>
                <a:ea typeface="等线" panose="02010600030101010101" charset="-122"/>
              </a:rPr>
              <a:t>Directory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：用户的主目录，用户成功登录后的默认目录。</a:t>
            </a:r>
          </a:p>
        </p:txBody>
      </p:sp>
      <p:sp>
        <p:nvSpPr>
          <p:cNvPr id="17" name="圆角矩形标注 54285"/>
          <p:cNvSpPr/>
          <p:nvPr/>
        </p:nvSpPr>
        <p:spPr>
          <a:xfrm>
            <a:off x="9634383" y="3795123"/>
            <a:ext cx="2514600" cy="1676400"/>
          </a:xfrm>
          <a:prstGeom prst="wedgeRoundRectCallout">
            <a:avLst>
              <a:gd name="adj1" fmla="val -43685"/>
              <a:gd name="adj2" fmla="val -106250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 dirty="0">
                <a:latin typeface="等线" panose="02010600030101010101" charset="-122"/>
                <a:ea typeface="等线" panose="02010600030101010101" charset="-122"/>
              </a:rPr>
              <a:t>Shell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：用户所使用的</a:t>
            </a:r>
            <a:r>
              <a:rPr lang="en-US" altLang="zh-CN" sz="2400" dirty="0">
                <a:latin typeface="等线" panose="02010600030101010101" charset="-122"/>
                <a:ea typeface="等线" panose="02010600030101010101" charset="-122"/>
              </a:rPr>
              <a:t>shell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，如该字段为空则使用“</a:t>
            </a:r>
            <a:r>
              <a:rPr lang="en-US" altLang="zh-CN" sz="2400" dirty="0">
                <a:latin typeface="等线" panose="02010600030101010101" charset="-122"/>
                <a:ea typeface="等线" panose="02010600030101010101" charset="-122"/>
              </a:rPr>
              <a:t>/bin/</a:t>
            </a:r>
            <a:r>
              <a:rPr lang="en-US" altLang="zh-CN" sz="2400" dirty="0" err="1">
                <a:latin typeface="等线" panose="02010600030101010101" charset="-122"/>
                <a:ea typeface="等线" panose="02010600030101010101" charset="-122"/>
              </a:rPr>
              <a:t>sh</a:t>
            </a:r>
            <a:r>
              <a:rPr lang="en-US" altLang="zh-CN" sz="2400" dirty="0">
                <a:latin typeface="等线" panose="02010600030101010101" charset="-122"/>
                <a:ea typeface="等线" panose="02010600030101010101" charset="-122"/>
              </a:rPr>
              <a:t>”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5"/>
          <p:cNvGrpSpPr/>
          <p:nvPr/>
        </p:nvGrpSpPr>
        <p:grpSpPr>
          <a:xfrm>
            <a:off x="840784" y="1196752"/>
            <a:ext cx="10510431" cy="1484778"/>
            <a:chOff x="395441" y="968316"/>
            <a:chExt cx="10072179" cy="1484778"/>
          </a:xfrm>
          <a:solidFill>
            <a:srgbClr val="39A2FE"/>
          </a:solidFill>
        </p:grpSpPr>
        <p:sp>
          <p:nvSpPr>
            <p:cNvPr id="3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4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14826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用户口令文件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“/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etc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/shadow”</a:t>
              </a:r>
              <a:br>
                <a:rPr lang="en-US" altLang="zh-CN" sz="3200" b="1" dirty="0">
                  <a:solidFill>
                    <a:schemeClr val="bg1"/>
                  </a:solidFill>
                </a:rPr>
              </a:br>
              <a:endParaRPr lang="zh-CN" alt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197130" y="2585691"/>
            <a:ext cx="9797740" cy="523220"/>
            <a:chOff x="840785" y="2585691"/>
            <a:chExt cx="9797740" cy="52322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3"/>
            <a:srcRect r="79557"/>
            <a:stretch>
              <a:fillRect/>
            </a:stretch>
          </p:blipFill>
          <p:spPr>
            <a:xfrm>
              <a:off x="840785" y="2681530"/>
              <a:ext cx="4528884" cy="26998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/>
            <a:srcRect l="81348"/>
            <a:stretch>
              <a:fillRect/>
            </a:stretch>
          </p:blipFill>
          <p:spPr>
            <a:xfrm>
              <a:off x="6506372" y="2681530"/>
              <a:ext cx="4132153" cy="269989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5515275" y="2585691"/>
              <a:ext cx="7681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……</a:t>
              </a:r>
              <a:endParaRPr lang="zh-CN" altLang="en-US" sz="2800" b="1" dirty="0"/>
            </a:p>
          </p:txBody>
        </p:sp>
      </p:grpSp>
      <p:sp>
        <p:nvSpPr>
          <p:cNvPr id="20" name="圆角矩形标注 47112"/>
          <p:cNvSpPr/>
          <p:nvPr/>
        </p:nvSpPr>
        <p:spPr>
          <a:xfrm>
            <a:off x="1701798" y="3807594"/>
            <a:ext cx="1219200" cy="609600"/>
          </a:xfrm>
          <a:prstGeom prst="wedgeRoundRectCallout">
            <a:avLst>
              <a:gd name="adj1" fmla="val -35676"/>
              <a:gd name="adj2" fmla="val -202606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登录名</a:t>
            </a:r>
          </a:p>
        </p:txBody>
      </p:sp>
      <p:sp>
        <p:nvSpPr>
          <p:cNvPr id="21" name="圆角矩形标注 47111"/>
          <p:cNvSpPr/>
          <p:nvPr/>
        </p:nvSpPr>
        <p:spPr>
          <a:xfrm>
            <a:off x="3340911" y="3784086"/>
            <a:ext cx="3124200" cy="1752600"/>
          </a:xfrm>
          <a:prstGeom prst="wedgeRoundRectCallout">
            <a:avLst>
              <a:gd name="adj1" fmla="val -64838"/>
              <a:gd name="adj2" fmla="val -97102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在</a:t>
            </a:r>
            <a:r>
              <a:rPr lang="en-US" altLang="zh-CN" sz="2400">
                <a:latin typeface="Arial" panose="020B0604020202020204" pitchFamily="34" charset="0"/>
              </a:rPr>
              <a:t>shadow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文件中，每行定义了一个用户信息，行中各字段用“：”隔开。</a:t>
            </a:r>
          </a:p>
        </p:txBody>
      </p:sp>
      <p:sp>
        <p:nvSpPr>
          <p:cNvPr id="22" name="圆角矩形标注 47113"/>
          <p:cNvSpPr/>
          <p:nvPr/>
        </p:nvSpPr>
        <p:spPr>
          <a:xfrm>
            <a:off x="7105850" y="3906482"/>
            <a:ext cx="1676400" cy="609600"/>
          </a:xfrm>
          <a:prstGeom prst="wedgeRoundRectCallout">
            <a:avLst>
              <a:gd name="adj1" fmla="val -21495"/>
              <a:gd name="adj2" fmla="val -204690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加密口令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40784" y="2481262"/>
            <a:ext cx="3130312" cy="338091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Linux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系统是一个多用户、多任务的系统，多个用户可同时对同一个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Linux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系统进行操作。一般情况下使用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useradd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命令添加用户，该命令的格式如下：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useradd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选项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用户名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用户账号添加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030911" y="2481260"/>
          <a:ext cx="7320303" cy="341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0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0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选项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说明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70C0"/>
                          </a:solidFill>
                          <a:effectLst/>
                        </a:rPr>
                        <a:t>-d</a:t>
                      </a:r>
                      <a:endParaRPr lang="zh-CN" sz="16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指定用户登入时的目录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7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-c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指定账户的备注文字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7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-e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指定账号的有效期限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-f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缓冲天数，密码过期时在指定天数后关闭该账号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7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70C0"/>
                          </a:solidFill>
                          <a:effectLst/>
                        </a:rPr>
                        <a:t>-g</a:t>
                      </a:r>
                      <a:endParaRPr lang="zh-CN" sz="16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指定用户所属组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7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-G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指定用户所属的附加用户组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7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70C0"/>
                          </a:solidFill>
                          <a:effectLst/>
                        </a:rPr>
                        <a:t>-m</a:t>
                      </a:r>
                      <a:endParaRPr lang="zh-CN" sz="16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自动建立用户的登入目录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7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-r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创建系统账号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7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-s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指定用户的登陆</a:t>
                      </a:r>
                      <a:r>
                        <a:rPr lang="en-US" sz="1600" kern="100">
                          <a:effectLst/>
                        </a:rPr>
                        <a:t>shell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9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70C0"/>
                          </a:solidFill>
                          <a:effectLst/>
                        </a:rPr>
                        <a:t>-u</a:t>
                      </a:r>
                      <a:endParaRPr lang="zh-CN" sz="16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指定用户的用户</a:t>
                      </a:r>
                      <a:r>
                        <a:rPr lang="en-US" sz="1600" kern="100" dirty="0">
                          <a:effectLst/>
                        </a:rPr>
                        <a:t>ID</a:t>
                      </a:r>
                      <a:r>
                        <a:rPr lang="zh-CN" sz="1600" kern="100" dirty="0">
                          <a:effectLst/>
                        </a:rPr>
                        <a:t>。若添加</a:t>
                      </a:r>
                      <a:r>
                        <a:rPr lang="en-US" sz="1600" kern="100" dirty="0">
                          <a:effectLst/>
                        </a:rPr>
                        <a:t>-o</a:t>
                      </a:r>
                      <a:r>
                        <a:rPr lang="zh-CN" sz="1600" kern="100" dirty="0">
                          <a:effectLst/>
                        </a:rPr>
                        <a:t>选项，则用户</a:t>
                      </a:r>
                      <a:r>
                        <a:rPr lang="en-US" sz="1600" kern="100" dirty="0">
                          <a:effectLst/>
                        </a:rPr>
                        <a:t>ID</a:t>
                      </a:r>
                      <a:r>
                        <a:rPr lang="zh-CN" sz="1600" kern="100" dirty="0">
                          <a:effectLst/>
                        </a:rPr>
                        <a:t>可与其它用户重复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7023" marR="107023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用户账号添加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602789" y="2219627"/>
            <a:ext cx="10983786" cy="1753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useradd</a:t>
            </a:r>
            <a:r>
              <a:rPr lang="en-US" altLang="zh-CN" sz="2400" dirty="0">
                <a:solidFill>
                  <a:srgbClr val="1353A2"/>
                </a:solidFill>
              </a:rPr>
              <a:t> –d /</a:t>
            </a:r>
            <a:r>
              <a:rPr lang="en-US" altLang="zh-CN" sz="2400" dirty="0" err="1">
                <a:solidFill>
                  <a:srgbClr val="1353A2"/>
                </a:solidFill>
              </a:rPr>
              <a:t>usr</a:t>
            </a:r>
            <a:r>
              <a:rPr lang="en-US" altLang="zh-CN" sz="2400" dirty="0">
                <a:solidFill>
                  <a:srgbClr val="1353A2"/>
                </a:solidFill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</a:rPr>
              <a:t>bxg</a:t>
            </a:r>
            <a:r>
              <a:rPr lang="en-US" altLang="zh-CN" sz="2400" dirty="0">
                <a:solidFill>
                  <a:srgbClr val="1353A2"/>
                </a:solidFill>
              </a:rPr>
              <a:t> –m </a:t>
            </a:r>
            <a:r>
              <a:rPr lang="en-US" altLang="zh-CN" sz="2400" dirty="0" err="1">
                <a:solidFill>
                  <a:srgbClr val="1353A2"/>
                </a:solidFill>
              </a:rPr>
              <a:t>bxg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</a:t>
            </a:r>
            <a:r>
              <a:rPr lang="en-US" altLang="zh-CN" sz="2400" dirty="0" err="1">
                <a:solidFill>
                  <a:srgbClr val="FF0000"/>
                </a:solidFill>
              </a:rPr>
              <a:t>useradd</a:t>
            </a:r>
            <a:r>
              <a:rPr lang="en-US" altLang="zh-CN" sz="2400" dirty="0">
                <a:solidFill>
                  <a:srgbClr val="1353A2"/>
                </a:solidFill>
              </a:rPr>
              <a:t> –s /bin/</a:t>
            </a:r>
            <a:r>
              <a:rPr lang="en-US" altLang="zh-CN" sz="2400" dirty="0" err="1">
                <a:solidFill>
                  <a:srgbClr val="1353A2"/>
                </a:solidFill>
              </a:rPr>
              <a:t>sh</a:t>
            </a:r>
            <a:r>
              <a:rPr lang="en-US" altLang="zh-CN" sz="2400" dirty="0">
                <a:solidFill>
                  <a:srgbClr val="1353A2"/>
                </a:solidFill>
              </a:rPr>
              <a:t> –g root wdjl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</a:t>
            </a:r>
            <a:r>
              <a:rPr lang="en-US" altLang="zh-CN" sz="2400" dirty="0" err="1">
                <a:solidFill>
                  <a:srgbClr val="FF0000"/>
                </a:solidFill>
              </a:rPr>
              <a:t>useradd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</a:rPr>
              <a:t>kdy</a:t>
            </a:r>
            <a:r>
              <a:rPr lang="en-US" altLang="zh-CN" sz="2400" dirty="0">
                <a:solidFill>
                  <a:srgbClr val="1353A2"/>
                </a:solidFill>
              </a:rPr>
              <a:t> –u 876</a:t>
            </a:r>
          </a:p>
        </p:txBody>
      </p:sp>
      <p:sp>
        <p:nvSpPr>
          <p:cNvPr id="11" name="Text Box 44"/>
          <p:cNvSpPr txBox="1">
            <a:spLocks noChangeArrowheads="1"/>
          </p:cNvSpPr>
          <p:nvPr/>
        </p:nvSpPr>
        <p:spPr bwMode="auto">
          <a:xfrm>
            <a:off x="604106" y="3946185"/>
            <a:ext cx="10983786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说明：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5315" y="4509094"/>
            <a:ext cx="10745792" cy="64633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①可通过查看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passwd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文件，查看已存在的用户。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8993" y="5156938"/>
            <a:ext cx="6186309" cy="64633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②创建账号的用户需有创建账号的权限。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776" y="3931422"/>
            <a:ext cx="8235120" cy="20636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/>
      <p:bldP spid="11" grpId="1"/>
      <p:bldP spid="16" grpId="0"/>
      <p:bldP spid="16" grpId="1"/>
      <p:bldP spid="3" grpId="0"/>
      <p:bldP spid="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40784" y="2205972"/>
            <a:ext cx="10510432" cy="147667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设置用户密码的命令是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passwd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，该命令用于设置用户的认证信息，包括用户密码、密码有效期等，命令的格式如下：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passwd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选项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用户名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设置用户密码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360966" y="3832766"/>
          <a:ext cx="9801702" cy="18791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9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选项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157" marR="12715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说明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157" marR="12715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-l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157" marR="12715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锁定密码，锁定后密码失效，无法登陆（新用户默认锁定）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157" marR="12715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-d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157" marR="12715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删除密码，仅系统管理员可使用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157" marR="12715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-S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157" marR="12715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列出密码相关信息，仅系统管理员可使用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157" marR="12715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6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-f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157" marR="12715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强行执行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157" marR="127157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613" y="2904579"/>
            <a:ext cx="6957730" cy="2870412"/>
          </a:xfrm>
          <a:prstGeom prst="rect">
            <a:avLst/>
          </a:prstGeom>
        </p:spPr>
      </p:pic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602789" y="2219627"/>
            <a:ext cx="10983786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passwd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</a:rPr>
              <a:t>bxg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5" name="矩形标注 4"/>
          <p:cNvSpPr/>
          <p:nvPr/>
        </p:nvSpPr>
        <p:spPr>
          <a:xfrm>
            <a:off x="5333450" y="4174120"/>
            <a:ext cx="1251220" cy="331329"/>
          </a:xfrm>
          <a:prstGeom prst="wedgeRectCallout">
            <a:avLst>
              <a:gd name="adj1" fmla="val -213408"/>
              <a:gd name="adj2" fmla="val 662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密码输入</a:t>
            </a:r>
          </a:p>
        </p:txBody>
      </p:sp>
      <p:sp>
        <p:nvSpPr>
          <p:cNvPr id="18" name="矩形标注 17"/>
          <p:cNvSpPr/>
          <p:nvPr/>
        </p:nvSpPr>
        <p:spPr>
          <a:xfrm>
            <a:off x="6584670" y="4609344"/>
            <a:ext cx="1251220" cy="331329"/>
          </a:xfrm>
          <a:prstGeom prst="wedgeRectCallout">
            <a:avLst>
              <a:gd name="adj1" fmla="val -213408"/>
              <a:gd name="adj2" fmla="val 662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密码确认</a:t>
            </a:r>
          </a:p>
        </p:txBody>
      </p:sp>
      <p:grpSp>
        <p:nvGrpSpPr>
          <p:cNvPr id="19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20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21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设置用户密码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4"/>
          <p:cNvSpPr txBox="1">
            <a:spLocks noChangeArrowheads="1"/>
          </p:cNvSpPr>
          <p:nvPr/>
        </p:nvSpPr>
        <p:spPr bwMode="auto">
          <a:xfrm>
            <a:off x="840784" y="2208789"/>
            <a:ext cx="10983786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注意：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①</a:t>
            </a:r>
            <a:r>
              <a:rPr lang="en-US" altLang="zh-CN" sz="2400" dirty="0">
                <a:solidFill>
                  <a:srgbClr val="FF0000"/>
                </a:solidFill>
              </a:rPr>
              <a:t>root</a:t>
            </a:r>
            <a:r>
              <a:rPr lang="zh-CN" altLang="en-US" sz="2400" dirty="0">
                <a:solidFill>
                  <a:srgbClr val="1353A2"/>
                </a:solidFill>
              </a:rPr>
              <a:t>用户可</a:t>
            </a:r>
            <a:r>
              <a:rPr lang="zh-CN" altLang="en-US" sz="2400" dirty="0">
                <a:solidFill>
                  <a:srgbClr val="FF0000"/>
                </a:solidFill>
              </a:rPr>
              <a:t>随意修改</a:t>
            </a:r>
            <a:r>
              <a:rPr lang="zh-CN" altLang="en-US" sz="2400" dirty="0">
                <a:solidFill>
                  <a:srgbClr val="1353A2"/>
                </a:solidFill>
              </a:rPr>
              <a:t>密码，即便出现警告，也可成功保存。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②普通用户在设置密码时应尽量复杂，避免与用户名相同。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③修改</a:t>
            </a:r>
            <a:r>
              <a:rPr lang="zh-CN" altLang="en-US" sz="2400" dirty="0">
                <a:solidFill>
                  <a:srgbClr val="FF0000"/>
                </a:solidFill>
              </a:rPr>
              <a:t>当前登陆账户</a:t>
            </a:r>
            <a:r>
              <a:rPr lang="zh-CN" altLang="en-US" sz="2400" dirty="0">
                <a:solidFill>
                  <a:srgbClr val="1353A2"/>
                </a:solidFill>
              </a:rPr>
              <a:t>的密码时，可缺省用户名。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④用户密码保存在文件</a:t>
            </a:r>
            <a:r>
              <a:rPr lang="en-US" altLang="zh-CN" sz="2400" dirty="0">
                <a:solidFill>
                  <a:srgbClr val="FF0000"/>
                </a:solidFill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</a:rPr>
              <a:t>etc</a:t>
            </a:r>
            <a:r>
              <a:rPr lang="en-US" altLang="zh-CN" sz="2400" dirty="0">
                <a:solidFill>
                  <a:srgbClr val="FF0000"/>
                </a:solidFill>
              </a:rPr>
              <a:t>/shadow</a:t>
            </a:r>
            <a:r>
              <a:rPr lang="zh-CN" altLang="en-US" sz="2400" dirty="0">
                <a:solidFill>
                  <a:srgbClr val="1353A2"/>
                </a:solidFill>
              </a:rPr>
              <a:t>中。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grpSp>
        <p:nvGrpSpPr>
          <p:cNvPr id="19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20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21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设置用户密码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4"/>
          <p:cNvSpPr txBox="1">
            <a:spLocks noChangeArrowheads="1"/>
          </p:cNvSpPr>
          <p:nvPr/>
        </p:nvSpPr>
        <p:spPr bwMode="auto">
          <a:xfrm>
            <a:off x="840784" y="2208789"/>
            <a:ext cx="10983786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使用</a:t>
            </a:r>
            <a:r>
              <a:rPr lang="en-US" altLang="zh-CN" sz="2400" dirty="0">
                <a:solidFill>
                  <a:srgbClr val="1353A2"/>
                </a:solidFill>
              </a:rPr>
              <a:t>tail</a:t>
            </a:r>
            <a:r>
              <a:rPr lang="zh-CN" altLang="en-US" sz="2400" dirty="0">
                <a:solidFill>
                  <a:srgbClr val="1353A2"/>
                </a:solidFill>
              </a:rPr>
              <a:t>命令查看</a:t>
            </a:r>
            <a:r>
              <a:rPr lang="en-US" altLang="zh-CN" sz="2400" dirty="0">
                <a:solidFill>
                  <a:srgbClr val="1353A2"/>
                </a:solidFill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</a:rPr>
              <a:t>/shadow</a:t>
            </a:r>
            <a:r>
              <a:rPr lang="zh-CN" altLang="en-US" sz="2400" dirty="0">
                <a:solidFill>
                  <a:srgbClr val="1353A2"/>
                </a:solidFill>
              </a:rPr>
              <a:t>文件，确认为账户</a:t>
            </a:r>
            <a:r>
              <a:rPr lang="en-US" altLang="zh-CN" sz="2400" dirty="0" err="1">
                <a:solidFill>
                  <a:srgbClr val="1353A2"/>
                </a:solidFill>
              </a:rPr>
              <a:t>bxg</a:t>
            </a:r>
            <a:r>
              <a:rPr lang="zh-CN" altLang="en-US" sz="2400" dirty="0">
                <a:solidFill>
                  <a:srgbClr val="1353A2"/>
                </a:solidFill>
              </a:rPr>
              <a:t>设置的密码。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863155" y="4475999"/>
            <a:ext cx="109837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说明：</a:t>
            </a:r>
            <a:endParaRPr lang="en-US" altLang="zh-CN" sz="2400" b="1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①每行对应一个账户，密码信息中的每一项以“</a:t>
            </a:r>
            <a:r>
              <a:rPr lang="en-US" altLang="zh-CN" sz="2400" dirty="0">
                <a:solidFill>
                  <a:srgbClr val="1353A2"/>
                </a:solidFill>
              </a:rPr>
              <a:t>:</a:t>
            </a:r>
            <a:r>
              <a:rPr lang="zh-CN" altLang="en-US" sz="2400" dirty="0">
                <a:solidFill>
                  <a:srgbClr val="1353A2"/>
                </a:solidFill>
              </a:rPr>
              <a:t>”分割。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②为保障账户安全，打印出的是加密后的密码信息。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grpSp>
        <p:nvGrpSpPr>
          <p:cNvPr id="12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8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9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设置用户密码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310" y="2790514"/>
            <a:ext cx="7737377" cy="2201005"/>
          </a:xfrm>
          <a:prstGeom prst="rect">
            <a:avLst/>
          </a:prstGeom>
        </p:spPr>
      </p:pic>
      <p:sp>
        <p:nvSpPr>
          <p:cNvPr id="4" name="矩形标注 4"/>
          <p:cNvSpPr/>
          <p:nvPr/>
        </p:nvSpPr>
        <p:spPr>
          <a:xfrm>
            <a:off x="10280203" y="3628351"/>
            <a:ext cx="1260487" cy="346883"/>
          </a:xfrm>
          <a:prstGeom prst="wedgeRectCallout">
            <a:avLst>
              <a:gd name="adj1" fmla="val -213408"/>
              <a:gd name="adj2" fmla="val 662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bxg</a:t>
            </a:r>
            <a:r>
              <a:rPr lang="zh-CN" altLang="en-US" b="1" dirty="0"/>
              <a:t>密码</a:t>
            </a:r>
          </a:p>
        </p:txBody>
      </p:sp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40784" y="2205972"/>
            <a:ext cx="10510432" cy="147667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删除用户账号的命令为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userdel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，该命令可删除指定账户以及与账户相关的文件和信息。命令格式如下：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userdel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选项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用户名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删除用户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60965" y="3758489"/>
          <a:ext cx="9641562" cy="1114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3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4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9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选项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080" marR="1250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说明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080" marR="1250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1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-f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080" marR="1250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强制删除用户，即便该用户为当前用户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080" marR="1250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-r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080" marR="1250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删除用户的同时，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删除</a:t>
                      </a:r>
                      <a:r>
                        <a:rPr lang="zh-CN" sz="1900" kern="100" dirty="0">
                          <a:effectLst/>
                        </a:rPr>
                        <a:t>与用户相关的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所有文件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080" marR="1250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602789" y="2219627"/>
            <a:ext cx="10983786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userdel</a:t>
            </a:r>
            <a:r>
              <a:rPr lang="en-US" altLang="zh-CN" sz="2400" dirty="0">
                <a:solidFill>
                  <a:srgbClr val="FF0000"/>
                </a:solidFill>
              </a:rPr>
              <a:t> –r </a:t>
            </a:r>
            <a:r>
              <a:rPr lang="en-US" altLang="zh-CN" sz="2400" dirty="0" err="1">
                <a:solidFill>
                  <a:srgbClr val="FF0000"/>
                </a:solidFill>
              </a:rPr>
              <a:t>kdy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	       </a:t>
            </a:r>
            <a:r>
              <a:rPr lang="zh-CN" altLang="en-US" sz="2400" dirty="0">
                <a:solidFill>
                  <a:srgbClr val="7030A0"/>
                </a:solidFill>
              </a:rPr>
              <a:t>查看文件</a:t>
            </a:r>
            <a:r>
              <a:rPr lang="en-US" altLang="zh-CN" sz="2400" dirty="0">
                <a:solidFill>
                  <a:srgbClr val="7030A0"/>
                </a:solidFill>
              </a:rPr>
              <a:t>/</a:t>
            </a:r>
            <a:r>
              <a:rPr lang="en-US" altLang="zh-CN" sz="2400" dirty="0" err="1">
                <a:solidFill>
                  <a:srgbClr val="7030A0"/>
                </a:solidFill>
              </a:rPr>
              <a:t>etc</a:t>
            </a:r>
            <a:r>
              <a:rPr lang="en-US" altLang="zh-CN" sz="2400" dirty="0">
                <a:solidFill>
                  <a:srgbClr val="7030A0"/>
                </a:solidFill>
              </a:rPr>
              <a:t>/passwd</a:t>
            </a:r>
            <a:r>
              <a:rPr lang="zh-CN" altLang="en-US" sz="2400" dirty="0">
                <a:solidFill>
                  <a:srgbClr val="7030A0"/>
                </a:solidFill>
              </a:rPr>
              <a:t>，</a:t>
            </a:r>
            <a:r>
              <a:rPr lang="en-US" altLang="zh-CN" sz="2400" dirty="0">
                <a:solidFill>
                  <a:srgbClr val="7030A0"/>
                </a:solidFill>
              </a:rPr>
              <a:t>/</a:t>
            </a:r>
            <a:r>
              <a:rPr lang="en-US" altLang="zh-CN" sz="2400" dirty="0" err="1">
                <a:solidFill>
                  <a:srgbClr val="7030A0"/>
                </a:solidFill>
              </a:rPr>
              <a:t>etc</a:t>
            </a:r>
            <a:r>
              <a:rPr lang="en-US" altLang="zh-CN" sz="2400" dirty="0">
                <a:solidFill>
                  <a:srgbClr val="7030A0"/>
                </a:solidFill>
              </a:rPr>
              <a:t>/shadow</a:t>
            </a:r>
            <a:r>
              <a:rPr lang="zh-CN" altLang="en-US" sz="2400" dirty="0">
                <a:solidFill>
                  <a:srgbClr val="7030A0"/>
                </a:solidFill>
              </a:rPr>
              <a:t>和</a:t>
            </a:r>
            <a:r>
              <a:rPr lang="en-US" altLang="zh-CN" sz="2400" dirty="0">
                <a:solidFill>
                  <a:srgbClr val="7030A0"/>
                </a:solidFill>
              </a:rPr>
              <a:t>/home</a:t>
            </a:r>
            <a:r>
              <a:rPr lang="zh-CN" altLang="en-US" sz="2400" dirty="0">
                <a:solidFill>
                  <a:srgbClr val="7030A0"/>
                </a:solidFill>
              </a:rPr>
              <a:t>目录下的变化</a:t>
            </a:r>
            <a:r>
              <a:rPr lang="en-US" altLang="zh-CN" sz="2400" dirty="0">
                <a:solidFill>
                  <a:srgbClr val="FF0000"/>
                </a:solidFill>
              </a:rPr>
              <a:t>	 </a:t>
            </a:r>
          </a:p>
        </p:txBody>
      </p:sp>
      <p:grpSp>
        <p:nvGrpSpPr>
          <p:cNvPr id="11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2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3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删除用户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461" y="3577009"/>
            <a:ext cx="8979077" cy="232827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40784" y="2205972"/>
            <a:ext cx="3944158" cy="398188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20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修改用户账号信息，即修改账号的属性，如用户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、主目录、用户组、登陆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shell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等。修改用户账号信息的命令为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usermod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，其命令格式如下：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20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usermod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选项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用户名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修改用户信息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903011" y="2268605"/>
          <a:ext cx="6407992" cy="38566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0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7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1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选项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说明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-c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修改用户账号的备注信息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70C0"/>
                          </a:solidFill>
                          <a:effectLst/>
                        </a:rPr>
                        <a:t>-d</a:t>
                      </a:r>
                      <a:endParaRPr lang="zh-CN" sz="14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修改用户的登入目录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-e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修改账号的有效期限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4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-f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修改缓冲天数，即修改密码过期后关闭账号的时间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4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70C0"/>
                          </a:solidFill>
                          <a:effectLst/>
                        </a:rPr>
                        <a:t>-g</a:t>
                      </a:r>
                      <a:endParaRPr lang="zh-CN" sz="14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修改用户所属组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4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-l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修改用户账号名称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4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-L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锁定用户密码，使密码失效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4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-s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修改用户登陆后使用的</a:t>
                      </a:r>
                      <a:r>
                        <a:rPr lang="en-US" sz="1400" kern="100" dirty="0">
                          <a:effectLst/>
                        </a:rPr>
                        <a:t>shell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4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70C0"/>
                          </a:solidFill>
                          <a:effectLst/>
                        </a:rPr>
                        <a:t>-u</a:t>
                      </a:r>
                      <a:endParaRPr lang="zh-CN" sz="14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修改用户</a:t>
                      </a:r>
                      <a:r>
                        <a:rPr lang="en-US" sz="1400" kern="100" dirty="0">
                          <a:effectLst/>
                        </a:rPr>
                        <a:t>ID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9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-U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解除密码锁定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3977" marR="93977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602789" y="2219627"/>
            <a:ext cx="10983786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usermod</a:t>
            </a:r>
            <a:r>
              <a:rPr lang="en-US" altLang="zh-CN" sz="2400" dirty="0">
                <a:solidFill>
                  <a:srgbClr val="FF0000"/>
                </a:solidFill>
              </a:rPr>
              <a:t> –u 666 </a:t>
            </a:r>
            <a:r>
              <a:rPr lang="en-US" altLang="zh-CN" sz="2400" dirty="0" err="1">
                <a:solidFill>
                  <a:srgbClr val="FF0000"/>
                </a:solidFill>
              </a:rPr>
              <a:t>bxg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grpSp>
        <p:nvGrpSpPr>
          <p:cNvPr id="11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2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3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修改用户信息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006" y="2791907"/>
            <a:ext cx="8961987" cy="3679893"/>
          </a:xfrm>
          <a:prstGeom prst="rect">
            <a:avLst/>
          </a:prstGeom>
        </p:spPr>
      </p:pic>
      <p:sp>
        <p:nvSpPr>
          <p:cNvPr id="4" name="矩形标注 4"/>
          <p:cNvSpPr/>
          <p:nvPr/>
        </p:nvSpPr>
        <p:spPr>
          <a:xfrm>
            <a:off x="8111122" y="3981405"/>
            <a:ext cx="1251220" cy="331329"/>
          </a:xfrm>
          <a:prstGeom prst="wedgeRectCallout">
            <a:avLst>
              <a:gd name="adj1" fmla="val -213408"/>
              <a:gd name="adj2" fmla="val 662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修改前</a:t>
            </a:r>
          </a:p>
        </p:txBody>
      </p:sp>
      <p:sp>
        <p:nvSpPr>
          <p:cNvPr id="5" name="矩形标注 4"/>
          <p:cNvSpPr/>
          <p:nvPr/>
        </p:nvSpPr>
        <p:spPr>
          <a:xfrm>
            <a:off x="7911416" y="5493455"/>
            <a:ext cx="1251220" cy="331329"/>
          </a:xfrm>
          <a:prstGeom prst="wedgeRectCallout">
            <a:avLst>
              <a:gd name="adj1" fmla="val -213408"/>
              <a:gd name="adj2" fmla="val 662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修改后</a:t>
            </a:r>
          </a:p>
        </p:txBody>
      </p:sp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4869437" y="1776633"/>
            <a:ext cx="6252691" cy="3905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用户组是用户的集合。通常将用户进行分类归组，便于进行访问控制。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用户与用户组属于</a:t>
            </a:r>
            <a:r>
              <a:rPr lang="zh-CN" altLang="en-US" sz="2400" dirty="0">
                <a:solidFill>
                  <a:srgbClr val="FF0000"/>
                </a:solidFill>
              </a:rPr>
              <a:t>多对多</a:t>
            </a:r>
            <a:r>
              <a:rPr lang="zh-CN" altLang="en-US" sz="2400" dirty="0">
                <a:solidFill>
                  <a:srgbClr val="1353A2"/>
                </a:solidFill>
              </a:rPr>
              <a:t>的关系，一个用户可以同时属于多个用户组，一个用户组可以包含多个不同的用户。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每个用户都有一个</a:t>
            </a:r>
            <a:r>
              <a:rPr lang="zh-CN" altLang="en-US" sz="2400" dirty="0">
                <a:solidFill>
                  <a:srgbClr val="FF0000"/>
                </a:solidFill>
              </a:rPr>
              <a:t>唯一</a:t>
            </a:r>
            <a:r>
              <a:rPr lang="zh-CN" altLang="en-US" sz="2400" dirty="0">
                <a:solidFill>
                  <a:srgbClr val="1353A2"/>
                </a:solidFill>
              </a:rPr>
              <a:t>的归属组（私有组、基本组）。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362" y="1409178"/>
            <a:ext cx="3318857" cy="4639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40740" y="2431415"/>
            <a:ext cx="10510520" cy="280479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若用户被创建时</a:t>
            </a:r>
            <a:r>
              <a:rPr lang="zh-CN" altLang="en-US" sz="20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没有指定用户组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，系统会为用户创建一个与用户名相同的组，这个组就是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基本组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，若在某个用户的目录中创建文件，文件的所属组，就是用户的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基本组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另外可以为用户</a:t>
            </a:r>
            <a:r>
              <a:rPr lang="zh-CN" altLang="en-US" sz="20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指定附加组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，除基本组之外，用户所在的组都是附加组，为用户指定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附加组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，可以使用户拥有对应组的权限。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用户组切换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用户组切换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865835" y="2331491"/>
            <a:ext cx="1048537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  <a:r>
              <a:rPr lang="zh-CN" altLang="en-US" sz="2400" dirty="0">
                <a:solidFill>
                  <a:srgbClr val="1353A2"/>
                </a:solidFill>
              </a:rPr>
              <a:t>创建用户并为其指定附属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</a:rPr>
              <a:t>useradd</a:t>
            </a:r>
            <a:r>
              <a:rPr lang="en-US" altLang="zh-CN" sz="2400" dirty="0">
                <a:solidFill>
                  <a:srgbClr val="1353A2"/>
                </a:solidFill>
              </a:rPr>
              <a:t> admin –G </a:t>
            </a:r>
            <a:r>
              <a:rPr lang="en-US" altLang="zh-CN" sz="2400" dirty="0" err="1">
                <a:solidFill>
                  <a:srgbClr val="1353A2"/>
                </a:solidFill>
              </a:rPr>
              <a:t>brucefang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</a:rPr>
              <a:t>passwd</a:t>
            </a:r>
            <a:r>
              <a:rPr lang="en-US" altLang="zh-CN" sz="2400" dirty="0">
                <a:solidFill>
                  <a:srgbClr val="1353A2"/>
                </a:solidFill>
              </a:rPr>
              <a:t> admin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31897"/>
            <a:ext cx="4765464" cy="272722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4903011" y="2144220"/>
            <a:ext cx="6252691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注意：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每个用户都有一个</a:t>
            </a:r>
            <a:r>
              <a:rPr lang="zh-CN" altLang="en-US" sz="2400" dirty="0">
                <a:solidFill>
                  <a:srgbClr val="FF0000"/>
                </a:solidFill>
              </a:rPr>
              <a:t>用户组</a:t>
            </a:r>
            <a:r>
              <a:rPr lang="zh-CN" altLang="en-US" sz="2400" dirty="0">
                <a:solidFill>
                  <a:srgbClr val="1353A2"/>
                </a:solidFill>
              </a:rPr>
              <a:t>，若在创建账户时</a:t>
            </a:r>
            <a:r>
              <a:rPr lang="zh-CN" altLang="en-US" sz="2400" b="1" dirty="0">
                <a:solidFill>
                  <a:srgbClr val="1353A2"/>
                </a:solidFill>
              </a:rPr>
              <a:t>未指定</a:t>
            </a:r>
            <a:r>
              <a:rPr lang="zh-CN" altLang="en-US" sz="2400" dirty="0">
                <a:solidFill>
                  <a:srgbClr val="1353A2"/>
                </a:solidFill>
              </a:rPr>
              <a:t>，那么系统会以用户账号名作为该用户的用户组，并将与该</a:t>
            </a:r>
            <a:r>
              <a:rPr lang="zh-CN" altLang="en-US" sz="2400" b="1" dirty="0">
                <a:solidFill>
                  <a:srgbClr val="1353A2"/>
                </a:solidFill>
              </a:rPr>
              <a:t>账号同名的用户组</a:t>
            </a:r>
            <a:r>
              <a:rPr lang="zh-CN" altLang="en-US" sz="2400" dirty="0">
                <a:solidFill>
                  <a:srgbClr val="1353A2"/>
                </a:solidFill>
              </a:rPr>
              <a:t>同步到</a:t>
            </a:r>
            <a:r>
              <a:rPr lang="en-US" altLang="zh-CN" sz="2400" dirty="0">
                <a:solidFill>
                  <a:srgbClr val="1353A2"/>
                </a:solidFill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</a:rPr>
              <a:t>/group</a:t>
            </a:r>
            <a:r>
              <a:rPr lang="zh-CN" altLang="en-US" sz="2400" dirty="0">
                <a:solidFill>
                  <a:srgbClr val="1353A2"/>
                </a:solidFill>
              </a:rPr>
              <a:t>文件中。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362" y="1409178"/>
            <a:ext cx="3318857" cy="4639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96286" y="2058334"/>
            <a:ext cx="10777555" cy="3038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用户组是逻辑地组织用户账号集合的方便途径，它允许用户在组内共享文件。系统上的</a:t>
            </a:r>
            <a:r>
              <a:rPr lang="zh-CN" altLang="en-US" sz="2400" dirty="0">
                <a:solidFill>
                  <a:srgbClr val="FF0000"/>
                </a:solidFill>
              </a:rPr>
              <a:t>每一个文件都有一个用户和一个组的属主</a:t>
            </a:r>
            <a:r>
              <a:rPr lang="zh-CN" altLang="en-US" sz="2400" dirty="0"/>
              <a:t>。对于系统上的每个组，在</a:t>
            </a:r>
            <a:r>
              <a:rPr lang="en-US" altLang="zh-CN" sz="2400" dirty="0"/>
              <a:t>/</a:t>
            </a:r>
            <a:r>
              <a:rPr lang="en-US" altLang="zh-CN" sz="2400" dirty="0" err="1"/>
              <a:t>etc</a:t>
            </a:r>
            <a:r>
              <a:rPr lang="en-US" altLang="zh-CN" sz="2400" dirty="0"/>
              <a:t>/group</a:t>
            </a:r>
            <a:r>
              <a:rPr lang="zh-CN" altLang="en-US" sz="2400" dirty="0"/>
              <a:t>文件中都有一行记录，记录的格式为：</a:t>
            </a:r>
            <a:endParaRPr lang="en-US" altLang="zh-CN" sz="2400" dirty="0"/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groupname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passwd : GID : </a:t>
            </a:r>
            <a:r>
              <a:rPr lang="en-US" altLang="zh-CN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userlist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3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4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用户组账号文件“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/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etc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/group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”</a:t>
              </a:r>
            </a:p>
          </p:txBody>
        </p:sp>
      </p:grpSp>
      <p:sp>
        <p:nvSpPr>
          <p:cNvPr id="6" name="圆角矩形标注 99330"/>
          <p:cNvSpPr/>
          <p:nvPr/>
        </p:nvSpPr>
        <p:spPr>
          <a:xfrm>
            <a:off x="1848633" y="5565724"/>
            <a:ext cx="1676400" cy="685800"/>
          </a:xfrm>
          <a:prstGeom prst="wedgeRoundRectCallout">
            <a:avLst>
              <a:gd name="adj1" fmla="val -10986"/>
              <a:gd name="adj2" fmla="val -132176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组的名字</a:t>
            </a:r>
          </a:p>
        </p:txBody>
      </p:sp>
      <p:sp>
        <p:nvSpPr>
          <p:cNvPr id="8" name="圆角矩形标注 99331"/>
          <p:cNvSpPr/>
          <p:nvPr/>
        </p:nvSpPr>
        <p:spPr>
          <a:xfrm>
            <a:off x="3665579" y="5615797"/>
            <a:ext cx="2286000" cy="685800"/>
          </a:xfrm>
          <a:prstGeom prst="wedgeRoundRectCallout">
            <a:avLst>
              <a:gd name="adj1" fmla="val -17431"/>
              <a:gd name="adj2" fmla="val -139120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组的加密口令</a:t>
            </a:r>
          </a:p>
        </p:txBody>
      </p:sp>
      <p:sp>
        <p:nvSpPr>
          <p:cNvPr id="9" name="圆角矩形标注 99332"/>
          <p:cNvSpPr/>
          <p:nvPr/>
        </p:nvSpPr>
        <p:spPr>
          <a:xfrm>
            <a:off x="4960979" y="5526897"/>
            <a:ext cx="1981200" cy="863600"/>
          </a:xfrm>
          <a:prstGeom prst="wedgeRoundRectCallout">
            <a:avLst>
              <a:gd name="adj1" fmla="val -8574"/>
              <a:gd name="adj2" fmla="val -113787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系统区分不同组的</a:t>
            </a:r>
            <a:r>
              <a:rPr lang="en-US" altLang="zh-CN" sz="2400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10" name="圆角矩形标注 99333"/>
          <p:cNvSpPr/>
          <p:nvPr/>
        </p:nvSpPr>
        <p:spPr>
          <a:xfrm>
            <a:off x="7059125" y="5476097"/>
            <a:ext cx="1828800" cy="914400"/>
          </a:xfrm>
          <a:prstGeom prst="wedgeRoundRectCallout">
            <a:avLst>
              <a:gd name="adj1" fmla="val -26042"/>
              <a:gd name="adj2" fmla="val -101912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用“</a:t>
            </a:r>
            <a:r>
              <a:rPr lang="zh-CN" altLang="en-US" sz="24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”分开的组成员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用户组管理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586" y="2937781"/>
            <a:ext cx="5584786" cy="16124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  <p:bldP spid="8" grpId="0" animBg="1"/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96286" y="2058334"/>
            <a:ext cx="10777555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/>
              <a:t>gshadow</a:t>
            </a:r>
            <a:r>
              <a:rPr lang="zh-CN" altLang="en-US" sz="2400" dirty="0"/>
              <a:t>文件用于定义用户组口令、组管理员等信息，该文件只有</a:t>
            </a:r>
            <a:r>
              <a:rPr lang="en-US" altLang="zh-CN" sz="2400" dirty="0"/>
              <a:t>root</a:t>
            </a:r>
            <a:r>
              <a:rPr lang="zh-CN" altLang="en-US" sz="2400" dirty="0"/>
              <a:t>用户可以读取。</a:t>
            </a:r>
            <a:r>
              <a:rPr lang="en-US" altLang="zh-CN" sz="2400" dirty="0" err="1"/>
              <a:t>Gshadow</a:t>
            </a:r>
            <a:r>
              <a:rPr lang="zh-CN" altLang="en-US" sz="2400" dirty="0"/>
              <a:t>文件中每行定义一个用户组信息，行中各字段间用“：”分隔，每行记录的格式为：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groupname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: Encrypted password: Group administrators: Group members</a:t>
            </a:r>
          </a:p>
        </p:txBody>
      </p:sp>
      <p:grpSp>
        <p:nvGrpSpPr>
          <p:cNvPr id="2" name="组合 15"/>
          <p:cNvGrpSpPr/>
          <p:nvPr/>
        </p:nvGrpSpPr>
        <p:grpSpPr>
          <a:xfrm>
            <a:off x="840784" y="1196752"/>
            <a:ext cx="10777555" cy="1008112"/>
            <a:chOff x="395441" y="968316"/>
            <a:chExt cx="10328165" cy="1008112"/>
          </a:xfrm>
          <a:solidFill>
            <a:srgbClr val="39A2FE"/>
          </a:solidFill>
        </p:grpSpPr>
        <p:sp>
          <p:nvSpPr>
            <p:cNvPr id="3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4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9362340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用户组口令文件“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/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etc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/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gshadow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圆角矩形标注 101377"/>
          <p:cNvSpPr/>
          <p:nvPr/>
        </p:nvSpPr>
        <p:spPr>
          <a:xfrm>
            <a:off x="1353333" y="5338921"/>
            <a:ext cx="990600" cy="838200"/>
          </a:xfrm>
          <a:prstGeom prst="wedgeRoundRectCallout">
            <a:avLst>
              <a:gd name="adj1" fmla="val -206"/>
              <a:gd name="adj2" fmla="val -94627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组的名字</a:t>
            </a:r>
          </a:p>
        </p:txBody>
      </p:sp>
      <p:sp>
        <p:nvSpPr>
          <p:cNvPr id="12" name="圆角矩形标注 101378"/>
          <p:cNvSpPr/>
          <p:nvPr/>
        </p:nvSpPr>
        <p:spPr>
          <a:xfrm>
            <a:off x="3452978" y="5262721"/>
            <a:ext cx="1341438" cy="990600"/>
          </a:xfrm>
          <a:prstGeom prst="wedgeRoundRectCallout">
            <a:avLst>
              <a:gd name="adj1" fmla="val -653"/>
              <a:gd name="adj2" fmla="val -86274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组的加密口令</a:t>
            </a:r>
          </a:p>
        </p:txBody>
      </p:sp>
      <p:sp>
        <p:nvSpPr>
          <p:cNvPr id="13" name="圆角矩形标注 101379"/>
          <p:cNvSpPr/>
          <p:nvPr/>
        </p:nvSpPr>
        <p:spPr>
          <a:xfrm>
            <a:off x="6096000" y="5337149"/>
            <a:ext cx="1524000" cy="990600"/>
          </a:xfrm>
          <a:prstGeom prst="wedgeRoundRectCallout">
            <a:avLst>
              <a:gd name="adj1" fmla="val 12083"/>
              <a:gd name="adj2" fmla="val -93594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组的管理员账号</a:t>
            </a:r>
          </a:p>
        </p:txBody>
      </p:sp>
      <p:sp>
        <p:nvSpPr>
          <p:cNvPr id="14" name="圆角矩形标注 101380"/>
          <p:cNvSpPr/>
          <p:nvPr/>
        </p:nvSpPr>
        <p:spPr>
          <a:xfrm>
            <a:off x="8440480" y="5338921"/>
            <a:ext cx="1828800" cy="914400"/>
          </a:xfrm>
          <a:prstGeom prst="wedgeRoundRectCallout">
            <a:avLst>
              <a:gd name="adj1" fmla="val 3843"/>
              <a:gd name="adj2" fmla="val -91794"/>
              <a:gd name="adj3" fmla="val 16667"/>
            </a:avLst>
          </a:prstGeom>
          <a:solidFill>
            <a:srgbClr val="DDDDD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用“，”分开的组成员</a:t>
            </a:r>
          </a:p>
        </p:txBody>
      </p:sp>
      <p:sp>
        <p:nvSpPr>
          <p:cNvPr id="1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用户组管理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568" y="2923061"/>
            <a:ext cx="5584786" cy="157519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  <p:bldP spid="12" grpId="0" animBg="1"/>
      <p:bldP spid="13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40782" y="2204864"/>
            <a:ext cx="10510431" cy="159052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默认情况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下新建用户的用户组与用户名相同，在创建用户的同时被创建。主动添加用户组时使用的命令为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groupadd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，该命令的格式如下：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groupadd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选项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用户名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添加用户组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398543" y="3970750"/>
          <a:ext cx="9457688" cy="14530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6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9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9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选项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2694" marR="12269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说明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2694" marR="12269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-g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2694" marR="122694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指定新建用户组的组</a:t>
                      </a:r>
                      <a:r>
                        <a:rPr lang="en-US" sz="1900" kern="100" dirty="0">
                          <a:effectLst/>
                        </a:rPr>
                        <a:t>ID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2694" marR="12269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-r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2694" marR="122694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创建系统用户组，组</a:t>
                      </a:r>
                      <a:r>
                        <a:rPr lang="en-US" sz="1900" kern="100">
                          <a:effectLst/>
                        </a:rPr>
                        <a:t>ID</a:t>
                      </a:r>
                      <a:r>
                        <a:rPr lang="zh-CN" sz="1900" kern="100">
                          <a:effectLst/>
                        </a:rPr>
                        <a:t>取值范围为</a:t>
                      </a:r>
                      <a:r>
                        <a:rPr lang="en-US" sz="1900" kern="100">
                          <a:effectLst/>
                        </a:rPr>
                        <a:t>1~499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2694" marR="12269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7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rgbClr val="C00000"/>
                          </a:solidFill>
                          <a:effectLst/>
                        </a:rPr>
                        <a:t>-o</a:t>
                      </a:r>
                      <a:endParaRPr lang="en-US" sz="1900" b="1" kern="100">
                        <a:solidFill>
                          <a:srgbClr val="C0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2694" marR="122694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b="1" kern="100" dirty="0">
                          <a:solidFill>
                            <a:srgbClr val="C00000"/>
                          </a:solidFill>
                          <a:effectLst/>
                        </a:rPr>
                        <a:t>允许创建组</a:t>
                      </a:r>
                      <a:r>
                        <a:rPr lang="en-US" sz="1900" b="1" kern="100" dirty="0">
                          <a:solidFill>
                            <a:srgbClr val="C00000"/>
                          </a:solidFill>
                          <a:effectLst/>
                        </a:rPr>
                        <a:t>ID</a:t>
                      </a:r>
                      <a:r>
                        <a:rPr lang="zh-CN" sz="1900" b="1" kern="100" dirty="0">
                          <a:solidFill>
                            <a:srgbClr val="C00000"/>
                          </a:solidFill>
                          <a:effectLst/>
                        </a:rPr>
                        <a:t>已存在的用户组</a:t>
                      </a:r>
                      <a:endParaRPr lang="zh-CN" sz="1900" b="1" kern="100" dirty="0">
                        <a:solidFill>
                          <a:srgbClr val="C0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2694" marR="12269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865838" y="5461930"/>
            <a:ext cx="10485377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groupadd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1353A2"/>
                </a:solidFill>
              </a:rPr>
              <a:t>–g 550 group1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40782" y="2204864"/>
            <a:ext cx="10510431" cy="106442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若要删除已存在的用户组，可使用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groupadd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命令，该命令的格式如下：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groupdel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删除用户组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44"/>
          <p:cNvSpPr txBox="1">
            <a:spLocks noChangeArrowheads="1"/>
          </p:cNvSpPr>
          <p:nvPr/>
        </p:nvSpPr>
        <p:spPr bwMode="auto">
          <a:xfrm>
            <a:off x="840782" y="3316895"/>
            <a:ext cx="10983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groupdel</a:t>
            </a:r>
            <a:r>
              <a:rPr lang="en-US" altLang="zh-CN" sz="2400" dirty="0">
                <a:solidFill>
                  <a:srgbClr val="1353A2"/>
                </a:solidFill>
              </a:rPr>
              <a:t> group1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343" y="2860392"/>
            <a:ext cx="5621041" cy="32710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40784" y="2204866"/>
            <a:ext cx="10510429" cy="1314948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用户组的一些属性，如组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和组名，都可以被修改。修改用户组属性的命令为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groupmod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，其命令格式如下：</a:t>
            </a:r>
          </a:p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groupmod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选项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[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用户组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</a:p>
        </p:txBody>
      </p:sp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修改用户组属性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865839" y="5073041"/>
            <a:ext cx="530104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70C0"/>
                </a:solidFill>
              </a:rPr>
              <a:t>示例：   </a:t>
            </a:r>
            <a:r>
              <a:rPr lang="en-US" altLang="zh-CN" sz="2000" dirty="0" err="1">
                <a:solidFill>
                  <a:srgbClr val="0070C0"/>
                </a:solidFill>
              </a:rPr>
              <a:t>groupadd</a:t>
            </a:r>
            <a:r>
              <a:rPr lang="en-US" altLang="zh-CN" sz="2000" dirty="0">
                <a:solidFill>
                  <a:srgbClr val="0070C0"/>
                </a:solidFill>
              </a:rPr>
              <a:t> group1 –g 550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</a:rPr>
              <a:t>		</a:t>
            </a:r>
            <a:r>
              <a:rPr lang="en-US" altLang="zh-CN" sz="2000" dirty="0" err="1">
                <a:solidFill>
                  <a:srgbClr val="0070C0"/>
                </a:solidFill>
              </a:rPr>
              <a:t>groupmod</a:t>
            </a:r>
            <a:r>
              <a:rPr lang="en-US" altLang="zh-CN" sz="2000" dirty="0">
                <a:solidFill>
                  <a:srgbClr val="0070C0"/>
                </a:solidFill>
              </a:rPr>
              <a:t> –o </a:t>
            </a:r>
            <a:r>
              <a:rPr lang="en-US" altLang="zh-CN" sz="2000" dirty="0" err="1">
                <a:solidFill>
                  <a:srgbClr val="0070C0"/>
                </a:solidFill>
              </a:rPr>
              <a:t>itheima</a:t>
            </a:r>
            <a:r>
              <a:rPr lang="en-US" altLang="zh-CN" sz="2000" dirty="0">
                <a:solidFill>
                  <a:srgbClr val="0070C0"/>
                </a:solidFill>
              </a:rPr>
              <a:t> –g 550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</a:rPr>
              <a:t>		</a:t>
            </a:r>
            <a:r>
              <a:rPr lang="en-US" altLang="zh-CN" sz="2000" dirty="0" err="1">
                <a:solidFill>
                  <a:srgbClr val="0070C0"/>
                </a:solidFill>
              </a:rPr>
              <a:t>groupmod</a:t>
            </a:r>
            <a:r>
              <a:rPr lang="en-US" altLang="zh-CN" sz="2000" dirty="0">
                <a:solidFill>
                  <a:srgbClr val="0070C0"/>
                </a:solidFill>
              </a:rPr>
              <a:t> group1 -n </a:t>
            </a:r>
            <a:r>
              <a:rPr lang="en-US" altLang="zh-CN" sz="2000" dirty="0" err="1">
                <a:solidFill>
                  <a:srgbClr val="0070C0"/>
                </a:solidFill>
              </a:rPr>
              <a:t>itcast</a:t>
            </a:r>
            <a:endParaRPr lang="zh-CN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0070C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42523" y="3720230"/>
          <a:ext cx="9376157" cy="13778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4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60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9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选项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637" marR="12163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说明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637" marR="12163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02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-g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637" marR="12163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为用户组指定新的组</a:t>
                      </a:r>
                      <a:r>
                        <a:rPr lang="en-US" sz="1900" kern="100" dirty="0">
                          <a:effectLst/>
                        </a:rPr>
                        <a:t>ID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637" marR="12163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02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-n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637" marR="12163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修改用户组的组名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637" marR="12163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2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>
                          <a:solidFill>
                            <a:srgbClr val="C00000"/>
                          </a:solidFill>
                          <a:effectLst/>
                        </a:rPr>
                        <a:t>-o</a:t>
                      </a:r>
                      <a:endParaRPr lang="en-US" sz="1900" b="1" kern="100">
                        <a:solidFill>
                          <a:srgbClr val="C0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637" marR="12163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b="1" kern="100" dirty="0">
                          <a:solidFill>
                            <a:srgbClr val="C00000"/>
                          </a:solidFill>
                          <a:effectLst/>
                        </a:rPr>
                        <a:t>允许创建组</a:t>
                      </a:r>
                      <a:r>
                        <a:rPr lang="en-US" sz="1900" b="1" kern="100" dirty="0">
                          <a:solidFill>
                            <a:srgbClr val="C00000"/>
                          </a:solidFill>
                          <a:effectLst/>
                        </a:rPr>
                        <a:t>ID</a:t>
                      </a:r>
                      <a:r>
                        <a:rPr lang="zh-CN" sz="1900" b="1" kern="100" dirty="0">
                          <a:solidFill>
                            <a:srgbClr val="C00000"/>
                          </a:solidFill>
                          <a:effectLst/>
                        </a:rPr>
                        <a:t>已存在的用户组</a:t>
                      </a:r>
                      <a:endParaRPr lang="zh-CN" sz="1900" b="1" kern="100" dirty="0">
                        <a:solidFill>
                          <a:srgbClr val="C0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637" marR="12163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84" y="2230703"/>
            <a:ext cx="5991674" cy="4151436"/>
          </a:xfrm>
          <a:prstGeom prst="rect">
            <a:avLst/>
          </a:prstGeom>
        </p:spPr>
      </p:pic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修改用户组属性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6416034" y="2466055"/>
            <a:ext cx="5301046" cy="4654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70C0"/>
                </a:solidFill>
              </a:rPr>
              <a:t>示例：   </a:t>
            </a:r>
            <a:r>
              <a:rPr lang="en-US" altLang="zh-CN" sz="2000" dirty="0" err="1">
                <a:solidFill>
                  <a:srgbClr val="0070C0"/>
                </a:solidFill>
              </a:rPr>
              <a:t>groupadd</a:t>
            </a:r>
            <a:r>
              <a:rPr lang="en-US" altLang="zh-CN" sz="2000" dirty="0">
                <a:solidFill>
                  <a:srgbClr val="0070C0"/>
                </a:solidFill>
              </a:rPr>
              <a:t> group1 –g 550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</a:rPr>
              <a:t>             </a:t>
            </a:r>
            <a:r>
              <a:rPr lang="en-US" altLang="zh-CN" sz="2000" dirty="0" err="1">
                <a:solidFill>
                  <a:srgbClr val="0070C0"/>
                </a:solidFill>
              </a:rPr>
              <a:t>groupadd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en-US" altLang="zh-CN" sz="2000" dirty="0" err="1">
                <a:solidFill>
                  <a:srgbClr val="0070C0"/>
                </a:solidFill>
              </a:rPr>
              <a:t>itheima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</a:rPr>
              <a:t>		</a:t>
            </a:r>
            <a:r>
              <a:rPr lang="en-US" altLang="zh-CN" sz="2000" dirty="0" err="1">
                <a:solidFill>
                  <a:srgbClr val="0070C0"/>
                </a:solidFill>
              </a:rPr>
              <a:t>groupmod</a:t>
            </a:r>
            <a:r>
              <a:rPr lang="en-US" altLang="zh-CN" sz="2000" dirty="0">
                <a:solidFill>
                  <a:srgbClr val="0070C0"/>
                </a:solidFill>
              </a:rPr>
              <a:t> –o </a:t>
            </a:r>
            <a:r>
              <a:rPr lang="en-US" altLang="zh-CN" sz="2000" dirty="0" err="1">
                <a:solidFill>
                  <a:srgbClr val="0070C0"/>
                </a:solidFill>
              </a:rPr>
              <a:t>itheima</a:t>
            </a:r>
            <a:r>
              <a:rPr lang="en-US" altLang="zh-CN" sz="2000" dirty="0">
                <a:solidFill>
                  <a:srgbClr val="0070C0"/>
                </a:solidFill>
              </a:rPr>
              <a:t> –g 550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</a:rPr>
              <a:t>		</a:t>
            </a:r>
            <a:r>
              <a:rPr lang="en-US" altLang="zh-CN" sz="2000" dirty="0" err="1">
                <a:solidFill>
                  <a:srgbClr val="0070C0"/>
                </a:solidFill>
              </a:rPr>
              <a:t>groupmod</a:t>
            </a:r>
            <a:r>
              <a:rPr lang="en-US" altLang="zh-CN" sz="2000" dirty="0">
                <a:solidFill>
                  <a:srgbClr val="0070C0"/>
                </a:solidFill>
              </a:rPr>
              <a:t> group1 -n </a:t>
            </a:r>
            <a:r>
              <a:rPr lang="en-US" altLang="zh-CN" sz="2000" dirty="0" err="1">
                <a:solidFill>
                  <a:srgbClr val="0070C0"/>
                </a:solidFill>
              </a:rPr>
              <a:t>itcast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</a:rPr>
              <a:t>             </a:t>
            </a:r>
            <a:r>
              <a:rPr lang="en-US" altLang="zh-CN" sz="2000" dirty="0" err="1">
                <a:solidFill>
                  <a:srgbClr val="0070C0"/>
                </a:solidFill>
              </a:rPr>
              <a:t>groupadd</a:t>
            </a:r>
            <a:r>
              <a:rPr lang="en-US" altLang="zh-CN" sz="2000" dirty="0">
                <a:solidFill>
                  <a:srgbClr val="0070C0"/>
                </a:solidFill>
              </a:rPr>
              <a:t> –g 550 group1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</a:rPr>
              <a:t>             </a:t>
            </a:r>
            <a:r>
              <a:rPr lang="en-US" altLang="zh-CN" sz="2000" dirty="0" err="1">
                <a:solidFill>
                  <a:srgbClr val="0070C0"/>
                </a:solidFill>
              </a:rPr>
              <a:t>groupadd</a:t>
            </a:r>
            <a:r>
              <a:rPr lang="en-US" altLang="zh-CN" sz="2000" dirty="0">
                <a:solidFill>
                  <a:srgbClr val="0070C0"/>
                </a:solidFill>
              </a:rPr>
              <a:t> –g 550 –o group1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endParaRPr lang="zh-CN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0070C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用户组管理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840780" y="3311368"/>
            <a:ext cx="10485377" cy="1884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</a:rPr>
              <a:t>示例：</a:t>
            </a:r>
            <a:r>
              <a:rPr lang="en-US" altLang="zh-CN" sz="2000" dirty="0" err="1">
                <a:solidFill>
                  <a:srgbClr val="1353A2"/>
                </a:solidFill>
              </a:rPr>
              <a:t>gpasswd</a:t>
            </a:r>
            <a:r>
              <a:rPr lang="en-US" altLang="zh-CN" sz="2000" dirty="0">
                <a:solidFill>
                  <a:srgbClr val="1353A2"/>
                </a:solidFill>
              </a:rPr>
              <a:t> –a </a:t>
            </a:r>
            <a:r>
              <a:rPr lang="en-US" altLang="zh-CN" sz="2000" dirty="0" err="1">
                <a:solidFill>
                  <a:srgbClr val="1353A2"/>
                </a:solidFill>
              </a:rPr>
              <a:t>bxg</a:t>
            </a:r>
            <a:r>
              <a:rPr lang="en-US" altLang="zh-CN" sz="2000" dirty="0">
                <a:solidFill>
                  <a:srgbClr val="1353A2"/>
                </a:solidFill>
              </a:rPr>
              <a:t> </a:t>
            </a:r>
            <a:r>
              <a:rPr lang="en-US" altLang="zh-CN" sz="2000" dirty="0" err="1">
                <a:solidFill>
                  <a:srgbClr val="1353A2"/>
                </a:solidFill>
              </a:rPr>
              <a:t>itcast</a:t>
            </a:r>
            <a:endParaRPr lang="en-US" altLang="zh-CN" sz="20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</a:rPr>
              <a:t>	      </a:t>
            </a:r>
            <a:r>
              <a:rPr lang="en-US" altLang="zh-CN" sz="2000" dirty="0" err="1">
                <a:solidFill>
                  <a:srgbClr val="1353A2"/>
                </a:solidFill>
              </a:rPr>
              <a:t>gpasswd</a:t>
            </a:r>
            <a:r>
              <a:rPr lang="en-US" altLang="zh-CN" sz="2000" dirty="0">
                <a:solidFill>
                  <a:srgbClr val="1353A2"/>
                </a:solidFill>
              </a:rPr>
              <a:t> –a </a:t>
            </a:r>
            <a:r>
              <a:rPr lang="en-US" altLang="zh-CN" sz="2000" dirty="0" err="1">
                <a:solidFill>
                  <a:srgbClr val="1353A2"/>
                </a:solidFill>
              </a:rPr>
              <a:t>bxg</a:t>
            </a:r>
            <a:r>
              <a:rPr lang="en-US" altLang="zh-CN" sz="2000" dirty="0">
                <a:solidFill>
                  <a:srgbClr val="1353A2"/>
                </a:solidFill>
              </a:rPr>
              <a:t> </a:t>
            </a:r>
            <a:r>
              <a:rPr lang="en-US" altLang="zh-CN" sz="2000" dirty="0" err="1">
                <a:solidFill>
                  <a:srgbClr val="1353A2"/>
                </a:solidFill>
              </a:rPr>
              <a:t>itheima</a:t>
            </a:r>
            <a:endParaRPr lang="en-US" altLang="zh-CN" sz="20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</a:rPr>
              <a:t>	      </a:t>
            </a:r>
            <a:r>
              <a:rPr lang="en-US" altLang="zh-CN" sz="2000" dirty="0" err="1">
                <a:solidFill>
                  <a:srgbClr val="1353A2"/>
                </a:solidFill>
              </a:rPr>
              <a:t>gpasswd</a:t>
            </a:r>
            <a:r>
              <a:rPr lang="en-US" altLang="zh-CN" sz="2000" dirty="0">
                <a:solidFill>
                  <a:srgbClr val="1353A2"/>
                </a:solidFill>
              </a:rPr>
              <a:t> –a user1 </a:t>
            </a:r>
            <a:r>
              <a:rPr lang="en-US" altLang="zh-CN" sz="2000" dirty="0" err="1">
                <a:solidFill>
                  <a:srgbClr val="1353A2"/>
                </a:solidFill>
              </a:rPr>
              <a:t>itheima</a:t>
            </a:r>
            <a:endParaRPr lang="en-US" altLang="zh-CN" sz="20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1353A2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40780" y="2209361"/>
            <a:ext cx="10510431" cy="110200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管理用户组的命令为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gpasswd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，该命令的格式如下：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gpasswd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选项 参数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400" y="2893396"/>
            <a:ext cx="5675757" cy="314589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用户组切换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840780" y="3311368"/>
            <a:ext cx="10485377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</a:rPr>
              <a:t>示例：</a:t>
            </a:r>
            <a:r>
              <a:rPr lang="en-US" altLang="zh-CN" sz="2000" dirty="0" err="1">
                <a:solidFill>
                  <a:srgbClr val="1353A2"/>
                </a:solidFill>
              </a:rPr>
              <a:t>newgrp</a:t>
            </a:r>
            <a:r>
              <a:rPr lang="en-US" altLang="zh-CN" sz="2000" dirty="0">
                <a:solidFill>
                  <a:srgbClr val="1353A2"/>
                </a:solidFill>
              </a:rPr>
              <a:t> </a:t>
            </a:r>
            <a:r>
              <a:rPr lang="en-US" altLang="zh-CN" sz="2000" dirty="0" err="1">
                <a:solidFill>
                  <a:srgbClr val="1353A2"/>
                </a:solidFill>
              </a:rPr>
              <a:t>brucefang</a:t>
            </a:r>
            <a:endParaRPr lang="en-US" altLang="zh-CN" sz="2000" dirty="0">
              <a:solidFill>
                <a:srgbClr val="1353A2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40780" y="2209361"/>
            <a:ext cx="10510431" cy="110200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切换用户组的命令为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newgrp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，该命令的格式如下：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newgrp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用户组名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881" y="3848466"/>
            <a:ext cx="7488057" cy="250783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473874" y="2463390"/>
            <a:ext cx="554903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系统中可以简单地通过命令进行用户的切换，常用的用户切换命令有</a:t>
            </a:r>
            <a:r>
              <a:rPr lang="en-US" altLang="zh-CN" sz="2400" dirty="0">
                <a:solidFill>
                  <a:srgbClr val="FF0000"/>
                </a:solidFill>
              </a:rPr>
              <a:t>su</a:t>
            </a:r>
            <a:r>
              <a:rPr lang="zh-CN" altLang="en-US" sz="2400" dirty="0">
                <a:solidFill>
                  <a:srgbClr val="1353A2"/>
                </a:solidFill>
              </a:rPr>
              <a:t>和</a:t>
            </a:r>
            <a:r>
              <a:rPr lang="en-US" altLang="zh-CN" sz="2400" dirty="0" err="1">
                <a:solidFill>
                  <a:srgbClr val="FF0000"/>
                </a:solidFill>
              </a:rPr>
              <a:t>sudo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用户切换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990" y="1826190"/>
            <a:ext cx="3320115" cy="3547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15730" y="2217390"/>
            <a:ext cx="10510431" cy="196630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命令切换用户是最简单的用户切换方式，该命令可以在任意用户之间切换，其命令格式如下：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–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username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需要注意，以上的“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”为一个选项，类似于“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-l”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，选项与用户名之间应有一个空格。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用户切换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88157" y="4283900"/>
          <a:ext cx="10063058" cy="19292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6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7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参数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548" marR="13054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说明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548" marR="13054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-c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548" marR="13054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执行完指定的指令后，切换回原来的用户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548" marR="13054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1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</a:rPr>
                        <a:t>-l</a:t>
                      </a:r>
                      <a:endParaRPr lang="en-US" sz="2000" b="1" kern="10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548" marR="13054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effectLst/>
                        </a:rPr>
                        <a:t>切换用户的同时，切换到对应用户的工作目录，环境变量也会随之改变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548" marR="13054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1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-m</a:t>
                      </a:r>
                      <a:r>
                        <a:rPr lang="zh-CN" sz="2000" kern="100">
                          <a:effectLst/>
                        </a:rPr>
                        <a:t>，</a:t>
                      </a:r>
                      <a:r>
                        <a:rPr lang="en-US" sz="2000" kern="100">
                          <a:effectLst/>
                        </a:rPr>
                        <a:t>-p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548" marR="13054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切换用户时，不改变环境变量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548" marR="13054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9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-s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548" marR="13054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指定要执行的</a:t>
                      </a:r>
                      <a:r>
                        <a:rPr lang="en-US" sz="2000" kern="100" dirty="0">
                          <a:effectLst/>
                        </a:rPr>
                        <a:t>shell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548" marR="13054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8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0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su</a:t>
              </a: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用户切换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9238" y="2122896"/>
            <a:ext cx="158889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示例：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</a:t>
            </a:r>
            <a:endParaRPr lang="zh-CN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3100" y="4296709"/>
            <a:ext cx="10510431" cy="214166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①使用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命令切换用户时，需要输入的是目标用户的密码。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②选项与用户名缺省的情况下，只切换用户，但不改变用户环境。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③由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root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用户切换到其它用户，可以不输入密码。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④在命令行输入“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exit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”或“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 -user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”，可退出目标用户。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su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576" y="2376811"/>
            <a:ext cx="5593632" cy="230943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40782" y="2042024"/>
            <a:ext cx="10510431" cy="1327478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sudo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命令的格式如下：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sudo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选项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–u 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 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用户切换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1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3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 err="1">
                  <a:solidFill>
                    <a:schemeClr val="bg1"/>
                  </a:solidFill>
                </a:rPr>
                <a:t>sudo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766934" y="3444658"/>
          <a:ext cx="8629667" cy="29705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3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6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选项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说明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-b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在后台执行命令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-h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显示帮助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6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-H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将</a:t>
                      </a:r>
                      <a:r>
                        <a:rPr lang="en-US" sz="1800" kern="100">
                          <a:effectLst/>
                        </a:rPr>
                        <a:t>HOME</a:t>
                      </a:r>
                      <a:r>
                        <a:rPr lang="zh-CN" sz="1800" kern="100">
                          <a:effectLst/>
                        </a:rPr>
                        <a:t>环境变量设置为新身份的</a:t>
                      </a:r>
                      <a:r>
                        <a:rPr lang="en-US" sz="1800" kern="100">
                          <a:effectLst/>
                        </a:rPr>
                        <a:t>HOME</a:t>
                      </a:r>
                      <a:r>
                        <a:rPr lang="zh-CN" sz="1800" kern="100">
                          <a:effectLst/>
                        </a:rPr>
                        <a:t>环境变量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6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-k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结束密码的有效期限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6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-l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列出目前用户可执行与无法执行的命令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6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-p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改变询问密码的提示符号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6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-s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执行指定的</a:t>
                      </a:r>
                      <a:r>
                        <a:rPr lang="en-US" sz="1800" kern="100">
                          <a:effectLst/>
                        </a:rPr>
                        <a:t>shell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-u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以指定的用户作为新的身份，即切换到指定用户。默认切换到</a:t>
                      </a:r>
                      <a:r>
                        <a:rPr lang="en-US" sz="1800" kern="100" dirty="0">
                          <a:effectLst/>
                        </a:rPr>
                        <a:t>root</a:t>
                      </a:r>
                      <a:r>
                        <a:rPr lang="zh-CN" sz="1800" kern="100" dirty="0">
                          <a:effectLst/>
                        </a:rPr>
                        <a:t>用户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1953" marR="111953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40782" y="2318467"/>
            <a:ext cx="10510431" cy="415836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sudo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命令可以视为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受限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，它可以使“部分”用户使用其它用户的身份执行命令。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②在使用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sudo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命令之前，需要通过修改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etc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sudoers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文件，为当前用户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要使用的权限。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etc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sudoers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文件有一定的语法规范，为避免因修改后出现语法错误，应使用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visudo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命令打开文件进行修改。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④如下所示为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etc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0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sudoers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文件中的一条配置信息，该信息设置了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root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用户可能任何情境下执行任何命令。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root    ALL=(ALL)       ALL</a:t>
            </a:r>
          </a:p>
          <a:p>
            <a:pPr indent="457200">
              <a:lnSpc>
                <a:spcPct val="150000"/>
              </a:lnSpc>
            </a:pP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用户切换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1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3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 err="1">
                  <a:solidFill>
                    <a:schemeClr val="bg1"/>
                  </a:solidFill>
                </a:rPr>
                <a:t>sudo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</p:cSld>
  <p:clrMapOvr>
    <a:masterClrMapping/>
  </p:clrMapOvr>
  <p:transition spd="slow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8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9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70" name="矩形 28"/>
          <p:cNvSpPr>
            <a:spLocks noChangeArrowheads="1"/>
          </p:cNvSpPr>
          <p:nvPr/>
        </p:nvSpPr>
        <p:spPr bwMode="auto">
          <a:xfrm>
            <a:off x="2099550" y="1660809"/>
            <a:ext cx="18921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用户与用户组管理</a:t>
            </a:r>
          </a:p>
        </p:txBody>
      </p:sp>
      <p:sp>
        <p:nvSpPr>
          <p:cNvPr id="71" name="矩形 29"/>
          <p:cNvSpPr>
            <a:spLocks noChangeArrowheads="1"/>
          </p:cNvSpPr>
          <p:nvPr/>
        </p:nvSpPr>
        <p:spPr bwMode="auto">
          <a:xfrm>
            <a:off x="4070327" y="1841570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</a:t>
            </a:r>
          </a:p>
        </p:txBody>
      </p:sp>
      <p:cxnSp>
        <p:nvCxnSpPr>
          <p:cNvPr id="72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8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9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80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命令格式</a:t>
            </a:r>
          </a:p>
        </p:txBody>
      </p:sp>
      <p:cxnSp>
        <p:nvCxnSpPr>
          <p:cNvPr id="81" name="直接连接符 80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直接连接符 81"/>
          <p:cNvCxnSpPr/>
          <p:nvPr/>
        </p:nvCxnSpPr>
        <p:spPr bwMode="auto">
          <a:xfrm>
            <a:off x="3991652" y="1688477"/>
            <a:ext cx="399995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矩形 1"/>
          <p:cNvSpPr>
            <a:spLocks noChangeArrowheads="1"/>
          </p:cNvSpPr>
          <p:nvPr/>
        </p:nvSpPr>
        <p:spPr bwMode="auto">
          <a:xfrm>
            <a:off x="5950179" y="1769174"/>
            <a:ext cx="1890800" cy="202326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4" name="矩形 21"/>
          <p:cNvSpPr>
            <a:spLocks noChangeArrowheads="1"/>
          </p:cNvSpPr>
          <p:nvPr/>
        </p:nvSpPr>
        <p:spPr bwMode="auto">
          <a:xfrm>
            <a:off x="4009019" y="4479805"/>
            <a:ext cx="1724176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5" name="矩形 22"/>
          <p:cNvSpPr>
            <a:spLocks noChangeArrowheads="1"/>
          </p:cNvSpPr>
          <p:nvPr/>
        </p:nvSpPr>
        <p:spPr bwMode="auto">
          <a:xfrm>
            <a:off x="5742508" y="4489427"/>
            <a:ext cx="1727610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6" name="矩形 28"/>
          <p:cNvSpPr>
            <a:spLocks noChangeArrowheads="1"/>
          </p:cNvSpPr>
          <p:nvPr/>
        </p:nvSpPr>
        <p:spPr bwMode="auto">
          <a:xfrm>
            <a:off x="3963530" y="4560959"/>
            <a:ext cx="176966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</a:p>
        </p:txBody>
      </p:sp>
      <p:sp>
        <p:nvSpPr>
          <p:cNvPr id="87" name="矩形 29"/>
          <p:cNvSpPr>
            <a:spLocks noChangeArrowheads="1"/>
          </p:cNvSpPr>
          <p:nvPr/>
        </p:nvSpPr>
        <p:spPr bwMode="auto">
          <a:xfrm>
            <a:off x="5733195" y="4566723"/>
            <a:ext cx="1713648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</a:p>
        </p:txBody>
      </p:sp>
      <p:cxnSp>
        <p:nvCxnSpPr>
          <p:cNvPr id="88" name="直接连接符 51"/>
          <p:cNvCxnSpPr>
            <a:cxnSpLocks noChangeShapeType="1"/>
          </p:cNvCxnSpPr>
          <p:nvPr/>
        </p:nvCxnSpPr>
        <p:spPr bwMode="auto">
          <a:xfrm>
            <a:off x="5688897" y="4159855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" name="TextBox 7177"/>
          <p:cNvSpPr txBox="1">
            <a:spLocks noChangeArrowheads="1"/>
          </p:cNvSpPr>
          <p:nvPr/>
        </p:nvSpPr>
        <p:spPr bwMode="auto">
          <a:xfrm>
            <a:off x="5984045" y="1060096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0" name="TextBox 7177"/>
          <p:cNvSpPr txBox="1">
            <a:spLocks noChangeArrowheads="1"/>
          </p:cNvSpPr>
          <p:nvPr/>
        </p:nvSpPr>
        <p:spPr bwMode="auto">
          <a:xfrm>
            <a:off x="3954924" y="3783090"/>
            <a:ext cx="9970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1" name="TextBox 7177"/>
          <p:cNvSpPr txBox="1">
            <a:spLocks noChangeArrowheads="1"/>
          </p:cNvSpPr>
          <p:nvPr/>
        </p:nvSpPr>
        <p:spPr bwMode="auto">
          <a:xfrm>
            <a:off x="5737237" y="3803149"/>
            <a:ext cx="15200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</a:p>
        </p:txBody>
      </p:sp>
      <p:cxnSp>
        <p:nvCxnSpPr>
          <p:cNvPr id="93" name="直接连接符 19"/>
          <p:cNvCxnSpPr/>
          <p:nvPr/>
        </p:nvCxnSpPr>
        <p:spPr bwMode="auto">
          <a:xfrm>
            <a:off x="4029328" y="4427930"/>
            <a:ext cx="1678967" cy="776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直接连接符 20"/>
          <p:cNvCxnSpPr/>
          <p:nvPr/>
        </p:nvCxnSpPr>
        <p:spPr bwMode="auto">
          <a:xfrm>
            <a:off x="5709923" y="4428744"/>
            <a:ext cx="183470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5816" y="5280100"/>
            <a:ext cx="1538977" cy="1046463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7" name="直接连接符 52"/>
          <p:cNvCxnSpPr>
            <a:cxnSpLocks noChangeShapeType="1"/>
          </p:cNvCxnSpPr>
          <p:nvPr/>
        </p:nvCxnSpPr>
        <p:spPr bwMode="auto">
          <a:xfrm>
            <a:off x="4005598" y="4173190"/>
            <a:ext cx="1" cy="296447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矩形 1"/>
          <p:cNvSpPr>
            <a:spLocks noChangeArrowheads="1"/>
          </p:cNvSpPr>
          <p:nvPr/>
        </p:nvSpPr>
        <p:spPr bwMode="auto">
          <a:xfrm>
            <a:off x="7490535" y="4485614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cxnSp>
        <p:nvCxnSpPr>
          <p:cNvPr id="100" name="直接连接符 7167"/>
          <p:cNvCxnSpPr>
            <a:cxnSpLocks noChangeShapeType="1"/>
          </p:cNvCxnSpPr>
          <p:nvPr/>
        </p:nvCxnSpPr>
        <p:spPr bwMode="auto">
          <a:xfrm flipV="1">
            <a:off x="7466430" y="4427930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直接连接符 7172"/>
          <p:cNvCxnSpPr>
            <a:cxnSpLocks noChangeShapeType="1"/>
          </p:cNvCxnSpPr>
          <p:nvPr/>
        </p:nvCxnSpPr>
        <p:spPr bwMode="auto">
          <a:xfrm>
            <a:off x="7465525" y="4074072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" name="TextBox 7177"/>
          <p:cNvSpPr txBox="1">
            <a:spLocks noChangeArrowheads="1"/>
          </p:cNvSpPr>
          <p:nvPr/>
        </p:nvSpPr>
        <p:spPr bwMode="auto">
          <a:xfrm>
            <a:off x="7509602" y="3751901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03" name="矩形 28"/>
          <p:cNvSpPr>
            <a:spLocks noChangeArrowheads="1"/>
          </p:cNvSpPr>
          <p:nvPr/>
        </p:nvSpPr>
        <p:spPr bwMode="auto">
          <a:xfrm>
            <a:off x="7470337" y="4607439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软件包管理</a:t>
            </a:r>
          </a:p>
        </p:txBody>
      </p:sp>
      <p:pic>
        <p:nvPicPr>
          <p:cNvPr id="10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150" y="2604066"/>
            <a:ext cx="1364458" cy="104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" name="矩形 1"/>
          <p:cNvSpPr>
            <a:spLocks noChangeArrowheads="1"/>
          </p:cNvSpPr>
          <p:nvPr/>
        </p:nvSpPr>
        <p:spPr bwMode="auto">
          <a:xfrm>
            <a:off x="9221062" y="4485515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pic>
        <p:nvPicPr>
          <p:cNvPr id="123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76403" y="5321538"/>
            <a:ext cx="1457809" cy="99727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直接连接符 7167"/>
          <p:cNvCxnSpPr>
            <a:cxnSpLocks noChangeShapeType="1"/>
          </p:cNvCxnSpPr>
          <p:nvPr/>
        </p:nvCxnSpPr>
        <p:spPr bwMode="auto">
          <a:xfrm flipV="1">
            <a:off x="9196957" y="4427831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5" name="直接连接符 7172"/>
          <p:cNvCxnSpPr>
            <a:cxnSpLocks noChangeShapeType="1"/>
          </p:cNvCxnSpPr>
          <p:nvPr/>
        </p:nvCxnSpPr>
        <p:spPr bwMode="auto">
          <a:xfrm>
            <a:off x="9196052" y="4073973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" name="TextBox 7177"/>
          <p:cNvSpPr txBox="1">
            <a:spLocks noChangeArrowheads="1"/>
          </p:cNvSpPr>
          <p:nvPr/>
        </p:nvSpPr>
        <p:spPr bwMode="auto">
          <a:xfrm>
            <a:off x="9240129" y="3751802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8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27" name="矩形 28"/>
          <p:cNvSpPr>
            <a:spLocks noChangeArrowheads="1"/>
          </p:cNvSpPr>
          <p:nvPr/>
        </p:nvSpPr>
        <p:spPr bwMode="auto">
          <a:xfrm>
            <a:off x="9221062" y="4601675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文本编辑器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4" y="2604066"/>
            <a:ext cx="1533716" cy="104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35" y="2596545"/>
            <a:ext cx="1654397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548" y="5279692"/>
            <a:ext cx="1530043" cy="104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140" y="5292164"/>
            <a:ext cx="1420225" cy="1000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2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001" y="2596545"/>
            <a:ext cx="1679893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44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44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63" y="1780027"/>
            <a:ext cx="39814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 Box 44"/>
          <p:cNvSpPr txBox="1">
            <a:spLocks noChangeArrowheads="1"/>
          </p:cNvSpPr>
          <p:nvPr/>
        </p:nvSpPr>
        <p:spPr bwMode="auto">
          <a:xfrm>
            <a:off x="4903011" y="2276389"/>
            <a:ext cx="6639805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操作系统秉持“</a:t>
            </a:r>
            <a:r>
              <a:rPr lang="zh-CN" altLang="en-US" sz="2400" b="1" dirty="0">
                <a:solidFill>
                  <a:srgbClr val="FF0000"/>
                </a:solidFill>
              </a:rPr>
              <a:t>一切皆文件</a:t>
            </a:r>
            <a:r>
              <a:rPr lang="zh-CN" altLang="en-US" sz="2400" dirty="0">
                <a:solidFill>
                  <a:srgbClr val="1353A2"/>
                </a:solidFill>
              </a:rPr>
              <a:t>”的思想，将其中的</a:t>
            </a:r>
            <a:r>
              <a:rPr lang="zh-CN" altLang="en-US" sz="2400" dirty="0">
                <a:solidFill>
                  <a:srgbClr val="FF0000"/>
                </a:solidFill>
              </a:rPr>
              <a:t>文件、目录、设备</a:t>
            </a:r>
            <a:r>
              <a:rPr lang="zh-CN" altLang="en-US" sz="2400" dirty="0">
                <a:solidFill>
                  <a:srgbClr val="1353A2"/>
                </a:solidFill>
              </a:rPr>
              <a:t>等通通当做文件来操作，因此，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文件操作命令是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Linux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常用命令的基础</a:t>
            </a:r>
            <a:r>
              <a:rPr lang="zh-CN" altLang="en-US" sz="2400" dirty="0">
                <a:solidFill>
                  <a:srgbClr val="1353A2"/>
                </a:solidFill>
              </a:rPr>
              <a:t>，也是至关重要的一部分。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63" y="1780027"/>
            <a:ext cx="39814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 Box 44"/>
          <p:cNvSpPr txBox="1">
            <a:spLocks noChangeArrowheads="1"/>
          </p:cNvSpPr>
          <p:nvPr/>
        </p:nvSpPr>
        <p:spPr bwMode="auto">
          <a:xfrm>
            <a:off x="4903010" y="1945107"/>
            <a:ext cx="663980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本节介绍的文件管理命令的功能有：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1353A2"/>
                </a:solidFill>
              </a:rPr>
              <a:t>文件操作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1353A2"/>
                </a:solidFill>
              </a:rPr>
              <a:t>查看文件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1353A2"/>
                </a:solidFill>
              </a:rPr>
              <a:t>文件搜索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1353A2"/>
                </a:solidFill>
              </a:rPr>
              <a:t>权限管理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1353A2"/>
                </a:solidFill>
              </a:rPr>
              <a:t>压缩解压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44"/>
          <p:cNvSpPr txBox="1">
            <a:spLocks noChangeArrowheads="1"/>
          </p:cNvSpPr>
          <p:nvPr/>
        </p:nvSpPr>
        <p:spPr bwMode="auto">
          <a:xfrm>
            <a:off x="4381995" y="2573272"/>
            <a:ext cx="708786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系统中常见的文件分为</a:t>
            </a:r>
            <a:r>
              <a:rPr lang="zh-CN" altLang="en-US" sz="2400" dirty="0">
                <a:solidFill>
                  <a:srgbClr val="C00000"/>
                </a:solidFill>
              </a:rPr>
              <a:t>普通文件</a:t>
            </a:r>
            <a:r>
              <a:rPr lang="zh-CN" altLang="en-US" sz="2400" dirty="0">
                <a:solidFill>
                  <a:srgbClr val="1353A2"/>
                </a:solidFill>
              </a:rPr>
              <a:t>和</a:t>
            </a:r>
            <a:r>
              <a:rPr lang="zh-CN" altLang="en-US" sz="2400" dirty="0">
                <a:solidFill>
                  <a:srgbClr val="C00000"/>
                </a:solidFill>
              </a:rPr>
              <a:t>目录文件</a:t>
            </a:r>
            <a:r>
              <a:rPr lang="zh-CN" altLang="en-US" sz="2400" dirty="0">
                <a:solidFill>
                  <a:srgbClr val="1353A2"/>
                </a:solidFill>
              </a:rPr>
              <a:t>，文件操作命令一般是指</a:t>
            </a:r>
            <a:r>
              <a:rPr lang="zh-CN" altLang="en-US" sz="2400" dirty="0">
                <a:solidFill>
                  <a:srgbClr val="C00000"/>
                </a:solidFill>
              </a:rPr>
              <a:t>查看路径、切换目录、创建、删除、修改文件名等</a:t>
            </a:r>
            <a:r>
              <a:rPr lang="zh-CN" altLang="en-US" sz="2400" dirty="0">
                <a:solidFill>
                  <a:srgbClr val="1353A2"/>
                </a:solidFill>
              </a:rPr>
              <a:t>。下面将对常用的文件操作命令进行讲解。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95" y="1501796"/>
            <a:ext cx="3445005" cy="4257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pwd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19419"/>
            <a:ext cx="109837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命令原意：</a:t>
            </a:r>
            <a:r>
              <a:rPr lang="en-US" altLang="zh-CN" sz="2400" dirty="0">
                <a:solidFill>
                  <a:srgbClr val="1353A2"/>
                </a:solidFill>
              </a:rPr>
              <a:t>print working directory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命令功能：打印当前工作目录的绝对路径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 err="1">
                <a:solidFill>
                  <a:srgbClr val="1353A2"/>
                </a:solidFill>
              </a:rPr>
              <a:t>pwd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89" y="3658372"/>
            <a:ext cx="5491893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pwd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398" y="4304438"/>
            <a:ext cx="6542471" cy="18187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cd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19419"/>
            <a:ext cx="548703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命令原意：</a:t>
            </a:r>
            <a:r>
              <a:rPr lang="en-US" altLang="zh-CN" sz="2400" dirty="0">
                <a:solidFill>
                  <a:srgbClr val="1353A2"/>
                </a:solidFill>
              </a:rPr>
              <a:t>change directory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命令功能：切换目录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cd </a:t>
            </a:r>
            <a:r>
              <a:rPr lang="zh-CN" altLang="en-US" sz="2400" dirty="0">
                <a:solidFill>
                  <a:srgbClr val="1353A2"/>
                </a:solidFill>
              </a:rPr>
              <a:t>参数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597931" y="3660803"/>
            <a:ext cx="11289269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cd</a:t>
            </a:r>
            <a:r>
              <a:rPr lang="en-US" altLang="zh-CN" sz="2400" dirty="0">
                <a:solidFill>
                  <a:srgbClr val="1353A2"/>
                </a:solidFill>
              </a:rPr>
              <a:t> ./Public 			</a:t>
            </a:r>
            <a:r>
              <a:rPr lang="zh-CN" altLang="en-US" sz="2400" dirty="0">
                <a:solidFill>
                  <a:srgbClr val="1353A2"/>
                </a:solidFill>
              </a:rPr>
              <a:t>切换到以当前目录为</a:t>
            </a:r>
            <a:r>
              <a:rPr lang="zh-CN" altLang="en-US" sz="2400" dirty="0">
                <a:solidFill>
                  <a:srgbClr val="FF0000"/>
                </a:solidFill>
              </a:rPr>
              <a:t>相对路径</a:t>
            </a:r>
            <a:r>
              <a:rPr lang="zh-CN" altLang="en-US" sz="2400" dirty="0">
                <a:solidFill>
                  <a:srgbClr val="1353A2"/>
                </a:solidFill>
              </a:rPr>
              <a:t>的</a:t>
            </a:r>
            <a:r>
              <a:rPr lang="en-US" altLang="zh-CN" sz="2400" dirty="0">
                <a:solidFill>
                  <a:srgbClr val="1353A2"/>
                </a:solidFill>
              </a:rPr>
              <a:t>Public</a:t>
            </a:r>
            <a:r>
              <a:rPr lang="zh-CN" altLang="en-US" sz="2400" dirty="0">
                <a:solidFill>
                  <a:srgbClr val="1353A2"/>
                </a:solidFill>
              </a:rPr>
              <a:t>目录中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cd ..				</a:t>
            </a:r>
            <a:r>
              <a:rPr lang="zh-CN" altLang="en-US" sz="2400" dirty="0">
                <a:solidFill>
                  <a:srgbClr val="1353A2"/>
                </a:solidFill>
              </a:rPr>
              <a:t>切换</a:t>
            </a:r>
            <a:r>
              <a:rPr lang="zh-CN" altLang="en-US" sz="2400" dirty="0">
                <a:solidFill>
                  <a:srgbClr val="FF0000"/>
                </a:solidFill>
              </a:rPr>
              <a:t>工作路径</a:t>
            </a:r>
            <a:r>
              <a:rPr lang="zh-CN" altLang="en-US" sz="2400" dirty="0">
                <a:solidFill>
                  <a:srgbClr val="1353A2"/>
                </a:solidFill>
              </a:rPr>
              <a:t>到上一级目录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cd /</a:t>
            </a:r>
            <a:r>
              <a:rPr lang="en-US" altLang="zh-CN" sz="2400" dirty="0" err="1">
                <a:solidFill>
                  <a:srgbClr val="1353A2"/>
                </a:solidFill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</a:rPr>
              <a:t>/yum		</a:t>
            </a:r>
            <a:r>
              <a:rPr lang="zh-CN" altLang="en-US" sz="2400" dirty="0">
                <a:solidFill>
                  <a:srgbClr val="1353A2"/>
                </a:solidFill>
              </a:rPr>
              <a:t>切换到</a:t>
            </a:r>
            <a:r>
              <a:rPr lang="zh-CN" altLang="en-US" sz="2400" dirty="0">
                <a:solidFill>
                  <a:srgbClr val="FF0000"/>
                </a:solidFill>
              </a:rPr>
              <a:t>绝对路径</a:t>
            </a:r>
            <a:r>
              <a:rPr lang="en-US" altLang="zh-CN" sz="2400" dirty="0">
                <a:solidFill>
                  <a:srgbClr val="1353A2"/>
                </a:solidFill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</a:rPr>
              <a:t>/yum</a:t>
            </a:r>
            <a:r>
              <a:rPr lang="zh-CN" altLang="en-US" sz="2400" dirty="0">
                <a:solidFill>
                  <a:srgbClr val="1353A2"/>
                </a:solidFill>
              </a:rPr>
              <a:t>目录中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cd ~				</a:t>
            </a:r>
            <a:r>
              <a:rPr lang="zh-CN" altLang="en-US" sz="2400" dirty="0">
                <a:solidFill>
                  <a:srgbClr val="1353A2"/>
                </a:solidFill>
              </a:rPr>
              <a:t>切换到当前用户的</a:t>
            </a:r>
            <a:r>
              <a:rPr lang="zh-CN" altLang="en-US" sz="2400" b="1" dirty="0">
                <a:solidFill>
                  <a:srgbClr val="FF0000"/>
                </a:solidFill>
              </a:rPr>
              <a:t>家目录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cd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099" y="2814946"/>
            <a:ext cx="8629163" cy="282941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ls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219627"/>
            <a:ext cx="109837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命令原意：</a:t>
            </a:r>
            <a:r>
              <a:rPr lang="en-US" altLang="zh-CN" sz="2400" dirty="0">
                <a:solidFill>
                  <a:srgbClr val="1353A2"/>
                </a:solidFill>
              </a:rPr>
              <a:t>list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命令功能：列出参数的属性信息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ls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[</a:t>
            </a:r>
            <a:r>
              <a:rPr lang="zh-CN" altLang="en-US" sz="2400" dirty="0">
                <a:solidFill>
                  <a:srgbClr val="1353A2"/>
                </a:solidFill>
              </a:rPr>
              <a:t>参数</a:t>
            </a:r>
            <a:r>
              <a:rPr lang="en-US" altLang="zh-CN" sz="2400" dirty="0">
                <a:solidFill>
                  <a:srgbClr val="1353A2"/>
                </a:solidFill>
              </a:rPr>
              <a:t>]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95990" y="4008328"/>
          <a:ext cx="10089752" cy="2225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0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9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0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5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选项</a:t>
                      </a:r>
                      <a:endParaRPr lang="zh-CN" sz="15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effectLst/>
                        </a:rPr>
                        <a:t>说明</a:t>
                      </a:r>
                      <a:endParaRPr lang="zh-CN" sz="15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solidFill>
                            <a:srgbClr val="C00000"/>
                          </a:solidFill>
                          <a:effectLst/>
                        </a:rPr>
                        <a:t>-l</a:t>
                      </a:r>
                      <a:endParaRPr lang="zh-CN" sz="1500" kern="100" dirty="0">
                        <a:solidFill>
                          <a:srgbClr val="C0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500" kern="100">
                          <a:effectLst/>
                        </a:rPr>
                        <a:t>以详细信息的形式展示出当前目录下的文件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solidFill>
                            <a:srgbClr val="C00000"/>
                          </a:solidFill>
                          <a:effectLst/>
                        </a:rPr>
                        <a:t>-a</a:t>
                      </a:r>
                      <a:endParaRPr lang="zh-CN" sz="1500" kern="100" dirty="0">
                        <a:solidFill>
                          <a:srgbClr val="C0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effectLst/>
                        </a:rPr>
                        <a:t>显示当前目录下的全部文件（包括隐藏文件）</a:t>
                      </a:r>
                      <a:endParaRPr lang="zh-CN" sz="15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100">
                          <a:effectLst/>
                        </a:rPr>
                        <a:t>-d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500" kern="100">
                          <a:effectLst/>
                        </a:rPr>
                        <a:t>查看目录属性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100">
                          <a:effectLst/>
                        </a:rPr>
                        <a:t>-t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effectLst/>
                        </a:rPr>
                        <a:t>按创建时间顺序列出文件</a:t>
                      </a:r>
                      <a:endParaRPr lang="zh-CN" sz="15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100">
                          <a:effectLst/>
                        </a:rPr>
                        <a:t>-i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500" kern="100">
                          <a:effectLst/>
                        </a:rPr>
                        <a:t>输出文件的</a:t>
                      </a:r>
                      <a:r>
                        <a:rPr lang="en-US" sz="1500" kern="100">
                          <a:effectLst/>
                        </a:rPr>
                        <a:t>inode</a:t>
                      </a:r>
                      <a:r>
                        <a:rPr lang="zh-CN" sz="1500" kern="100">
                          <a:effectLst/>
                        </a:rPr>
                        <a:t>编号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95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100">
                          <a:effectLst/>
                        </a:rPr>
                        <a:t>-R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effectLst/>
                        </a:rPr>
                        <a:t>列出当前目录下的所有文件信息，并以递归地方式显示各个子目录中的文件和子目录信息</a:t>
                      </a:r>
                      <a:endParaRPr lang="zh-CN" sz="15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8777" marR="9877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ls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219627"/>
            <a:ext cx="10983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</a:t>
            </a:r>
            <a:r>
              <a:rPr lang="en-US" altLang="zh-CN" sz="2400" dirty="0">
                <a:solidFill>
                  <a:srgbClr val="1353A2"/>
                </a:solidFill>
              </a:rPr>
              <a:t>1</a:t>
            </a:r>
            <a:r>
              <a:rPr lang="zh-CN" altLang="en-US" sz="2400" dirty="0">
                <a:solidFill>
                  <a:srgbClr val="1353A2"/>
                </a:solidFill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</a:rPr>
              <a:t>ls</a:t>
            </a:r>
            <a:r>
              <a:rPr lang="en-US" altLang="zh-CN" sz="2400" dirty="0">
                <a:solidFill>
                  <a:srgbClr val="1353A2"/>
                </a:solidFill>
              </a:rPr>
              <a:t> -a</a:t>
            </a: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530225" y="4576363"/>
            <a:ext cx="109837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说明：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①选项和参数都缺省的情况下，</a:t>
            </a:r>
            <a:r>
              <a:rPr lang="en-US" altLang="zh-CN" sz="2400" dirty="0">
                <a:solidFill>
                  <a:srgbClr val="1353A2"/>
                </a:solidFill>
              </a:rPr>
              <a:t>ls</a:t>
            </a:r>
            <a:r>
              <a:rPr lang="zh-CN" altLang="en-US" sz="2400" dirty="0">
                <a:solidFill>
                  <a:srgbClr val="1353A2"/>
                </a:solidFill>
              </a:rPr>
              <a:t>默认打印当前路径下的文件名。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5107" y="5685483"/>
            <a:ext cx="10745792" cy="64516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系统中的两个特殊目录。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表示当前目录，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表示上一级目录。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787" y="2902630"/>
            <a:ext cx="6858425" cy="163706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/>
      <p:bldP spid="2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ls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06893"/>
            <a:ext cx="10983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</a:t>
            </a:r>
            <a:r>
              <a:rPr lang="en-US" altLang="zh-CN" sz="2400" dirty="0">
                <a:solidFill>
                  <a:srgbClr val="1353A2"/>
                </a:solidFill>
              </a:rPr>
              <a:t>2</a:t>
            </a:r>
            <a:r>
              <a:rPr lang="zh-CN" altLang="en-US" sz="2400" dirty="0">
                <a:solidFill>
                  <a:srgbClr val="1353A2"/>
                </a:solidFill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</a:rPr>
              <a:t>ls</a:t>
            </a:r>
            <a:r>
              <a:rPr lang="en-US" altLang="zh-CN" sz="2400" dirty="0">
                <a:solidFill>
                  <a:srgbClr val="1353A2"/>
                </a:solidFill>
              </a:rPr>
              <a:t> –l file</a:t>
            </a: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530225" y="4513734"/>
            <a:ext cx="109837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说明：使用“</a:t>
            </a:r>
            <a:r>
              <a:rPr lang="en-US" altLang="zh-CN" sz="2400" dirty="0">
                <a:solidFill>
                  <a:srgbClr val="1353A2"/>
                </a:solidFill>
              </a:rPr>
              <a:t>ls –l”</a:t>
            </a:r>
            <a:r>
              <a:rPr lang="zh-CN" altLang="en-US" sz="2400" dirty="0">
                <a:solidFill>
                  <a:srgbClr val="1353A2"/>
                </a:solidFill>
              </a:rPr>
              <a:t>命令查看目录信息时，会得到目录文件数量统计和一个由空格划分的</a:t>
            </a:r>
            <a:r>
              <a:rPr lang="en-US" altLang="zh-CN" sz="2400" dirty="0">
                <a:solidFill>
                  <a:srgbClr val="C00000"/>
                </a:solidFill>
              </a:rPr>
              <a:t>7</a:t>
            </a:r>
            <a:r>
              <a:rPr lang="zh-CN" altLang="en-US" sz="2400" dirty="0">
                <a:solidFill>
                  <a:srgbClr val="C00000"/>
                </a:solidFill>
              </a:rPr>
              <a:t>个字段</a:t>
            </a:r>
            <a:r>
              <a:rPr lang="zh-CN" altLang="en-US" sz="2400" dirty="0">
                <a:solidFill>
                  <a:srgbClr val="1353A2"/>
                </a:solidFill>
              </a:rPr>
              <a:t>的列表，该列表的每个字段所表示的信息依次为：</a:t>
            </a:r>
            <a:r>
              <a:rPr lang="zh-CN" altLang="en-US" sz="2400" u="sng" dirty="0">
                <a:solidFill>
                  <a:srgbClr val="C00000"/>
                </a:solidFill>
              </a:rPr>
              <a:t>文件类型与权限、硬链接数、所有者、所有者所属组、所占空间、时间戳、文件名</a:t>
            </a:r>
            <a:r>
              <a:rPr lang="zh-CN" altLang="en-US" sz="2400" u="sng" dirty="0">
                <a:solidFill>
                  <a:srgbClr val="1353A2"/>
                </a:solidFill>
              </a:rPr>
              <a:t>。</a:t>
            </a:r>
            <a:endParaRPr lang="en-US" altLang="zh-CN" sz="2400" u="sng" dirty="0">
              <a:solidFill>
                <a:srgbClr val="1353A2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881" y="2902488"/>
            <a:ext cx="7298238" cy="127043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ls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147" y="2234286"/>
            <a:ext cx="6219472" cy="4221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touch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19419"/>
            <a:ext cx="109837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命令功能：更新已存在文件的时间标签，若文件不存在则新建文件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touch </a:t>
            </a:r>
            <a:r>
              <a:rPr lang="zh-CN" altLang="en-US" sz="2400" dirty="0">
                <a:solidFill>
                  <a:srgbClr val="1353A2"/>
                </a:solidFill>
              </a:rPr>
              <a:t>参数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89" y="3222743"/>
            <a:ext cx="5491893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>
                <a:solidFill>
                  <a:srgbClr val="FF0000"/>
                </a:solidFill>
              </a:rPr>
              <a:t>touch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</a:rPr>
              <a:t>demo.c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2" name="椭圆 1"/>
          <p:cNvSpPr/>
          <p:nvPr/>
        </p:nvSpPr>
        <p:spPr>
          <a:xfrm>
            <a:off x="5536504" y="4625464"/>
            <a:ext cx="1052186" cy="2676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5461347" y="5329009"/>
            <a:ext cx="1052186" cy="2676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317" y="2755151"/>
            <a:ext cx="5974147" cy="36912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 build="p"/>
      <p:bldP spid="2" grpId="0" animBg="1"/>
      <p:bldP spid="1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mkdir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8" y="2420044"/>
            <a:ext cx="109837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命令原意：</a:t>
            </a:r>
            <a:r>
              <a:rPr lang="en-US" altLang="zh-CN" sz="2400" dirty="0">
                <a:solidFill>
                  <a:srgbClr val="1353A2"/>
                </a:solidFill>
              </a:rPr>
              <a:t>make directory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命令功能：创建目录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 err="1">
                <a:solidFill>
                  <a:srgbClr val="1353A2"/>
                </a:solidFill>
              </a:rPr>
              <a:t>mkdir</a:t>
            </a:r>
            <a:r>
              <a:rPr lang="en-US" altLang="zh-CN" sz="2400" dirty="0">
                <a:solidFill>
                  <a:srgbClr val="1353A2"/>
                </a:solidFill>
              </a:rPr>
              <a:t>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</a:t>
            </a:r>
            <a:r>
              <a:rPr lang="zh-CN" altLang="en-US" sz="2400" dirty="0">
                <a:solidFill>
                  <a:srgbClr val="1353A2"/>
                </a:solidFill>
              </a:rPr>
              <a:t>参数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660087" y="4292489"/>
          <a:ext cx="8643580" cy="10435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6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6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37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7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选项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934" marR="11093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说明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934" marR="11093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solidFill>
                            <a:srgbClr val="C00000"/>
                          </a:solidFill>
                          <a:effectLst/>
                        </a:rPr>
                        <a:t>-p</a:t>
                      </a:r>
                      <a:endParaRPr lang="zh-CN" sz="1700" kern="100" dirty="0">
                        <a:solidFill>
                          <a:srgbClr val="C0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934" marR="110934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若路径中的目录不存在，则先创建目录；</a:t>
                      </a:r>
                      <a:r>
                        <a:rPr lang="en-US" altLang="zh-CN" sz="1700" kern="100" dirty="0">
                          <a:solidFill>
                            <a:srgbClr val="C00000"/>
                          </a:solidFill>
                          <a:effectLst/>
                        </a:rPr>
                        <a:t>(</a:t>
                      </a:r>
                      <a:r>
                        <a:rPr lang="zh-CN" altLang="en-US" sz="1700" kern="100" dirty="0">
                          <a:solidFill>
                            <a:srgbClr val="C00000"/>
                          </a:solidFill>
                          <a:effectLst/>
                        </a:rPr>
                        <a:t>递归创建目录</a:t>
                      </a:r>
                      <a:r>
                        <a:rPr lang="en-US" altLang="zh-CN" sz="1700" kern="100" dirty="0">
                          <a:solidFill>
                            <a:srgbClr val="C00000"/>
                          </a:solidFill>
                          <a:effectLst/>
                        </a:rPr>
                        <a:t>)</a:t>
                      </a:r>
                      <a:endParaRPr lang="zh-CN" sz="1700" kern="100" dirty="0">
                        <a:solidFill>
                          <a:srgbClr val="C0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934" marR="11093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6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-v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934" marR="110934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查看文件创建过程。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934" marR="11093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mkdir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219627"/>
            <a:ext cx="10983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mkdir</a:t>
            </a:r>
            <a:r>
              <a:rPr lang="en-US" altLang="zh-CN" sz="2400" dirty="0">
                <a:solidFill>
                  <a:srgbClr val="1353A2"/>
                </a:solidFill>
              </a:rPr>
              <a:t> –</a:t>
            </a:r>
            <a:r>
              <a:rPr lang="en-US" altLang="zh-CN" sz="2400" dirty="0" err="1">
                <a:solidFill>
                  <a:srgbClr val="1353A2"/>
                </a:solidFill>
              </a:rPr>
              <a:t>pv</a:t>
            </a:r>
            <a:r>
              <a:rPr lang="en-US" altLang="zh-CN" sz="2400" dirty="0">
                <a:solidFill>
                  <a:srgbClr val="1353A2"/>
                </a:solidFill>
              </a:rPr>
              <a:t> ./</a:t>
            </a:r>
            <a:r>
              <a:rPr lang="en-US" altLang="zh-CN" sz="2400" dirty="0" err="1">
                <a:solidFill>
                  <a:srgbClr val="1353A2"/>
                </a:solidFill>
              </a:rPr>
              <a:t>testmkdir</a:t>
            </a:r>
            <a:r>
              <a:rPr lang="en-US" altLang="zh-CN" sz="2400" dirty="0">
                <a:solidFill>
                  <a:srgbClr val="1353A2"/>
                </a:solidFill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</a:rPr>
              <a:t>itheima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530225" y="4576363"/>
            <a:ext cx="10983786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说明：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①第</a:t>
            </a:r>
            <a:r>
              <a:rPr lang="en-US" altLang="zh-CN" sz="2400" dirty="0">
                <a:solidFill>
                  <a:srgbClr val="1353A2"/>
                </a:solidFill>
              </a:rPr>
              <a:t>4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5</a:t>
            </a:r>
            <a:r>
              <a:rPr lang="zh-CN" altLang="en-US" sz="2400" dirty="0">
                <a:solidFill>
                  <a:srgbClr val="1353A2"/>
                </a:solidFill>
              </a:rPr>
              <a:t>行信息为使用</a:t>
            </a:r>
            <a:r>
              <a:rPr lang="en-US" altLang="zh-CN" sz="2400" dirty="0">
                <a:solidFill>
                  <a:srgbClr val="FF0000"/>
                </a:solidFill>
              </a:rPr>
              <a:t>-v</a:t>
            </a:r>
            <a:r>
              <a:rPr lang="zh-CN" altLang="en-US" sz="2400" dirty="0">
                <a:solidFill>
                  <a:srgbClr val="1353A2"/>
                </a:solidFill>
              </a:rPr>
              <a:t>选项打印的创建过程。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5107" y="5685483"/>
            <a:ext cx="10745792" cy="64633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②因使用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-p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选项，所以会创建路径中不存在的目录。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600" y="2865958"/>
            <a:ext cx="7248800" cy="196687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/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6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cp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420044"/>
            <a:ext cx="109837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命令原意：</a:t>
            </a:r>
            <a:r>
              <a:rPr lang="en-US" altLang="zh-CN" sz="2400" dirty="0">
                <a:solidFill>
                  <a:srgbClr val="1353A2"/>
                </a:solidFill>
              </a:rPr>
              <a:t>copy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命令功能：将</a:t>
            </a:r>
            <a:r>
              <a:rPr lang="zh-CN" altLang="en-US" sz="2400" dirty="0">
                <a:solidFill>
                  <a:srgbClr val="C00000"/>
                </a:solidFill>
              </a:rPr>
              <a:t>一个或多个源文件</a:t>
            </a:r>
            <a:r>
              <a:rPr lang="zh-CN" altLang="en-US" sz="2400" dirty="0">
                <a:solidFill>
                  <a:srgbClr val="1353A2"/>
                </a:solidFill>
              </a:rPr>
              <a:t>复制到</a:t>
            </a:r>
            <a:r>
              <a:rPr lang="zh-CN" altLang="en-US" sz="2400" dirty="0">
                <a:solidFill>
                  <a:srgbClr val="C00000"/>
                </a:solidFill>
              </a:rPr>
              <a:t>指定目录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 err="1">
                <a:solidFill>
                  <a:srgbClr val="1353A2"/>
                </a:solidFill>
              </a:rPr>
              <a:t>cp</a:t>
            </a:r>
            <a:r>
              <a:rPr lang="en-US" altLang="zh-CN" sz="2400" dirty="0">
                <a:solidFill>
                  <a:srgbClr val="1353A2"/>
                </a:solidFill>
              </a:rPr>
              <a:t>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</a:t>
            </a:r>
            <a:r>
              <a:rPr lang="zh-CN" altLang="en-US" sz="2400" dirty="0">
                <a:solidFill>
                  <a:srgbClr val="1353A2"/>
                </a:solidFill>
              </a:rPr>
              <a:t>源文件或目录 目标目录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05090" y="4329627"/>
          <a:ext cx="9753831" cy="1545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2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1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7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选项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183" marR="12518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183" marR="1251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-R</a:t>
                      </a:r>
                      <a:endParaRPr lang="en-US" sz="20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183" marR="1251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</a:rPr>
                        <a:t>递归处理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，将指定目录下的文件及子目录一并处理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183" marR="12518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4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-p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183" marR="1251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拷贝的同时不修改文件属性，包括所有者、所属组、权限和时间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183" marR="12518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4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-f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183" marR="1251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强行复制文件或目录，无论目的文件或目录是否已经存在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5183" marR="12518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6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cp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219627"/>
            <a:ext cx="10983786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>
                <a:solidFill>
                  <a:srgbClr val="FF0000"/>
                </a:solidFill>
              </a:rPr>
              <a:t>cp</a:t>
            </a:r>
            <a:r>
              <a:rPr lang="en-US" altLang="zh-CN" sz="2400" dirty="0">
                <a:solidFill>
                  <a:srgbClr val="1353A2"/>
                </a:solidFill>
              </a:rPr>
              <a:t> –R ./</a:t>
            </a:r>
            <a:r>
              <a:rPr lang="en-US" altLang="zh-CN" sz="2400" dirty="0" err="1">
                <a:solidFill>
                  <a:srgbClr val="1353A2"/>
                </a:solidFill>
              </a:rPr>
              <a:t>ddd</a:t>
            </a:r>
            <a:r>
              <a:rPr lang="en-US" altLang="zh-CN" sz="2400" dirty="0">
                <a:solidFill>
                  <a:srgbClr val="1353A2"/>
                </a:solidFill>
              </a:rPr>
              <a:t> ./</a:t>
            </a:r>
            <a:r>
              <a:rPr lang="en-US" altLang="zh-CN" sz="2400" dirty="0" err="1">
                <a:solidFill>
                  <a:srgbClr val="1353A2"/>
                </a:solidFill>
              </a:rPr>
              <a:t>testmkdir</a:t>
            </a:r>
            <a:r>
              <a:rPr lang="en-US" altLang="zh-CN" sz="2400" dirty="0">
                <a:solidFill>
                  <a:srgbClr val="1353A2"/>
                </a:solidFill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</a:rPr>
              <a:t>demodir</a:t>
            </a:r>
            <a:r>
              <a:rPr lang="en-US" altLang="zh-CN" sz="2400" dirty="0">
                <a:solidFill>
                  <a:srgbClr val="1353A2"/>
                </a:solidFill>
              </a:rPr>
              <a:t>/test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915" y="2965741"/>
            <a:ext cx="7182500" cy="317942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7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rm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19419"/>
            <a:ext cx="109837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命令原意：</a:t>
            </a:r>
            <a:r>
              <a:rPr lang="en-US" altLang="zh-CN" sz="2400" dirty="0">
                <a:solidFill>
                  <a:srgbClr val="1353A2"/>
                </a:solidFill>
              </a:rPr>
              <a:t>remove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命令功能：删除目录中的文件或目录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 err="1">
                <a:solidFill>
                  <a:srgbClr val="1353A2"/>
                </a:solidFill>
              </a:rPr>
              <a:t>rm</a:t>
            </a:r>
            <a:r>
              <a:rPr lang="en-US" altLang="zh-CN" sz="2400" dirty="0">
                <a:solidFill>
                  <a:srgbClr val="1353A2"/>
                </a:solidFill>
              </a:rPr>
              <a:t>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</a:t>
            </a:r>
            <a:r>
              <a:rPr lang="zh-CN" altLang="en-US" sz="2400" dirty="0">
                <a:solidFill>
                  <a:srgbClr val="1353A2"/>
                </a:solidFill>
              </a:rPr>
              <a:t>文件或目录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99466" y="3999006"/>
          <a:ext cx="10022252" cy="15876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7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9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选项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28" marR="12862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28" marR="12862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5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-f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28" marR="12862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C00000"/>
                          </a:solidFill>
                          <a:effectLst/>
                        </a:rPr>
                        <a:t>强制删除</a:t>
                      </a:r>
                      <a:r>
                        <a:rPr lang="zh-CN" sz="2000" kern="100" dirty="0">
                          <a:effectLst/>
                        </a:rPr>
                        <a:t>文件或目录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28" marR="12862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5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C00000"/>
                          </a:solidFill>
                          <a:effectLst/>
                        </a:rPr>
                        <a:t>-rf</a:t>
                      </a:r>
                      <a:endParaRPr lang="zh-CN" sz="2000" kern="100" dirty="0">
                        <a:solidFill>
                          <a:srgbClr val="C0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28" marR="12862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选项</a:t>
                      </a:r>
                      <a:r>
                        <a:rPr lang="en-US" sz="2000" kern="100" dirty="0">
                          <a:effectLst/>
                        </a:rPr>
                        <a:t>-r</a:t>
                      </a:r>
                      <a:r>
                        <a:rPr lang="zh-CN" sz="2000" kern="100" dirty="0">
                          <a:effectLst/>
                        </a:rPr>
                        <a:t>与</a:t>
                      </a:r>
                      <a:r>
                        <a:rPr lang="en-US" sz="2000" kern="100" dirty="0">
                          <a:effectLst/>
                        </a:rPr>
                        <a:t>-f</a:t>
                      </a:r>
                      <a:r>
                        <a:rPr lang="zh-CN" sz="2000" kern="100" dirty="0">
                          <a:effectLst/>
                        </a:rPr>
                        <a:t>结合，删除目录中所有文件和子目录，并且不一一确认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28" marR="12862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5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-i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28" marR="12862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在删除文件或目录时对要删除的内容逐一进行确认（</a:t>
                      </a:r>
                      <a:r>
                        <a:rPr lang="en-US" sz="2000" kern="100" dirty="0">
                          <a:effectLst/>
                        </a:rPr>
                        <a:t>y/n</a:t>
                      </a:r>
                      <a:r>
                        <a:rPr lang="zh-CN" sz="2000" kern="100" dirty="0">
                          <a:effectLst/>
                        </a:rPr>
                        <a:t>）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28" marR="12862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7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rm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219627"/>
            <a:ext cx="10983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rm</a:t>
            </a:r>
            <a:r>
              <a:rPr lang="en-US" altLang="zh-CN" sz="2400" dirty="0">
                <a:solidFill>
                  <a:srgbClr val="1353A2"/>
                </a:solidFill>
              </a:rPr>
              <a:t> –</a:t>
            </a:r>
            <a:r>
              <a:rPr lang="en-US" altLang="zh-CN" sz="2400" dirty="0" err="1">
                <a:solidFill>
                  <a:srgbClr val="1353A2"/>
                </a:solidFill>
              </a:rPr>
              <a:t>rf</a:t>
            </a:r>
            <a:r>
              <a:rPr lang="en-US" altLang="zh-CN" sz="2400" dirty="0">
                <a:solidFill>
                  <a:srgbClr val="1353A2"/>
                </a:solidFill>
              </a:rPr>
              <a:t> ./</a:t>
            </a:r>
            <a:r>
              <a:rPr lang="en-US" altLang="zh-CN" sz="2400" dirty="0" err="1">
                <a:solidFill>
                  <a:srgbClr val="1353A2"/>
                </a:solidFill>
              </a:rPr>
              <a:t>testmkdir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811" y="3028719"/>
            <a:ext cx="7163740" cy="27924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8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mv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19419"/>
            <a:ext cx="109837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命令原意：</a:t>
            </a:r>
            <a:r>
              <a:rPr lang="en-US" altLang="zh-CN" sz="2400" dirty="0">
                <a:solidFill>
                  <a:srgbClr val="1353A2"/>
                </a:solidFill>
              </a:rPr>
              <a:t>move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命令功能：移动文件或目录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mv </a:t>
            </a:r>
            <a:r>
              <a:rPr lang="zh-CN" altLang="en-US" sz="2400" dirty="0">
                <a:solidFill>
                  <a:srgbClr val="1353A2"/>
                </a:solidFill>
              </a:rPr>
              <a:t>源文件或目录 目标目录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89" y="3658372"/>
            <a:ext cx="8597918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>
                <a:solidFill>
                  <a:srgbClr val="FF0000"/>
                </a:solidFill>
              </a:rPr>
              <a:t>mv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</a:rPr>
              <a:t>demo.c</a:t>
            </a:r>
            <a:r>
              <a:rPr lang="en-US" altLang="zh-CN" sz="2400" dirty="0">
                <a:solidFill>
                  <a:srgbClr val="1353A2"/>
                </a:solidFill>
              </a:rPr>
              <a:t> demo2.c ./</a:t>
            </a:r>
            <a:r>
              <a:rPr lang="en-US" altLang="zh-CN" sz="2400" dirty="0" err="1">
                <a:solidFill>
                  <a:srgbClr val="1353A2"/>
                </a:solidFill>
              </a:rPr>
              <a:t>testmkdir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3754" y="4202256"/>
            <a:ext cx="6344491" cy="208290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9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rmdir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19419"/>
            <a:ext cx="109837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命令原意：</a:t>
            </a:r>
            <a:r>
              <a:rPr lang="en-US" altLang="zh-CN" sz="2400" dirty="0">
                <a:solidFill>
                  <a:srgbClr val="1353A2"/>
                </a:solidFill>
              </a:rPr>
              <a:t>remove directory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命令功能：删除目录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 err="1">
                <a:solidFill>
                  <a:srgbClr val="1353A2"/>
                </a:solidFill>
              </a:rPr>
              <a:t>rmdir</a:t>
            </a:r>
            <a:r>
              <a:rPr lang="en-US" altLang="zh-CN" sz="2400" dirty="0">
                <a:solidFill>
                  <a:srgbClr val="1353A2"/>
                </a:solidFill>
              </a:rPr>
              <a:t> [-p] </a:t>
            </a:r>
            <a:r>
              <a:rPr lang="zh-CN" altLang="en-US" sz="2400" dirty="0">
                <a:solidFill>
                  <a:srgbClr val="1353A2"/>
                </a:solidFill>
              </a:rPr>
              <a:t>目录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89" y="3658372"/>
            <a:ext cx="54918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rmdir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</a:rPr>
              <a:t>dir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206" y="4184370"/>
            <a:ext cx="6109588" cy="21719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44"/>
          <p:cNvSpPr txBox="1">
            <a:spLocks noChangeArrowheads="1"/>
          </p:cNvSpPr>
          <p:nvPr/>
        </p:nvSpPr>
        <p:spPr bwMode="auto">
          <a:xfrm>
            <a:off x="5062812" y="3125250"/>
            <a:ext cx="6407043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文件操作与管理命令用于操作文件本身，而</a:t>
            </a:r>
            <a:r>
              <a:rPr lang="zh-CN" altLang="en-US" sz="2400" dirty="0">
                <a:solidFill>
                  <a:srgbClr val="FF0000"/>
                </a:solidFill>
              </a:rPr>
              <a:t>查看</a:t>
            </a:r>
            <a:r>
              <a:rPr lang="zh-CN" altLang="en-US" sz="2400" dirty="0">
                <a:solidFill>
                  <a:srgbClr val="1353A2"/>
                </a:solidFill>
              </a:rPr>
              <a:t>文件的命令用于获取文件中存储的</a:t>
            </a:r>
            <a:r>
              <a:rPr lang="zh-CN" altLang="en-US" sz="2400" dirty="0">
                <a:solidFill>
                  <a:srgbClr val="FF0000"/>
                </a:solidFill>
              </a:rPr>
              <a:t>内容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查看文件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32" y="1752404"/>
            <a:ext cx="3751807" cy="3832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cat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90" y="2119419"/>
            <a:ext cx="445772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命令原意：</a:t>
            </a:r>
            <a:r>
              <a:rPr lang="en-US" altLang="zh-CN" sz="2400" dirty="0">
                <a:solidFill>
                  <a:srgbClr val="1353A2"/>
                </a:solidFill>
              </a:rPr>
              <a:t>con</a:t>
            </a:r>
            <a:r>
              <a:rPr lang="en-US" altLang="zh-CN" sz="2400" dirty="0">
                <a:solidFill>
                  <a:srgbClr val="FF0000"/>
                </a:solidFill>
              </a:rPr>
              <a:t>cat</a:t>
            </a:r>
            <a:r>
              <a:rPr lang="en-US" altLang="zh-CN" sz="2400" dirty="0">
                <a:solidFill>
                  <a:srgbClr val="1353A2"/>
                </a:solidFill>
              </a:rPr>
              <a:t>enate and display files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命令功能：打印文件内容到输出设备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cat </a:t>
            </a:r>
            <a:r>
              <a:rPr lang="zh-CN" altLang="en-US" sz="2400" dirty="0">
                <a:solidFill>
                  <a:srgbClr val="1353A2"/>
                </a:solidFill>
              </a:rPr>
              <a:t>文件名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88" y="5249178"/>
            <a:ext cx="54918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>
                <a:solidFill>
                  <a:srgbClr val="FF0000"/>
                </a:solidFill>
              </a:rPr>
              <a:t>cat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</a:rPr>
              <a:t>hello.c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查看文件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873" y="2788732"/>
            <a:ext cx="5671322" cy="27938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more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90" y="2357414"/>
            <a:ext cx="4645024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</a:t>
            </a:r>
            <a:r>
              <a:rPr lang="zh-CN" altLang="en-US" sz="2400" dirty="0">
                <a:solidFill>
                  <a:srgbClr val="C00000"/>
                </a:solidFill>
              </a:rPr>
              <a:t>分页</a:t>
            </a:r>
            <a:r>
              <a:rPr lang="zh-CN" altLang="en-US" sz="2400" dirty="0">
                <a:solidFill>
                  <a:srgbClr val="1353A2"/>
                </a:solidFill>
              </a:rPr>
              <a:t>显示文件内容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more </a:t>
            </a:r>
            <a:r>
              <a:rPr lang="zh-CN" altLang="en-US" sz="2400" dirty="0">
                <a:solidFill>
                  <a:srgbClr val="1353A2"/>
                </a:solidFill>
              </a:rPr>
              <a:t>文件名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32183" y="3873745"/>
          <a:ext cx="9943191" cy="1575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3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快捷键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说明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5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f/Space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显示下一</a:t>
                      </a:r>
                      <a:r>
                        <a:rPr lang="zh-CN" sz="2000" b="1" kern="100" dirty="0">
                          <a:solidFill>
                            <a:srgbClr val="C00000"/>
                          </a:solidFill>
                          <a:effectLst/>
                        </a:rPr>
                        <a:t>页</a:t>
                      </a:r>
                      <a:endParaRPr lang="zh-CN" sz="2000" b="1" kern="100" dirty="0">
                        <a:solidFill>
                          <a:srgbClr val="C0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5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Enter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显示下一</a:t>
                      </a:r>
                      <a:r>
                        <a:rPr lang="zh-CN" sz="2000" b="1" kern="100" dirty="0">
                          <a:solidFill>
                            <a:srgbClr val="C00000"/>
                          </a:solidFill>
                          <a:effectLst/>
                        </a:rPr>
                        <a:t>行</a:t>
                      </a:r>
                      <a:endParaRPr lang="zh-CN" sz="2000" b="1" kern="100" dirty="0">
                        <a:solidFill>
                          <a:srgbClr val="C0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5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q/Q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退出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查看文件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less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357414"/>
            <a:ext cx="10073127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命令功能：分页显示文件内容，可实现</a:t>
            </a:r>
            <a:r>
              <a:rPr lang="zh-CN" altLang="en-US" sz="2400" dirty="0">
                <a:solidFill>
                  <a:srgbClr val="C00000"/>
                </a:solidFill>
              </a:rPr>
              <a:t>向上翻页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less </a:t>
            </a:r>
            <a:r>
              <a:rPr lang="zh-CN" altLang="en-US" sz="2400" dirty="0">
                <a:solidFill>
                  <a:srgbClr val="1353A2"/>
                </a:solidFill>
              </a:rPr>
              <a:t>文件名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32183" y="3873745"/>
          <a:ext cx="9943191" cy="1575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3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快捷键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说明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5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P</a:t>
                      </a:r>
                      <a:r>
                        <a:rPr lang="en-US" altLang="zh-CN" sz="2000" kern="100" dirty="0" err="1">
                          <a:effectLst/>
                        </a:rPr>
                        <a:t>ageUp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向</a:t>
                      </a:r>
                      <a:r>
                        <a:rPr lang="zh-CN" altLang="en-US" sz="2000" b="1" kern="100" dirty="0">
                          <a:solidFill>
                            <a:srgbClr val="C0000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上</a:t>
                      </a:r>
                      <a:r>
                        <a:rPr lang="zh-CN" altLang="en-US" sz="2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翻页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5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P</a:t>
                      </a:r>
                      <a:r>
                        <a:rPr lang="en-US" altLang="zh-CN" sz="2000" kern="100" dirty="0" err="1">
                          <a:effectLst/>
                        </a:rPr>
                        <a:t>ageDown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向</a:t>
                      </a:r>
                      <a:r>
                        <a:rPr lang="zh-CN" altLang="en-US" sz="2000" b="1" kern="100" dirty="0">
                          <a:solidFill>
                            <a:srgbClr val="C0000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下</a:t>
                      </a:r>
                      <a:r>
                        <a:rPr lang="zh-CN" altLang="en-US" sz="2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翻页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5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q/Q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退出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查看文件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head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244679"/>
            <a:ext cx="91424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命令功能：查看文件的前</a:t>
            </a:r>
            <a:r>
              <a:rPr lang="en-US" altLang="zh-CN" sz="2400" dirty="0">
                <a:solidFill>
                  <a:srgbClr val="1353A2"/>
                </a:solidFill>
              </a:rPr>
              <a:t>n</a:t>
            </a:r>
            <a:r>
              <a:rPr lang="zh-CN" altLang="en-US" sz="2400" dirty="0">
                <a:solidFill>
                  <a:srgbClr val="1353A2"/>
                </a:solidFill>
              </a:rPr>
              <a:t>行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head –n </a:t>
            </a:r>
            <a:r>
              <a:rPr lang="zh-CN" altLang="en-US" sz="2400" dirty="0">
                <a:solidFill>
                  <a:srgbClr val="1353A2"/>
                </a:solidFill>
              </a:rPr>
              <a:t>文件名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查看文件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514" y="3769727"/>
            <a:ext cx="6570333" cy="222770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tail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244679"/>
            <a:ext cx="91424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命令功能：查看文件的后</a:t>
            </a:r>
            <a:r>
              <a:rPr lang="en-US" altLang="zh-CN" sz="2400" dirty="0">
                <a:solidFill>
                  <a:srgbClr val="1353A2"/>
                </a:solidFill>
              </a:rPr>
              <a:t>n</a:t>
            </a:r>
            <a:r>
              <a:rPr lang="zh-CN" altLang="en-US" sz="2400" dirty="0">
                <a:solidFill>
                  <a:srgbClr val="1353A2"/>
                </a:solidFill>
              </a:rPr>
              <a:t>行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tail –n </a:t>
            </a:r>
            <a:r>
              <a:rPr lang="zh-CN" altLang="en-US" sz="2400" dirty="0">
                <a:solidFill>
                  <a:srgbClr val="1353A2"/>
                </a:solidFill>
              </a:rPr>
              <a:t>文件名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查看文件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0833" y="3768095"/>
            <a:ext cx="6570333" cy="222452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6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wc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244679"/>
            <a:ext cx="9142459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命令功能：计算文件的字节数、字数和列数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 err="1">
                <a:solidFill>
                  <a:srgbClr val="1353A2"/>
                </a:solidFill>
              </a:rPr>
              <a:t>wc</a:t>
            </a:r>
            <a:r>
              <a:rPr lang="en-US" altLang="zh-CN" sz="2400" dirty="0">
                <a:solidFill>
                  <a:srgbClr val="1353A2"/>
                </a:solidFill>
              </a:rPr>
              <a:t>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</a:t>
            </a:r>
            <a:r>
              <a:rPr lang="zh-CN" altLang="en-US" sz="2400" dirty="0">
                <a:solidFill>
                  <a:srgbClr val="1353A2"/>
                </a:solidFill>
              </a:rPr>
              <a:t>参数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查看文件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2789" y="3432430"/>
            <a:ext cx="10809398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–l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hello.c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#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统计文件的行数</a:t>
            </a: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–c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hello.c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#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统计字节数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–w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hello.c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#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统计字数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61554"/>
            <a:ext cx="5670756" cy="19145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44"/>
          <p:cNvSpPr txBox="1">
            <a:spLocks noChangeArrowheads="1"/>
          </p:cNvSpPr>
          <p:nvPr/>
        </p:nvSpPr>
        <p:spPr bwMode="auto">
          <a:xfrm>
            <a:off x="4773882" y="2813365"/>
            <a:ext cx="6695974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文件搜索命令可根据</a:t>
            </a:r>
            <a:r>
              <a:rPr lang="zh-CN" altLang="en-US" sz="2400" dirty="0">
                <a:solidFill>
                  <a:srgbClr val="FF0000"/>
                </a:solidFill>
              </a:rPr>
              <a:t>文件名</a:t>
            </a:r>
            <a:r>
              <a:rPr lang="zh-CN" altLang="en-US" sz="2400" dirty="0">
                <a:solidFill>
                  <a:srgbClr val="1353A2"/>
                </a:solidFill>
              </a:rPr>
              <a:t>或</a:t>
            </a:r>
            <a:r>
              <a:rPr lang="zh-CN" altLang="en-US" sz="2400" dirty="0">
                <a:solidFill>
                  <a:srgbClr val="FF0000"/>
                </a:solidFill>
              </a:rPr>
              <a:t>关键字</a:t>
            </a:r>
            <a:r>
              <a:rPr lang="zh-CN" altLang="en-US" sz="2400" dirty="0">
                <a:solidFill>
                  <a:srgbClr val="1353A2"/>
                </a:solidFill>
              </a:rPr>
              <a:t>，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1.</a:t>
            </a:r>
            <a:r>
              <a:rPr lang="zh-CN" altLang="en-US" sz="2400" dirty="0">
                <a:solidFill>
                  <a:srgbClr val="1353A2"/>
                </a:solidFill>
              </a:rPr>
              <a:t>搜索文件所在</a:t>
            </a:r>
            <a:r>
              <a:rPr lang="zh-CN" altLang="en-US" sz="2400" b="1" dirty="0">
                <a:solidFill>
                  <a:srgbClr val="FF0000"/>
                </a:solidFill>
              </a:rPr>
              <a:t>路径</a:t>
            </a:r>
            <a:endParaRPr lang="en-US" altLang="zh-CN" sz="2400" b="1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2.</a:t>
            </a:r>
            <a:r>
              <a:rPr lang="zh-CN" altLang="en-US" sz="2400" dirty="0">
                <a:solidFill>
                  <a:srgbClr val="1353A2"/>
                </a:solidFill>
              </a:rPr>
              <a:t>搜索包含指定关键字的</a:t>
            </a:r>
            <a:r>
              <a:rPr lang="zh-CN" altLang="en-US" sz="2400" b="1" dirty="0">
                <a:solidFill>
                  <a:srgbClr val="FF0000"/>
                </a:solidFill>
              </a:rPr>
              <a:t>内容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文件搜索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36" y="1380010"/>
            <a:ext cx="3745163" cy="4450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which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91424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命令功能：查看命令所在路径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which </a:t>
            </a:r>
            <a:r>
              <a:rPr lang="zh-CN" altLang="en-US" sz="2400" dirty="0">
                <a:solidFill>
                  <a:srgbClr val="1353A2"/>
                </a:solidFill>
              </a:rPr>
              <a:t>命令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90" y="3307222"/>
            <a:ext cx="5491893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>
                <a:solidFill>
                  <a:srgbClr val="FF0000"/>
                </a:solidFill>
              </a:rPr>
              <a:t>which </a:t>
            </a:r>
            <a:r>
              <a:rPr lang="en-US" altLang="zh-CN" sz="2400" dirty="0">
                <a:solidFill>
                  <a:srgbClr val="1353A2"/>
                </a:solidFill>
              </a:rPr>
              <a:t>ls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文件搜索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5603" y="4017198"/>
            <a:ext cx="6520794" cy="149046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rgbClr val="FF0000"/>
                  </a:solidFill>
                </a:rPr>
                <a:t>find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命令功能：借助搜索关键字（文件名、文件大小、文件所有者等）</a:t>
            </a:r>
            <a:r>
              <a:rPr lang="zh-CN" altLang="en-US" sz="2400" dirty="0">
                <a:solidFill>
                  <a:srgbClr val="FF0000"/>
                </a:solidFill>
              </a:rPr>
              <a:t>查找文件或目录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find </a:t>
            </a:r>
            <a:r>
              <a:rPr lang="zh-CN" altLang="en-US" sz="2400" dirty="0">
                <a:solidFill>
                  <a:srgbClr val="1353A2"/>
                </a:solidFill>
              </a:rPr>
              <a:t>搜索路径 </a:t>
            </a:r>
            <a:r>
              <a:rPr lang="en-US" altLang="zh-CN" sz="2400" dirty="0">
                <a:solidFill>
                  <a:srgbClr val="1353A2"/>
                </a:solidFill>
              </a:rPr>
              <a:t>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</a:t>
            </a:r>
            <a:r>
              <a:rPr lang="zh-CN" altLang="en-US" sz="2400" dirty="0">
                <a:solidFill>
                  <a:srgbClr val="1353A2"/>
                </a:solidFill>
              </a:rPr>
              <a:t> 搜索关键字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172183" y="3923849"/>
          <a:ext cx="9943197" cy="1575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2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3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选项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5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-name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根据文件名查找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5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-size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根据文件大小查找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5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-user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根据文件所有者查找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7613" marR="12761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Box 44"/>
          <p:cNvSpPr txBox="1">
            <a:spLocks noChangeArrowheads="1"/>
          </p:cNvSpPr>
          <p:nvPr/>
        </p:nvSpPr>
        <p:spPr bwMode="auto">
          <a:xfrm>
            <a:off x="610457" y="5536855"/>
            <a:ext cx="54918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>
                <a:solidFill>
                  <a:srgbClr val="FF0000"/>
                </a:solidFill>
              </a:rPr>
              <a:t>find </a:t>
            </a:r>
            <a:r>
              <a:rPr lang="en-US" altLang="zh-CN" sz="2400" dirty="0">
                <a:solidFill>
                  <a:srgbClr val="1353A2"/>
                </a:solidFill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</a:rPr>
              <a:t> –name </a:t>
            </a:r>
            <a:r>
              <a:rPr lang="en-US" altLang="zh-CN" sz="2400" dirty="0" err="1">
                <a:solidFill>
                  <a:srgbClr val="1353A2"/>
                </a:solidFill>
              </a:rPr>
              <a:t>passwd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文件搜索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681" y="4354780"/>
            <a:ext cx="5060504" cy="14789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2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locate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命令功能：借助搜索关键字查找文件或目录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locate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</a:t>
            </a:r>
            <a:r>
              <a:rPr lang="zh-CN" altLang="en-US" sz="2400" dirty="0">
                <a:solidFill>
                  <a:srgbClr val="1353A2"/>
                </a:solidFill>
              </a:rPr>
              <a:t> 搜索关键字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33" y="3557743"/>
            <a:ext cx="2077796" cy="2592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417402" y="3699849"/>
            <a:ext cx="8154444" cy="2308324"/>
          </a:xfrm>
          <a:prstGeom prst="rect">
            <a:avLst/>
          </a:prstGeom>
          <a:noFill/>
          <a:ln w="38100" cap="sq">
            <a:solidFill>
              <a:schemeClr val="accent1">
                <a:lumMod val="60000"/>
                <a:lumOff val="40000"/>
              </a:schemeClr>
            </a:solidFill>
            <a:prstDash val="sysDash"/>
            <a:round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locate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find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的区别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locate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find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find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搜索整个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locate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/lib/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locatedb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即便文件存在，数据库中没有记录，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locate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便搜索不到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文件搜索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rgbClr val="FF0000"/>
                  </a:solidFill>
                </a:rPr>
                <a:t>grep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9142459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命令功能：在</a:t>
            </a:r>
            <a:r>
              <a:rPr lang="zh-CN" altLang="en-US" sz="2400" b="1" dirty="0">
                <a:solidFill>
                  <a:srgbClr val="FF0000"/>
                </a:solidFill>
              </a:rPr>
              <a:t>文件中</a:t>
            </a:r>
            <a:r>
              <a:rPr lang="zh-CN" altLang="en-US" sz="2400" dirty="0">
                <a:solidFill>
                  <a:srgbClr val="1353A2"/>
                </a:solidFill>
              </a:rPr>
              <a:t>搜索与</a:t>
            </a:r>
            <a:r>
              <a:rPr lang="zh-CN" altLang="en-US" sz="2400" b="1" dirty="0">
                <a:solidFill>
                  <a:srgbClr val="FF0000"/>
                </a:solidFill>
              </a:rPr>
              <a:t>字符串匹配</a:t>
            </a:r>
            <a:r>
              <a:rPr lang="zh-CN" altLang="en-US" sz="2400" dirty="0">
                <a:solidFill>
                  <a:srgbClr val="1353A2"/>
                </a:solidFill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行</a:t>
            </a:r>
            <a:r>
              <a:rPr lang="zh-CN" altLang="en-US" sz="2400" dirty="0">
                <a:solidFill>
                  <a:srgbClr val="1353A2"/>
                </a:solidFill>
              </a:rPr>
              <a:t>并输出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grep </a:t>
            </a:r>
            <a:r>
              <a:rPr lang="zh-CN" altLang="en-US" sz="2400" dirty="0">
                <a:solidFill>
                  <a:srgbClr val="1353A2"/>
                </a:solidFill>
              </a:rPr>
              <a:t>指定字符 源文件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90" y="3307222"/>
            <a:ext cx="6891834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>
                <a:solidFill>
                  <a:srgbClr val="FF0000"/>
                </a:solidFill>
              </a:rPr>
              <a:t>grep </a:t>
            </a:r>
            <a:r>
              <a:rPr lang="en-US" altLang="zh-CN" sz="2400" dirty="0" err="1">
                <a:solidFill>
                  <a:srgbClr val="1353A2"/>
                </a:solidFill>
              </a:rPr>
              <a:t>brucefang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1353A2"/>
                </a:solidFill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</a:rPr>
              <a:t>/passwd 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文件搜索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087" y="4275452"/>
            <a:ext cx="6800569" cy="12527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44"/>
          <p:cNvSpPr txBox="1">
            <a:spLocks noChangeArrowheads="1"/>
          </p:cNvSpPr>
          <p:nvPr/>
        </p:nvSpPr>
        <p:spPr bwMode="auto">
          <a:xfrm>
            <a:off x="5343719" y="2939794"/>
            <a:ext cx="640704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权限管理命令：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1353A2"/>
                </a:solidFill>
              </a:rPr>
              <a:t>chmod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 err="1">
                <a:solidFill>
                  <a:srgbClr val="1353A2"/>
                </a:solidFill>
              </a:rPr>
              <a:t>chown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 err="1">
                <a:solidFill>
                  <a:srgbClr val="1353A2"/>
                </a:solidFill>
              </a:rPr>
              <a:t>chgrp</a:t>
            </a:r>
            <a:endParaRPr lang="zh-CN" altLang="en-US" sz="2400" dirty="0">
              <a:solidFill>
                <a:srgbClr val="1353A2"/>
              </a:solidFill>
            </a:endParaRPr>
          </a:p>
        </p:txBody>
      </p:sp>
      <p:sp>
        <p:nvSpPr>
          <p:cNvPr id="6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2.3.4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18" y="1852612"/>
            <a:ext cx="3716335" cy="3796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权限 与 文件类型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87" y="4513734"/>
            <a:ext cx="10911223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7</a:t>
            </a:r>
            <a:r>
              <a:rPr lang="zh-CN" altLang="en-US" sz="2400" dirty="0">
                <a:solidFill>
                  <a:schemeClr val="tx1"/>
                </a:solidFill>
              </a:rPr>
              <a:t>个字段：</a:t>
            </a:r>
            <a:r>
              <a:rPr lang="zh-CN" altLang="en-US" sz="2400" b="1" u="sng" dirty="0">
                <a:solidFill>
                  <a:srgbClr val="FF0000"/>
                </a:solidFill>
              </a:rPr>
              <a:t>文件类型与权限</a:t>
            </a:r>
            <a:r>
              <a:rPr lang="zh-CN" altLang="en-US" sz="2400" u="sng" dirty="0">
                <a:solidFill>
                  <a:schemeClr val="tx1"/>
                </a:solidFill>
              </a:rPr>
              <a:t>、硬链接数、所有者、所有者所属组、所占空间、时间戳、文件名。</a:t>
            </a:r>
            <a:endParaRPr lang="en-US" altLang="zh-CN" sz="2400" u="sng" dirty="0">
              <a:solidFill>
                <a:schemeClr val="tx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2.3.4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181" y="2344266"/>
            <a:ext cx="10041317" cy="174793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192181" y="3522921"/>
            <a:ext cx="1536842" cy="248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文件类型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2.3.4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602789" y="2346163"/>
            <a:ext cx="10983786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支持多种文件类型，每一类用一个字符来表示，其说明如下：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        </a:t>
            </a:r>
            <a:r>
              <a:rPr lang="en-US" altLang="zh-CN" sz="2400" b="1" dirty="0">
                <a:solidFill>
                  <a:srgbClr val="C00000"/>
                </a:solidFill>
              </a:rPr>
              <a:t>-</a:t>
            </a:r>
            <a:r>
              <a:rPr lang="zh-CN" altLang="en-US" sz="2400" b="1" dirty="0">
                <a:solidFill>
                  <a:srgbClr val="C00000"/>
                </a:solidFill>
              </a:rPr>
              <a:t>：常规文件 </a:t>
            </a:r>
            <a:r>
              <a:rPr lang="zh-CN" altLang="en-US" sz="2400" dirty="0">
                <a:solidFill>
                  <a:srgbClr val="C00000"/>
                </a:solidFill>
              </a:rPr>
              <a:t>                           </a:t>
            </a:r>
            <a:r>
              <a:rPr lang="en-US" altLang="zh-CN" sz="2400" dirty="0">
                <a:solidFill>
                  <a:srgbClr val="1353A2"/>
                </a:solidFill>
              </a:rPr>
              <a:t>p</a:t>
            </a:r>
            <a:r>
              <a:rPr lang="zh-CN" altLang="en-US" sz="2400" dirty="0">
                <a:solidFill>
                  <a:srgbClr val="1353A2"/>
                </a:solidFill>
              </a:rPr>
              <a:t>：有名管道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       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d</a:t>
            </a:r>
            <a:r>
              <a:rPr lang="zh-CN" altLang="en-US" sz="2400" b="1" dirty="0">
                <a:solidFill>
                  <a:srgbClr val="C00000"/>
                </a:solidFill>
              </a:rPr>
              <a:t>：目录 </a:t>
            </a:r>
            <a:r>
              <a:rPr lang="zh-CN" altLang="en-US" sz="2400" dirty="0">
                <a:solidFill>
                  <a:srgbClr val="C00000"/>
                </a:solidFill>
              </a:rPr>
              <a:t>                                 </a:t>
            </a:r>
            <a:r>
              <a:rPr lang="en-US" altLang="zh-CN" sz="2400" dirty="0">
                <a:solidFill>
                  <a:srgbClr val="1353A2"/>
                </a:solidFill>
              </a:rPr>
              <a:t>s</a:t>
            </a:r>
            <a:r>
              <a:rPr lang="zh-CN" altLang="en-US" sz="2400" dirty="0">
                <a:solidFill>
                  <a:srgbClr val="1353A2"/>
                </a:solidFill>
              </a:rPr>
              <a:t>：信号灯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        </a:t>
            </a:r>
            <a:r>
              <a:rPr lang="en-US" altLang="zh-CN" sz="2400" dirty="0">
                <a:solidFill>
                  <a:srgbClr val="1353A2"/>
                </a:solidFill>
              </a:rPr>
              <a:t>b</a:t>
            </a:r>
            <a:r>
              <a:rPr lang="zh-CN" altLang="en-US" sz="2400" dirty="0">
                <a:solidFill>
                  <a:srgbClr val="1353A2"/>
                </a:solidFill>
              </a:rPr>
              <a:t>：块特殊设备                        </a:t>
            </a:r>
            <a:r>
              <a:rPr lang="en-US" altLang="zh-CN" sz="2400" dirty="0">
                <a:solidFill>
                  <a:srgbClr val="1353A2"/>
                </a:solidFill>
              </a:rPr>
              <a:t>m</a:t>
            </a:r>
            <a:r>
              <a:rPr lang="zh-CN" altLang="en-US" sz="2400" dirty="0">
                <a:solidFill>
                  <a:srgbClr val="1353A2"/>
                </a:solidFill>
              </a:rPr>
              <a:t>：共享存储器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        </a:t>
            </a:r>
            <a:r>
              <a:rPr lang="en-US" altLang="zh-CN" sz="2400" dirty="0">
                <a:solidFill>
                  <a:srgbClr val="1353A2"/>
                </a:solidFill>
              </a:rPr>
              <a:t>c</a:t>
            </a:r>
            <a:r>
              <a:rPr lang="zh-CN" altLang="en-US" sz="2400" dirty="0">
                <a:solidFill>
                  <a:srgbClr val="1353A2"/>
                </a:solidFill>
              </a:rPr>
              <a:t>：字符特殊设备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/>
          <a:srcRect t="76855" b="4225"/>
          <a:stretch>
            <a:fillRect/>
          </a:stretch>
        </p:blipFill>
        <p:spPr>
          <a:xfrm>
            <a:off x="1656027" y="5204511"/>
            <a:ext cx="8967933" cy="115178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权限管理命令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746135" y="4270254"/>
          <a:ext cx="8697091" cy="15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6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6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权限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对应字符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文件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目录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读权限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r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可</a:t>
                      </a:r>
                      <a:r>
                        <a:rPr lang="zh-CN" sz="1700" kern="100" dirty="0">
                          <a:solidFill>
                            <a:srgbClr val="FF0000"/>
                          </a:solidFill>
                          <a:effectLst/>
                        </a:rPr>
                        <a:t>查看</a:t>
                      </a:r>
                      <a:r>
                        <a:rPr lang="zh-CN" sz="1700" kern="100" dirty="0">
                          <a:effectLst/>
                        </a:rPr>
                        <a:t>文件内容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可以</a:t>
                      </a:r>
                      <a:r>
                        <a:rPr lang="zh-CN" sz="1700" kern="100" dirty="0">
                          <a:solidFill>
                            <a:srgbClr val="FF0000"/>
                          </a:solidFill>
                          <a:effectLst/>
                        </a:rPr>
                        <a:t>列出</a:t>
                      </a:r>
                      <a:r>
                        <a:rPr lang="zh-CN" sz="1700" kern="100" dirty="0">
                          <a:effectLst/>
                        </a:rPr>
                        <a:t>目录中的内容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6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写权限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w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可</a:t>
                      </a:r>
                      <a:r>
                        <a:rPr lang="zh-CN" sz="1700" kern="100" dirty="0">
                          <a:solidFill>
                            <a:srgbClr val="FF0000"/>
                          </a:solidFill>
                          <a:effectLst/>
                        </a:rPr>
                        <a:t>修改</a:t>
                      </a:r>
                      <a:r>
                        <a:rPr lang="zh-CN" sz="1700" kern="100" dirty="0">
                          <a:effectLst/>
                        </a:rPr>
                        <a:t>文件内容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可以在目录中</a:t>
                      </a:r>
                      <a:r>
                        <a:rPr lang="zh-CN" sz="1700" kern="100" dirty="0">
                          <a:solidFill>
                            <a:srgbClr val="FF0000"/>
                          </a:solidFill>
                          <a:effectLst/>
                        </a:rPr>
                        <a:t>创建、删除</a:t>
                      </a:r>
                      <a:r>
                        <a:rPr lang="zh-CN" sz="1700" kern="100" dirty="0">
                          <a:effectLst/>
                        </a:rPr>
                        <a:t>文件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执行权限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x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可</a:t>
                      </a:r>
                      <a:r>
                        <a:rPr lang="zh-CN" sz="1700" kern="100" dirty="0">
                          <a:solidFill>
                            <a:srgbClr val="FF0000"/>
                          </a:solidFill>
                          <a:effectLst/>
                        </a:rPr>
                        <a:t>执行</a:t>
                      </a:r>
                      <a:r>
                        <a:rPr lang="zh-CN" sz="1700" kern="100" dirty="0">
                          <a:effectLst/>
                        </a:rPr>
                        <a:t>该文件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可以</a:t>
                      </a:r>
                      <a:r>
                        <a:rPr lang="zh-CN" sz="1700" kern="100" dirty="0">
                          <a:solidFill>
                            <a:srgbClr val="FF0000"/>
                          </a:solidFill>
                          <a:effectLst/>
                        </a:rPr>
                        <a:t>进入</a:t>
                      </a:r>
                      <a:r>
                        <a:rPr lang="zh-CN" sz="1700" kern="100" dirty="0">
                          <a:effectLst/>
                        </a:rPr>
                        <a:t>目录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2220" marR="11222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Box 44"/>
          <p:cNvSpPr txBox="1">
            <a:spLocks noChangeArrowheads="1"/>
          </p:cNvSpPr>
          <p:nvPr/>
        </p:nvSpPr>
        <p:spPr bwMode="auto">
          <a:xfrm>
            <a:off x="602788" y="2346163"/>
            <a:ext cx="1098378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根据用户与文件的关系，</a:t>
            </a: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系统中将用户分为</a:t>
            </a:r>
            <a:r>
              <a:rPr lang="zh-CN" altLang="en-US" sz="2400" dirty="0">
                <a:solidFill>
                  <a:srgbClr val="00B0F0"/>
                </a:solidFill>
              </a:rPr>
              <a:t>文件或目录</a:t>
            </a:r>
            <a:r>
              <a:rPr lang="zh-CN" altLang="en-US" sz="2400" dirty="0">
                <a:solidFill>
                  <a:srgbClr val="1353A2"/>
                </a:solidFill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</a:rPr>
              <a:t>拥有者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</a:rPr>
              <a:t>同组用户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</a:rPr>
              <a:t>其他组用户</a:t>
            </a:r>
            <a:r>
              <a:rPr lang="zh-CN" altLang="en-US" sz="2400" dirty="0">
                <a:solidFill>
                  <a:srgbClr val="1353A2"/>
                </a:solidFill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全部用户</a:t>
            </a:r>
            <a:r>
              <a:rPr lang="zh-CN" altLang="en-US" sz="2400" dirty="0">
                <a:solidFill>
                  <a:srgbClr val="1353A2"/>
                </a:solidFill>
              </a:rPr>
              <a:t>；又根据用户对文件的权限，将用户权限分为</a:t>
            </a:r>
            <a:r>
              <a:rPr lang="zh-CN" altLang="en-US" sz="2400" dirty="0">
                <a:solidFill>
                  <a:srgbClr val="FF0000"/>
                </a:solidFill>
              </a:rPr>
              <a:t>读</a:t>
            </a:r>
            <a:r>
              <a:rPr lang="zh-CN" altLang="en-US" sz="2400" dirty="0">
                <a:solidFill>
                  <a:srgbClr val="1353A2"/>
                </a:solidFill>
              </a:rPr>
              <a:t>取权限（</a:t>
            </a:r>
            <a:r>
              <a:rPr lang="en-US" altLang="zh-CN" sz="2400" dirty="0">
                <a:solidFill>
                  <a:srgbClr val="1353A2"/>
                </a:solidFill>
              </a:rPr>
              <a:t>read</a:t>
            </a:r>
            <a:r>
              <a:rPr lang="zh-CN" altLang="en-US" sz="2400" dirty="0">
                <a:solidFill>
                  <a:srgbClr val="1353A2"/>
                </a:solidFill>
              </a:rPr>
              <a:t>）、</a:t>
            </a:r>
            <a:r>
              <a:rPr lang="zh-CN" altLang="en-US" sz="2400" dirty="0">
                <a:solidFill>
                  <a:srgbClr val="FF0000"/>
                </a:solidFill>
              </a:rPr>
              <a:t>写</a:t>
            </a:r>
            <a:r>
              <a:rPr lang="zh-CN" altLang="en-US" sz="2400" dirty="0">
                <a:solidFill>
                  <a:srgbClr val="1353A2"/>
                </a:solidFill>
              </a:rPr>
              <a:t>入权限（</a:t>
            </a:r>
            <a:r>
              <a:rPr lang="en-US" altLang="zh-CN" sz="2400" dirty="0">
                <a:solidFill>
                  <a:srgbClr val="1353A2"/>
                </a:solidFill>
              </a:rPr>
              <a:t>write</a:t>
            </a:r>
            <a:r>
              <a:rPr lang="zh-CN" altLang="en-US" sz="2400" dirty="0">
                <a:solidFill>
                  <a:srgbClr val="1353A2"/>
                </a:solidFill>
              </a:rPr>
              <a:t>）和</a:t>
            </a:r>
            <a:r>
              <a:rPr lang="zh-CN" altLang="en-US" sz="2400" dirty="0">
                <a:solidFill>
                  <a:srgbClr val="FF0000"/>
                </a:solidFill>
              </a:rPr>
              <a:t>执行</a:t>
            </a:r>
            <a:r>
              <a:rPr lang="zh-CN" altLang="en-US" sz="2400" dirty="0">
                <a:solidFill>
                  <a:srgbClr val="1353A2"/>
                </a:solidFill>
              </a:rPr>
              <a:t>权限（</a:t>
            </a:r>
            <a:r>
              <a:rPr lang="en-US" altLang="zh-CN" sz="2400" dirty="0">
                <a:solidFill>
                  <a:srgbClr val="1353A2"/>
                </a:solidFill>
              </a:rPr>
              <a:t>execute</a:t>
            </a:r>
            <a:r>
              <a:rPr lang="zh-CN" altLang="en-US" sz="2400" dirty="0">
                <a:solidFill>
                  <a:srgbClr val="1353A2"/>
                </a:solidFill>
              </a:rPr>
              <a:t>）。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2.3.4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权限管理命令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 Box 44"/>
          <p:cNvSpPr txBox="1">
            <a:spLocks noChangeArrowheads="1"/>
          </p:cNvSpPr>
          <p:nvPr/>
        </p:nvSpPr>
        <p:spPr bwMode="auto">
          <a:xfrm>
            <a:off x="602788" y="2346163"/>
            <a:ext cx="11234078" cy="3443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例如：</a:t>
            </a:r>
            <a:r>
              <a:rPr lang="en-US" altLang="zh-CN" sz="2800" b="1" dirty="0" err="1">
                <a:solidFill>
                  <a:srgbClr val="1353A2"/>
                </a:solidFill>
              </a:rPr>
              <a:t>d</a:t>
            </a:r>
            <a:r>
              <a:rPr lang="en-US" altLang="zh-CN" sz="2800" b="1" dirty="0" err="1">
                <a:solidFill>
                  <a:srgbClr val="C00000"/>
                </a:solidFill>
              </a:rPr>
              <a:t>rwx</a:t>
            </a:r>
            <a:r>
              <a:rPr lang="en-US" altLang="zh-CN" sz="2800" b="1" dirty="0" err="1">
                <a:solidFill>
                  <a:srgbClr val="00B050"/>
                </a:solidFill>
              </a:rPr>
              <a:t>r</a:t>
            </a:r>
            <a:r>
              <a:rPr lang="en-US" altLang="zh-CN" sz="2800" b="1" dirty="0">
                <a:solidFill>
                  <a:srgbClr val="00B050"/>
                </a:solidFill>
              </a:rPr>
              <a:t>-x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</a:rPr>
              <a:t>---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表示的含义是：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d</a:t>
            </a:r>
            <a:r>
              <a:rPr lang="zh-CN" altLang="en-US" sz="2400" dirty="0">
                <a:solidFill>
                  <a:srgbClr val="1353A2"/>
                </a:solidFill>
              </a:rPr>
              <a:t>表示这条信息是目录；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</a:t>
            </a:r>
            <a:r>
              <a:rPr lang="zh-CN" altLang="en-US" sz="2400" dirty="0">
                <a:solidFill>
                  <a:srgbClr val="FF0000"/>
                </a:solidFill>
              </a:rPr>
              <a:t>目录拥有者</a:t>
            </a:r>
            <a:r>
              <a:rPr lang="zh-CN" altLang="en-US" sz="2400" dirty="0">
                <a:solidFill>
                  <a:srgbClr val="1353A2"/>
                </a:solidFill>
              </a:rPr>
              <a:t>的权限是</a:t>
            </a:r>
            <a:r>
              <a:rPr lang="en-US" altLang="zh-CN" sz="2400" dirty="0" err="1">
                <a:solidFill>
                  <a:srgbClr val="1353A2"/>
                </a:solidFill>
              </a:rPr>
              <a:t>rwx</a:t>
            </a:r>
            <a:r>
              <a:rPr lang="zh-CN" altLang="en-US" sz="2400" dirty="0">
                <a:solidFill>
                  <a:srgbClr val="1353A2"/>
                </a:solidFill>
              </a:rPr>
              <a:t>（表示有读、写和执行权限）；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en-US" altLang="zh-CN" sz="2400" dirty="0">
                <a:solidFill>
                  <a:srgbClr val="FF0000"/>
                </a:solidFill>
              </a:rPr>
              <a:t>	</a:t>
            </a:r>
            <a:r>
              <a:rPr lang="zh-CN" altLang="en-US" sz="2400" b="1" dirty="0">
                <a:solidFill>
                  <a:srgbClr val="FF0000"/>
                </a:solidFill>
              </a:rPr>
              <a:t>组</a:t>
            </a:r>
            <a:r>
              <a:rPr lang="zh-CN" altLang="en-US" sz="2400" dirty="0">
                <a:solidFill>
                  <a:srgbClr val="FF0000"/>
                </a:solidFill>
              </a:rPr>
              <a:t>中其他人</a:t>
            </a:r>
            <a:r>
              <a:rPr lang="zh-CN" altLang="en-US" sz="2400" dirty="0">
                <a:solidFill>
                  <a:srgbClr val="1353A2"/>
                </a:solidFill>
              </a:rPr>
              <a:t>对该目录的权限是</a:t>
            </a:r>
            <a:r>
              <a:rPr lang="en-US" altLang="zh-CN" sz="2400" dirty="0">
                <a:solidFill>
                  <a:srgbClr val="1353A2"/>
                </a:solidFill>
              </a:rPr>
              <a:t>r-x</a:t>
            </a:r>
            <a:r>
              <a:rPr lang="zh-CN" altLang="en-US" sz="2400" dirty="0">
                <a:solidFill>
                  <a:srgbClr val="1353A2"/>
                </a:solidFill>
              </a:rPr>
              <a:t>（表示有读和执行权限，无写权限），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        </a:t>
            </a:r>
            <a:r>
              <a:rPr lang="zh-CN" altLang="en-US" sz="2400" b="1" dirty="0">
                <a:solidFill>
                  <a:srgbClr val="FF0000"/>
                </a:solidFill>
              </a:rPr>
              <a:t>系统</a:t>
            </a:r>
            <a:r>
              <a:rPr lang="zh-CN" altLang="en-US" sz="2400" dirty="0">
                <a:solidFill>
                  <a:srgbClr val="FF0000"/>
                </a:solidFill>
              </a:rPr>
              <a:t>中其他人</a:t>
            </a:r>
            <a:r>
              <a:rPr lang="zh-CN" altLang="en-US" sz="2400" dirty="0">
                <a:solidFill>
                  <a:srgbClr val="1353A2"/>
                </a:solidFill>
              </a:rPr>
              <a:t>对该目录的权限是</a:t>
            </a:r>
            <a:r>
              <a:rPr lang="en-US" altLang="zh-CN" sz="2400" dirty="0">
                <a:solidFill>
                  <a:srgbClr val="1353A2"/>
                </a:solidFill>
              </a:rPr>
              <a:t>---</a:t>
            </a:r>
            <a:r>
              <a:rPr lang="zh-CN" altLang="en-US" sz="2400" dirty="0">
                <a:solidFill>
                  <a:srgbClr val="1353A2"/>
                </a:solidFill>
              </a:rPr>
              <a:t>（表示读、写和执行权限都无）。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2.3.4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036" y="4105714"/>
            <a:ext cx="6116050" cy="2133094"/>
          </a:xfrm>
          <a:prstGeom prst="rect">
            <a:avLst/>
          </a:prstGeom>
        </p:spPr>
      </p:pic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权限管理命令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 Box 44"/>
          <p:cNvSpPr txBox="1">
            <a:spLocks noChangeArrowheads="1"/>
          </p:cNvSpPr>
          <p:nvPr/>
        </p:nvSpPr>
        <p:spPr bwMode="auto">
          <a:xfrm>
            <a:off x="602788" y="2346163"/>
            <a:ext cx="109837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使用权限管理命令要求用户具有执行相应命令的权限，为保证命令可成功执行，先使用</a:t>
            </a:r>
            <a:r>
              <a:rPr lang="en-US" altLang="zh-CN" sz="2400" dirty="0">
                <a:solidFill>
                  <a:srgbClr val="FF0000"/>
                </a:solidFill>
              </a:rPr>
              <a:t>su</a:t>
            </a:r>
            <a:r>
              <a:rPr lang="zh-CN" altLang="en-US" sz="2400" dirty="0">
                <a:solidFill>
                  <a:srgbClr val="1353A2"/>
                </a:solidFill>
              </a:rPr>
              <a:t>命令，将用户切换为</a:t>
            </a:r>
            <a:r>
              <a:rPr lang="en-US" altLang="zh-CN" sz="2400" dirty="0">
                <a:solidFill>
                  <a:srgbClr val="1353A2"/>
                </a:solidFill>
              </a:rPr>
              <a:t>root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17401" y="3598684"/>
            <a:ext cx="10983787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方法如下：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7261394" y="3535261"/>
            <a:ext cx="1390389" cy="459749"/>
          </a:xfrm>
          <a:prstGeom prst="wedgeRoundRectCallout">
            <a:avLst>
              <a:gd name="adj1" fmla="val -83896"/>
              <a:gd name="adj2" fmla="val 212349"/>
              <a:gd name="adj3" fmla="val 16667"/>
            </a:avLst>
          </a:prstGeom>
          <a:solidFill>
            <a:srgbClr val="1353A2"/>
          </a:solidFill>
          <a:ln>
            <a:solidFill>
              <a:srgbClr val="1353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切换用户</a:t>
            </a:r>
          </a:p>
        </p:txBody>
      </p:sp>
      <p:sp>
        <p:nvSpPr>
          <p:cNvPr id="12" name="圆角矩形标注 11"/>
          <p:cNvSpPr/>
          <p:nvPr/>
        </p:nvSpPr>
        <p:spPr>
          <a:xfrm>
            <a:off x="1031690" y="4398172"/>
            <a:ext cx="1390389" cy="459749"/>
          </a:xfrm>
          <a:prstGeom prst="wedgeRoundRectCallout">
            <a:avLst>
              <a:gd name="adj1" fmla="val 91479"/>
              <a:gd name="adj2" fmla="val 81297"/>
              <a:gd name="adj3" fmla="val 16667"/>
            </a:avLst>
          </a:prstGeom>
          <a:solidFill>
            <a:srgbClr val="1353A2"/>
          </a:solidFill>
          <a:ln>
            <a:solidFill>
              <a:srgbClr val="1353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输入密码</a:t>
            </a:r>
          </a:p>
        </p:txBody>
      </p:sp>
      <p:sp>
        <p:nvSpPr>
          <p:cNvPr id="13" name="圆角矩形标注 12"/>
          <p:cNvSpPr/>
          <p:nvPr/>
        </p:nvSpPr>
        <p:spPr>
          <a:xfrm>
            <a:off x="7494624" y="5248324"/>
            <a:ext cx="1390389" cy="459749"/>
          </a:xfrm>
          <a:prstGeom prst="wedgeRoundRectCallout">
            <a:avLst>
              <a:gd name="adj1" fmla="val -103884"/>
              <a:gd name="adj2" fmla="val -54888"/>
              <a:gd name="adj3" fmla="val 16667"/>
            </a:avLst>
          </a:prstGeom>
          <a:solidFill>
            <a:srgbClr val="1353A2"/>
          </a:solidFill>
          <a:ln>
            <a:solidFill>
              <a:srgbClr val="1353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退出</a:t>
            </a:r>
          </a:p>
        </p:txBody>
      </p:sp>
      <p:sp>
        <p:nvSpPr>
          <p:cNvPr id="14" name="圆角矩形标注 13"/>
          <p:cNvSpPr/>
          <p:nvPr/>
        </p:nvSpPr>
        <p:spPr>
          <a:xfrm flipH="1">
            <a:off x="828011" y="5536103"/>
            <a:ext cx="1295412" cy="574177"/>
          </a:xfrm>
          <a:prstGeom prst="wedgeRoundRectCallout">
            <a:avLst>
              <a:gd name="adj1" fmla="val -116809"/>
              <a:gd name="adj2" fmla="val -29200"/>
              <a:gd name="adj3" fmla="val 16667"/>
            </a:avLst>
          </a:prstGeom>
          <a:solidFill>
            <a:srgbClr val="1353A2"/>
          </a:solidFill>
          <a:ln>
            <a:solidFill>
              <a:srgbClr val="1353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提示符号发生改变</a:t>
            </a:r>
          </a:p>
        </p:txBody>
      </p:sp>
      <p:sp>
        <p:nvSpPr>
          <p:cNvPr id="16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2.3.4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3" grpId="0" animBg="1"/>
      <p:bldP spid="3" grpId="1" animBg="1"/>
      <p:bldP spid="12" grpId="0" animBg="1"/>
      <p:bldP spid="12" grpId="1" animBg="1"/>
      <p:bldP spid="13" grpId="0" animBg="1"/>
      <p:bldP spid="14" grpId="0" animBg="1"/>
      <p:bldP spid="14" grpId="1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chmod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244679"/>
            <a:ext cx="914245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命令原意：</a:t>
            </a:r>
            <a:r>
              <a:rPr lang="en-US" altLang="zh-CN" sz="2400" dirty="0">
                <a:solidFill>
                  <a:srgbClr val="1353A2"/>
                </a:solidFill>
              </a:rPr>
              <a:t>change the permissions mode of file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命令功能：变更文件或目录的权限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 err="1">
                <a:solidFill>
                  <a:srgbClr val="1353A2"/>
                </a:solidFill>
              </a:rPr>
              <a:t>chmod</a:t>
            </a:r>
            <a:r>
              <a:rPr lang="en-US" altLang="zh-CN" sz="2400" dirty="0">
                <a:solidFill>
                  <a:srgbClr val="1353A2"/>
                </a:solidFill>
              </a:rPr>
              <a:t> {</a:t>
            </a:r>
            <a:r>
              <a:rPr lang="en-US" altLang="zh-CN" sz="2400" dirty="0" err="1">
                <a:solidFill>
                  <a:srgbClr val="1353A2"/>
                </a:solidFill>
              </a:rPr>
              <a:t>augo</a:t>
            </a:r>
            <a:r>
              <a:rPr lang="en-US" altLang="zh-CN" sz="2400" dirty="0">
                <a:solidFill>
                  <a:srgbClr val="1353A2"/>
                </a:solidFill>
              </a:rPr>
              <a:t>}{+-=} </a:t>
            </a:r>
            <a:r>
              <a:rPr lang="zh-CN" altLang="en-US" sz="2400" dirty="0">
                <a:solidFill>
                  <a:srgbClr val="1353A2"/>
                </a:solidFill>
              </a:rPr>
              <a:t>文件或目录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90" y="3936375"/>
            <a:ext cx="5491893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chmod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1353A2"/>
                </a:solidFill>
              </a:rPr>
              <a:t>u-x</a:t>
            </a:r>
            <a:r>
              <a:rPr lang="zh-CN" altLang="en-US" sz="2400" dirty="0">
                <a:solidFill>
                  <a:srgbClr val="1353A2"/>
                </a:solidFill>
              </a:rPr>
              <a:t>，</a:t>
            </a:r>
            <a:r>
              <a:rPr lang="en-US" altLang="zh-CN" sz="2400" dirty="0">
                <a:solidFill>
                  <a:srgbClr val="1353A2"/>
                </a:solidFill>
              </a:rPr>
              <a:t>g-x file 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2.3.4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chmod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2.3.4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626" y="2344666"/>
            <a:ext cx="8352748" cy="392659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权限管理命令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 Box 44"/>
          <p:cNvSpPr txBox="1">
            <a:spLocks noChangeArrowheads="1"/>
          </p:cNvSpPr>
          <p:nvPr/>
        </p:nvSpPr>
        <p:spPr bwMode="auto">
          <a:xfrm>
            <a:off x="602788" y="2346163"/>
            <a:ext cx="11234078" cy="3905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权限除了可用</a:t>
            </a:r>
            <a:r>
              <a:rPr lang="en-US" altLang="zh-CN" sz="2400" dirty="0">
                <a:solidFill>
                  <a:srgbClr val="1353A2"/>
                </a:solidFill>
              </a:rPr>
              <a:t>r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w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x</a:t>
            </a:r>
            <a:r>
              <a:rPr lang="zh-CN" altLang="en-US" sz="2400" dirty="0">
                <a:solidFill>
                  <a:srgbClr val="1353A2"/>
                </a:solidFill>
              </a:rPr>
              <a:t>来表示外，也可用一个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zh-CN" altLang="en-US" sz="2400" dirty="0">
                <a:solidFill>
                  <a:srgbClr val="FF0000"/>
                </a:solidFill>
              </a:rPr>
              <a:t>位的数字</a:t>
            </a:r>
            <a:r>
              <a:rPr lang="zh-CN" altLang="en-US" sz="2400" dirty="0">
                <a:solidFill>
                  <a:srgbClr val="1353A2"/>
                </a:solidFill>
              </a:rPr>
              <a:t>来表示，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绝对权限表示法：</a:t>
            </a:r>
            <a:r>
              <a:rPr lang="zh-CN" altLang="en-US" sz="2400" dirty="0">
                <a:solidFill>
                  <a:srgbClr val="1353A2"/>
                </a:solidFill>
              </a:rPr>
              <a:t>采用数字来表示权限的方法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比如</a:t>
            </a:r>
            <a:r>
              <a:rPr lang="en-US" altLang="zh-CN" sz="2400" dirty="0">
                <a:solidFill>
                  <a:srgbClr val="1353A2"/>
                </a:solidFill>
              </a:rPr>
              <a:t>644</a:t>
            </a:r>
            <a:r>
              <a:rPr lang="zh-CN" altLang="en-US" sz="2400" dirty="0">
                <a:solidFill>
                  <a:srgbClr val="1353A2"/>
                </a:solidFill>
              </a:rPr>
              <a:t>，其百位上的数代表拥有者的权限，十位上的数代表拥有者所属的组中的用户的权限，个位上的数，代表其他用户对该文件的权限。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例如：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err="1">
                <a:solidFill>
                  <a:schemeClr val="accent4">
                    <a:lumMod val="75000"/>
                  </a:schemeClr>
                </a:solidFill>
              </a:rPr>
              <a:t>d</a:t>
            </a:r>
            <a:r>
              <a:rPr lang="en-US" altLang="zh-CN" sz="2400" b="1" dirty="0" err="1">
                <a:solidFill>
                  <a:srgbClr val="FF0000"/>
                </a:solidFill>
              </a:rPr>
              <a:t>rwx</a:t>
            </a:r>
            <a:r>
              <a:rPr lang="en-US" altLang="zh-CN" sz="2400" b="1" dirty="0" err="1">
                <a:solidFill>
                  <a:srgbClr val="00B050"/>
                </a:solidFill>
              </a:rPr>
              <a:t>r</a:t>
            </a:r>
            <a:r>
              <a:rPr lang="en-US" altLang="zh-CN" sz="2400" b="1" dirty="0">
                <a:solidFill>
                  <a:srgbClr val="00B050"/>
                </a:solidFill>
              </a:rPr>
              <a:t>-x</a:t>
            </a:r>
            <a:r>
              <a:rPr lang="en-US" altLang="zh-CN" sz="2400" b="1" dirty="0">
                <a:solidFill>
                  <a:srgbClr val="00B0F0"/>
                </a:solidFill>
              </a:rPr>
              <a:t>---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采用绝对权限表示法表示为：</a:t>
            </a:r>
            <a:r>
              <a:rPr lang="en-US" altLang="zh-CN" sz="2400" dirty="0">
                <a:solidFill>
                  <a:srgbClr val="1353A2"/>
                </a:solidFill>
              </a:rPr>
              <a:t>750</a:t>
            </a:r>
            <a:endParaRPr lang="zh-CN" altLang="en-US" sz="2400" dirty="0">
              <a:solidFill>
                <a:srgbClr val="1353A2"/>
              </a:solidFill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2.3.4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chmod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244679"/>
            <a:ext cx="10983786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1353A2"/>
                </a:solidFill>
              </a:rPr>
              <a:t>chmod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  <a:r>
              <a:rPr lang="zh-CN" altLang="en-US" sz="2400" dirty="0">
                <a:solidFill>
                  <a:srgbClr val="1353A2"/>
                </a:solidFill>
              </a:rPr>
              <a:t>命令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例如：</a:t>
            </a:r>
            <a:r>
              <a:rPr lang="en-US" altLang="zh-CN" sz="2400" dirty="0" err="1">
                <a:solidFill>
                  <a:srgbClr val="1353A2"/>
                </a:solidFill>
              </a:rPr>
              <a:t>demo.c</a:t>
            </a:r>
            <a:r>
              <a:rPr lang="zh-CN" altLang="en-US" sz="2400" dirty="0">
                <a:solidFill>
                  <a:srgbClr val="1353A2"/>
                </a:solidFill>
              </a:rPr>
              <a:t>文件目前的权限为</a:t>
            </a:r>
            <a:r>
              <a:rPr lang="en-US" altLang="zh-CN" sz="2400" dirty="0" err="1">
                <a:solidFill>
                  <a:srgbClr val="1353A2"/>
                </a:solidFill>
              </a:rPr>
              <a:t>rw</a:t>
            </a:r>
            <a:r>
              <a:rPr lang="en-US" altLang="zh-CN" sz="2400" dirty="0">
                <a:solidFill>
                  <a:srgbClr val="1353A2"/>
                </a:solidFill>
              </a:rPr>
              <a:t>-</a:t>
            </a:r>
            <a:r>
              <a:rPr lang="en-US" altLang="zh-CN" sz="2400" dirty="0" err="1">
                <a:solidFill>
                  <a:srgbClr val="1353A2"/>
                </a:solidFill>
              </a:rPr>
              <a:t>rw</a:t>
            </a:r>
            <a:r>
              <a:rPr lang="en-US" altLang="zh-CN" sz="2400" dirty="0">
                <a:solidFill>
                  <a:srgbClr val="1353A2"/>
                </a:solidFill>
              </a:rPr>
              <a:t>-r--</a:t>
            </a:r>
            <a:r>
              <a:rPr lang="zh-CN" altLang="en-US" sz="2400" dirty="0">
                <a:solidFill>
                  <a:srgbClr val="1353A2"/>
                </a:solidFill>
              </a:rPr>
              <a:t>，若要更改为</a:t>
            </a:r>
            <a:r>
              <a:rPr lang="en-US" altLang="zh-CN" sz="2400" dirty="0" err="1">
                <a:solidFill>
                  <a:srgbClr val="1353A2"/>
                </a:solidFill>
              </a:rPr>
              <a:t>rwxrwxrwx</a:t>
            </a:r>
            <a:r>
              <a:rPr lang="zh-CN" altLang="en-US" sz="2400" dirty="0">
                <a:solidFill>
                  <a:srgbClr val="1353A2"/>
                </a:solidFill>
              </a:rPr>
              <a:t>，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1353A2"/>
                </a:solidFill>
              </a:rPr>
              <a:t>其实现的命令为：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$  </a:t>
            </a:r>
            <a:r>
              <a:rPr lang="en-US" altLang="zh-CN" sz="2400" dirty="0" err="1">
                <a:solidFill>
                  <a:srgbClr val="1353A2"/>
                </a:solidFill>
              </a:rPr>
              <a:t>chmod</a:t>
            </a:r>
            <a:r>
              <a:rPr lang="en-US" altLang="zh-CN" sz="2400" dirty="0">
                <a:solidFill>
                  <a:srgbClr val="1353A2"/>
                </a:solidFill>
              </a:rPr>
              <a:t> 777 </a:t>
            </a:r>
            <a:r>
              <a:rPr lang="en-US" altLang="zh-CN" sz="2400" dirty="0" err="1">
                <a:solidFill>
                  <a:srgbClr val="1353A2"/>
                </a:solidFill>
              </a:rPr>
              <a:t>demo.c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2.3.4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1899" y="4391443"/>
            <a:ext cx="7299310" cy="196485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491" y="4346296"/>
            <a:ext cx="8673668" cy="2036998"/>
          </a:xfrm>
          <a:prstGeom prst="rect">
            <a:avLst/>
          </a:prstGeom>
        </p:spPr>
      </p:pic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chown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914245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命令原意：</a:t>
            </a:r>
            <a:r>
              <a:rPr lang="en-US" altLang="zh-CN" sz="2400" dirty="0">
                <a:solidFill>
                  <a:srgbClr val="1353A2"/>
                </a:solidFill>
              </a:rPr>
              <a:t>change the owner of file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命令功能：变更文件或目录的所有者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 err="1">
                <a:solidFill>
                  <a:srgbClr val="1353A2"/>
                </a:solidFill>
              </a:rPr>
              <a:t>chown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  <a:r>
              <a:rPr lang="zh-CN" altLang="en-US" sz="2400" dirty="0">
                <a:solidFill>
                  <a:srgbClr val="1353A2"/>
                </a:solidFill>
              </a:rPr>
              <a:t>用户 文件或目录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90" y="3798589"/>
            <a:ext cx="5491893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chown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1353A2"/>
                </a:solidFill>
              </a:rPr>
              <a:t>root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1353A2"/>
                </a:solidFill>
              </a:rPr>
              <a:t>file </a:t>
            </a:r>
          </a:p>
        </p:txBody>
      </p:sp>
      <p:sp>
        <p:nvSpPr>
          <p:cNvPr id="2" name="椭圆 1"/>
          <p:cNvSpPr/>
          <p:nvPr/>
        </p:nvSpPr>
        <p:spPr>
          <a:xfrm>
            <a:off x="3350874" y="5193591"/>
            <a:ext cx="851769" cy="2505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3275668" y="5910343"/>
            <a:ext cx="1615309" cy="2505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2.3.4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 build="p"/>
      <p:bldP spid="2" grpId="0" animBg="1"/>
      <p:bldP spid="1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491" y="4346500"/>
            <a:ext cx="8673668" cy="1995132"/>
          </a:xfrm>
          <a:prstGeom prst="rect">
            <a:avLst/>
          </a:prstGeom>
        </p:spPr>
      </p:pic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chgrp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914245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命令原意：</a:t>
            </a:r>
            <a:r>
              <a:rPr lang="en-US" altLang="zh-CN" sz="2400" dirty="0">
                <a:solidFill>
                  <a:srgbClr val="1353A2"/>
                </a:solidFill>
              </a:rPr>
              <a:t>change file group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命令功能：变更文件或目录的所属组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</a:rPr>
              <a:t>chgrp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  <a:r>
              <a:rPr lang="zh-CN" altLang="en-US" sz="2400" dirty="0">
                <a:solidFill>
                  <a:srgbClr val="1353A2"/>
                </a:solidFill>
              </a:rPr>
              <a:t>用户 文件或目录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90" y="3798589"/>
            <a:ext cx="5491893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r>
              <a:rPr lang="en-US" altLang="zh-CN" sz="2400" dirty="0" err="1">
                <a:solidFill>
                  <a:srgbClr val="FF0000"/>
                </a:solidFill>
              </a:rPr>
              <a:t>chgrp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</a:rPr>
              <a:t>brucefang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</a:rPr>
              <a:t>demo.c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</a:p>
        </p:txBody>
      </p:sp>
      <p:sp>
        <p:nvSpPr>
          <p:cNvPr id="11" name="椭圆 10"/>
          <p:cNvSpPr/>
          <p:nvPr/>
        </p:nvSpPr>
        <p:spPr>
          <a:xfrm>
            <a:off x="4494504" y="5184606"/>
            <a:ext cx="851769" cy="2505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4485281" y="5882038"/>
            <a:ext cx="1511482" cy="2644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2.3.4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 build="p"/>
      <p:bldP spid="11" grpId="0" animBg="1"/>
      <p:bldP spid="1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2.3.5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3939681" y="1952353"/>
            <a:ext cx="7638761" cy="3415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系统中压缩包的后缀有</a:t>
            </a:r>
            <a:r>
              <a:rPr lang="en-US" altLang="zh-CN" sz="2400" b="1" dirty="0">
                <a:solidFill>
                  <a:srgbClr val="00B050"/>
                </a:solidFill>
              </a:rPr>
              <a:t>.zip</a:t>
            </a:r>
            <a:r>
              <a:rPr lang="zh-CN" altLang="en-US" sz="2400" b="1" dirty="0">
                <a:solidFill>
                  <a:srgbClr val="00B050"/>
                </a:solidFill>
              </a:rPr>
              <a:t>、</a:t>
            </a:r>
            <a:r>
              <a:rPr lang="en-US" altLang="zh-CN" sz="2400" b="1" dirty="0">
                <a:solidFill>
                  <a:srgbClr val="00B050"/>
                </a:solidFill>
              </a:rPr>
              <a:t>.</a:t>
            </a:r>
            <a:r>
              <a:rPr lang="en-US" altLang="zh-CN" sz="2400" b="1" dirty="0" err="1">
                <a:solidFill>
                  <a:srgbClr val="00B050"/>
                </a:solidFill>
              </a:rPr>
              <a:t>gz</a:t>
            </a:r>
            <a:r>
              <a:rPr lang="zh-CN" altLang="en-US" sz="2400" b="1" dirty="0">
                <a:solidFill>
                  <a:srgbClr val="00B050"/>
                </a:solidFill>
              </a:rPr>
              <a:t>、</a:t>
            </a:r>
            <a:r>
              <a:rPr lang="en-US" altLang="zh-CN" sz="2400" b="1" dirty="0">
                <a:solidFill>
                  <a:srgbClr val="00B050"/>
                </a:solidFill>
              </a:rPr>
              <a:t>.bz2</a:t>
            </a:r>
            <a:r>
              <a:rPr lang="zh-CN" altLang="en-US" sz="2400" b="1" dirty="0">
                <a:solidFill>
                  <a:srgbClr val="00B050"/>
                </a:solidFill>
              </a:rPr>
              <a:t>、</a:t>
            </a:r>
            <a:r>
              <a:rPr lang="en-US" altLang="zh-CN" sz="2400" b="1" dirty="0">
                <a:solidFill>
                  <a:srgbClr val="00B050"/>
                </a:solidFill>
              </a:rPr>
              <a:t>.</a:t>
            </a:r>
            <a:r>
              <a:rPr lang="en-US" altLang="zh-CN" sz="2400" b="1" dirty="0" err="1">
                <a:solidFill>
                  <a:srgbClr val="00B050"/>
                </a:solidFill>
              </a:rPr>
              <a:t>xz</a:t>
            </a:r>
            <a:r>
              <a:rPr lang="zh-CN" altLang="en-US" sz="2400" dirty="0">
                <a:solidFill>
                  <a:srgbClr val="1353A2"/>
                </a:solidFill>
              </a:rPr>
              <a:t>等，后缀不同表示压缩方式不同，使用的</a:t>
            </a:r>
            <a:r>
              <a:rPr lang="zh-CN" altLang="en-US" sz="2400" dirty="0">
                <a:solidFill>
                  <a:srgbClr val="FF0000"/>
                </a:solidFill>
              </a:rPr>
              <a:t>压缩</a:t>
            </a:r>
            <a:r>
              <a:rPr lang="zh-CN" altLang="en-US" sz="2400" dirty="0">
                <a:solidFill>
                  <a:srgbClr val="1353A2"/>
                </a:solidFill>
              </a:rPr>
              <a:t>命令也不同。压缩与解压成对使用，生成上述几种形式的压缩包所用的命令分别为</a:t>
            </a:r>
            <a:r>
              <a:rPr lang="en-US" altLang="zh-CN" sz="2400" b="1" dirty="0">
                <a:solidFill>
                  <a:srgbClr val="1353A2"/>
                </a:solidFill>
              </a:rPr>
              <a:t>zip</a:t>
            </a:r>
            <a:r>
              <a:rPr lang="zh-CN" altLang="en-US" sz="2400" b="1" dirty="0">
                <a:solidFill>
                  <a:srgbClr val="1353A2"/>
                </a:solidFill>
              </a:rPr>
              <a:t>、</a:t>
            </a:r>
            <a:r>
              <a:rPr lang="en-US" altLang="zh-CN" sz="2400" b="1" dirty="0" err="1">
                <a:solidFill>
                  <a:srgbClr val="1353A2"/>
                </a:solidFill>
              </a:rPr>
              <a:t>gzip</a:t>
            </a:r>
            <a:r>
              <a:rPr lang="zh-CN" altLang="en-US" sz="2400" b="1" dirty="0">
                <a:solidFill>
                  <a:srgbClr val="1353A2"/>
                </a:solidFill>
              </a:rPr>
              <a:t>、</a:t>
            </a:r>
            <a:r>
              <a:rPr lang="en-US" altLang="zh-CN" sz="2400" b="1" dirty="0">
                <a:solidFill>
                  <a:srgbClr val="1353A2"/>
                </a:solidFill>
              </a:rPr>
              <a:t>bzip2</a:t>
            </a:r>
            <a:r>
              <a:rPr lang="zh-CN" altLang="en-US" sz="2400" b="1" dirty="0">
                <a:solidFill>
                  <a:srgbClr val="1353A2"/>
                </a:solidFill>
              </a:rPr>
              <a:t>、</a:t>
            </a:r>
            <a:r>
              <a:rPr lang="en-US" altLang="zh-CN" sz="2400" b="1" dirty="0" err="1">
                <a:solidFill>
                  <a:srgbClr val="1353A2"/>
                </a:solidFill>
              </a:rPr>
              <a:t>xz</a:t>
            </a:r>
            <a:r>
              <a:rPr lang="zh-CN" altLang="en-US" sz="2400" dirty="0">
                <a:solidFill>
                  <a:srgbClr val="1353A2"/>
                </a:solidFill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解压缩</a:t>
            </a:r>
            <a:r>
              <a:rPr lang="zh-CN" altLang="en-US" sz="2400" dirty="0">
                <a:solidFill>
                  <a:srgbClr val="1353A2"/>
                </a:solidFill>
              </a:rPr>
              <a:t>时使用的命令分别为</a:t>
            </a:r>
            <a:r>
              <a:rPr lang="en-US" altLang="zh-CN" sz="2400" b="1" dirty="0">
                <a:solidFill>
                  <a:srgbClr val="1353A2"/>
                </a:solidFill>
              </a:rPr>
              <a:t>unzip</a:t>
            </a:r>
            <a:r>
              <a:rPr lang="zh-CN" altLang="en-US" sz="2400" b="1" dirty="0">
                <a:solidFill>
                  <a:srgbClr val="1353A2"/>
                </a:solidFill>
              </a:rPr>
              <a:t>、</a:t>
            </a:r>
            <a:r>
              <a:rPr lang="en-US" altLang="zh-CN" sz="2400" b="1" dirty="0" err="1">
                <a:solidFill>
                  <a:srgbClr val="1353A2"/>
                </a:solidFill>
              </a:rPr>
              <a:t>gunzip</a:t>
            </a:r>
            <a:r>
              <a:rPr lang="zh-CN" altLang="en-US" sz="2400" b="1" dirty="0">
                <a:solidFill>
                  <a:srgbClr val="1353A2"/>
                </a:solidFill>
              </a:rPr>
              <a:t>、</a:t>
            </a:r>
            <a:r>
              <a:rPr lang="en-US" altLang="zh-CN" sz="2400" b="1" dirty="0">
                <a:solidFill>
                  <a:srgbClr val="1353A2"/>
                </a:solidFill>
              </a:rPr>
              <a:t>bzip2</a:t>
            </a:r>
            <a:r>
              <a:rPr lang="zh-CN" altLang="en-US" sz="2400" b="1" dirty="0">
                <a:solidFill>
                  <a:srgbClr val="1353A2"/>
                </a:solidFill>
              </a:rPr>
              <a:t>、</a:t>
            </a:r>
            <a:r>
              <a:rPr lang="en-US" altLang="zh-CN" sz="2400" b="1" dirty="0" err="1">
                <a:solidFill>
                  <a:srgbClr val="1353A2"/>
                </a:solidFill>
              </a:rPr>
              <a:t>xz</a:t>
            </a:r>
            <a:r>
              <a:rPr lang="zh-CN" altLang="en-US" sz="2400" dirty="0">
                <a:solidFill>
                  <a:srgbClr val="1353A2"/>
                </a:solidFill>
              </a:rPr>
              <a:t>。此外，</a:t>
            </a: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系统中提供了专门用于</a:t>
            </a:r>
            <a:r>
              <a:rPr lang="zh-CN" altLang="en-US" sz="2400" dirty="0">
                <a:solidFill>
                  <a:srgbClr val="FF0000"/>
                </a:solidFill>
              </a:rPr>
              <a:t>打包</a:t>
            </a:r>
            <a:r>
              <a:rPr lang="zh-CN" altLang="en-US" sz="2400" dirty="0">
                <a:solidFill>
                  <a:srgbClr val="1353A2"/>
                </a:solidFill>
              </a:rPr>
              <a:t>文件的命令</a:t>
            </a:r>
            <a:r>
              <a:rPr lang="en-US" altLang="zh-CN" sz="2400" dirty="0">
                <a:solidFill>
                  <a:srgbClr val="1353A2"/>
                </a:solidFill>
              </a:rPr>
              <a:t>——</a:t>
            </a:r>
            <a:r>
              <a:rPr lang="en-US" altLang="zh-CN" sz="2400" b="1" dirty="0">
                <a:solidFill>
                  <a:srgbClr val="1353A2"/>
                </a:solidFill>
              </a:rPr>
              <a:t>tar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35" y="1829201"/>
            <a:ext cx="2371725" cy="409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、打包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 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备份文件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命令功能：打包多个</a:t>
            </a:r>
            <a:r>
              <a:rPr lang="zh-CN" altLang="en-US" sz="2400" dirty="0">
                <a:solidFill>
                  <a:srgbClr val="FF0000"/>
                </a:solidFill>
              </a:rPr>
              <a:t>目录或文件</a:t>
            </a:r>
            <a:r>
              <a:rPr lang="zh-CN" altLang="en-US" sz="2400" dirty="0">
                <a:solidFill>
                  <a:srgbClr val="1353A2"/>
                </a:solidFill>
              </a:rPr>
              <a:t>，通常与压缩命令一起使用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tar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</a:t>
            </a:r>
            <a:r>
              <a:rPr lang="zh-CN" altLang="en-US" sz="2400" dirty="0">
                <a:solidFill>
                  <a:srgbClr val="1353A2"/>
                </a:solidFill>
              </a:rPr>
              <a:t>目录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82078" y="3464453"/>
          <a:ext cx="9668232" cy="26241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8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8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9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选项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说明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rgbClr val="FF0000"/>
                          </a:solidFill>
                          <a:effectLst/>
                        </a:rPr>
                        <a:t>-c</a:t>
                      </a:r>
                      <a:endParaRPr lang="zh-CN" sz="19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产生</a:t>
                      </a:r>
                      <a:r>
                        <a:rPr lang="en-US" sz="1900" b="1" kern="100" dirty="0">
                          <a:solidFill>
                            <a:srgbClr val="FF0000"/>
                          </a:solidFill>
                          <a:effectLst/>
                        </a:rPr>
                        <a:t>.tar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打包文件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rgbClr val="FF0000"/>
                          </a:solidFill>
                          <a:effectLst/>
                        </a:rPr>
                        <a:t>-x</a:t>
                      </a:r>
                      <a:endParaRPr lang="zh-CN" sz="19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从打包文件中还原文件。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-v</a:t>
                      </a:r>
                      <a:endParaRPr lang="zh-CN" sz="19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打包时显示详细信息</a:t>
                      </a:r>
                      <a:endParaRPr lang="zh-CN" sz="19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-f</a:t>
                      </a:r>
                      <a:endParaRPr lang="zh-CN" sz="19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指定压缩后的文件名</a:t>
                      </a:r>
                      <a:endParaRPr lang="zh-CN" sz="19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0" kern="100" dirty="0">
                          <a:solidFill>
                            <a:srgbClr val="7030A0"/>
                          </a:solidFill>
                          <a:effectLst/>
                        </a:rPr>
                        <a:t>-z</a:t>
                      </a:r>
                      <a:endParaRPr lang="zh-CN" sz="1900" b="0" kern="100" dirty="0">
                        <a:solidFill>
                          <a:srgbClr val="7030A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b="0" kern="100" dirty="0">
                          <a:solidFill>
                            <a:srgbClr val="7030A0"/>
                          </a:solidFill>
                          <a:effectLst/>
                        </a:rPr>
                        <a:t>打包，同时通过</a:t>
                      </a:r>
                      <a:r>
                        <a:rPr lang="en-US" sz="1900" b="0" kern="100" dirty="0" err="1">
                          <a:solidFill>
                            <a:srgbClr val="7030A0"/>
                          </a:solidFill>
                          <a:effectLst/>
                        </a:rPr>
                        <a:t>gzip</a:t>
                      </a:r>
                      <a:r>
                        <a:rPr lang="zh-CN" sz="1900" b="0" kern="100" dirty="0">
                          <a:solidFill>
                            <a:srgbClr val="7030A0"/>
                          </a:solidFill>
                          <a:effectLst/>
                        </a:rPr>
                        <a:t>指令压缩备份文件，压缩后格式为</a:t>
                      </a:r>
                      <a:r>
                        <a:rPr lang="en-US" sz="1900" b="0" kern="100" dirty="0">
                          <a:solidFill>
                            <a:srgbClr val="7030A0"/>
                          </a:solidFill>
                          <a:effectLst/>
                        </a:rPr>
                        <a:t>.tar.gz</a:t>
                      </a:r>
                      <a:endParaRPr lang="zh-CN" sz="1900" b="0" kern="100" dirty="0">
                        <a:solidFill>
                          <a:srgbClr val="7030A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2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0" kern="100" dirty="0">
                          <a:solidFill>
                            <a:srgbClr val="7030A0"/>
                          </a:solidFill>
                          <a:effectLst/>
                        </a:rPr>
                        <a:t>-j</a:t>
                      </a:r>
                      <a:endParaRPr lang="zh-CN" sz="1900" b="0" kern="100" dirty="0">
                        <a:solidFill>
                          <a:srgbClr val="7030A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900" b="0" kern="100" dirty="0">
                          <a:solidFill>
                            <a:srgbClr val="7030A0"/>
                          </a:solidFill>
                          <a:effectLst/>
                        </a:rPr>
                        <a:t>打包，同时通过</a:t>
                      </a:r>
                      <a:r>
                        <a:rPr lang="en-US" altLang="zh-CN" sz="1900" b="0" kern="100" dirty="0">
                          <a:solidFill>
                            <a:srgbClr val="7030A0"/>
                          </a:solidFill>
                          <a:effectLst/>
                        </a:rPr>
                        <a:t>bzip2</a:t>
                      </a:r>
                      <a:r>
                        <a:rPr lang="zh-CN" altLang="en-US" sz="1900" b="0" kern="100" dirty="0">
                          <a:solidFill>
                            <a:srgbClr val="7030A0"/>
                          </a:solidFill>
                          <a:effectLst/>
                        </a:rPr>
                        <a:t>指令压缩备份文件，压缩后格式为</a:t>
                      </a:r>
                      <a:r>
                        <a:rPr lang="en-US" altLang="zh-CN" sz="1900" b="0" kern="100" dirty="0">
                          <a:solidFill>
                            <a:srgbClr val="7030A0"/>
                          </a:solidFill>
                          <a:effectLst/>
                        </a:rPr>
                        <a:t>tar.bz2</a:t>
                      </a:r>
                      <a:r>
                        <a:rPr lang="zh-CN" sz="1900" b="0" kern="100" dirty="0">
                          <a:solidFill>
                            <a:srgbClr val="7030A0"/>
                          </a:solidFill>
                          <a:effectLst/>
                        </a:rPr>
                        <a:t>。</a:t>
                      </a:r>
                      <a:endParaRPr lang="zh-CN" sz="1900" b="0" kern="100" dirty="0">
                        <a:solidFill>
                          <a:srgbClr val="7030A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4084" marR="124084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2.3.5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、打包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419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示例：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</a:rPr>
              <a:t>#</a:t>
            </a:r>
            <a:r>
              <a:rPr lang="zh-CN" altLang="en-US" sz="2000" dirty="0">
                <a:solidFill>
                  <a:srgbClr val="1353A2"/>
                </a:solidFill>
              </a:rPr>
              <a:t>将目录</a:t>
            </a:r>
            <a:r>
              <a:rPr lang="en-US" altLang="zh-CN" sz="2000" dirty="0">
                <a:solidFill>
                  <a:srgbClr val="1353A2"/>
                </a:solidFill>
              </a:rPr>
              <a:t>Code</a:t>
            </a:r>
            <a:r>
              <a:rPr lang="zh-CN" altLang="en-US" sz="2000" dirty="0">
                <a:solidFill>
                  <a:srgbClr val="1353A2"/>
                </a:solidFill>
              </a:rPr>
              <a:t>下的文件打包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</a:rPr>
              <a:t>tar -</a:t>
            </a:r>
            <a:r>
              <a:rPr lang="en-US" altLang="zh-CN" sz="2000" dirty="0" err="1">
                <a:solidFill>
                  <a:srgbClr val="1353A2"/>
                </a:solidFill>
              </a:rPr>
              <a:t>cvf</a:t>
            </a:r>
            <a:r>
              <a:rPr lang="en-US" altLang="zh-CN" sz="2000" dirty="0">
                <a:solidFill>
                  <a:srgbClr val="1353A2"/>
                </a:solidFill>
              </a:rPr>
              <a:t> code.tar ./Code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</a:rPr>
              <a:t>#</a:t>
            </a:r>
            <a:r>
              <a:rPr lang="zh-CN" altLang="en-US" sz="2000" dirty="0">
                <a:solidFill>
                  <a:srgbClr val="1353A2"/>
                </a:solidFill>
              </a:rPr>
              <a:t>将目录</a:t>
            </a:r>
            <a:r>
              <a:rPr lang="en-US" altLang="zh-CN" sz="2000" dirty="0">
                <a:solidFill>
                  <a:srgbClr val="1353A2"/>
                </a:solidFill>
              </a:rPr>
              <a:t>Code</a:t>
            </a:r>
            <a:r>
              <a:rPr lang="zh-CN" altLang="en-US" sz="2000" dirty="0">
                <a:solidFill>
                  <a:srgbClr val="1353A2"/>
                </a:solidFill>
              </a:rPr>
              <a:t>下的文件打包，并以</a:t>
            </a:r>
            <a:r>
              <a:rPr lang="en-US" altLang="zh-CN" sz="2000" dirty="0" err="1">
                <a:solidFill>
                  <a:srgbClr val="1353A2"/>
                </a:solidFill>
              </a:rPr>
              <a:t>gzip</a:t>
            </a:r>
            <a:r>
              <a:rPr lang="zh-CN" altLang="en-US" sz="2000" dirty="0">
                <a:solidFill>
                  <a:srgbClr val="1353A2"/>
                </a:solidFill>
              </a:rPr>
              <a:t>命令将包压缩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</a:rPr>
              <a:t>tar -</a:t>
            </a:r>
            <a:r>
              <a:rPr lang="en-US" altLang="zh-CN" sz="2000" dirty="0" err="1">
                <a:solidFill>
                  <a:srgbClr val="1353A2"/>
                </a:solidFill>
              </a:rPr>
              <a:t>zcvf</a:t>
            </a:r>
            <a:r>
              <a:rPr lang="en-US" altLang="zh-CN" sz="2000" dirty="0">
                <a:solidFill>
                  <a:srgbClr val="1353A2"/>
                </a:solidFill>
              </a:rPr>
              <a:t> code.tar.gz ./Code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</a:rPr>
              <a:t>#</a:t>
            </a:r>
            <a:r>
              <a:rPr lang="zh-CN" altLang="en-US" sz="2000" dirty="0">
                <a:solidFill>
                  <a:srgbClr val="1353A2"/>
                </a:solidFill>
              </a:rPr>
              <a:t>将目录</a:t>
            </a:r>
            <a:r>
              <a:rPr lang="en-US" altLang="zh-CN" sz="2000" dirty="0">
                <a:solidFill>
                  <a:srgbClr val="1353A2"/>
                </a:solidFill>
              </a:rPr>
              <a:t>Code</a:t>
            </a:r>
            <a:r>
              <a:rPr lang="zh-CN" altLang="en-US" sz="2000" dirty="0">
                <a:solidFill>
                  <a:srgbClr val="1353A2"/>
                </a:solidFill>
              </a:rPr>
              <a:t>下的文件打包，并以</a:t>
            </a:r>
            <a:r>
              <a:rPr lang="en-US" altLang="zh-CN" sz="2000" dirty="0">
                <a:solidFill>
                  <a:srgbClr val="1353A2"/>
                </a:solidFill>
              </a:rPr>
              <a:t>bzip2</a:t>
            </a:r>
            <a:r>
              <a:rPr lang="zh-CN" altLang="en-US" sz="2000" dirty="0">
                <a:solidFill>
                  <a:srgbClr val="1353A2"/>
                </a:solidFill>
              </a:rPr>
              <a:t>命令将包压缩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</a:rPr>
              <a:t>tar -</a:t>
            </a:r>
            <a:r>
              <a:rPr lang="en-US" altLang="zh-CN" sz="2000" dirty="0" err="1">
                <a:solidFill>
                  <a:srgbClr val="1353A2"/>
                </a:solidFill>
              </a:rPr>
              <a:t>jcvf</a:t>
            </a:r>
            <a:r>
              <a:rPr lang="en-US" altLang="zh-CN" sz="2000" dirty="0">
                <a:solidFill>
                  <a:srgbClr val="1353A2"/>
                </a:solidFill>
              </a:rPr>
              <a:t> code.tar.bz2 ./Code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</a:rPr>
              <a:t>#</a:t>
            </a:r>
            <a:r>
              <a:rPr lang="zh-CN" altLang="en-US" sz="2000" dirty="0">
                <a:solidFill>
                  <a:srgbClr val="1353A2"/>
                </a:solidFill>
              </a:rPr>
              <a:t>从包</a:t>
            </a:r>
            <a:r>
              <a:rPr lang="en-US" altLang="zh-CN" sz="2000" dirty="0">
                <a:solidFill>
                  <a:srgbClr val="1353A2"/>
                </a:solidFill>
              </a:rPr>
              <a:t>code.tar.bz2</a:t>
            </a:r>
            <a:r>
              <a:rPr lang="zh-CN" altLang="en-US" sz="2000" dirty="0">
                <a:solidFill>
                  <a:srgbClr val="1353A2"/>
                </a:solidFill>
              </a:rPr>
              <a:t>中还原文件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</a:rPr>
              <a:t>tar -</a:t>
            </a:r>
            <a:r>
              <a:rPr lang="en-US" altLang="zh-CN" sz="2000" dirty="0" err="1">
                <a:solidFill>
                  <a:srgbClr val="1353A2"/>
                </a:solidFill>
              </a:rPr>
              <a:t>jxvf</a:t>
            </a:r>
            <a:r>
              <a:rPr lang="en-US" altLang="zh-CN" sz="2000" dirty="0">
                <a:solidFill>
                  <a:srgbClr val="1353A2"/>
                </a:solidFill>
              </a:rPr>
              <a:t> code.tar.bz2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2.3.5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、打包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2.3.5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773" y="2258973"/>
            <a:ext cx="8053815" cy="42083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、压缩解压命令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1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r>
              <a:rPr lang="en-US" altLang="zh-CN" sz="2400" dirty="0">
                <a:solidFill>
                  <a:srgbClr val="1353A2"/>
                </a:solidFill>
              </a:rPr>
              <a:t>zip/unzip</a:t>
            </a:r>
            <a:r>
              <a:rPr lang="zh-CN" altLang="en-US" sz="2400" dirty="0">
                <a:solidFill>
                  <a:srgbClr val="1353A2"/>
                </a:solidFill>
              </a:rPr>
              <a:t>命令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命令功能：压缩文件，获得</a:t>
            </a:r>
            <a:r>
              <a:rPr lang="en-US" altLang="zh-CN" sz="2400" dirty="0">
                <a:solidFill>
                  <a:srgbClr val="1353A2"/>
                </a:solidFill>
              </a:rPr>
              <a:t>.</a:t>
            </a:r>
            <a:r>
              <a:rPr lang="en-US" altLang="zh-CN" sz="2400" b="1" dirty="0">
                <a:solidFill>
                  <a:srgbClr val="C00000"/>
                </a:solidFill>
              </a:rPr>
              <a:t>zip</a:t>
            </a:r>
            <a:r>
              <a:rPr lang="zh-CN" altLang="en-US" sz="2400" dirty="0">
                <a:solidFill>
                  <a:srgbClr val="1353A2"/>
                </a:solidFill>
              </a:rPr>
              <a:t>格式的压缩包，压缩后</a:t>
            </a:r>
            <a:r>
              <a:rPr lang="zh-CN" altLang="en-US" sz="2400" b="1" dirty="0">
                <a:solidFill>
                  <a:srgbClr val="00B050"/>
                </a:solidFill>
              </a:rPr>
              <a:t>保存</a:t>
            </a:r>
            <a:r>
              <a:rPr lang="zh-CN" altLang="en-US" sz="2400" dirty="0">
                <a:solidFill>
                  <a:srgbClr val="00B050"/>
                </a:solidFill>
              </a:rPr>
              <a:t>源文件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zip </a:t>
            </a:r>
            <a:r>
              <a:rPr lang="en-US" altLang="zh-CN" sz="2400" dirty="0">
                <a:solidFill>
                  <a:srgbClr val="7030A0"/>
                </a:solidFill>
              </a:rPr>
              <a:t>[-r]</a:t>
            </a:r>
            <a:r>
              <a:rPr lang="en-US" altLang="zh-CN" sz="2400" dirty="0">
                <a:solidFill>
                  <a:srgbClr val="1353A2"/>
                </a:solidFill>
              </a:rPr>
              <a:t> [</a:t>
            </a:r>
            <a:r>
              <a:rPr lang="zh-CN" altLang="en-US" sz="2400" dirty="0">
                <a:solidFill>
                  <a:srgbClr val="1353A2"/>
                </a:solidFill>
              </a:rPr>
              <a:t>压缩后文件名称</a:t>
            </a:r>
            <a:r>
              <a:rPr lang="en-US" altLang="zh-CN" sz="2400" dirty="0">
                <a:solidFill>
                  <a:srgbClr val="1353A2"/>
                </a:solidFill>
              </a:rPr>
              <a:t>] </a:t>
            </a:r>
            <a:r>
              <a:rPr lang="zh-CN" altLang="en-US" sz="2400" dirty="0">
                <a:solidFill>
                  <a:srgbClr val="FF0000"/>
                </a:solidFill>
              </a:rPr>
              <a:t>文件或目录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      unzip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</a:t>
            </a:r>
            <a:r>
              <a:rPr lang="zh-CN" altLang="en-US" sz="2400" dirty="0">
                <a:solidFill>
                  <a:srgbClr val="1353A2"/>
                </a:solidFill>
              </a:rPr>
              <a:t>压缩包包名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2.3.5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、压缩解压命令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1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r>
              <a:rPr lang="en-US" altLang="zh-CN" sz="2400" dirty="0">
                <a:solidFill>
                  <a:srgbClr val="1353A2"/>
                </a:solidFill>
              </a:rPr>
              <a:t>zip/unzip</a:t>
            </a:r>
            <a:r>
              <a:rPr lang="zh-CN" altLang="en-US" sz="2400" dirty="0">
                <a:solidFill>
                  <a:srgbClr val="1353A2"/>
                </a:solidFill>
              </a:rPr>
              <a:t>命令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zip</a:t>
            </a:r>
            <a:r>
              <a:rPr lang="zh-CN" altLang="en-US" sz="2400" dirty="0">
                <a:solidFill>
                  <a:srgbClr val="1353A2"/>
                </a:solidFill>
              </a:rPr>
              <a:t>命令常用选项：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2.3.5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79176" y="3346791"/>
          <a:ext cx="7459852" cy="14627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9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0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641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effectLst/>
                        </a:rPr>
                        <a:t>选项</a:t>
                      </a:r>
                      <a:endParaRPr lang="zh-CN" sz="15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741" marR="95741" marT="0" marB="0" anchor="ctr"/>
                </a:tc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500" kern="100">
                          <a:effectLst/>
                        </a:rPr>
                        <a:t>说明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741" marR="95741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019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solidFill>
                            <a:srgbClr val="00B0F0"/>
                          </a:solidFill>
                          <a:effectLst/>
                        </a:rPr>
                        <a:t>-j</a:t>
                      </a:r>
                      <a:endParaRPr lang="zh-CN" sz="1500" kern="100" dirty="0">
                        <a:solidFill>
                          <a:srgbClr val="00B0F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741" marR="9574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500" kern="100">
                          <a:effectLst/>
                        </a:rPr>
                        <a:t>只保留文件名称及其内容，不存放任何目录名称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741" marR="9574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019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solidFill>
                            <a:srgbClr val="00B0F0"/>
                          </a:solidFill>
                          <a:effectLst/>
                        </a:rPr>
                        <a:t>-m</a:t>
                      </a:r>
                      <a:endParaRPr lang="zh-CN" sz="1500" kern="100" dirty="0">
                        <a:solidFill>
                          <a:srgbClr val="00B0F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741" marR="9574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500" kern="100">
                          <a:effectLst/>
                        </a:rPr>
                        <a:t>文件压缩完成后，删除原始文件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741" marR="9574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019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500" kern="100">
                          <a:effectLst/>
                        </a:rPr>
                        <a:t>-o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741" marR="9574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500" kern="100">
                          <a:effectLst/>
                        </a:rPr>
                        <a:t>以压缩文件内拥有最新更改时间的文件为准，更新压缩文件的更改时间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741" marR="9574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019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solidFill>
                            <a:srgbClr val="00B0F0"/>
                          </a:solidFill>
                          <a:effectLst/>
                        </a:rPr>
                        <a:t>-r</a:t>
                      </a:r>
                      <a:endParaRPr lang="zh-CN" sz="1500" kern="100" dirty="0">
                        <a:solidFill>
                          <a:srgbClr val="00B0F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741" marR="9574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effectLst/>
                        </a:rPr>
                        <a:t>当参数为目录时，递归处理目录下的所有文件和子目录</a:t>
                      </a:r>
                      <a:endParaRPr lang="zh-CN" sz="15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741" marR="9574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88" y="4910743"/>
            <a:ext cx="10983786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 zip -r test.zip test</a:t>
            </a:r>
            <a:endParaRPr lang="zh-CN" altLang="zh-CN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2.3.5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977" y="1270919"/>
            <a:ext cx="7490045" cy="491014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、压缩解压命令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1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r>
              <a:rPr lang="en-US" altLang="zh-CN" sz="2400" dirty="0">
                <a:solidFill>
                  <a:srgbClr val="1353A2"/>
                </a:solidFill>
              </a:rPr>
              <a:t>zip/unzip</a:t>
            </a:r>
            <a:r>
              <a:rPr lang="zh-CN" altLang="en-US" sz="2400" dirty="0">
                <a:solidFill>
                  <a:srgbClr val="1353A2"/>
                </a:solidFill>
              </a:rPr>
              <a:t>命令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unzip</a:t>
            </a:r>
            <a:r>
              <a:rPr lang="zh-CN" altLang="en-US" sz="2400" dirty="0">
                <a:solidFill>
                  <a:srgbClr val="1353A2"/>
                </a:solidFill>
              </a:rPr>
              <a:t>命令常用选项：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2.3.5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88" y="5148249"/>
            <a:ext cx="109837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 unzip test.zip -d test1</a:t>
            </a:r>
            <a:endParaRPr lang="zh-CN" altLang="zh-CN" sz="24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165085" y="3376771"/>
          <a:ext cx="7602677" cy="17771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124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500" kern="100">
                          <a:effectLst/>
                        </a:rPr>
                        <a:t>选项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7574" marR="97574" marT="0" marB="0" anchor="ctr"/>
                </a:tc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effectLst/>
                        </a:rPr>
                        <a:t>说明</a:t>
                      </a:r>
                      <a:endParaRPr lang="zh-CN" sz="15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7574" marR="97574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99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500" kern="100">
                          <a:effectLst/>
                        </a:rPr>
                        <a:t>-l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7574" marR="97574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500" kern="100">
                          <a:effectLst/>
                        </a:rPr>
                        <a:t>显示指定压缩包中所包含的文件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7574" marR="9757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399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500" kern="100">
                          <a:effectLst/>
                        </a:rPr>
                        <a:t>-M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7574" marR="97574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500" kern="100">
                          <a:effectLst/>
                        </a:rPr>
                        <a:t>将输出结果送到</a:t>
                      </a:r>
                      <a:r>
                        <a:rPr lang="en-US" sz="1500" kern="100">
                          <a:effectLst/>
                        </a:rPr>
                        <a:t>more</a:t>
                      </a:r>
                      <a:r>
                        <a:rPr lang="zh-CN" sz="1500" kern="100">
                          <a:effectLst/>
                        </a:rPr>
                        <a:t>程序处理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7574" marR="9757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99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solidFill>
                            <a:srgbClr val="00B0F0"/>
                          </a:solidFill>
                          <a:effectLst/>
                        </a:rPr>
                        <a:t>-n</a:t>
                      </a:r>
                      <a:endParaRPr lang="zh-CN" sz="1500" kern="100" dirty="0">
                        <a:solidFill>
                          <a:srgbClr val="00B0F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7574" marR="97574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500" kern="100">
                          <a:effectLst/>
                        </a:rPr>
                        <a:t>解压时不要覆盖原有文件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7574" marR="9757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99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500" kern="100">
                          <a:effectLst/>
                        </a:rPr>
                        <a:t>-o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7574" marR="97574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500" kern="100">
                          <a:effectLst/>
                        </a:rPr>
                        <a:t>命令执行后直接覆盖原有文件</a:t>
                      </a:r>
                      <a:endParaRPr lang="zh-CN" sz="15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7574" marR="9757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399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solidFill>
                            <a:srgbClr val="00B0F0"/>
                          </a:solidFill>
                          <a:effectLst/>
                        </a:rPr>
                        <a:t>-d</a:t>
                      </a:r>
                      <a:endParaRPr lang="zh-CN" sz="1500" kern="100" dirty="0">
                        <a:solidFill>
                          <a:srgbClr val="00B0F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7574" marR="97574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effectLst/>
                        </a:rPr>
                        <a:t>指定解压后文件要存放的目录</a:t>
                      </a:r>
                      <a:endParaRPr lang="zh-CN" sz="15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7574" marR="9757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513" y="3002648"/>
            <a:ext cx="6111559" cy="23353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、压缩与解压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36541"/>
            <a:ext cx="1098378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2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r>
              <a:rPr lang="en-US" altLang="zh-CN" sz="2400" dirty="0" err="1">
                <a:solidFill>
                  <a:srgbClr val="1353A2"/>
                </a:solidFill>
              </a:rPr>
              <a:t>gzip</a:t>
            </a:r>
            <a:r>
              <a:rPr lang="en-US" altLang="zh-CN" sz="2400" dirty="0">
                <a:solidFill>
                  <a:srgbClr val="1353A2"/>
                </a:solidFill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</a:rPr>
              <a:t>gunzip</a:t>
            </a:r>
            <a:r>
              <a:rPr lang="zh-CN" altLang="en-US" sz="2400" dirty="0">
                <a:solidFill>
                  <a:srgbClr val="1353A2"/>
                </a:solidFill>
              </a:rPr>
              <a:t>命令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</a:t>
            </a:r>
            <a:r>
              <a:rPr lang="zh-CN" altLang="en-US" sz="2400" dirty="0">
                <a:solidFill>
                  <a:srgbClr val="FF0000"/>
                </a:solidFill>
              </a:rPr>
              <a:t>压缩文件</a:t>
            </a:r>
            <a:r>
              <a:rPr lang="zh-CN" altLang="en-US" sz="2400" dirty="0">
                <a:solidFill>
                  <a:srgbClr val="1353A2"/>
                </a:solidFill>
              </a:rPr>
              <a:t>，获得</a:t>
            </a:r>
            <a:r>
              <a:rPr lang="en-US" altLang="zh-CN" sz="2400" b="1" dirty="0">
                <a:solidFill>
                  <a:srgbClr val="C00000"/>
                </a:solidFill>
              </a:rPr>
              <a:t>.</a:t>
            </a:r>
            <a:r>
              <a:rPr lang="en-US" altLang="zh-CN" sz="2400" b="1" dirty="0" err="1">
                <a:solidFill>
                  <a:srgbClr val="C00000"/>
                </a:solidFill>
              </a:rPr>
              <a:t>gz</a:t>
            </a:r>
            <a:r>
              <a:rPr lang="zh-CN" altLang="en-US" sz="2400" dirty="0">
                <a:solidFill>
                  <a:srgbClr val="1353A2"/>
                </a:solidFill>
              </a:rPr>
              <a:t>格式的压缩包，压缩后</a:t>
            </a:r>
            <a:r>
              <a:rPr lang="zh-CN" altLang="en-US" sz="2400" b="1" dirty="0">
                <a:solidFill>
                  <a:srgbClr val="00B050"/>
                </a:solidFill>
              </a:rPr>
              <a:t>不保存</a:t>
            </a:r>
            <a:r>
              <a:rPr lang="zh-CN" altLang="en-US" sz="2400" dirty="0">
                <a:solidFill>
                  <a:srgbClr val="00B050"/>
                </a:solidFill>
              </a:rPr>
              <a:t>源文件</a:t>
            </a:r>
            <a:r>
              <a:rPr lang="zh-CN" altLang="en-US" sz="2400" dirty="0">
                <a:solidFill>
                  <a:srgbClr val="1353A2"/>
                </a:solidFill>
              </a:rPr>
              <a:t>，若同时列出多个文件，则每个文件会被单独压缩。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 err="1">
                <a:solidFill>
                  <a:srgbClr val="1353A2"/>
                </a:solidFill>
              </a:rPr>
              <a:t>gzip</a:t>
            </a:r>
            <a:r>
              <a:rPr lang="en-US" altLang="zh-CN" sz="2400" dirty="0">
                <a:solidFill>
                  <a:srgbClr val="1353A2"/>
                </a:solidFill>
              </a:rPr>
              <a:t>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</a:t>
            </a:r>
            <a:r>
              <a:rPr lang="zh-CN" altLang="en-US" sz="2400" dirty="0">
                <a:solidFill>
                  <a:srgbClr val="1353A2"/>
                </a:solidFill>
              </a:rPr>
              <a:t>文件</a:t>
            </a:r>
            <a:r>
              <a:rPr lang="en-US" altLang="zh-CN" sz="2400" dirty="0">
                <a:solidFill>
                  <a:srgbClr val="1353A2"/>
                </a:solidFill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      </a:t>
            </a:r>
            <a:r>
              <a:rPr lang="en-US" altLang="zh-CN" sz="2400" dirty="0" err="1">
                <a:solidFill>
                  <a:srgbClr val="1353A2"/>
                </a:solidFill>
              </a:rPr>
              <a:t>gunzip</a:t>
            </a:r>
            <a:r>
              <a:rPr lang="en-US" altLang="zh-CN" sz="2400" dirty="0">
                <a:solidFill>
                  <a:srgbClr val="1353A2"/>
                </a:solidFill>
              </a:rPr>
              <a:t>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</a:t>
            </a:r>
            <a:r>
              <a:rPr lang="zh-CN" altLang="en-US" sz="2400" dirty="0">
                <a:solidFill>
                  <a:srgbClr val="1353A2"/>
                </a:solidFill>
              </a:rPr>
              <a:t>压缩包包名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602790" y="4762564"/>
            <a:ext cx="5875982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示例</a:t>
            </a:r>
            <a:r>
              <a:rPr lang="zh-CN" altLang="en-US" sz="2400" dirty="0">
                <a:solidFill>
                  <a:srgbClr val="1353A2"/>
                </a:solidFill>
              </a:rPr>
              <a:t>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#gzip –r test/* (</a:t>
            </a:r>
            <a:r>
              <a:rPr lang="zh-CN" altLang="en-US" sz="2400" dirty="0">
                <a:solidFill>
                  <a:srgbClr val="1353A2"/>
                </a:solidFill>
              </a:rPr>
              <a:t>目录使用</a:t>
            </a:r>
            <a:r>
              <a:rPr lang="en-US" altLang="zh-CN" sz="2400" dirty="0">
                <a:solidFill>
                  <a:srgbClr val="1353A2"/>
                </a:solidFill>
              </a:rPr>
              <a:t>-r</a:t>
            </a:r>
            <a:r>
              <a:rPr lang="zh-CN" altLang="en-US" sz="2400" dirty="0">
                <a:solidFill>
                  <a:srgbClr val="1353A2"/>
                </a:solidFill>
              </a:rPr>
              <a:t>递归处理</a:t>
            </a:r>
            <a:r>
              <a:rPr lang="en-US" altLang="zh-CN" sz="2400" dirty="0">
                <a:solidFill>
                  <a:srgbClr val="1353A2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#</a:t>
            </a:r>
            <a:r>
              <a:rPr lang="en-US" altLang="zh-CN" sz="2400" dirty="0" err="1">
                <a:solidFill>
                  <a:srgbClr val="1353A2"/>
                </a:solidFill>
              </a:rPr>
              <a:t>gzip</a:t>
            </a:r>
            <a:r>
              <a:rPr lang="en-US" altLang="zh-CN" sz="2400" dirty="0">
                <a:solidFill>
                  <a:srgbClr val="1353A2"/>
                </a:solidFill>
              </a:rPr>
              <a:t> a.txt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2.3.5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93227" y="5385811"/>
            <a:ext cx="4496038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gunzip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a.txt.gz</a:t>
            </a: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#gzip –d a.txt.gz 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解压）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0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、压缩解压命令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3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r>
              <a:rPr lang="en-US" altLang="zh-CN" sz="2400" dirty="0">
                <a:solidFill>
                  <a:srgbClr val="1353A2"/>
                </a:solidFill>
              </a:rPr>
              <a:t>bzip2/bunzip2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命令功能：</a:t>
            </a:r>
            <a:r>
              <a:rPr lang="zh-CN" altLang="en-US" sz="2400" dirty="0">
                <a:solidFill>
                  <a:srgbClr val="FF0000"/>
                </a:solidFill>
              </a:rPr>
              <a:t>压缩文件</a:t>
            </a:r>
            <a:r>
              <a:rPr lang="zh-CN" altLang="en-US" sz="2400" dirty="0">
                <a:solidFill>
                  <a:srgbClr val="1353A2"/>
                </a:solidFill>
              </a:rPr>
              <a:t>，获得</a:t>
            </a:r>
            <a:r>
              <a:rPr lang="en-US" altLang="zh-CN" sz="2400" b="1" dirty="0">
                <a:solidFill>
                  <a:srgbClr val="C00000"/>
                </a:solidFill>
              </a:rPr>
              <a:t>.bz2</a:t>
            </a:r>
            <a:r>
              <a:rPr lang="zh-CN" altLang="en-US" sz="2400" dirty="0">
                <a:solidFill>
                  <a:srgbClr val="1353A2"/>
                </a:solidFill>
              </a:rPr>
              <a:t>格式的压缩包，使用选项</a:t>
            </a:r>
            <a:r>
              <a:rPr lang="en-US" altLang="zh-CN" sz="2400" b="1" dirty="0">
                <a:solidFill>
                  <a:srgbClr val="FF0000"/>
                </a:solidFill>
              </a:rPr>
              <a:t>-k</a:t>
            </a:r>
            <a:r>
              <a:rPr lang="zh-CN" altLang="en-US" sz="2400" dirty="0">
                <a:solidFill>
                  <a:srgbClr val="FF0000"/>
                </a:solidFill>
              </a:rPr>
              <a:t>时保留源文件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命令格式：</a:t>
            </a:r>
            <a:r>
              <a:rPr lang="en-US" altLang="zh-CN" sz="2400" dirty="0">
                <a:solidFill>
                  <a:srgbClr val="1353A2"/>
                </a:solidFill>
              </a:rPr>
              <a:t>bzip2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</a:t>
            </a:r>
            <a:r>
              <a:rPr lang="zh-CN" altLang="en-US" sz="2400" dirty="0">
                <a:solidFill>
                  <a:srgbClr val="1353A2"/>
                </a:solidFill>
              </a:rPr>
              <a:t>文件或目录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      bunzip2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</a:t>
            </a:r>
            <a:r>
              <a:rPr lang="zh-CN" altLang="en-US" sz="2400" dirty="0">
                <a:solidFill>
                  <a:srgbClr val="1353A2"/>
                </a:solidFill>
              </a:rPr>
              <a:t>压缩包包名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2.3.5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622248" y="4146659"/>
            <a:ext cx="4863999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示例</a:t>
            </a:r>
            <a:r>
              <a:rPr lang="zh-CN" altLang="en-US" sz="2400" dirty="0">
                <a:solidFill>
                  <a:srgbClr val="1353A2"/>
                </a:solidFill>
              </a:rPr>
              <a:t>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# bzip2 a.txt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# bzip2 –d a.txt.bz2 (-d</a:t>
            </a:r>
            <a:r>
              <a:rPr lang="zh-CN" altLang="en-US" sz="2400" dirty="0">
                <a:solidFill>
                  <a:srgbClr val="1353A2"/>
                </a:solidFill>
              </a:rPr>
              <a:t>解压</a:t>
            </a:r>
            <a:r>
              <a:rPr lang="en-US" altLang="zh-CN" sz="2400" dirty="0">
                <a:solidFill>
                  <a:srgbClr val="1353A2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# bunzip2 a.txt.bz2</a:t>
            </a:r>
          </a:p>
        </p:txBody>
      </p:sp>
      <p:sp>
        <p:nvSpPr>
          <p:cNvPr id="2" name="矩形 1"/>
          <p:cNvSpPr/>
          <p:nvPr/>
        </p:nvSpPr>
        <p:spPr>
          <a:xfrm>
            <a:off x="6280297" y="4273421"/>
            <a:ext cx="4863999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bzip2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命令压缩文件时同样会删除原始文件，用户可通过添加选项“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-k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”保留原始文件。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0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、压缩解压命令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4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r>
              <a:rPr lang="en-US" altLang="zh-CN" sz="2400" dirty="0" err="1">
                <a:solidFill>
                  <a:srgbClr val="1353A2"/>
                </a:solidFill>
              </a:rPr>
              <a:t>xz</a:t>
            </a:r>
            <a:r>
              <a:rPr lang="en-US" altLang="zh-CN" sz="2400" dirty="0">
                <a:solidFill>
                  <a:srgbClr val="1353A2"/>
                </a:solidFill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</a:rPr>
              <a:t>unxz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1353A2"/>
                </a:solidFill>
              </a:rPr>
              <a:t>xz</a:t>
            </a:r>
            <a:r>
              <a:rPr lang="zh-CN" altLang="en-US" sz="2400" dirty="0">
                <a:solidFill>
                  <a:srgbClr val="1353A2"/>
                </a:solidFill>
              </a:rPr>
              <a:t>与</a:t>
            </a:r>
            <a:r>
              <a:rPr lang="en-US" altLang="zh-CN" sz="2400" dirty="0">
                <a:solidFill>
                  <a:srgbClr val="1353A2"/>
                </a:solidFill>
              </a:rPr>
              <a:t>bzip2</a:t>
            </a:r>
            <a:r>
              <a:rPr lang="zh-CN" altLang="en-US" sz="2400" dirty="0">
                <a:solidFill>
                  <a:srgbClr val="1353A2"/>
                </a:solidFill>
              </a:rPr>
              <a:t>命令相似，也用于</a:t>
            </a:r>
            <a:r>
              <a:rPr lang="zh-CN" altLang="en-US" sz="2400" dirty="0">
                <a:solidFill>
                  <a:srgbClr val="FF0000"/>
                </a:solidFill>
              </a:rPr>
              <a:t>压缩文件</a:t>
            </a:r>
            <a:r>
              <a:rPr lang="zh-CN" altLang="en-US" sz="2400" dirty="0">
                <a:solidFill>
                  <a:srgbClr val="1353A2"/>
                </a:solidFill>
              </a:rPr>
              <a:t>，可获得</a:t>
            </a:r>
            <a:r>
              <a:rPr lang="en-US" altLang="zh-CN" sz="2400" b="1" dirty="0">
                <a:solidFill>
                  <a:srgbClr val="C00000"/>
                </a:solidFill>
              </a:rPr>
              <a:t>.</a:t>
            </a:r>
            <a:r>
              <a:rPr lang="en-US" altLang="zh-CN" sz="2400" b="1" dirty="0" err="1">
                <a:solidFill>
                  <a:srgbClr val="C00000"/>
                </a:solidFill>
              </a:rPr>
              <a:t>xz</a:t>
            </a:r>
            <a:r>
              <a:rPr lang="zh-CN" altLang="en-US" sz="2400" dirty="0">
                <a:solidFill>
                  <a:srgbClr val="1353A2"/>
                </a:solidFill>
              </a:rPr>
              <a:t>格式的压缩包，使用选项</a:t>
            </a:r>
            <a:r>
              <a:rPr lang="en-US" altLang="zh-CN" sz="2400" dirty="0">
                <a:solidFill>
                  <a:srgbClr val="FF0000"/>
                </a:solidFill>
              </a:rPr>
              <a:t>-k</a:t>
            </a:r>
            <a:r>
              <a:rPr lang="zh-CN" altLang="en-US" sz="2400" dirty="0">
                <a:solidFill>
                  <a:srgbClr val="FF0000"/>
                </a:solidFill>
              </a:rPr>
              <a:t>可保留源文件</a:t>
            </a:r>
            <a:r>
              <a:rPr lang="zh-CN" altLang="en-US" sz="2400" dirty="0">
                <a:solidFill>
                  <a:srgbClr val="1353A2"/>
                </a:solidFill>
              </a:rPr>
              <a:t>；搭配选项</a:t>
            </a:r>
            <a:r>
              <a:rPr lang="en-US" altLang="zh-CN" sz="2400" dirty="0">
                <a:solidFill>
                  <a:srgbClr val="1353A2"/>
                </a:solidFill>
              </a:rPr>
              <a:t>-d</a:t>
            </a:r>
            <a:r>
              <a:rPr lang="zh-CN" altLang="en-US" sz="2400" dirty="0">
                <a:solidFill>
                  <a:srgbClr val="1353A2"/>
                </a:solidFill>
              </a:rPr>
              <a:t>可实现解压。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2.3.5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622248" y="3885401"/>
            <a:ext cx="412358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示例</a:t>
            </a:r>
            <a:r>
              <a:rPr lang="zh-CN" altLang="en-US" sz="2400" dirty="0">
                <a:solidFill>
                  <a:srgbClr val="1353A2"/>
                </a:solidFill>
              </a:rPr>
              <a:t>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</a:rPr>
              <a:t>xz</a:t>
            </a:r>
            <a:r>
              <a:rPr lang="en-US" altLang="zh-CN" sz="2400" dirty="0">
                <a:solidFill>
                  <a:srgbClr val="1353A2"/>
                </a:solidFill>
              </a:rPr>
              <a:t> a.txt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</a:rPr>
              <a:t>xz</a:t>
            </a:r>
            <a:r>
              <a:rPr lang="en-US" altLang="zh-CN" sz="2400" dirty="0">
                <a:solidFill>
                  <a:srgbClr val="1353A2"/>
                </a:solidFill>
              </a:rPr>
              <a:t> –d </a:t>
            </a:r>
            <a:r>
              <a:rPr lang="en-US" altLang="zh-CN" sz="2400" dirty="0" err="1">
                <a:solidFill>
                  <a:srgbClr val="1353A2"/>
                </a:solidFill>
              </a:rPr>
              <a:t>a.txt.xz</a:t>
            </a:r>
            <a:r>
              <a:rPr lang="en-US" altLang="zh-CN" sz="2400" dirty="0">
                <a:solidFill>
                  <a:srgbClr val="1353A2"/>
                </a:solidFill>
              </a:rPr>
              <a:t> (-d</a:t>
            </a:r>
            <a:r>
              <a:rPr lang="zh-CN" altLang="en-US" sz="2400" dirty="0">
                <a:solidFill>
                  <a:srgbClr val="1353A2"/>
                </a:solidFill>
              </a:rPr>
              <a:t>解压</a:t>
            </a:r>
            <a:r>
              <a:rPr lang="en-US" altLang="zh-CN" sz="2400" dirty="0">
                <a:solidFill>
                  <a:srgbClr val="1353A2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</a:rPr>
              <a:t>unxz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</a:rPr>
              <a:t>a.txt.xz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0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2.3.5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压缩解压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881233" y="1994665"/>
          <a:ext cx="10066945" cy="3494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6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9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1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9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397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打包</a:t>
                      </a: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压缩</a:t>
                      </a: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解压</a:t>
                      </a:r>
                      <a:r>
                        <a:rPr lang="en-US" altLang="zh-CN" sz="2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2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还原</a:t>
                      </a: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后缀</a:t>
                      </a: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源文件</a:t>
                      </a:r>
                    </a:p>
                  </a:txBody>
                  <a:tcPr marL="112220" marR="11222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7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tar -</a:t>
                      </a:r>
                      <a:r>
                        <a:rPr lang="en-US" altLang="zh-CN" sz="2000" kern="12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cvf</a:t>
                      </a:r>
                      <a:endParaRPr lang="zh-CN" altLang="en-US" sz="2000" kern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tar -</a:t>
                      </a:r>
                      <a:r>
                        <a:rPr lang="en-US" altLang="zh-CN" sz="2000" kern="12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xvf</a:t>
                      </a:r>
                      <a:endParaRPr lang="zh-CN" altLang="en-US" sz="2000" kern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tar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保留</a:t>
                      </a:r>
                    </a:p>
                  </a:txBody>
                  <a:tcPr marL="112220" marR="11222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78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tar -</a:t>
                      </a:r>
                      <a:r>
                        <a:rPr lang="en-US" altLang="zh-CN" sz="2000" kern="12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zcvf</a:t>
                      </a:r>
                      <a:endParaRPr lang="zh-CN" altLang="en-US" sz="2000" kern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tar -</a:t>
                      </a:r>
                      <a:r>
                        <a:rPr lang="en-US" altLang="zh-CN" sz="2000" kern="12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zxvf</a:t>
                      </a:r>
                      <a:endParaRPr lang="zh-CN" altLang="en-US" sz="2000" kern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tar.gz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保留</a:t>
                      </a:r>
                    </a:p>
                  </a:txBody>
                  <a:tcPr marL="112220" marR="11222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78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tar -</a:t>
                      </a:r>
                      <a:r>
                        <a:rPr lang="en-US" altLang="zh-CN" sz="2000" kern="12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jcvf</a:t>
                      </a:r>
                      <a:endParaRPr lang="zh-CN" altLang="en-US" sz="2000" kern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tar -</a:t>
                      </a:r>
                      <a:r>
                        <a:rPr lang="en-US" altLang="zh-CN" sz="2000" kern="12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jxvf</a:t>
                      </a:r>
                      <a:endParaRPr lang="zh-CN" altLang="en-US" sz="2000" kern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tar.bz2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保留</a:t>
                      </a:r>
                    </a:p>
                  </a:txBody>
                  <a:tcPr marL="112220" marR="11222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7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zip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unzip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.zip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保留</a:t>
                      </a:r>
                    </a:p>
                  </a:txBody>
                  <a:tcPr marL="112220" marR="11222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gzip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gunzip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20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gz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不保留</a:t>
                      </a:r>
                    </a:p>
                  </a:txBody>
                  <a:tcPr marL="112220" marR="11222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7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bzip2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bunzip2</a:t>
                      </a:r>
                      <a:endParaRPr lang="zh-CN" alt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.bz2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不保留</a:t>
                      </a:r>
                    </a:p>
                  </a:txBody>
                  <a:tcPr marL="112220" marR="11222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7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xz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unxz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20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xz</a:t>
                      </a:r>
                      <a:endParaRPr lang="zh-CN" sz="20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220" marR="11222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不保留</a:t>
                      </a:r>
                    </a:p>
                  </a:txBody>
                  <a:tcPr marL="112220" marR="11222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8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9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>
                  <a:lumMod val="50000"/>
                </a:schemeClr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70" name="矩形 28"/>
          <p:cNvSpPr>
            <a:spLocks noChangeArrowheads="1"/>
          </p:cNvSpPr>
          <p:nvPr/>
        </p:nvSpPr>
        <p:spPr bwMode="auto">
          <a:xfrm>
            <a:off x="2099550" y="1660809"/>
            <a:ext cx="18921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用户与用户组管理</a:t>
            </a:r>
          </a:p>
        </p:txBody>
      </p:sp>
      <p:sp>
        <p:nvSpPr>
          <p:cNvPr id="71" name="矩形 29"/>
          <p:cNvSpPr>
            <a:spLocks noChangeArrowheads="1"/>
          </p:cNvSpPr>
          <p:nvPr/>
        </p:nvSpPr>
        <p:spPr bwMode="auto">
          <a:xfrm>
            <a:off x="4070327" y="1841570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</a:t>
            </a:r>
          </a:p>
        </p:txBody>
      </p:sp>
      <p:cxnSp>
        <p:nvCxnSpPr>
          <p:cNvPr id="72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8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9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80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命令格式</a:t>
            </a:r>
          </a:p>
        </p:txBody>
      </p:sp>
      <p:cxnSp>
        <p:nvCxnSpPr>
          <p:cNvPr id="81" name="直接连接符 80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直接连接符 81"/>
          <p:cNvCxnSpPr/>
          <p:nvPr/>
        </p:nvCxnSpPr>
        <p:spPr bwMode="auto">
          <a:xfrm>
            <a:off x="3991652" y="1688477"/>
            <a:ext cx="399995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矩形 1"/>
          <p:cNvSpPr>
            <a:spLocks noChangeArrowheads="1"/>
          </p:cNvSpPr>
          <p:nvPr/>
        </p:nvSpPr>
        <p:spPr bwMode="auto">
          <a:xfrm>
            <a:off x="5950179" y="1769174"/>
            <a:ext cx="1890800" cy="202326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4" name="矩形 21"/>
          <p:cNvSpPr>
            <a:spLocks noChangeArrowheads="1"/>
          </p:cNvSpPr>
          <p:nvPr/>
        </p:nvSpPr>
        <p:spPr bwMode="auto">
          <a:xfrm>
            <a:off x="4009019" y="4479805"/>
            <a:ext cx="1724176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5" name="矩形 22"/>
          <p:cNvSpPr>
            <a:spLocks noChangeArrowheads="1"/>
          </p:cNvSpPr>
          <p:nvPr/>
        </p:nvSpPr>
        <p:spPr bwMode="auto">
          <a:xfrm>
            <a:off x="5742508" y="4489427"/>
            <a:ext cx="1727610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6" name="矩形 28"/>
          <p:cNvSpPr>
            <a:spLocks noChangeArrowheads="1"/>
          </p:cNvSpPr>
          <p:nvPr/>
        </p:nvSpPr>
        <p:spPr bwMode="auto">
          <a:xfrm>
            <a:off x="3963530" y="4560959"/>
            <a:ext cx="176966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</a:p>
        </p:txBody>
      </p:sp>
      <p:sp>
        <p:nvSpPr>
          <p:cNvPr id="87" name="矩形 29"/>
          <p:cNvSpPr>
            <a:spLocks noChangeArrowheads="1"/>
          </p:cNvSpPr>
          <p:nvPr/>
        </p:nvSpPr>
        <p:spPr bwMode="auto">
          <a:xfrm>
            <a:off x="5733195" y="4566723"/>
            <a:ext cx="1713648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</a:p>
        </p:txBody>
      </p:sp>
      <p:cxnSp>
        <p:nvCxnSpPr>
          <p:cNvPr id="88" name="直接连接符 51"/>
          <p:cNvCxnSpPr>
            <a:cxnSpLocks noChangeShapeType="1"/>
          </p:cNvCxnSpPr>
          <p:nvPr/>
        </p:nvCxnSpPr>
        <p:spPr bwMode="auto">
          <a:xfrm>
            <a:off x="5688897" y="4159855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" name="TextBox 7177"/>
          <p:cNvSpPr txBox="1">
            <a:spLocks noChangeArrowheads="1"/>
          </p:cNvSpPr>
          <p:nvPr/>
        </p:nvSpPr>
        <p:spPr bwMode="auto">
          <a:xfrm>
            <a:off x="5984045" y="1060096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0" name="TextBox 7177"/>
          <p:cNvSpPr txBox="1">
            <a:spLocks noChangeArrowheads="1"/>
          </p:cNvSpPr>
          <p:nvPr/>
        </p:nvSpPr>
        <p:spPr bwMode="auto">
          <a:xfrm>
            <a:off x="3954924" y="3783090"/>
            <a:ext cx="9970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1" name="TextBox 7177"/>
          <p:cNvSpPr txBox="1">
            <a:spLocks noChangeArrowheads="1"/>
          </p:cNvSpPr>
          <p:nvPr/>
        </p:nvSpPr>
        <p:spPr bwMode="auto">
          <a:xfrm>
            <a:off x="5737237" y="3803149"/>
            <a:ext cx="15200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</a:p>
        </p:txBody>
      </p:sp>
      <p:cxnSp>
        <p:nvCxnSpPr>
          <p:cNvPr id="93" name="直接连接符 19"/>
          <p:cNvCxnSpPr/>
          <p:nvPr/>
        </p:nvCxnSpPr>
        <p:spPr bwMode="auto">
          <a:xfrm>
            <a:off x="4029328" y="4427930"/>
            <a:ext cx="1678967" cy="776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直接连接符 20"/>
          <p:cNvCxnSpPr/>
          <p:nvPr/>
        </p:nvCxnSpPr>
        <p:spPr bwMode="auto">
          <a:xfrm>
            <a:off x="5709923" y="4428744"/>
            <a:ext cx="183470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5816" y="5280100"/>
            <a:ext cx="1538977" cy="1046463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7" name="直接连接符 52"/>
          <p:cNvCxnSpPr>
            <a:cxnSpLocks noChangeShapeType="1"/>
          </p:cNvCxnSpPr>
          <p:nvPr/>
        </p:nvCxnSpPr>
        <p:spPr bwMode="auto">
          <a:xfrm>
            <a:off x="4005598" y="4173190"/>
            <a:ext cx="1" cy="296447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矩形 1"/>
          <p:cNvSpPr>
            <a:spLocks noChangeArrowheads="1"/>
          </p:cNvSpPr>
          <p:nvPr/>
        </p:nvSpPr>
        <p:spPr bwMode="auto">
          <a:xfrm>
            <a:off x="7490535" y="4485614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cxnSp>
        <p:nvCxnSpPr>
          <p:cNvPr id="100" name="直接连接符 7167"/>
          <p:cNvCxnSpPr>
            <a:cxnSpLocks noChangeShapeType="1"/>
          </p:cNvCxnSpPr>
          <p:nvPr/>
        </p:nvCxnSpPr>
        <p:spPr bwMode="auto">
          <a:xfrm flipV="1">
            <a:off x="7466430" y="4427930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直接连接符 7172"/>
          <p:cNvCxnSpPr>
            <a:cxnSpLocks noChangeShapeType="1"/>
          </p:cNvCxnSpPr>
          <p:nvPr/>
        </p:nvCxnSpPr>
        <p:spPr bwMode="auto">
          <a:xfrm>
            <a:off x="7465525" y="4074072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" name="TextBox 7177"/>
          <p:cNvSpPr txBox="1">
            <a:spLocks noChangeArrowheads="1"/>
          </p:cNvSpPr>
          <p:nvPr/>
        </p:nvSpPr>
        <p:spPr bwMode="auto">
          <a:xfrm>
            <a:off x="7509602" y="3751901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03" name="矩形 28"/>
          <p:cNvSpPr>
            <a:spLocks noChangeArrowheads="1"/>
          </p:cNvSpPr>
          <p:nvPr/>
        </p:nvSpPr>
        <p:spPr bwMode="auto">
          <a:xfrm>
            <a:off x="7470337" y="4607439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软件包管理</a:t>
            </a:r>
          </a:p>
        </p:txBody>
      </p:sp>
      <p:pic>
        <p:nvPicPr>
          <p:cNvPr id="10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150" y="2604066"/>
            <a:ext cx="1364458" cy="104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" name="矩形 1"/>
          <p:cNvSpPr>
            <a:spLocks noChangeArrowheads="1"/>
          </p:cNvSpPr>
          <p:nvPr/>
        </p:nvSpPr>
        <p:spPr bwMode="auto">
          <a:xfrm>
            <a:off x="9221062" y="4485515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pic>
        <p:nvPicPr>
          <p:cNvPr id="123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76403" y="5321538"/>
            <a:ext cx="1457809" cy="99727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直接连接符 7167"/>
          <p:cNvCxnSpPr>
            <a:cxnSpLocks noChangeShapeType="1"/>
          </p:cNvCxnSpPr>
          <p:nvPr/>
        </p:nvCxnSpPr>
        <p:spPr bwMode="auto">
          <a:xfrm flipV="1">
            <a:off x="9196957" y="4427831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5" name="直接连接符 7172"/>
          <p:cNvCxnSpPr>
            <a:cxnSpLocks noChangeShapeType="1"/>
          </p:cNvCxnSpPr>
          <p:nvPr/>
        </p:nvCxnSpPr>
        <p:spPr bwMode="auto">
          <a:xfrm>
            <a:off x="9196052" y="4073973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" name="TextBox 7177"/>
          <p:cNvSpPr txBox="1">
            <a:spLocks noChangeArrowheads="1"/>
          </p:cNvSpPr>
          <p:nvPr/>
        </p:nvSpPr>
        <p:spPr bwMode="auto">
          <a:xfrm>
            <a:off x="9240129" y="3751802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8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27" name="矩形 28"/>
          <p:cNvSpPr>
            <a:spLocks noChangeArrowheads="1"/>
          </p:cNvSpPr>
          <p:nvPr/>
        </p:nvSpPr>
        <p:spPr bwMode="auto">
          <a:xfrm>
            <a:off x="9221062" y="4601675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文本编辑器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4" y="2604066"/>
            <a:ext cx="1533716" cy="104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35" y="2596545"/>
            <a:ext cx="1654397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548" y="5279692"/>
            <a:ext cx="1530043" cy="104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140" y="5292164"/>
            <a:ext cx="1420225" cy="1000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2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001" y="2596545"/>
            <a:ext cx="1679893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44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44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58450" y="2233593"/>
            <a:ext cx="6936174" cy="3351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</a:t>
            </a:r>
            <a:r>
              <a:rPr lang="zh-CN" altLang="en-US" sz="2400" dirty="0">
                <a:solidFill>
                  <a:srgbClr val="C00000"/>
                </a:solidFill>
              </a:rPr>
              <a:t>磁盘的名称</a:t>
            </a:r>
            <a:r>
              <a:rPr lang="zh-CN" altLang="en-US" sz="2400" dirty="0">
                <a:solidFill>
                  <a:srgbClr val="1353A2"/>
                </a:solidFill>
              </a:rPr>
              <a:t>由系统根据设备类型自动识别，常用的存储设备类型有</a:t>
            </a:r>
            <a:r>
              <a:rPr lang="en-US" altLang="zh-CN" sz="2400" dirty="0">
                <a:solidFill>
                  <a:srgbClr val="1353A2"/>
                </a:solidFill>
              </a:rPr>
              <a:t>IDE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SATA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USB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SCSI</a:t>
            </a:r>
            <a:r>
              <a:rPr lang="zh-CN" altLang="en-US" sz="2400" dirty="0">
                <a:solidFill>
                  <a:srgbClr val="1353A2"/>
                </a:solidFill>
              </a:rPr>
              <a:t>等，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其中</a:t>
            </a:r>
            <a:r>
              <a:rPr lang="en-US" altLang="zh-CN" sz="2400" dirty="0">
                <a:solidFill>
                  <a:srgbClr val="1353A2"/>
                </a:solidFill>
              </a:rPr>
              <a:t>IDE</a:t>
            </a:r>
            <a:r>
              <a:rPr lang="zh-CN" altLang="en-US" sz="2400" dirty="0">
                <a:solidFill>
                  <a:srgbClr val="1353A2"/>
                </a:solidFill>
              </a:rPr>
              <a:t>设备在</a:t>
            </a: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系统中被识别为</a:t>
            </a:r>
            <a:r>
              <a:rPr lang="en-US" altLang="zh-CN" sz="2400" b="1" dirty="0" err="1">
                <a:solidFill>
                  <a:srgbClr val="FF0000"/>
                </a:solidFill>
              </a:rPr>
              <a:t>hd</a:t>
            </a:r>
            <a:r>
              <a:rPr lang="zh-CN" altLang="en-US" sz="2400" dirty="0">
                <a:solidFill>
                  <a:srgbClr val="1353A2"/>
                </a:solidFill>
              </a:rPr>
              <a:t>，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STAT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USB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SCSI</a:t>
            </a:r>
            <a:r>
              <a:rPr lang="zh-CN" altLang="en-US" sz="2400" dirty="0">
                <a:solidFill>
                  <a:srgbClr val="1353A2"/>
                </a:solidFill>
              </a:rPr>
              <a:t>设备在</a:t>
            </a: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系统中被识别为</a:t>
            </a:r>
            <a:r>
              <a:rPr lang="en-US" altLang="zh-CN" sz="2400" b="1" dirty="0" err="1">
                <a:solidFill>
                  <a:srgbClr val="C00000"/>
                </a:solidFill>
              </a:rPr>
              <a:t>sd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624" y="1351403"/>
            <a:ext cx="3905250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58450" y="2434476"/>
            <a:ext cx="693617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若系统中使用了多个同类型的设备，这些设备按照添加的顺序，使用</a:t>
            </a:r>
            <a:r>
              <a:rPr lang="zh-CN" altLang="en-US" sz="2400" dirty="0">
                <a:solidFill>
                  <a:srgbClr val="00B0F0"/>
                </a:solidFill>
              </a:rPr>
              <a:t>小写字母依次编号</a:t>
            </a:r>
            <a:r>
              <a:rPr lang="zh-CN" altLang="en-US" sz="2400" dirty="0">
                <a:solidFill>
                  <a:srgbClr val="1353A2"/>
                </a:solidFill>
              </a:rPr>
              <a:t>。如系统中有两个</a:t>
            </a:r>
            <a:r>
              <a:rPr lang="en-US" altLang="zh-CN" sz="2400" dirty="0" err="1">
                <a:solidFill>
                  <a:srgbClr val="1353A2"/>
                </a:solidFill>
              </a:rPr>
              <a:t>sd</a:t>
            </a:r>
            <a:r>
              <a:rPr lang="zh-CN" altLang="en-US" sz="2400" dirty="0">
                <a:solidFill>
                  <a:srgbClr val="1353A2"/>
                </a:solidFill>
              </a:rPr>
              <a:t>设备，则第一个设备名为</a:t>
            </a:r>
            <a:r>
              <a:rPr lang="en-US" altLang="zh-CN" sz="2400" dirty="0" err="1">
                <a:solidFill>
                  <a:srgbClr val="1353A2"/>
                </a:solidFill>
              </a:rPr>
              <a:t>sda</a:t>
            </a:r>
            <a:r>
              <a:rPr lang="zh-CN" altLang="en-US" sz="2400" dirty="0">
                <a:solidFill>
                  <a:srgbClr val="1353A2"/>
                </a:solidFill>
              </a:rPr>
              <a:t>，第二个设备名为</a:t>
            </a:r>
            <a:r>
              <a:rPr lang="en-US" altLang="zh-CN" sz="2400" dirty="0" err="1">
                <a:solidFill>
                  <a:srgbClr val="1353A2"/>
                </a:solidFill>
              </a:rPr>
              <a:t>sdb</a:t>
            </a:r>
            <a:r>
              <a:rPr lang="zh-CN" altLang="en-US" sz="2400" dirty="0">
                <a:solidFill>
                  <a:srgbClr val="1353A2"/>
                </a:solidFill>
              </a:rPr>
              <a:t>，以此类推。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624" y="1351403"/>
            <a:ext cx="3905250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118264" y="2178430"/>
            <a:ext cx="6483927" cy="3351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磁盘分区有利于数据的分类存储，管理员可根据磁盘中将要存放的文件类型、数量和文件大小等因素，合理规划磁盘空间，以</a:t>
            </a:r>
            <a:r>
              <a:rPr lang="zh-CN" altLang="en-US" sz="2400" dirty="0">
                <a:solidFill>
                  <a:srgbClr val="FF0000"/>
                </a:solidFill>
              </a:rPr>
              <a:t>提高</a:t>
            </a:r>
            <a:r>
              <a:rPr lang="zh-CN" altLang="en-US" sz="2400" dirty="0">
                <a:solidFill>
                  <a:srgbClr val="1353A2"/>
                </a:solidFill>
              </a:rPr>
              <a:t>磁盘</a:t>
            </a:r>
            <a:r>
              <a:rPr lang="zh-CN" altLang="en-US" sz="2400" dirty="0">
                <a:solidFill>
                  <a:srgbClr val="FF0000"/>
                </a:solidFill>
              </a:rPr>
              <a:t>使用率</a:t>
            </a:r>
            <a:r>
              <a:rPr lang="zh-CN" altLang="en-US" sz="2400" dirty="0">
                <a:solidFill>
                  <a:srgbClr val="1353A2"/>
                </a:solidFill>
              </a:rPr>
              <a:t>与读取</a:t>
            </a:r>
            <a:r>
              <a:rPr lang="zh-CN" altLang="en-US" sz="2400" dirty="0">
                <a:solidFill>
                  <a:srgbClr val="FF0000"/>
                </a:solidFill>
              </a:rPr>
              <a:t>速率</a:t>
            </a:r>
            <a:r>
              <a:rPr lang="zh-CN" altLang="en-US" sz="2400" dirty="0">
                <a:solidFill>
                  <a:srgbClr val="1353A2"/>
                </a:solidFill>
              </a:rPr>
              <a:t>。常见的磁盘分区方式为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MBR</a:t>
            </a:r>
            <a:r>
              <a:rPr lang="zh-CN" altLang="en-US" sz="2400" dirty="0">
                <a:solidFill>
                  <a:srgbClr val="1353A2"/>
                </a:solidFill>
              </a:rPr>
              <a:t>分区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GPT</a:t>
            </a:r>
            <a:r>
              <a:rPr lang="zh-CN" altLang="en-US" sz="2400" dirty="0">
                <a:solidFill>
                  <a:srgbClr val="1353A2"/>
                </a:solidFill>
              </a:rPr>
              <a:t>分区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46" y="2463017"/>
            <a:ext cx="378142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MBR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MBR</a:t>
            </a:r>
            <a:r>
              <a:rPr lang="zh-CN" altLang="en-US" sz="2400" dirty="0">
                <a:solidFill>
                  <a:srgbClr val="1353A2"/>
                </a:solidFill>
              </a:rPr>
              <a:t>全称</a:t>
            </a:r>
            <a:r>
              <a:rPr lang="en-US" altLang="zh-CN" sz="2400" dirty="0">
                <a:solidFill>
                  <a:srgbClr val="1353A2"/>
                </a:solidFill>
              </a:rPr>
              <a:t>Master Boot Record</a:t>
            </a:r>
            <a:r>
              <a:rPr lang="zh-CN" altLang="en-US" sz="2400" dirty="0">
                <a:solidFill>
                  <a:srgbClr val="1353A2"/>
                </a:solidFill>
              </a:rPr>
              <a:t>，即主引导记录。</a:t>
            </a:r>
            <a:r>
              <a:rPr lang="zh-CN" altLang="en-US" sz="2400" dirty="0">
                <a:solidFill>
                  <a:srgbClr val="FF0000"/>
                </a:solidFill>
              </a:rPr>
              <a:t>磁盘</a:t>
            </a:r>
            <a:r>
              <a:rPr lang="zh-CN" altLang="en-US" sz="2400" dirty="0">
                <a:solidFill>
                  <a:srgbClr val="1353A2"/>
                </a:solidFill>
              </a:rPr>
              <a:t>中的空间以</a:t>
            </a:r>
            <a:r>
              <a:rPr lang="zh-CN" altLang="en-US" sz="2400" dirty="0">
                <a:solidFill>
                  <a:srgbClr val="FF0000"/>
                </a:solidFill>
              </a:rPr>
              <a:t>扇区为单位</a:t>
            </a:r>
            <a:r>
              <a:rPr lang="zh-CN" altLang="en-US" sz="2400" dirty="0">
                <a:solidFill>
                  <a:srgbClr val="1353A2"/>
                </a:solidFill>
              </a:rPr>
              <a:t>，采用</a:t>
            </a:r>
            <a:r>
              <a:rPr lang="en-US" altLang="zh-CN" sz="2400" dirty="0">
                <a:solidFill>
                  <a:srgbClr val="1353A2"/>
                </a:solidFill>
              </a:rPr>
              <a:t>MBR</a:t>
            </a:r>
            <a:r>
              <a:rPr lang="zh-CN" altLang="en-US" sz="2400" dirty="0">
                <a:solidFill>
                  <a:srgbClr val="1353A2"/>
                </a:solidFill>
              </a:rPr>
              <a:t>方式分区的磁盘第一个扇区中包含一个</a:t>
            </a:r>
            <a:r>
              <a:rPr lang="en-US" altLang="zh-CN" sz="2400" dirty="0">
                <a:solidFill>
                  <a:srgbClr val="FF0000"/>
                </a:solidFill>
              </a:rPr>
              <a:t>64</a:t>
            </a:r>
            <a:r>
              <a:rPr lang="zh-CN" altLang="en-US" sz="2400" dirty="0">
                <a:solidFill>
                  <a:srgbClr val="FF0000"/>
                </a:solidFill>
              </a:rPr>
              <a:t>字节的磁盘分区表</a:t>
            </a:r>
            <a:r>
              <a:rPr lang="zh-CN" altLang="en-US" sz="2400" dirty="0">
                <a:solidFill>
                  <a:srgbClr val="1353A2"/>
                </a:solidFill>
              </a:rPr>
              <a:t>，每个分区信息占用</a:t>
            </a:r>
            <a:r>
              <a:rPr lang="en-US" altLang="zh-CN" sz="2400" dirty="0">
                <a:solidFill>
                  <a:srgbClr val="FF0000"/>
                </a:solidFill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</a:rPr>
              <a:t>字节</a:t>
            </a:r>
            <a:r>
              <a:rPr lang="zh-CN" altLang="en-US" sz="2400" dirty="0">
                <a:solidFill>
                  <a:srgbClr val="1353A2"/>
                </a:solidFill>
              </a:rPr>
              <a:t>，因此分区表最多可存储</a:t>
            </a:r>
            <a:r>
              <a:rPr lang="en-US" altLang="zh-CN" sz="2400" dirty="0">
                <a:solidFill>
                  <a:srgbClr val="FF0000"/>
                </a:solidFill>
              </a:rPr>
              <a:t>4</a:t>
            </a:r>
            <a:r>
              <a:rPr lang="zh-CN" altLang="en-US" sz="2400" dirty="0">
                <a:solidFill>
                  <a:srgbClr val="FF0000"/>
                </a:solidFill>
              </a:rPr>
              <a:t>项分区信息</a:t>
            </a:r>
            <a:r>
              <a:rPr lang="zh-CN" altLang="en-US" sz="2400" dirty="0">
                <a:solidFill>
                  <a:srgbClr val="1353A2"/>
                </a:solidFill>
              </a:rPr>
              <a:t>，也就是说磁盘只能划分出</a:t>
            </a:r>
            <a:r>
              <a:rPr lang="en-US" altLang="zh-CN" sz="2400" dirty="0">
                <a:solidFill>
                  <a:srgbClr val="FF0000"/>
                </a:solidFill>
              </a:rPr>
              <a:t>4</a:t>
            </a:r>
            <a:r>
              <a:rPr lang="zh-CN" altLang="en-US" sz="2400" dirty="0">
                <a:solidFill>
                  <a:srgbClr val="FF0000"/>
                </a:solidFill>
              </a:rPr>
              <a:t>个主分区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1563" y="5084948"/>
            <a:ext cx="10835012" cy="58105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即便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个分区容量总和小于磁盘总容量，也无法再为剩余空间分区。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286" y="4554417"/>
            <a:ext cx="6174791" cy="530531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MBR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但事实上，我们知道</a:t>
            </a:r>
            <a:r>
              <a:rPr lang="en-US" altLang="zh-CN" sz="2400" dirty="0">
                <a:solidFill>
                  <a:srgbClr val="1353A2"/>
                </a:solidFill>
              </a:rPr>
              <a:t>Windows</a:t>
            </a:r>
            <a:r>
              <a:rPr lang="zh-CN" altLang="en-US" sz="2400" dirty="0">
                <a:solidFill>
                  <a:srgbClr val="1353A2"/>
                </a:solidFill>
              </a:rPr>
              <a:t>中可以有不止</a:t>
            </a:r>
            <a:r>
              <a:rPr lang="en-US" altLang="zh-CN" sz="2400" dirty="0">
                <a:solidFill>
                  <a:srgbClr val="1353A2"/>
                </a:solidFill>
              </a:rPr>
              <a:t>4</a:t>
            </a:r>
            <a:r>
              <a:rPr lang="zh-CN" altLang="en-US" sz="2400" dirty="0">
                <a:solidFill>
                  <a:srgbClr val="1353A2"/>
                </a:solidFill>
              </a:rPr>
              <a:t>个分区，这是因为，</a:t>
            </a:r>
            <a:r>
              <a:rPr lang="en-US" altLang="zh-CN" sz="2400" dirty="0">
                <a:solidFill>
                  <a:srgbClr val="1353A2"/>
                </a:solidFill>
              </a:rPr>
              <a:t>MBR</a:t>
            </a:r>
            <a:r>
              <a:rPr lang="zh-CN" altLang="en-US" sz="2400" dirty="0">
                <a:solidFill>
                  <a:srgbClr val="1353A2"/>
                </a:solidFill>
              </a:rPr>
              <a:t>允许在基础分区中设置一个扩展分区，而扩展分区又可以划分为多个逻辑分区。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1563" y="4290966"/>
            <a:ext cx="10835012" cy="2306955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MBR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分区中，</a:t>
            </a:r>
            <a:r>
              <a:rPr lang="zh-CN" altLang="en-US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编号</a:t>
            </a:r>
            <a:r>
              <a:rPr lang="en-US" altLang="zh-CN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1-4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被预留给</a:t>
            </a:r>
            <a:r>
              <a:rPr lang="zh-CN" altLang="en-US" sz="24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基础分区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逻辑分区的编号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（即便基础分区数量不足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个）。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720725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扩展分区也有自己的磁盘分区表，扩展分区的磁盘分区表存储于扩展分区的第一个扇区中。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749" y="3307793"/>
            <a:ext cx="8086639" cy="1155234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" grpId="0" bldLvl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MBR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使用</a:t>
            </a:r>
            <a:r>
              <a:rPr lang="en-US" altLang="zh-CN" sz="2400" dirty="0">
                <a:solidFill>
                  <a:srgbClr val="1353A2"/>
                </a:solidFill>
              </a:rPr>
              <a:t>MBR</a:t>
            </a:r>
            <a:r>
              <a:rPr lang="zh-CN" altLang="en-US" sz="2400" dirty="0">
                <a:solidFill>
                  <a:srgbClr val="1353A2"/>
                </a:solidFill>
              </a:rPr>
              <a:t>方式创建的分区，可通过</a:t>
            </a:r>
            <a:r>
              <a:rPr lang="en-US" altLang="zh-CN" sz="2400" dirty="0" err="1">
                <a:solidFill>
                  <a:srgbClr val="1353A2"/>
                </a:solidFill>
              </a:rPr>
              <a:t>fdisk</a:t>
            </a:r>
            <a:r>
              <a:rPr lang="zh-CN" altLang="en-US" sz="2400" dirty="0">
                <a:solidFill>
                  <a:srgbClr val="1353A2"/>
                </a:solidFill>
              </a:rPr>
              <a:t>命令进行管理。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1353A2"/>
                </a:solidFill>
              </a:rPr>
              <a:t>fdisk</a:t>
            </a:r>
            <a:r>
              <a:rPr lang="zh-CN" altLang="en-US" sz="2400" dirty="0">
                <a:solidFill>
                  <a:srgbClr val="1353A2"/>
                </a:solidFill>
              </a:rPr>
              <a:t>命令可以查看当前系统中的磁盘的分区情况，该命令的格式如下：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</a:rPr>
              <a:t>fdisk</a:t>
            </a:r>
            <a:r>
              <a:rPr lang="en-US" altLang="zh-CN" sz="2400" dirty="0">
                <a:solidFill>
                  <a:srgbClr val="FF0000"/>
                </a:solidFill>
              </a:rPr>
              <a:t> [</a:t>
            </a:r>
            <a:r>
              <a:rPr lang="zh-CN" altLang="en-US" sz="2400" dirty="0">
                <a:solidFill>
                  <a:srgbClr val="FF0000"/>
                </a:solidFill>
              </a:rPr>
              <a:t>选项</a:t>
            </a:r>
            <a:r>
              <a:rPr lang="en-US" altLang="zh-CN" sz="2400" dirty="0">
                <a:solidFill>
                  <a:srgbClr val="FF0000"/>
                </a:solidFill>
              </a:rPr>
              <a:t>] [</a:t>
            </a:r>
            <a:r>
              <a:rPr lang="zh-CN" altLang="en-US" sz="2400" dirty="0">
                <a:solidFill>
                  <a:srgbClr val="FF0000"/>
                </a:solidFill>
              </a:rPr>
              <a:t>磁盘</a:t>
            </a:r>
            <a:r>
              <a:rPr lang="en-US" altLang="zh-CN" sz="2400" dirty="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195532" y="3981826"/>
          <a:ext cx="10022899" cy="1587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7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5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990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选项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36" marR="128636" marT="0" marB="0" anchor="ctr"/>
                </a:tc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36" marR="12863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570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</a:rPr>
                        <a:t>-l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36" marR="128636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详细显示磁盘及其分区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信息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36" marR="12863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570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</a:rPr>
                        <a:t>-s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36" marR="128636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显示磁盘分区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容量</a:t>
                      </a:r>
                      <a:r>
                        <a:rPr lang="zh-CN" sz="2000" kern="100" dirty="0">
                          <a:effectLst/>
                        </a:rPr>
                        <a:t>（单位为</a:t>
                      </a:r>
                      <a:r>
                        <a:rPr lang="en-US" sz="2000" kern="100" dirty="0">
                          <a:effectLst/>
                        </a:rPr>
                        <a:t>block</a:t>
                      </a:r>
                      <a:r>
                        <a:rPr lang="zh-CN" sz="2000" kern="100" dirty="0">
                          <a:effectLst/>
                        </a:rPr>
                        <a:t>）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36" marR="12863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570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-b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36" marR="128636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设置扇区大小（扇区大小取值为</a:t>
                      </a:r>
                      <a:r>
                        <a:rPr lang="en-US" sz="2000" kern="100" dirty="0">
                          <a:effectLst/>
                        </a:rPr>
                        <a:t>512</a:t>
                      </a:r>
                      <a:r>
                        <a:rPr lang="zh-CN" sz="2000" kern="100" dirty="0">
                          <a:effectLst/>
                        </a:rPr>
                        <a:t>、</a:t>
                      </a:r>
                      <a:r>
                        <a:rPr lang="en-US" sz="2000" kern="100" dirty="0">
                          <a:effectLst/>
                        </a:rPr>
                        <a:t>1024</a:t>
                      </a:r>
                      <a:r>
                        <a:rPr lang="zh-CN" sz="2000" kern="100" dirty="0">
                          <a:effectLst/>
                        </a:rPr>
                        <a:t>、</a:t>
                      </a:r>
                      <a:r>
                        <a:rPr lang="en-US" sz="2000" kern="100" dirty="0">
                          <a:effectLst/>
                        </a:rPr>
                        <a:t>2048</a:t>
                      </a:r>
                      <a:r>
                        <a:rPr lang="zh-CN" sz="2000" kern="100" dirty="0">
                          <a:effectLst/>
                        </a:rPr>
                        <a:t>或</a:t>
                      </a:r>
                      <a:r>
                        <a:rPr lang="en-US" sz="2000" kern="100" dirty="0">
                          <a:effectLst/>
                        </a:rPr>
                        <a:t>4096</a:t>
                      </a:r>
                      <a:r>
                        <a:rPr lang="zh-CN" sz="2000" kern="100" dirty="0">
                          <a:effectLst/>
                        </a:rPr>
                        <a:t>，单位</a:t>
                      </a:r>
                      <a:r>
                        <a:rPr lang="en-US" sz="2000" kern="100" dirty="0">
                          <a:effectLst/>
                        </a:rPr>
                        <a:t>MB</a:t>
                      </a:r>
                      <a:r>
                        <a:rPr lang="zh-CN" sz="2000" kern="100" dirty="0">
                          <a:effectLst/>
                        </a:rPr>
                        <a:t>）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636" marR="12863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MBR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3250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</a:rPr>
              <a:t>fdisk</a:t>
            </a:r>
            <a:r>
              <a:rPr lang="zh-CN" altLang="en-US" sz="2400" dirty="0">
                <a:solidFill>
                  <a:srgbClr val="FF0000"/>
                </a:solidFill>
              </a:rPr>
              <a:t>示例：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1353A2"/>
                </a:solidFill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</a:rPr>
              <a:t>fdisk</a:t>
            </a:r>
            <a:r>
              <a:rPr lang="en-US" altLang="zh-CN" sz="2400" dirty="0">
                <a:solidFill>
                  <a:srgbClr val="1353A2"/>
                </a:solidFill>
              </a:rPr>
              <a:t> –l /dev/</a:t>
            </a:r>
            <a:r>
              <a:rPr lang="en-US" altLang="zh-CN" sz="2400" dirty="0" err="1">
                <a:solidFill>
                  <a:srgbClr val="1353A2"/>
                </a:solidFill>
              </a:rPr>
              <a:t>sda</a:t>
            </a:r>
            <a:endParaRPr lang="zh-CN" altLang="zh-CN" sz="2400" dirty="0">
              <a:solidFill>
                <a:srgbClr val="1353A2"/>
              </a:solidFill>
            </a:endParaRPr>
          </a:p>
          <a:p>
            <a:r>
              <a:rPr lang="en-US" altLang="zh-CN" sz="2400" dirty="0">
                <a:solidFill>
                  <a:srgbClr val="1353A2"/>
                </a:solidFill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</a:rPr>
              <a:t>fdisk</a:t>
            </a:r>
            <a:r>
              <a:rPr lang="en-US" altLang="zh-CN" sz="2400" dirty="0">
                <a:solidFill>
                  <a:srgbClr val="1353A2"/>
                </a:solidFill>
              </a:rPr>
              <a:t> -s /dev/</a:t>
            </a:r>
            <a:r>
              <a:rPr lang="en-US" altLang="zh-CN" sz="2400" dirty="0" err="1">
                <a:solidFill>
                  <a:srgbClr val="1353A2"/>
                </a:solidFill>
              </a:rPr>
              <a:t>sda</a:t>
            </a:r>
            <a:endParaRPr lang="zh-CN" altLang="zh-CN" sz="2400" dirty="0">
              <a:solidFill>
                <a:srgbClr val="1353A2"/>
              </a:solidFill>
            </a:endParaRPr>
          </a:p>
          <a:p>
            <a:r>
              <a:rPr lang="en-US" altLang="zh-CN" sz="2400" dirty="0">
                <a:solidFill>
                  <a:srgbClr val="1353A2"/>
                </a:solidFill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</a:rPr>
              <a:t>fdisk</a:t>
            </a:r>
            <a:r>
              <a:rPr lang="en-US" altLang="zh-CN" sz="2400" dirty="0">
                <a:solidFill>
                  <a:srgbClr val="1353A2"/>
                </a:solidFill>
              </a:rPr>
              <a:t> -b 512 /dev/</a:t>
            </a:r>
            <a:r>
              <a:rPr lang="en-US" altLang="zh-CN" sz="2400" dirty="0" err="1">
                <a:solidFill>
                  <a:srgbClr val="1353A2"/>
                </a:solidFill>
              </a:rPr>
              <a:t>sda</a:t>
            </a:r>
            <a:endParaRPr lang="zh-CN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以上示例只能实现磁盘与分区的简单管理，</a:t>
            </a:r>
            <a:r>
              <a:rPr lang="zh-CN" altLang="zh-CN" sz="2400" dirty="0">
                <a:solidFill>
                  <a:srgbClr val="1353A2"/>
                </a:solidFill>
              </a:rPr>
              <a:t>若要使用</a:t>
            </a:r>
            <a:r>
              <a:rPr lang="en-US" altLang="zh-CN" sz="2400" dirty="0" err="1">
                <a:solidFill>
                  <a:srgbClr val="1353A2"/>
                </a:solidFill>
              </a:rPr>
              <a:t>fdisk</a:t>
            </a:r>
            <a:r>
              <a:rPr lang="zh-CN" altLang="zh-CN" sz="2400" dirty="0">
                <a:solidFill>
                  <a:srgbClr val="1353A2"/>
                </a:solidFill>
              </a:rPr>
              <a:t>命令创建磁盘分区，需要在终端输入“</a:t>
            </a:r>
            <a:r>
              <a:rPr lang="en-US" altLang="zh-CN" sz="2400" dirty="0" err="1">
                <a:solidFill>
                  <a:srgbClr val="1353A2"/>
                </a:solidFill>
              </a:rPr>
              <a:t>fdisk</a:t>
            </a:r>
            <a:r>
              <a:rPr lang="en-US" altLang="zh-CN" sz="2400" dirty="0">
                <a:solidFill>
                  <a:srgbClr val="1353A2"/>
                </a:solidFill>
              </a:rPr>
              <a:t> </a:t>
            </a:r>
            <a:r>
              <a:rPr lang="zh-CN" altLang="zh-CN" sz="2400" dirty="0">
                <a:solidFill>
                  <a:srgbClr val="1353A2"/>
                </a:solidFill>
              </a:rPr>
              <a:t>磁盘”命令进入</a:t>
            </a:r>
            <a:r>
              <a:rPr lang="en-US" altLang="zh-CN" sz="2400" dirty="0" err="1">
                <a:solidFill>
                  <a:srgbClr val="1353A2"/>
                </a:solidFill>
              </a:rPr>
              <a:t>fdisk</a:t>
            </a:r>
            <a:r>
              <a:rPr lang="zh-CN" altLang="zh-CN" sz="2400" dirty="0">
                <a:solidFill>
                  <a:srgbClr val="1353A2"/>
                </a:solidFill>
              </a:rPr>
              <a:t>的交互界面。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MBR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fdisk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交互使用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51286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在终端输入“</a:t>
            </a:r>
            <a:r>
              <a:rPr lang="en-US" altLang="zh-CN" sz="2400" dirty="0" err="1">
                <a:solidFill>
                  <a:srgbClr val="FF0000"/>
                </a:solidFill>
              </a:rPr>
              <a:t>fdisk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磁盘</a:t>
            </a:r>
            <a:r>
              <a:rPr lang="zh-CN" altLang="en-US" sz="2400" dirty="0">
                <a:solidFill>
                  <a:srgbClr val="1353A2"/>
                </a:solidFill>
              </a:rPr>
              <a:t>”，将会进入如下所示的界面。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602788" y="5176583"/>
            <a:ext cx="50744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输入“</a:t>
            </a:r>
            <a:r>
              <a:rPr lang="en-US" altLang="zh-CN" sz="2400" dirty="0">
                <a:solidFill>
                  <a:srgbClr val="FF0000"/>
                </a:solidFill>
              </a:rPr>
              <a:t>m</a:t>
            </a:r>
            <a:r>
              <a:rPr lang="zh-CN" altLang="en-US" sz="2400" dirty="0">
                <a:solidFill>
                  <a:srgbClr val="1353A2"/>
                </a:solidFill>
              </a:rPr>
              <a:t>”查看</a:t>
            </a:r>
            <a:r>
              <a:rPr lang="en-US" altLang="zh-CN" sz="2400" dirty="0" err="1">
                <a:solidFill>
                  <a:srgbClr val="1353A2"/>
                </a:solidFill>
              </a:rPr>
              <a:t>fdisk</a:t>
            </a:r>
            <a:r>
              <a:rPr lang="zh-CN" altLang="en-US" sz="2400" dirty="0">
                <a:solidFill>
                  <a:srgbClr val="1353A2"/>
                </a:solidFill>
              </a:rPr>
              <a:t>命令可实现的操作。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149" y="3273744"/>
            <a:ext cx="4871960" cy="199894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709" y="2280871"/>
            <a:ext cx="4378141" cy="4169326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6421729" y="4271960"/>
            <a:ext cx="299006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421729" y="4608658"/>
            <a:ext cx="299006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422797" y="4956091"/>
            <a:ext cx="299006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>
            <p:custDataLst>
              <p:tags r:id="rId2"/>
            </p:custDataLst>
          </p:nvPr>
        </p:nvCxnSpPr>
        <p:spPr>
          <a:xfrm>
            <a:off x="6417284" y="3770310"/>
            <a:ext cx="299006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>
            <a:off x="6418554" y="5126670"/>
            <a:ext cx="299006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MBR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fdisk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交互使用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2998104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输入“</a:t>
            </a:r>
            <a:r>
              <a:rPr lang="en-US" altLang="zh-CN" sz="2400" dirty="0">
                <a:solidFill>
                  <a:srgbClr val="FF0000"/>
                </a:solidFill>
              </a:rPr>
              <a:t>l</a:t>
            </a:r>
            <a:r>
              <a:rPr lang="zh-CN" altLang="en-US" sz="2400" dirty="0">
                <a:solidFill>
                  <a:srgbClr val="1353A2"/>
                </a:solidFill>
              </a:rPr>
              <a:t>”列出已知分区类型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909" y="2252609"/>
            <a:ext cx="6536821" cy="414579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238" y="2865956"/>
            <a:ext cx="7591892" cy="3371224"/>
          </a:xfrm>
          <a:prstGeom prst="rect">
            <a:avLst/>
          </a:prstGeom>
        </p:spPr>
      </p:pic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MBR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查看磁盘使用情况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60430" y="2219627"/>
            <a:ext cx="108331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以</a:t>
            </a:r>
            <a:r>
              <a:rPr lang="en-US" altLang="zh-CN" sz="2400" dirty="0">
                <a:solidFill>
                  <a:srgbClr val="FF0000"/>
                </a:solidFill>
              </a:rPr>
              <a:t>/dev/</a:t>
            </a:r>
            <a:r>
              <a:rPr lang="en-US" altLang="zh-CN" sz="2400" dirty="0" err="1">
                <a:solidFill>
                  <a:srgbClr val="FF0000"/>
                </a:solidFill>
              </a:rPr>
              <a:t>sda</a:t>
            </a:r>
            <a:r>
              <a:rPr lang="zh-CN" altLang="en-US" sz="2400" dirty="0">
                <a:solidFill>
                  <a:srgbClr val="FF0000"/>
                </a:solidFill>
              </a:rPr>
              <a:t>磁盘为例展示</a:t>
            </a:r>
            <a:r>
              <a:rPr lang="en-US" altLang="zh-CN" sz="2400" dirty="0" err="1">
                <a:solidFill>
                  <a:srgbClr val="FF0000"/>
                </a:solidFill>
              </a:rPr>
              <a:t>fdisk</a:t>
            </a:r>
            <a:r>
              <a:rPr lang="zh-CN" altLang="en-US" sz="2400" dirty="0">
                <a:solidFill>
                  <a:srgbClr val="FF0000"/>
                </a:solidFill>
              </a:rPr>
              <a:t>命令的交互用法。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298116" y="3447206"/>
            <a:ext cx="2042556" cy="2810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标注 7"/>
          <p:cNvSpPr/>
          <p:nvPr/>
        </p:nvSpPr>
        <p:spPr>
          <a:xfrm>
            <a:off x="9000939" y="3377888"/>
            <a:ext cx="2493819" cy="700644"/>
          </a:xfrm>
          <a:prstGeom prst="wedgeRectCallout">
            <a:avLst>
              <a:gd name="adj1" fmla="val -194283"/>
              <a:gd name="adj2" fmla="val -2057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1353A2"/>
                </a:solidFill>
              </a:rPr>
              <a:t>查看磁盘使用情况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886" y="2266059"/>
            <a:ext cx="7207658" cy="4147953"/>
          </a:xfrm>
          <a:prstGeom prst="rect">
            <a:avLst/>
          </a:prstGeom>
        </p:spPr>
      </p:pic>
      <p:grpSp>
        <p:nvGrpSpPr>
          <p:cNvPr id="15" name="组合 15"/>
          <p:cNvGrpSpPr/>
          <p:nvPr/>
        </p:nvGrpSpPr>
        <p:grpSpPr>
          <a:xfrm>
            <a:off x="602788" y="1211515"/>
            <a:ext cx="10983787" cy="1484778"/>
            <a:chOff x="395441" y="968316"/>
            <a:chExt cx="10072179" cy="1484778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14826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MBR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在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/dev/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sda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创建</a:t>
              </a:r>
              <a:r>
                <a:rPr lang="zh-CN" altLang="en-US" sz="3200" b="1" dirty="0">
                  <a:solidFill>
                    <a:srgbClr val="FF0000"/>
                  </a:solidFill>
                </a:rPr>
                <a:t>扩展分区</a:t>
              </a: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标注 15"/>
          <p:cNvSpPr/>
          <p:nvPr/>
        </p:nvSpPr>
        <p:spPr>
          <a:xfrm>
            <a:off x="7149260" y="3752084"/>
            <a:ext cx="2493819" cy="500467"/>
          </a:xfrm>
          <a:prstGeom prst="wedgeRectCallout">
            <a:avLst>
              <a:gd name="adj1" fmla="val -150735"/>
              <a:gd name="adj2" fmla="val 3199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创建分区</a:t>
            </a:r>
          </a:p>
        </p:txBody>
      </p:sp>
      <p:sp>
        <p:nvSpPr>
          <p:cNvPr id="20" name="矩形标注 19"/>
          <p:cNvSpPr/>
          <p:nvPr/>
        </p:nvSpPr>
        <p:spPr>
          <a:xfrm>
            <a:off x="7329500" y="4564125"/>
            <a:ext cx="2493819" cy="405466"/>
          </a:xfrm>
          <a:prstGeom prst="wedgeRectCallout">
            <a:avLst>
              <a:gd name="adj1" fmla="val -167403"/>
              <a:gd name="adj2" fmla="val 3714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创建扩展分区</a:t>
            </a:r>
          </a:p>
        </p:txBody>
      </p:sp>
      <p:sp>
        <p:nvSpPr>
          <p:cNvPr id="22" name="矩形标注 21"/>
          <p:cNvSpPr/>
          <p:nvPr/>
        </p:nvSpPr>
        <p:spPr>
          <a:xfrm>
            <a:off x="7677762" y="5128121"/>
            <a:ext cx="2493819" cy="360441"/>
          </a:xfrm>
          <a:prstGeom prst="wedgeRectCallout">
            <a:avLst>
              <a:gd name="adj1" fmla="val -171211"/>
              <a:gd name="adj2" fmla="val -2912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设置扩展分区编号</a:t>
            </a:r>
          </a:p>
        </p:txBody>
      </p:sp>
      <p:sp>
        <p:nvSpPr>
          <p:cNvPr id="26" name="矩形标注 25"/>
          <p:cNvSpPr/>
          <p:nvPr/>
        </p:nvSpPr>
        <p:spPr>
          <a:xfrm>
            <a:off x="7182112" y="6067510"/>
            <a:ext cx="2493819" cy="360441"/>
          </a:xfrm>
          <a:prstGeom prst="wedgeRectCallout">
            <a:avLst>
              <a:gd name="adj1" fmla="val 31170"/>
              <a:gd name="adj2" fmla="val -12466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设置扩展分区大小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2" grpId="0" animBg="1"/>
      <p:bldP spid="26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767" y="2978376"/>
            <a:ext cx="6868519" cy="2297013"/>
          </a:xfrm>
          <a:prstGeom prst="rect">
            <a:avLst/>
          </a:prstGeom>
        </p:spPr>
      </p:pic>
      <p:grpSp>
        <p:nvGrpSpPr>
          <p:cNvPr id="15" name="组合 15"/>
          <p:cNvGrpSpPr/>
          <p:nvPr/>
        </p:nvGrpSpPr>
        <p:grpSpPr>
          <a:xfrm>
            <a:off x="602788" y="1211515"/>
            <a:ext cx="10983787" cy="1484778"/>
            <a:chOff x="395441" y="968316"/>
            <a:chExt cx="10072179" cy="1484778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14826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MBR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在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/dev/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sda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上创建</a:t>
              </a:r>
              <a:r>
                <a:rPr lang="zh-CN" altLang="en-US" sz="3200" b="1" dirty="0">
                  <a:solidFill>
                    <a:srgbClr val="FF0000"/>
                  </a:solidFill>
                </a:rPr>
                <a:t>逻辑分区</a:t>
              </a: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标注 22"/>
          <p:cNvSpPr/>
          <p:nvPr/>
        </p:nvSpPr>
        <p:spPr>
          <a:xfrm>
            <a:off x="6517472" y="3274573"/>
            <a:ext cx="1496290" cy="350322"/>
          </a:xfrm>
          <a:prstGeom prst="wedgeRectCallout">
            <a:avLst>
              <a:gd name="adj1" fmla="val -172640"/>
              <a:gd name="adj2" fmla="val 3538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创建分区</a:t>
            </a:r>
          </a:p>
        </p:txBody>
      </p:sp>
      <p:sp>
        <p:nvSpPr>
          <p:cNvPr id="24" name="矩形标注 23"/>
          <p:cNvSpPr/>
          <p:nvPr/>
        </p:nvSpPr>
        <p:spPr>
          <a:xfrm>
            <a:off x="6994901" y="3835386"/>
            <a:ext cx="1653945" cy="373494"/>
          </a:xfrm>
          <a:prstGeom prst="wedgeRectCallout">
            <a:avLst>
              <a:gd name="adj1" fmla="val -205032"/>
              <a:gd name="adj2" fmla="val 7310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创建逻辑分区</a:t>
            </a:r>
          </a:p>
        </p:txBody>
      </p:sp>
      <p:sp>
        <p:nvSpPr>
          <p:cNvPr id="25" name="矩形标注 24"/>
          <p:cNvSpPr/>
          <p:nvPr/>
        </p:nvSpPr>
        <p:spPr>
          <a:xfrm>
            <a:off x="7821873" y="4417186"/>
            <a:ext cx="2046514" cy="362107"/>
          </a:xfrm>
          <a:prstGeom prst="wedgeRectCallout">
            <a:avLst>
              <a:gd name="adj1" fmla="val -246394"/>
              <a:gd name="adj2" fmla="val -3433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设置逻辑分区编号</a:t>
            </a:r>
          </a:p>
        </p:txBody>
      </p:sp>
      <p:sp>
        <p:nvSpPr>
          <p:cNvPr id="26" name="矩形标注 25"/>
          <p:cNvSpPr/>
          <p:nvPr/>
        </p:nvSpPr>
        <p:spPr>
          <a:xfrm>
            <a:off x="6921650" y="5391365"/>
            <a:ext cx="2493819" cy="360441"/>
          </a:xfrm>
          <a:prstGeom prst="wedgeRectCallout">
            <a:avLst>
              <a:gd name="adj1" fmla="val 31170"/>
              <a:gd name="adj2" fmla="val -12466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设置逻辑分区大小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398" y="2725060"/>
            <a:ext cx="7385122" cy="3306884"/>
          </a:xfrm>
          <a:prstGeom prst="rect">
            <a:avLst/>
          </a:prstGeom>
        </p:spPr>
      </p:pic>
      <p:grpSp>
        <p:nvGrpSpPr>
          <p:cNvPr id="15" name="组合 15"/>
          <p:cNvGrpSpPr/>
          <p:nvPr/>
        </p:nvGrpSpPr>
        <p:grpSpPr>
          <a:xfrm>
            <a:off x="602788" y="1211515"/>
            <a:ext cx="10983787" cy="1484778"/>
            <a:chOff x="395441" y="968316"/>
            <a:chExt cx="10072179" cy="1484778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14826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MBR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在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/dev/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sda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上创建</a:t>
              </a:r>
              <a:r>
                <a:rPr lang="zh-CN" altLang="en-US" sz="3200" b="1" dirty="0">
                  <a:solidFill>
                    <a:srgbClr val="FF0000"/>
                  </a:solidFill>
                </a:rPr>
                <a:t>逻辑分区</a:t>
              </a: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标注 22"/>
          <p:cNvSpPr/>
          <p:nvPr/>
        </p:nvSpPr>
        <p:spPr>
          <a:xfrm>
            <a:off x="6517472" y="3054836"/>
            <a:ext cx="1496290" cy="350322"/>
          </a:xfrm>
          <a:prstGeom prst="wedgeRectCallout">
            <a:avLst>
              <a:gd name="adj1" fmla="val -172640"/>
              <a:gd name="adj2" fmla="val 3538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创建分区</a:t>
            </a:r>
          </a:p>
        </p:txBody>
      </p:sp>
      <p:sp>
        <p:nvSpPr>
          <p:cNvPr id="24" name="矩形标注 23"/>
          <p:cNvSpPr/>
          <p:nvPr/>
        </p:nvSpPr>
        <p:spPr>
          <a:xfrm>
            <a:off x="6994901" y="3615649"/>
            <a:ext cx="1653945" cy="373494"/>
          </a:xfrm>
          <a:prstGeom prst="wedgeRectCallout">
            <a:avLst>
              <a:gd name="adj1" fmla="val -205032"/>
              <a:gd name="adj2" fmla="val 7310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创建逻辑分区</a:t>
            </a:r>
          </a:p>
        </p:txBody>
      </p:sp>
      <p:sp>
        <p:nvSpPr>
          <p:cNvPr id="25" name="矩形标注 24"/>
          <p:cNvSpPr/>
          <p:nvPr/>
        </p:nvSpPr>
        <p:spPr>
          <a:xfrm>
            <a:off x="7821873" y="4197449"/>
            <a:ext cx="2046514" cy="362107"/>
          </a:xfrm>
          <a:prstGeom prst="wedgeRectCallout">
            <a:avLst>
              <a:gd name="adj1" fmla="val -246394"/>
              <a:gd name="adj2" fmla="val -3433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设置逻辑分区编号</a:t>
            </a:r>
          </a:p>
        </p:txBody>
      </p:sp>
      <p:sp>
        <p:nvSpPr>
          <p:cNvPr id="26" name="矩形标注 25"/>
          <p:cNvSpPr/>
          <p:nvPr/>
        </p:nvSpPr>
        <p:spPr>
          <a:xfrm>
            <a:off x="7764347" y="5578084"/>
            <a:ext cx="3066686" cy="360441"/>
          </a:xfrm>
          <a:prstGeom prst="wedgeRectCallout">
            <a:avLst>
              <a:gd name="adj1" fmla="val -161833"/>
              <a:gd name="adj2" fmla="val -12073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设置逻辑分区大小（默认值）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MBR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查看分区表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60430" y="2219627"/>
            <a:ext cx="10833150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查看磁盘</a:t>
            </a:r>
            <a:r>
              <a:rPr lang="en-US" altLang="zh-CN" sz="2400" dirty="0">
                <a:solidFill>
                  <a:srgbClr val="FF0000"/>
                </a:solidFill>
              </a:rPr>
              <a:t>/dev/</a:t>
            </a:r>
            <a:r>
              <a:rPr lang="en-US" altLang="zh-CN" sz="2400" dirty="0" err="1">
                <a:solidFill>
                  <a:srgbClr val="FF0000"/>
                </a:solidFill>
              </a:rPr>
              <a:t>sda</a:t>
            </a:r>
            <a:r>
              <a:rPr lang="zh-CN" altLang="en-US" sz="2400" dirty="0">
                <a:solidFill>
                  <a:srgbClr val="FF0000"/>
                </a:solidFill>
              </a:rPr>
              <a:t>此时的分区表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标注 15"/>
          <p:cNvSpPr/>
          <p:nvPr/>
        </p:nvSpPr>
        <p:spPr>
          <a:xfrm>
            <a:off x="393672" y="4774769"/>
            <a:ext cx="1917726" cy="350322"/>
          </a:xfrm>
          <a:prstGeom prst="wedgeRectCallout">
            <a:avLst>
              <a:gd name="adj1" fmla="val 89069"/>
              <a:gd name="adj2" fmla="val 16918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新扩展分区</a:t>
            </a:r>
            <a:r>
              <a:rPr lang="en-US" altLang="zh-CN" dirty="0">
                <a:solidFill>
                  <a:srgbClr val="FF0000"/>
                </a:solidFill>
              </a:rPr>
              <a:t>sda3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矩形标注 19"/>
          <p:cNvSpPr/>
          <p:nvPr/>
        </p:nvSpPr>
        <p:spPr>
          <a:xfrm>
            <a:off x="436200" y="5585720"/>
            <a:ext cx="2128561" cy="350322"/>
          </a:xfrm>
          <a:prstGeom prst="wedgeRectCallout">
            <a:avLst>
              <a:gd name="adj1" fmla="val 73254"/>
              <a:gd name="adj2" fmla="val -198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新逻辑分区</a:t>
            </a:r>
            <a:r>
              <a:rPr lang="en-US" altLang="zh-CN" dirty="0">
                <a:solidFill>
                  <a:srgbClr val="FF0000"/>
                </a:solidFill>
              </a:rPr>
              <a:t>sda5/6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492" y="2800684"/>
            <a:ext cx="7339061" cy="35754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MBR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启动分区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60430" y="2219627"/>
            <a:ext cx="10833150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启动分区</a:t>
            </a:r>
            <a:r>
              <a:rPr lang="en-US" altLang="zh-CN" sz="2400" dirty="0">
                <a:solidFill>
                  <a:srgbClr val="1353A2"/>
                </a:solidFill>
              </a:rPr>
              <a:t>2</a:t>
            </a:r>
            <a:r>
              <a:rPr lang="zh-CN" altLang="en-US" sz="2400" dirty="0">
                <a:solidFill>
                  <a:srgbClr val="1353A2"/>
                </a:solidFill>
              </a:rPr>
              <a:t>种方式：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1.</a:t>
            </a:r>
            <a:r>
              <a:rPr lang="zh-CN" altLang="en-US" sz="2400" dirty="0">
                <a:solidFill>
                  <a:srgbClr val="1353A2"/>
                </a:solidFill>
              </a:rPr>
              <a:t>重启系统启动分区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2.partprobe</a:t>
            </a:r>
            <a:r>
              <a:rPr lang="zh-CN" altLang="en-US" sz="2400" dirty="0">
                <a:solidFill>
                  <a:srgbClr val="1353A2"/>
                </a:solidFill>
              </a:rPr>
              <a:t>命令启动分区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44"/>
          <p:cNvSpPr txBox="1">
            <a:spLocks noChangeArrowheads="1"/>
          </p:cNvSpPr>
          <p:nvPr/>
        </p:nvSpPr>
        <p:spPr bwMode="auto">
          <a:xfrm>
            <a:off x="602789" y="3984147"/>
            <a:ext cx="10983786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			</a:t>
            </a:r>
            <a:r>
              <a:rPr lang="zh-CN" altLang="en-US" sz="2400" dirty="0">
                <a:solidFill>
                  <a:srgbClr val="FF0000"/>
                </a:solidFill>
              </a:rPr>
              <a:t>如：</a:t>
            </a:r>
            <a:r>
              <a:rPr lang="en-US" altLang="zh-CN" sz="2400" dirty="0" err="1">
                <a:solidFill>
                  <a:srgbClr val="FF0000"/>
                </a:solidFill>
              </a:rPr>
              <a:t>partprobe</a:t>
            </a:r>
            <a:r>
              <a:rPr lang="en-US" altLang="zh-CN" sz="2400" dirty="0">
                <a:solidFill>
                  <a:srgbClr val="FF0000"/>
                </a:solidFill>
              </a:rPr>
              <a:t>  /dev/</a:t>
            </a:r>
            <a:r>
              <a:rPr lang="en-US" altLang="zh-CN" sz="2400" dirty="0" err="1">
                <a:solidFill>
                  <a:srgbClr val="FF0000"/>
                </a:solidFill>
              </a:rPr>
              <a:t>sda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</a:t>
            </a:r>
            <a:r>
              <a:rPr lang="zh-CN" altLang="en-US" sz="2400" dirty="0">
                <a:solidFill>
                  <a:srgbClr val="1353A2"/>
                </a:solidFill>
              </a:rPr>
              <a:t>不支持超过</a:t>
            </a:r>
            <a:r>
              <a:rPr lang="en-US" altLang="zh-CN" sz="2400" dirty="0">
                <a:solidFill>
                  <a:srgbClr val="1353A2"/>
                </a:solidFill>
              </a:rPr>
              <a:t>2TB</a:t>
            </a:r>
            <a:r>
              <a:rPr lang="zh-CN" altLang="en-US" sz="2400" dirty="0">
                <a:solidFill>
                  <a:srgbClr val="1353A2"/>
                </a:solidFill>
              </a:rPr>
              <a:t>的磁盘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GPT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303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/>
              <a:t>GPT</a:t>
            </a:r>
            <a:r>
              <a:rPr lang="zh-CN" altLang="zh-CN" sz="2400" dirty="0"/>
              <a:t>（</a:t>
            </a:r>
            <a:r>
              <a:rPr lang="en-US" altLang="zh-CN" sz="2400" dirty="0"/>
              <a:t>GUID Partition Table</a:t>
            </a:r>
            <a:r>
              <a:rPr lang="zh-CN" altLang="zh-CN" sz="2400" dirty="0"/>
              <a:t>，</a:t>
            </a:r>
            <a:r>
              <a:rPr lang="zh-CN" altLang="zh-CN" sz="2400" dirty="0">
                <a:solidFill>
                  <a:srgbClr val="FF0000"/>
                </a:solidFill>
              </a:rPr>
              <a:t>全局唯一标识分区表</a:t>
            </a:r>
            <a:r>
              <a:rPr lang="zh-CN" altLang="zh-CN" sz="2400" dirty="0"/>
              <a:t>）是一种较新的分区方式，这种分区方式解决了</a:t>
            </a:r>
            <a:r>
              <a:rPr lang="en-US" altLang="zh-CN" sz="2400" dirty="0"/>
              <a:t>MBR</a:t>
            </a:r>
            <a:r>
              <a:rPr lang="zh-CN" altLang="zh-CN" sz="2400" dirty="0"/>
              <a:t>的很多缺点，他</a:t>
            </a:r>
            <a:r>
              <a:rPr lang="zh-CN" altLang="zh-CN" sz="2400" dirty="0">
                <a:solidFill>
                  <a:srgbClr val="FF0000"/>
                </a:solidFill>
              </a:rPr>
              <a:t>支持</a:t>
            </a:r>
            <a:r>
              <a:rPr lang="zh-CN" altLang="zh-CN" sz="2400" dirty="0"/>
              <a:t>超过</a:t>
            </a:r>
            <a:r>
              <a:rPr lang="en-US" altLang="zh-CN" sz="2400" dirty="0">
                <a:solidFill>
                  <a:srgbClr val="FF0000"/>
                </a:solidFill>
              </a:rPr>
              <a:t>2TB</a:t>
            </a:r>
            <a:r>
              <a:rPr lang="zh-CN" altLang="zh-CN" sz="2400" dirty="0"/>
              <a:t>的磁盘，向后</a:t>
            </a:r>
            <a:r>
              <a:rPr lang="zh-CN" altLang="zh-CN" sz="2400" dirty="0">
                <a:solidFill>
                  <a:srgbClr val="FF0000"/>
                </a:solidFill>
              </a:rPr>
              <a:t>兼容</a:t>
            </a:r>
            <a:r>
              <a:rPr lang="en-US" altLang="zh-CN" sz="2400" dirty="0">
                <a:solidFill>
                  <a:srgbClr val="FF0000"/>
                </a:solidFill>
              </a:rPr>
              <a:t>MBR</a:t>
            </a:r>
            <a:r>
              <a:rPr lang="zh-CN" altLang="zh-CN" sz="2400" dirty="0"/>
              <a:t>。</a:t>
            </a:r>
            <a:r>
              <a:rPr lang="en-US" altLang="zh-CN" sz="2400" dirty="0"/>
              <a:t>Windows7</a:t>
            </a:r>
            <a:r>
              <a:rPr lang="zh-CN" altLang="zh-CN" sz="2400" dirty="0"/>
              <a:t>、</a:t>
            </a:r>
            <a:r>
              <a:rPr lang="en-US" altLang="zh-CN" sz="2400" dirty="0"/>
              <a:t>Windows8</a:t>
            </a:r>
            <a:r>
              <a:rPr lang="zh-CN" altLang="zh-CN" sz="2400" dirty="0"/>
              <a:t>系统下若想使用</a:t>
            </a:r>
            <a:r>
              <a:rPr lang="en-US" altLang="zh-CN" sz="2400" dirty="0"/>
              <a:t>GPT</a:t>
            </a:r>
            <a:r>
              <a:rPr lang="zh-CN" altLang="zh-CN" sz="2400" dirty="0"/>
              <a:t>方式为数据盘分区，可直接进行转换，但若想使用</a:t>
            </a:r>
            <a:r>
              <a:rPr lang="en-US" altLang="zh-CN" sz="2400" dirty="0"/>
              <a:t>GPT</a:t>
            </a:r>
            <a:r>
              <a:rPr lang="zh-CN" altLang="zh-CN" sz="2400" dirty="0"/>
              <a:t>方式为系统盘分区，则必须采用</a:t>
            </a:r>
            <a:r>
              <a:rPr lang="zh-CN" altLang="zh-CN" sz="2400" dirty="0">
                <a:solidFill>
                  <a:srgbClr val="FF0000"/>
                </a:solidFill>
              </a:rPr>
              <a:t>支持</a:t>
            </a:r>
            <a:r>
              <a:rPr lang="zh-CN" altLang="en-US" sz="2400" dirty="0">
                <a:solidFill>
                  <a:srgbClr val="FF0000"/>
                </a:solidFill>
              </a:rPr>
              <a:t>统一可扩展固件接口（</a:t>
            </a:r>
            <a:r>
              <a:rPr lang="en-US" altLang="zh-CN" sz="2400" dirty="0">
                <a:solidFill>
                  <a:srgbClr val="FF0000"/>
                </a:solidFill>
              </a:rPr>
              <a:t>Unified Extensible Firmware Interface</a:t>
            </a:r>
            <a:r>
              <a:rPr lang="zh-CN" altLang="en-US" sz="2400" dirty="0">
                <a:solidFill>
                  <a:srgbClr val="FF0000"/>
                </a:solidFill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UEFI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zh-CN" altLang="zh-CN" sz="2400" dirty="0">
                <a:solidFill>
                  <a:srgbClr val="FF0000"/>
                </a:solidFill>
              </a:rPr>
              <a:t>的主板</a:t>
            </a:r>
            <a:r>
              <a:rPr lang="zh-CN" altLang="zh-CN" sz="2400" dirty="0"/>
              <a:t>。此外，</a:t>
            </a:r>
            <a:r>
              <a:rPr lang="en-US" altLang="zh-CN" sz="2400" dirty="0"/>
              <a:t>GPT</a:t>
            </a:r>
            <a:r>
              <a:rPr lang="zh-CN" altLang="zh-CN" sz="2400" dirty="0"/>
              <a:t>只支持</a:t>
            </a:r>
            <a:r>
              <a:rPr lang="en-US" altLang="zh-CN" sz="2400" dirty="0">
                <a:solidFill>
                  <a:srgbClr val="FF0000"/>
                </a:solidFill>
              </a:rPr>
              <a:t>64</a:t>
            </a:r>
            <a:r>
              <a:rPr lang="zh-CN" altLang="zh-CN" sz="2400" dirty="0">
                <a:solidFill>
                  <a:srgbClr val="FF0000"/>
                </a:solidFill>
              </a:rPr>
              <a:t>位操作系统</a:t>
            </a:r>
            <a:r>
              <a:rPr lang="zh-CN" altLang="zh-CN" sz="2400" dirty="0"/>
              <a:t>。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GPT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203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在</a:t>
            </a:r>
            <a:r>
              <a:rPr lang="en-US" altLang="zh-CN" sz="2400" dirty="0"/>
              <a:t>Linux</a:t>
            </a:r>
            <a:r>
              <a:rPr lang="zh-CN" altLang="en-US" sz="2400" dirty="0"/>
              <a:t>系统中可用</a:t>
            </a:r>
            <a:r>
              <a:rPr lang="en-US" altLang="zh-CN" sz="2400" dirty="0"/>
              <a:t>parted</a:t>
            </a:r>
            <a:r>
              <a:rPr lang="zh-CN" altLang="en-US" sz="2400" dirty="0"/>
              <a:t>创建</a:t>
            </a:r>
            <a:r>
              <a:rPr lang="en-US" altLang="zh-CN" sz="2400" dirty="0"/>
              <a:t>GPT</a:t>
            </a:r>
            <a:r>
              <a:rPr lang="zh-CN" altLang="en-US" sz="2400" dirty="0"/>
              <a:t>格式的分区。</a:t>
            </a:r>
            <a:r>
              <a:rPr lang="en-US" altLang="zh-CN" sz="2400" dirty="0"/>
              <a:t>parted</a:t>
            </a:r>
            <a:r>
              <a:rPr lang="zh-CN" altLang="en-US" sz="2400" dirty="0"/>
              <a:t>是</a:t>
            </a:r>
            <a:r>
              <a:rPr lang="en-US" altLang="zh-CN" sz="2400" dirty="0"/>
              <a:t>GNU</a:t>
            </a:r>
            <a:r>
              <a:rPr lang="zh-CN" altLang="en-US" sz="2400" dirty="0"/>
              <a:t>组织开发的一款强大的磁盘管理工具，与</a:t>
            </a:r>
            <a:r>
              <a:rPr lang="en-US" altLang="zh-CN" sz="2400" dirty="0" err="1"/>
              <a:t>fdisk</a:t>
            </a:r>
            <a:r>
              <a:rPr lang="zh-CN" altLang="en-US" sz="2400" dirty="0"/>
              <a:t>不同，它既能为</a:t>
            </a:r>
            <a:r>
              <a:rPr lang="zh-CN" altLang="en-US" sz="2400" dirty="0">
                <a:solidFill>
                  <a:srgbClr val="FF0000"/>
                </a:solidFill>
              </a:rPr>
              <a:t>磁盘分区</a:t>
            </a:r>
            <a:r>
              <a:rPr lang="zh-CN" altLang="en-US" sz="2400" dirty="0"/>
              <a:t>，亦能</a:t>
            </a:r>
            <a:r>
              <a:rPr lang="zh-CN" altLang="en-US" sz="2400" dirty="0">
                <a:solidFill>
                  <a:srgbClr val="FF0000"/>
                </a:solidFill>
              </a:rPr>
              <a:t>调整分区大小</a:t>
            </a:r>
            <a:r>
              <a:rPr lang="zh-CN" altLang="en-US" sz="2400" dirty="0"/>
              <a:t>。</a:t>
            </a:r>
            <a:r>
              <a:rPr lang="en-US" altLang="zh-CN" sz="2400" dirty="0"/>
              <a:t>parted</a:t>
            </a:r>
            <a:r>
              <a:rPr lang="zh-CN" altLang="en-US" sz="2400" dirty="0"/>
              <a:t>也有</a:t>
            </a:r>
            <a:r>
              <a:rPr lang="zh-CN" altLang="en-US" sz="2400" dirty="0">
                <a:solidFill>
                  <a:srgbClr val="FF0000"/>
                </a:solidFill>
              </a:rPr>
              <a:t>命令行和交互</a:t>
            </a:r>
            <a:r>
              <a:rPr lang="zh-CN" altLang="en-US" sz="2400" dirty="0"/>
              <a:t>这两种模式，命令行模式下其格式如下所示：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parted</a:t>
            </a:r>
            <a:r>
              <a:rPr lang="en-US" altLang="zh-CN" sz="2400" dirty="0"/>
              <a:t> [</a:t>
            </a:r>
            <a:r>
              <a:rPr lang="zh-CN" altLang="en-US" sz="2400" dirty="0"/>
              <a:t>选项</a:t>
            </a:r>
            <a:r>
              <a:rPr lang="en-US" altLang="zh-CN" sz="2400" dirty="0"/>
              <a:t>] </a:t>
            </a:r>
            <a:r>
              <a:rPr lang="zh-CN" altLang="en-US" sz="2400" dirty="0">
                <a:solidFill>
                  <a:srgbClr val="FF0000"/>
                </a:solidFill>
              </a:rPr>
              <a:t>设备</a:t>
            </a:r>
            <a:r>
              <a:rPr lang="zh-CN" altLang="en-US" sz="2400" dirty="0"/>
              <a:t> </a:t>
            </a:r>
            <a:r>
              <a:rPr lang="en-US" altLang="zh-CN" sz="2400" dirty="0"/>
              <a:t>[</a:t>
            </a:r>
            <a:r>
              <a:rPr lang="zh-CN" altLang="en-US" sz="2400" dirty="0"/>
              <a:t>命令</a:t>
            </a:r>
            <a:r>
              <a:rPr lang="en-US" altLang="zh-CN" sz="2400" dirty="0"/>
              <a:t>]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2787" y="4204823"/>
            <a:ext cx="10845025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）修改分区表类型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</a:t>
            </a:r>
            <a:r>
              <a:rPr lang="zh-CN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mklabel</a:t>
            </a:r>
            <a:r>
              <a:rPr lang="zh-CN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可以修改磁盘分区表格式，语法格式如下：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mklabel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gpt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GPT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3667" y="2319315"/>
            <a:ext cx="10845025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）修改分区表类型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mklabel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命令可以修改磁盘分区表格式，语法格式如下：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mklabel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gpt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152" y="4203969"/>
            <a:ext cx="7998345" cy="137458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GPT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1139" y="2390199"/>
            <a:ext cx="10845025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）查看分区表信息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命令可以查看磁盘的分区表信息，语法格式如下：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587" y="3538847"/>
            <a:ext cx="7127159" cy="275562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GPT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2787" y="3106124"/>
            <a:ext cx="10845025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）创建分区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mkpart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命令可以创建分区，语法格式如下：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mkpart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分区类型 文件系统 起始 结束</a:t>
            </a:r>
          </a:p>
        </p:txBody>
      </p:sp>
      <p:sp>
        <p:nvSpPr>
          <p:cNvPr id="8" name="椭圆 7"/>
          <p:cNvSpPr/>
          <p:nvPr/>
        </p:nvSpPr>
        <p:spPr>
          <a:xfrm>
            <a:off x="4073236" y="4162070"/>
            <a:ext cx="1318161" cy="5321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4732316" y="2499035"/>
            <a:ext cx="2366580" cy="1663035"/>
            <a:chOff x="4732316" y="3597734"/>
            <a:chExt cx="2366580" cy="1663035"/>
          </a:xfrm>
        </p:grpSpPr>
        <p:sp>
          <p:nvSpPr>
            <p:cNvPr id="9" name="矩形 8"/>
            <p:cNvSpPr/>
            <p:nvPr/>
          </p:nvSpPr>
          <p:spPr>
            <a:xfrm>
              <a:off x="5090468" y="3597734"/>
              <a:ext cx="2008428" cy="15495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indent="457200" defTabSz="720725">
                <a:lnSpc>
                  <a:spcPct val="135000"/>
                </a:lnSpc>
              </a:pP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primary</a:t>
              </a:r>
            </a:p>
            <a:p>
              <a:pPr indent="457200" defTabSz="720725">
                <a:lnSpc>
                  <a:spcPct val="135000"/>
                </a:lnSpc>
              </a:pP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extended</a:t>
              </a:r>
            </a:p>
            <a:p>
              <a:pPr indent="457200" defTabSz="720725">
                <a:lnSpc>
                  <a:spcPct val="135000"/>
                </a:lnSpc>
              </a:pP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logical</a:t>
              </a:r>
            </a:p>
            <a:p>
              <a:pPr indent="457200" defTabSz="720725">
                <a:lnSpc>
                  <a:spcPct val="135000"/>
                </a:lnSpc>
              </a:pPr>
              <a:endPara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肘形连接符 11"/>
            <p:cNvCxnSpPr/>
            <p:nvPr/>
          </p:nvCxnSpPr>
          <p:spPr>
            <a:xfrm flipV="1">
              <a:off x="4732316" y="4512623"/>
              <a:ext cx="896588" cy="748146"/>
            </a:xfrm>
            <a:prstGeom prst="bentConnector3">
              <a:avLst>
                <a:gd name="adj1" fmla="val 2318"/>
              </a:avLst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直接连接符 21"/>
          <p:cNvCxnSpPr/>
          <p:nvPr/>
        </p:nvCxnSpPr>
        <p:spPr>
          <a:xfrm>
            <a:off x="5391397" y="4694251"/>
            <a:ext cx="117565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6094681" y="3283295"/>
            <a:ext cx="5139287" cy="1962076"/>
            <a:chOff x="6094681" y="4381994"/>
            <a:chExt cx="5139287" cy="1962076"/>
          </a:xfrm>
        </p:grpSpPr>
        <p:sp>
          <p:nvSpPr>
            <p:cNvPr id="16" name="矩形 15"/>
            <p:cNvSpPr/>
            <p:nvPr/>
          </p:nvSpPr>
          <p:spPr>
            <a:xfrm>
              <a:off x="9393382" y="4381994"/>
              <a:ext cx="1840586" cy="19620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indent="457200" defTabSz="720725">
                <a:lnSpc>
                  <a:spcPct val="135000"/>
                </a:lnSpc>
              </a:pP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fat16</a:t>
              </a:r>
            </a:p>
            <a:p>
              <a:pPr indent="457200" defTabSz="720725">
                <a:lnSpc>
                  <a:spcPct val="135000"/>
                </a:lnSpc>
              </a:pP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fat32</a:t>
              </a:r>
            </a:p>
            <a:p>
              <a:pPr indent="457200" defTabSz="720725">
                <a:lnSpc>
                  <a:spcPct val="135000"/>
                </a:lnSpc>
              </a:pP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ext2</a:t>
              </a:r>
            </a:p>
            <a:p>
              <a:pPr indent="457200" defTabSz="720725">
                <a:lnSpc>
                  <a:spcPct val="135000"/>
                </a:lnSpc>
              </a:pPr>
              <a:r>
                <a:rPr lang="en-US" altLang="zh-CN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linux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-swap</a:t>
              </a:r>
            </a:p>
            <a:p>
              <a:pPr indent="457200" defTabSz="720725">
                <a:lnSpc>
                  <a:spcPct val="135000"/>
                </a:lnSpc>
              </a:pPr>
              <a:r>
                <a:rPr lang="en-US" altLang="zh-CN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reiserfs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肘形连接符 23"/>
            <p:cNvCxnSpPr/>
            <p:nvPr/>
          </p:nvCxnSpPr>
          <p:spPr>
            <a:xfrm>
              <a:off x="6094681" y="5902036"/>
              <a:ext cx="3619335" cy="201881"/>
            </a:xfrm>
            <a:prstGeom prst="bentConnector3">
              <a:avLst>
                <a:gd name="adj1" fmla="val -529"/>
              </a:avLst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/>
          <p:cNvSpPr/>
          <p:nvPr/>
        </p:nvSpPr>
        <p:spPr>
          <a:xfrm>
            <a:off x="455667" y="4880524"/>
            <a:ext cx="7448681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 /dev/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mkpart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ext2 1 2G</a:t>
            </a: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27" grpId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GPT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146" y="2297735"/>
            <a:ext cx="7139070" cy="40585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GPT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8227" y="2609941"/>
            <a:ext cx="10845025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）删除分区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命令可以删除分区，语法格式如下：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分区编号</a:t>
            </a:r>
          </a:p>
        </p:txBody>
      </p:sp>
      <p:sp>
        <p:nvSpPr>
          <p:cNvPr id="3" name="矩形 2"/>
          <p:cNvSpPr/>
          <p:nvPr/>
        </p:nvSpPr>
        <p:spPr>
          <a:xfrm>
            <a:off x="583546" y="4283130"/>
            <a:ext cx="5395274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 /dev/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</a:t>
            </a: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GPT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430" y="2389209"/>
            <a:ext cx="6433139" cy="395219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GPT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分区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磁盘分区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2787" y="2383111"/>
            <a:ext cx="10845025" cy="203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）分区复制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命令可将一个设备上的指定分区复制到当前设备的指定分区，语法格式如下：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源设备 源分区 目标分区</a:t>
            </a:r>
          </a:p>
        </p:txBody>
      </p:sp>
      <p:sp>
        <p:nvSpPr>
          <p:cNvPr id="3" name="矩形 2"/>
          <p:cNvSpPr/>
          <p:nvPr/>
        </p:nvSpPr>
        <p:spPr>
          <a:xfrm>
            <a:off x="797468" y="4581896"/>
            <a:ext cx="6899768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parted /dev/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/dev/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sdb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sdb3 sdc1</a:t>
            </a: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605642" y="1460736"/>
            <a:ext cx="5628904" cy="4459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磁盘给待存储的数据以硬件支持，但磁盘本身并不规定文件的存储方式，因此在使用磁盘之前，还需规定文件在磁盘中的组织方式，即格式化磁盘，为磁盘创建文件系统。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系统中使用</a:t>
            </a:r>
            <a:r>
              <a:rPr lang="en-US" altLang="zh-CN" sz="2400" dirty="0" err="1">
                <a:solidFill>
                  <a:srgbClr val="1353A2"/>
                </a:solidFill>
              </a:rPr>
              <a:t>mkfs</a:t>
            </a:r>
            <a:r>
              <a:rPr lang="zh-CN" altLang="en-US" sz="2400" dirty="0">
                <a:solidFill>
                  <a:srgbClr val="1353A2"/>
                </a:solidFill>
              </a:rPr>
              <a:t>命令实现格式化分区的功能，该命令的格式如下：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</a:rPr>
              <a:t>mkfs</a:t>
            </a:r>
            <a:r>
              <a:rPr lang="en-US" altLang="zh-CN" sz="2400" dirty="0">
                <a:solidFill>
                  <a:srgbClr val="1353A2"/>
                </a:solidFill>
              </a:rPr>
              <a:t> [</a:t>
            </a:r>
            <a:r>
              <a:rPr lang="zh-CN" altLang="en-US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[</a:t>
            </a:r>
            <a:r>
              <a:rPr lang="zh-CN" altLang="en-US" sz="2400" dirty="0">
                <a:solidFill>
                  <a:srgbClr val="1353A2"/>
                </a:solidFill>
              </a:rPr>
              <a:t>参数</a:t>
            </a:r>
            <a:r>
              <a:rPr lang="en-US" altLang="zh-CN" sz="2400" dirty="0">
                <a:solidFill>
                  <a:srgbClr val="1353A2"/>
                </a:solidFill>
              </a:rPr>
              <a:t>] </a:t>
            </a:r>
            <a:r>
              <a:rPr lang="zh-CN" altLang="en-US" sz="2400" dirty="0">
                <a:solidFill>
                  <a:srgbClr val="1353A2"/>
                </a:solidFill>
              </a:rPr>
              <a:t>分区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577" y="1880074"/>
            <a:ext cx="5143500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605642" y="1460736"/>
            <a:ext cx="10925298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创建完分区之后，通过</a:t>
            </a:r>
            <a:r>
              <a:rPr lang="en-US" altLang="zh-CN" sz="2400" dirty="0">
                <a:solidFill>
                  <a:srgbClr val="1353A2"/>
                </a:solidFill>
              </a:rPr>
              <a:t>’</a:t>
            </a:r>
            <a:r>
              <a:rPr lang="en-US" altLang="zh-CN" sz="2400" dirty="0" err="1">
                <a:solidFill>
                  <a:srgbClr val="1353A2"/>
                </a:solidFill>
              </a:rPr>
              <a:t>partprobe</a:t>
            </a:r>
            <a:r>
              <a:rPr lang="en-US" altLang="zh-CN" sz="2400" dirty="0">
                <a:solidFill>
                  <a:srgbClr val="1353A2"/>
                </a:solidFill>
              </a:rPr>
              <a:t> /dev/</a:t>
            </a:r>
            <a:r>
              <a:rPr lang="en-US" altLang="zh-CN" sz="2400" dirty="0" err="1">
                <a:solidFill>
                  <a:srgbClr val="1353A2"/>
                </a:solidFill>
              </a:rPr>
              <a:t>sda</a:t>
            </a:r>
            <a:r>
              <a:rPr lang="en-US" altLang="zh-CN" sz="2400" dirty="0">
                <a:solidFill>
                  <a:srgbClr val="1353A2"/>
                </a:solidFill>
              </a:rPr>
              <a:t>’ </a:t>
            </a:r>
            <a:r>
              <a:rPr lang="zh-CN" altLang="en-US" sz="2400" dirty="0">
                <a:solidFill>
                  <a:srgbClr val="1353A2"/>
                </a:solidFill>
              </a:rPr>
              <a:t>分区重启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1353A2"/>
                </a:solidFill>
              </a:rPr>
              <a:t>mkfs</a:t>
            </a:r>
            <a:r>
              <a:rPr lang="zh-CN" altLang="en-US" sz="2400" dirty="0">
                <a:solidFill>
                  <a:srgbClr val="1353A2"/>
                </a:solidFill>
              </a:rPr>
              <a:t>命令的用法示例如下：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#</a:t>
            </a:r>
            <a:r>
              <a:rPr lang="zh-CN" altLang="en-US" sz="2400" dirty="0">
                <a:solidFill>
                  <a:srgbClr val="1353A2"/>
                </a:solidFill>
              </a:rPr>
              <a:t>将扩展分区</a:t>
            </a:r>
            <a:r>
              <a:rPr lang="en-US" altLang="zh-CN" sz="2400" dirty="0">
                <a:solidFill>
                  <a:srgbClr val="1353A2"/>
                </a:solidFill>
              </a:rPr>
              <a:t>/dev/sda5</a:t>
            </a:r>
            <a:r>
              <a:rPr lang="zh-CN" altLang="en-US" sz="2400" dirty="0">
                <a:solidFill>
                  <a:srgbClr val="1353A2"/>
                </a:solidFill>
              </a:rPr>
              <a:t>格式化，设置其文件系统为</a:t>
            </a:r>
            <a:r>
              <a:rPr lang="en-US" altLang="zh-CN" sz="2400" dirty="0">
                <a:solidFill>
                  <a:srgbClr val="1353A2"/>
                </a:solidFill>
              </a:rPr>
              <a:t>ext2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</a:rPr>
              <a:t>mkfs</a:t>
            </a:r>
            <a:r>
              <a:rPr lang="en-US" altLang="zh-CN" sz="2400" dirty="0">
                <a:solidFill>
                  <a:srgbClr val="1353A2"/>
                </a:solidFill>
              </a:rPr>
              <a:t> –t ext2 /dev/sda5</a:t>
            </a:r>
          </a:p>
        </p:txBody>
      </p: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633351" y="3703786"/>
            <a:ext cx="10925298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dirty="0"/>
              <a:t>也可使用“</a:t>
            </a:r>
            <a:r>
              <a:rPr lang="en-US" altLang="zh-CN" sz="2400" dirty="0" err="1">
                <a:solidFill>
                  <a:srgbClr val="FF0000"/>
                </a:solidFill>
              </a:rPr>
              <a:t>mkfs</a:t>
            </a:r>
            <a:r>
              <a:rPr lang="en-US" altLang="zh-CN" sz="2400" dirty="0">
                <a:solidFill>
                  <a:srgbClr val="FF0000"/>
                </a:solidFill>
              </a:rPr>
              <a:t>.</a:t>
            </a:r>
            <a:r>
              <a:rPr lang="zh-CN" altLang="zh-CN" sz="2400" dirty="0">
                <a:solidFill>
                  <a:srgbClr val="FF0000"/>
                </a:solidFill>
              </a:rPr>
              <a:t>文件系统</a:t>
            </a:r>
            <a:r>
              <a:rPr lang="zh-CN" altLang="zh-CN" sz="2400" dirty="0"/>
              <a:t>”的方式格式化分区，示例如下：</a:t>
            </a:r>
          </a:p>
          <a:p>
            <a:r>
              <a:rPr lang="en-US" altLang="zh-CN" sz="2400" dirty="0"/>
              <a:t>#</a:t>
            </a:r>
            <a:r>
              <a:rPr lang="zh-CN" altLang="zh-CN" sz="2400" dirty="0"/>
              <a:t>将扩展分区</a:t>
            </a:r>
            <a:r>
              <a:rPr lang="en-US" altLang="zh-CN" sz="2400" dirty="0"/>
              <a:t>/dev/sda5</a:t>
            </a:r>
            <a:r>
              <a:rPr lang="zh-CN" altLang="zh-CN" sz="2400" dirty="0"/>
              <a:t>格式化，设置其文件系统为</a:t>
            </a:r>
            <a:r>
              <a:rPr lang="en-US" altLang="zh-CN" sz="2400" dirty="0"/>
              <a:t>ext2</a:t>
            </a:r>
            <a:endParaRPr lang="zh-CN" altLang="zh-CN" sz="2400" dirty="0"/>
          </a:p>
          <a:p>
            <a:r>
              <a:rPr lang="en-US" altLang="zh-CN" sz="2400" dirty="0"/>
              <a:t># mkfs.ext2 /dev/sda5</a:t>
            </a:r>
            <a:endParaRPr lang="zh-CN" altLang="zh-CN" sz="2400" dirty="0"/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398" y="1258080"/>
            <a:ext cx="7541730" cy="498677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2.4.2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605642" y="1460736"/>
            <a:ext cx="1092529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1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 err="1">
                <a:solidFill>
                  <a:srgbClr val="1353A2"/>
                </a:solidFill>
              </a:rPr>
              <a:t>mkfs</a:t>
            </a:r>
            <a:r>
              <a:rPr lang="zh-CN" altLang="en-US" sz="2400" dirty="0">
                <a:solidFill>
                  <a:srgbClr val="1353A2"/>
                </a:solidFill>
              </a:rPr>
              <a:t>命令的用法示例如下：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#</a:t>
            </a:r>
            <a:r>
              <a:rPr lang="zh-CN" altLang="en-US" sz="2400" dirty="0">
                <a:solidFill>
                  <a:srgbClr val="1353A2"/>
                </a:solidFill>
              </a:rPr>
              <a:t>将扩展分区</a:t>
            </a:r>
            <a:r>
              <a:rPr lang="en-US" altLang="zh-CN" sz="2400" dirty="0">
                <a:solidFill>
                  <a:srgbClr val="1353A2"/>
                </a:solidFill>
              </a:rPr>
              <a:t>/dev/sda5</a:t>
            </a:r>
            <a:r>
              <a:rPr lang="zh-CN" altLang="en-US" sz="2400" dirty="0">
                <a:solidFill>
                  <a:srgbClr val="1353A2"/>
                </a:solidFill>
              </a:rPr>
              <a:t>格式化，设置其文件系统为</a:t>
            </a:r>
            <a:r>
              <a:rPr lang="en-US" altLang="zh-CN" sz="2400" dirty="0">
                <a:solidFill>
                  <a:srgbClr val="1353A2"/>
                </a:solidFill>
              </a:rPr>
              <a:t>ext2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en-US" altLang="zh-CN" sz="2400" dirty="0" err="1">
                <a:solidFill>
                  <a:srgbClr val="FF0000"/>
                </a:solidFill>
              </a:rPr>
              <a:t>mkfs</a:t>
            </a:r>
            <a:r>
              <a:rPr lang="en-US" altLang="zh-CN" sz="2400" dirty="0">
                <a:solidFill>
                  <a:srgbClr val="FF0000"/>
                </a:solidFill>
              </a:rPr>
              <a:t> –t ext2 /dev/sda5</a:t>
            </a:r>
          </a:p>
        </p:txBody>
      </p: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605642" y="3114932"/>
            <a:ext cx="10925298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1353A2"/>
                </a:solidFill>
              </a:rPr>
              <a:t>2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zh-CN" altLang="zh-CN" sz="2400" dirty="0">
                <a:solidFill>
                  <a:srgbClr val="1353A2"/>
                </a:solidFill>
              </a:rPr>
              <a:t>也可使用“</a:t>
            </a:r>
            <a:r>
              <a:rPr lang="en-US" altLang="zh-CN" sz="2400" dirty="0" err="1">
                <a:solidFill>
                  <a:srgbClr val="1353A2"/>
                </a:solidFill>
              </a:rPr>
              <a:t>mkfs</a:t>
            </a:r>
            <a:r>
              <a:rPr lang="en-US" altLang="zh-CN" sz="2400" dirty="0">
                <a:solidFill>
                  <a:srgbClr val="1353A2"/>
                </a:solidFill>
              </a:rPr>
              <a:t>.</a:t>
            </a:r>
            <a:r>
              <a:rPr lang="zh-CN" altLang="zh-CN" sz="2400" dirty="0">
                <a:solidFill>
                  <a:srgbClr val="1353A2"/>
                </a:solidFill>
              </a:rPr>
              <a:t>文件系统”的方式格式化分区，示例如下：</a:t>
            </a:r>
          </a:p>
          <a:p>
            <a:r>
              <a:rPr lang="en-US" altLang="zh-CN" sz="2400" dirty="0">
                <a:solidFill>
                  <a:srgbClr val="1353A2"/>
                </a:solidFill>
              </a:rPr>
              <a:t>#</a:t>
            </a:r>
            <a:r>
              <a:rPr lang="zh-CN" altLang="zh-CN" sz="2400" dirty="0">
                <a:solidFill>
                  <a:srgbClr val="1353A2"/>
                </a:solidFill>
              </a:rPr>
              <a:t>将扩展分区</a:t>
            </a:r>
            <a:r>
              <a:rPr lang="en-US" altLang="zh-CN" sz="2400" dirty="0">
                <a:solidFill>
                  <a:srgbClr val="1353A2"/>
                </a:solidFill>
              </a:rPr>
              <a:t>/dev/sda5</a:t>
            </a:r>
            <a:r>
              <a:rPr lang="zh-CN" altLang="zh-CN" sz="2400" dirty="0">
                <a:solidFill>
                  <a:srgbClr val="1353A2"/>
                </a:solidFill>
              </a:rPr>
              <a:t>格式化，设置其文件系统为</a:t>
            </a:r>
            <a:r>
              <a:rPr lang="en-US" altLang="zh-CN" sz="2400" dirty="0">
                <a:solidFill>
                  <a:srgbClr val="1353A2"/>
                </a:solidFill>
              </a:rPr>
              <a:t>ext2</a:t>
            </a:r>
            <a:endParaRPr lang="zh-CN" altLang="zh-CN" sz="2400" dirty="0">
              <a:solidFill>
                <a:srgbClr val="1353A2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# mkfs.ext2 /dev/sda5</a:t>
            </a:r>
            <a:endParaRPr lang="zh-CN" altLang="zh-CN" sz="24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4227616" y="2303884"/>
            <a:ext cx="73033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挂载，是指将一个</a:t>
            </a:r>
            <a:r>
              <a:rPr lang="zh-CN" altLang="en-US" sz="2400" dirty="0">
                <a:solidFill>
                  <a:srgbClr val="00B0F0"/>
                </a:solidFill>
              </a:rPr>
              <a:t>目录作为入口</a:t>
            </a:r>
            <a:r>
              <a:rPr lang="zh-CN" altLang="en-US" sz="2400" dirty="0">
                <a:solidFill>
                  <a:srgbClr val="1353A2"/>
                </a:solidFill>
              </a:rPr>
              <a:t>，把磁盘分区中的数据放置在以该目录为根结点的目录关系树中，这相当于为</a:t>
            </a:r>
            <a:r>
              <a:rPr lang="zh-CN" altLang="en-US" sz="2400" dirty="0">
                <a:solidFill>
                  <a:srgbClr val="00B0F0"/>
                </a:solidFill>
              </a:rPr>
              <a:t>文件系统与磁盘进行了链接</a:t>
            </a:r>
            <a:r>
              <a:rPr lang="zh-CN" altLang="en-US" sz="2400" dirty="0">
                <a:solidFill>
                  <a:srgbClr val="1353A2"/>
                </a:solidFill>
              </a:rPr>
              <a:t>，指定了某个分区中文件系统访问的位置。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97" y="1460736"/>
            <a:ext cx="3017783" cy="4334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 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4227616" y="2303884"/>
            <a:ext cx="7303324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系统中根目录是整个磁盘访问的基点，因此根目录必须要挂载到某个分区。</a:t>
            </a: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系统中通过</a:t>
            </a:r>
            <a:r>
              <a:rPr lang="en-US" altLang="zh-CN" sz="2400" dirty="0">
                <a:solidFill>
                  <a:srgbClr val="FF0000"/>
                </a:solidFill>
              </a:rPr>
              <a:t>mount</a:t>
            </a:r>
            <a:r>
              <a:rPr lang="zh-CN" altLang="en-US" sz="2400" dirty="0">
                <a:solidFill>
                  <a:srgbClr val="1353A2"/>
                </a:solidFill>
              </a:rPr>
              <a:t>命令和</a:t>
            </a:r>
            <a:r>
              <a:rPr lang="en-US" altLang="zh-CN" sz="2400" dirty="0">
                <a:solidFill>
                  <a:srgbClr val="FF0000"/>
                </a:solidFill>
              </a:rPr>
              <a:t>unmount</a:t>
            </a:r>
            <a:r>
              <a:rPr lang="zh-CN" altLang="en-US" sz="2400" dirty="0">
                <a:solidFill>
                  <a:srgbClr val="1353A2"/>
                </a:solidFill>
              </a:rPr>
              <a:t>命令实现分区的挂载和卸载。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97" y="1460736"/>
            <a:ext cx="3017783" cy="4334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、挂载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/>
              <a:t>Linux</a:t>
            </a:r>
            <a:r>
              <a:rPr lang="zh-CN" altLang="en-US" sz="2400" dirty="0"/>
              <a:t>系统中可以使用</a:t>
            </a:r>
            <a:r>
              <a:rPr lang="en-US" altLang="zh-CN" sz="2400" dirty="0"/>
              <a:t>mount</a:t>
            </a:r>
            <a:r>
              <a:rPr lang="zh-CN" altLang="en-US" sz="2400" dirty="0"/>
              <a:t>命令</a:t>
            </a:r>
            <a:r>
              <a:rPr lang="zh-CN" altLang="en-US" sz="2400" dirty="0">
                <a:solidFill>
                  <a:srgbClr val="00B0F0"/>
                </a:solidFill>
              </a:rPr>
              <a:t>将某个分区挂载到目录</a:t>
            </a:r>
            <a:r>
              <a:rPr lang="zh-CN" altLang="en-US" sz="2400" dirty="0"/>
              <a:t>，</a:t>
            </a:r>
            <a:r>
              <a:rPr lang="en-US" altLang="zh-CN" sz="2400" dirty="0"/>
              <a:t>mount</a:t>
            </a:r>
            <a:r>
              <a:rPr lang="zh-CN" altLang="en-US" sz="2400" dirty="0"/>
              <a:t>命令常用的格式如下：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mount</a:t>
            </a:r>
            <a:r>
              <a:rPr lang="en-US" altLang="zh-CN" sz="2400" dirty="0"/>
              <a:t> [</a:t>
            </a:r>
            <a:r>
              <a:rPr lang="zh-CN" altLang="en-US" sz="2400" dirty="0"/>
              <a:t>选项</a:t>
            </a:r>
            <a:r>
              <a:rPr lang="en-US" altLang="zh-CN" sz="2400" dirty="0"/>
              <a:t>] [</a:t>
            </a:r>
            <a:r>
              <a:rPr lang="zh-CN" altLang="en-US" sz="2400" dirty="0"/>
              <a:t>参数</a:t>
            </a:r>
            <a:r>
              <a:rPr lang="en-US" altLang="zh-CN" sz="2400" dirty="0"/>
              <a:t>] </a:t>
            </a:r>
            <a:r>
              <a:rPr lang="zh-CN" altLang="en-US" sz="2400" dirty="0"/>
              <a:t>设备 挂载点</a:t>
            </a:r>
            <a:endParaRPr lang="en-US" altLang="zh-CN" sz="2400" dirty="0"/>
          </a:p>
          <a:p>
            <a:r>
              <a:rPr lang="en-US" altLang="zh-CN" sz="2400" dirty="0"/>
              <a:t>mount</a:t>
            </a:r>
            <a:r>
              <a:rPr lang="zh-CN" altLang="zh-CN" sz="2400" dirty="0"/>
              <a:t>命令常用的选项有两个，分别为</a:t>
            </a:r>
            <a:r>
              <a:rPr lang="en-US" altLang="zh-CN" sz="2400" dirty="0">
                <a:solidFill>
                  <a:srgbClr val="FF0000"/>
                </a:solidFill>
              </a:rPr>
              <a:t>-t</a:t>
            </a:r>
            <a:r>
              <a:rPr lang="zh-CN" altLang="zh-CN" sz="2400" dirty="0"/>
              <a:t>和</a:t>
            </a:r>
            <a:r>
              <a:rPr lang="en-US" altLang="zh-CN" sz="2400" dirty="0">
                <a:solidFill>
                  <a:srgbClr val="FF0000"/>
                </a:solidFill>
              </a:rPr>
              <a:t>-o</a:t>
            </a:r>
            <a:r>
              <a:rPr lang="zh-CN" altLang="zh-CN" sz="2400" dirty="0"/>
              <a:t>，下面分别介绍这两个选项的功能。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、挂载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338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b="1" dirty="0">
                <a:solidFill>
                  <a:srgbClr val="FF0000"/>
                </a:solidFill>
              </a:rPr>
              <a:t>-t</a:t>
            </a:r>
          </a:p>
          <a:p>
            <a:r>
              <a:rPr lang="zh-CN" altLang="en-US" sz="2400" dirty="0"/>
              <a:t>选项</a:t>
            </a:r>
            <a:r>
              <a:rPr lang="en-US" altLang="zh-CN" sz="2400" dirty="0"/>
              <a:t>-t</a:t>
            </a:r>
            <a:r>
              <a:rPr lang="zh-CN" altLang="en-US" sz="2400" dirty="0"/>
              <a:t>用于指定待挂载设备的</a:t>
            </a:r>
            <a:r>
              <a:rPr lang="zh-CN" altLang="en-US" sz="2400" dirty="0">
                <a:solidFill>
                  <a:srgbClr val="00B0F0"/>
                </a:solidFill>
              </a:rPr>
              <a:t>文件系统类型</a:t>
            </a:r>
            <a:r>
              <a:rPr lang="zh-CN" altLang="en-US" sz="2400" dirty="0"/>
              <a:t>，常见的类型如下：</a:t>
            </a:r>
          </a:p>
          <a:p>
            <a:pPr marL="1257300" lvl="2" indent="-342900"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ISO9660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光盘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光盘镜像；</a:t>
            </a:r>
          </a:p>
          <a:p>
            <a:pPr marL="1257300" lvl="2" indent="-342900"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MS-DOS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DOS fat16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文件系统；</a:t>
            </a:r>
          </a:p>
          <a:p>
            <a:pPr marL="1257300" lvl="2" indent="-342900"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VFAT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Windows 9x fat32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文件系统；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NTFS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Windows NT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ntfs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文件系统；</a:t>
            </a:r>
          </a:p>
          <a:p>
            <a:pPr marL="1257300" lvl="2" indent="-342900"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SMBFS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Mount Windows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文件网络共享；</a:t>
            </a:r>
          </a:p>
          <a:p>
            <a:pPr marL="1257300" lvl="2" indent="-342900"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NFS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UNIX(LINUX)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文件网络共享。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、挂载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602789" y="2169523"/>
            <a:ext cx="10983786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b="1" dirty="0">
                <a:solidFill>
                  <a:srgbClr val="FF0000"/>
                </a:solidFill>
              </a:rPr>
              <a:t>-o</a:t>
            </a:r>
          </a:p>
          <a:p>
            <a:r>
              <a:rPr lang="zh-CN" altLang="zh-CN" sz="2400" dirty="0"/>
              <a:t>选项</a:t>
            </a:r>
            <a:r>
              <a:rPr lang="en-US" altLang="zh-CN" sz="2400" dirty="0"/>
              <a:t>-o</a:t>
            </a:r>
            <a:r>
              <a:rPr lang="zh-CN" altLang="zh-CN" sz="2400" dirty="0"/>
              <a:t>主要用来描述设备的</a:t>
            </a:r>
            <a:r>
              <a:rPr lang="zh-CN" altLang="zh-CN" sz="2400" dirty="0">
                <a:solidFill>
                  <a:srgbClr val="FF0000"/>
                </a:solidFill>
              </a:rPr>
              <a:t>挂载方式</a:t>
            </a:r>
            <a:r>
              <a:rPr lang="zh-CN" altLang="zh-CN" sz="2400" dirty="0"/>
              <a:t>，常用的挂载方式如表所示。</a:t>
            </a:r>
            <a:endParaRPr lang="zh-CN" altLang="en-US" sz="2400" dirty="0"/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59031" y="3299891"/>
          <a:ext cx="8406149" cy="21204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3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724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方式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9053" marR="109053" marT="0" marB="0"/>
                </a:tc>
                <a:tc>
                  <a:txBody>
                    <a:bodyPr/>
                    <a:lstStyle/>
                    <a:p>
                      <a:pPr indent="21590"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说明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9053" marR="10905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9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loop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9053" marR="109053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将一个文件视为硬盘分区挂载到系统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9053" marR="10905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9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rgbClr val="FF0000"/>
                          </a:solidFill>
                          <a:effectLst/>
                        </a:rPr>
                        <a:t>ro</a:t>
                      </a:r>
                      <a:endParaRPr lang="zh-CN" sz="17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9053" marR="109053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read-only</a:t>
                      </a:r>
                      <a:r>
                        <a:rPr lang="zh-CN" sz="1700" kern="100">
                          <a:effectLst/>
                        </a:rPr>
                        <a:t>，采用只读的方式挂载设备（即系统只能对设备进行读操作）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9053" marR="10905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9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1700" kern="100" dirty="0" err="1">
                          <a:solidFill>
                            <a:srgbClr val="FF0000"/>
                          </a:solidFill>
                          <a:effectLst/>
                        </a:rPr>
                        <a:t>rw</a:t>
                      </a:r>
                      <a:endParaRPr lang="zh-CN" sz="17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9053" marR="109053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采用读写的方式挂载设备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9053" marR="10905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913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iocharset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9053" marR="109053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指定访问文件系统所用的字符集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9053" marR="10905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564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remount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9053" marR="109053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重新挂载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09053" marR="10905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、挂载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88060" y="2312027"/>
            <a:ext cx="10983786" cy="253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dirty="0"/>
              <a:t>mount</a:t>
            </a:r>
            <a:r>
              <a:rPr lang="zh-CN" altLang="zh-CN" sz="2400" dirty="0"/>
              <a:t>的</a:t>
            </a:r>
            <a:r>
              <a:rPr lang="zh-CN" altLang="zh-CN" sz="2400" dirty="0">
                <a:solidFill>
                  <a:srgbClr val="FF0000"/>
                </a:solidFill>
              </a:rPr>
              <a:t>参数</a:t>
            </a:r>
            <a:r>
              <a:rPr lang="zh-CN" altLang="zh-CN" sz="2400" dirty="0"/>
              <a:t>通常为设备文件名与挂载点。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zh-CN" sz="2400" dirty="0">
                <a:solidFill>
                  <a:srgbClr val="FF0000"/>
                </a:solidFill>
              </a:rPr>
              <a:t>设备</a:t>
            </a:r>
            <a:r>
              <a:rPr lang="zh-CN" altLang="zh-CN" sz="2400" dirty="0"/>
              <a:t>文件名即为要挂载的文件系统对应的设备名；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zh-CN" sz="2400" dirty="0">
                <a:solidFill>
                  <a:srgbClr val="FF0000"/>
                </a:solidFill>
              </a:rPr>
              <a:t>挂载点</a:t>
            </a:r>
            <a:r>
              <a:rPr lang="zh-CN" altLang="zh-CN" sz="2400" dirty="0"/>
              <a:t>指挂载点目录，设备必须被挂载到一个已经存在的目录上，其中的内容能通过目录访问，挂载的目录可以不为空，但将某个设备挂载到该目录后，目录中之前存放的内容不可再用。</a:t>
            </a:r>
            <a:endParaRPr lang="zh-CN" altLang="en-US" sz="2400" dirty="0"/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、挂载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示例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804" y="2344666"/>
            <a:ext cx="7364391" cy="40504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、挂载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示例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88060" y="2312027"/>
            <a:ext cx="10983786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）挂载移动硬盘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/>
              <a:t>确认设备连接到主机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/>
              <a:t>使用挂载命令：</a:t>
            </a:r>
            <a:r>
              <a:rPr lang="en-US" altLang="zh-CN" sz="2400" dirty="0"/>
              <a:t> mount /dev/sdc4 /</a:t>
            </a:r>
            <a:r>
              <a:rPr lang="en-US" altLang="zh-CN" sz="2400" dirty="0" err="1"/>
              <a:t>mnt</a:t>
            </a:r>
            <a:r>
              <a:rPr lang="en-US" altLang="zh-CN" sz="2400" dirty="0"/>
              <a:t>/dir1</a:t>
            </a:r>
            <a:endParaRPr lang="zh-CN" altLang="zh-CN" sz="2400" dirty="0"/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602789" y="3900154"/>
            <a:ext cx="10983786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）挂载镜像文件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/>
              <a:t>解压压缩包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/>
              <a:t>使用挂载命令：</a:t>
            </a:r>
            <a:r>
              <a:rPr lang="en-US" altLang="zh-CN" sz="2400" dirty="0"/>
              <a:t> mount -o </a:t>
            </a:r>
            <a:r>
              <a:rPr lang="en-US" altLang="zh-CN" sz="2400" dirty="0" err="1"/>
              <a:t>rw</a:t>
            </a:r>
            <a:r>
              <a:rPr lang="en-US" altLang="zh-CN" sz="2400" dirty="0"/>
              <a:t> –t iso9660 /</a:t>
            </a:r>
            <a:r>
              <a:rPr lang="en-US" altLang="zh-CN" sz="2400" dirty="0" err="1"/>
              <a:t>usr</a:t>
            </a:r>
            <a:r>
              <a:rPr lang="en-US" altLang="zh-CN" sz="2400" dirty="0"/>
              <a:t>/</a:t>
            </a:r>
            <a:r>
              <a:rPr lang="en-US" altLang="zh-CN" sz="2400" dirty="0" err="1"/>
              <a:t>test.iso</a:t>
            </a:r>
            <a:r>
              <a:rPr lang="en-US" altLang="zh-CN" sz="2400" dirty="0"/>
              <a:t> /home/</a:t>
            </a:r>
            <a:r>
              <a:rPr lang="en-US" altLang="zh-CN" sz="2400" dirty="0" err="1"/>
              <a:t>itheima</a:t>
            </a:r>
            <a:endParaRPr lang="zh-CN" altLang="zh-CN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、挂载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示例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950" y="3367970"/>
            <a:ext cx="7984099" cy="196506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、挂载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——NTFS-3G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44"/>
          <p:cNvSpPr txBox="1">
            <a:spLocks noChangeArrowheads="1"/>
          </p:cNvSpPr>
          <p:nvPr/>
        </p:nvSpPr>
        <p:spPr bwMode="auto">
          <a:xfrm>
            <a:off x="588060" y="2312027"/>
            <a:ext cx="10983786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/>
              <a:t>su</a:t>
            </a:r>
            <a:r>
              <a:rPr lang="zh-CN" altLang="en-US" sz="2400" dirty="0"/>
              <a:t> </a:t>
            </a:r>
            <a:r>
              <a:rPr lang="en-US" altLang="zh-CN" sz="2400" dirty="0"/>
              <a:t>root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</a:rPr>
              <a:t>yum</a:t>
            </a:r>
            <a:r>
              <a:rPr lang="en-US" altLang="zh-CN" sz="2400" dirty="0"/>
              <a:t> -y install </a:t>
            </a:r>
            <a:r>
              <a:rPr lang="en-US" altLang="zh-CN" sz="2400" dirty="0" err="1"/>
              <a:t>gcc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FF0000"/>
                </a:solidFill>
              </a:rPr>
              <a:t>wget</a:t>
            </a:r>
            <a:r>
              <a:rPr lang="en-US" altLang="zh-CN" sz="2400" dirty="0"/>
              <a:t> http://tuxera.com/opensource/ntfs-3g_ntfsprogs-2013.1.13.tgz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</a:rPr>
              <a:t>tar</a:t>
            </a:r>
            <a:r>
              <a:rPr lang="en-US" altLang="zh-CN" sz="2400" dirty="0"/>
              <a:t> </a:t>
            </a:r>
            <a:r>
              <a:rPr lang="en-US" altLang="zh-CN" sz="2400" dirty="0" err="1"/>
              <a:t>zxvf</a:t>
            </a:r>
            <a:r>
              <a:rPr lang="en-US" altLang="zh-CN" sz="2400" dirty="0"/>
              <a:t> ntfs-3g_ntfsprogs-2013.1.13.tgz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/>
              <a:t>cd </a:t>
            </a:r>
            <a:r>
              <a:rPr lang="en-US" altLang="zh-CN" sz="2400" dirty="0">
                <a:solidFill>
                  <a:srgbClr val="FF0000"/>
                </a:solidFill>
              </a:rPr>
              <a:t>ntfs-3g</a:t>
            </a:r>
            <a:r>
              <a:rPr lang="en-US" altLang="zh-CN" sz="2400" dirty="0"/>
              <a:t>_ntfsprogs-2013.1.13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/>
              <a:t>./configure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/>
              <a:t>make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/>
              <a:t>make install    </a:t>
            </a:r>
            <a:r>
              <a:rPr lang="zh-CN" altLang="en-US" sz="2400" dirty="0"/>
              <a:t>注意</a:t>
            </a:r>
            <a:r>
              <a:rPr lang="en-US" altLang="zh-CN" sz="2400" dirty="0"/>
              <a:t>make install</a:t>
            </a:r>
            <a:r>
              <a:rPr lang="zh-CN" altLang="en-US" sz="2400" dirty="0"/>
              <a:t>需要使用</a:t>
            </a:r>
            <a:r>
              <a:rPr lang="en-US" altLang="zh-CN" sz="2400" dirty="0"/>
              <a:t>root</a:t>
            </a:r>
            <a:r>
              <a:rPr lang="zh-CN" altLang="en-US" sz="2400" dirty="0"/>
              <a:t>权限，否则会报错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、挂载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——NTFS-3G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44"/>
          <p:cNvSpPr txBox="1">
            <a:spLocks noChangeArrowheads="1"/>
          </p:cNvSpPr>
          <p:nvPr/>
        </p:nvSpPr>
        <p:spPr bwMode="auto">
          <a:xfrm>
            <a:off x="588060" y="2312027"/>
            <a:ext cx="10983786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tx1"/>
                </a:solidFill>
              </a:rPr>
              <a:t>mount </a:t>
            </a:r>
            <a:r>
              <a:rPr lang="en-US" altLang="zh-CN" sz="2400" dirty="0">
                <a:solidFill>
                  <a:srgbClr val="FF0000"/>
                </a:solidFill>
              </a:rPr>
              <a:t>–t ntfs-3g </a:t>
            </a:r>
            <a:r>
              <a:rPr lang="en-US" altLang="zh-CN" sz="2400" dirty="0">
                <a:solidFill>
                  <a:schemeClr val="tx1"/>
                </a:solidFill>
              </a:rPr>
              <a:t>/dev/sdb4 /</a:t>
            </a:r>
            <a:r>
              <a:rPr lang="en-US" altLang="zh-CN" sz="2400" dirty="0" err="1">
                <a:solidFill>
                  <a:schemeClr val="tx1"/>
                </a:solidFill>
              </a:rPr>
              <a:t>mnt</a:t>
            </a:r>
            <a:r>
              <a:rPr lang="en-US" altLang="zh-CN" sz="2400" dirty="0">
                <a:solidFill>
                  <a:schemeClr val="tx1"/>
                </a:solidFill>
              </a:rPr>
              <a:t>/test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chemeClr val="tx1"/>
                </a:solidFill>
              </a:rPr>
              <a:t>umont</a:t>
            </a:r>
            <a:r>
              <a:rPr lang="en-US" altLang="zh-CN" sz="2400" dirty="0">
                <a:solidFill>
                  <a:schemeClr val="tx1"/>
                </a:solidFill>
              </a:rPr>
              <a:t> /</a:t>
            </a:r>
            <a:r>
              <a:rPr lang="en-US" altLang="zh-CN" sz="2400" dirty="0" err="1">
                <a:solidFill>
                  <a:schemeClr val="tx1"/>
                </a:solidFill>
              </a:rPr>
              <a:t>mnt</a:t>
            </a:r>
            <a:r>
              <a:rPr lang="en-US" altLang="zh-CN" sz="2400" dirty="0">
                <a:solidFill>
                  <a:schemeClr val="tx1"/>
                </a:solidFill>
              </a:rPr>
              <a:t>/test 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556" y="3387074"/>
            <a:ext cx="8776336" cy="297828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、卸载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88060" y="2312027"/>
            <a:ext cx="10983786" cy="203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当需要挂载的分区只是一个移动存储设备（如移动硬盘）时，要进行的工作是在该设备与主机之间进行文件传输，那么在文件传输完毕之后，需要卸载该分区。</a:t>
            </a:r>
            <a:r>
              <a:rPr lang="en-US" altLang="zh-CN" sz="2400" dirty="0"/>
              <a:t>Linux</a:t>
            </a:r>
            <a:r>
              <a:rPr lang="zh-CN" altLang="en-US" sz="2400" dirty="0"/>
              <a:t>系统中卸载分区的命令是</a:t>
            </a:r>
            <a:r>
              <a:rPr lang="en-US" altLang="zh-CN" sz="2400" dirty="0" err="1">
                <a:solidFill>
                  <a:srgbClr val="FF0000"/>
                </a:solidFill>
              </a:rPr>
              <a:t>umount</a:t>
            </a:r>
            <a:r>
              <a:rPr lang="zh-CN" altLang="en-US" sz="2400" dirty="0"/>
              <a:t>，该命令的格式如下：</a:t>
            </a:r>
          </a:p>
          <a:p>
            <a:r>
              <a:rPr lang="en-US" altLang="zh-CN" sz="2400" dirty="0" err="1"/>
              <a:t>umount</a:t>
            </a:r>
            <a:r>
              <a:rPr lang="en-US" altLang="zh-CN" sz="2400" dirty="0"/>
              <a:t> [</a:t>
            </a:r>
            <a:r>
              <a:rPr lang="zh-CN" altLang="en-US" sz="2400" dirty="0"/>
              <a:t>选项</a:t>
            </a:r>
            <a:r>
              <a:rPr lang="en-US" altLang="zh-CN" sz="2400" dirty="0"/>
              <a:t>] </a:t>
            </a:r>
            <a:r>
              <a:rPr lang="zh-CN" altLang="en-US" sz="2400" dirty="0"/>
              <a:t>参数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588060" y="4337334"/>
            <a:ext cx="10983786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sz="2400" dirty="0">
                <a:solidFill>
                  <a:srgbClr val="FF0000"/>
                </a:solidFill>
              </a:rPr>
              <a:t>示例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en-US" altLang="zh-CN" sz="2400" dirty="0" err="1"/>
              <a:t>umount</a:t>
            </a:r>
            <a:r>
              <a:rPr lang="en-US" altLang="zh-CN" sz="2400" dirty="0"/>
              <a:t> /</a:t>
            </a:r>
            <a:r>
              <a:rPr lang="en-US" altLang="zh-CN" sz="2400" dirty="0" err="1"/>
              <a:t>mnt</a:t>
            </a:r>
            <a:endParaRPr lang="zh-CN" altLang="zh-CN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、卸载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669" y="3128851"/>
            <a:ext cx="8502662" cy="20925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93765" y="1235103"/>
            <a:ext cx="10814462" cy="4459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存在问题</a:t>
            </a:r>
            <a:r>
              <a:rPr lang="zh-CN" altLang="en-US" sz="2400" dirty="0">
                <a:solidFill>
                  <a:srgbClr val="1353A2"/>
                </a:solidFill>
              </a:rPr>
              <a:t>：按照传统方式管理磁盘、为磁盘分区，</a:t>
            </a:r>
            <a:r>
              <a:rPr lang="zh-CN" altLang="en-US" sz="2400" dirty="0">
                <a:solidFill>
                  <a:srgbClr val="FF0000"/>
                </a:solidFill>
              </a:rPr>
              <a:t>难以精确评估和分配磁盘各个分区容量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解决方案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>
                <a:solidFill>
                  <a:srgbClr val="1353A2"/>
                </a:solidFill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</a:rPr>
              <a:t>分区工具</a:t>
            </a:r>
            <a:r>
              <a:rPr lang="zh-CN" altLang="en-US" sz="2400" dirty="0">
                <a:solidFill>
                  <a:srgbClr val="1353A2"/>
                </a:solidFill>
              </a:rPr>
              <a:t>调整分区大小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解决方案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rgbClr val="1353A2"/>
                </a:solidFill>
              </a:rPr>
              <a:t>：将文件存储在其他分区中，通过</a:t>
            </a:r>
            <a:r>
              <a:rPr lang="zh-CN" altLang="en-US" sz="2400" dirty="0">
                <a:solidFill>
                  <a:srgbClr val="FF0000"/>
                </a:solidFill>
              </a:rPr>
              <a:t>符号链接</a:t>
            </a:r>
            <a:r>
              <a:rPr lang="zh-CN" altLang="en-US" sz="2400" dirty="0">
                <a:solidFill>
                  <a:srgbClr val="1353A2"/>
                </a:solidFill>
              </a:rPr>
              <a:t>获取文件位置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上述方案简单，但可操作性有限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1353A2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400" y="501650"/>
            <a:ext cx="8050530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93765" y="1235103"/>
            <a:ext cx="10814462" cy="4523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存在问题</a:t>
            </a:r>
            <a:r>
              <a:rPr lang="zh-CN" altLang="en-US" sz="2400" dirty="0">
                <a:solidFill>
                  <a:srgbClr val="1353A2"/>
                </a:solidFill>
              </a:rPr>
              <a:t>：按照传统方式管理磁盘、为磁盘分区，</a:t>
            </a:r>
            <a:r>
              <a:rPr lang="zh-CN" altLang="en-US" sz="2400" dirty="0">
                <a:solidFill>
                  <a:srgbClr val="FF0000"/>
                </a:solidFill>
              </a:rPr>
              <a:t>难以精确评估和分配磁盘各个分区容量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解决方案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zh-CN" altLang="en-US" sz="2400" dirty="0">
                <a:solidFill>
                  <a:srgbClr val="1353A2"/>
                </a:solidFill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</a:rPr>
              <a:t>逻辑卷管理机制（</a:t>
            </a:r>
            <a:r>
              <a:rPr lang="en-US" altLang="zh-CN" sz="2400" dirty="0">
                <a:solidFill>
                  <a:srgbClr val="FF0000"/>
                </a:solidFill>
              </a:rPr>
              <a:t>Logical </a:t>
            </a:r>
            <a:r>
              <a:rPr lang="en-US" altLang="zh-CN" sz="2400" dirty="0" err="1">
                <a:solidFill>
                  <a:srgbClr val="FF0000"/>
                </a:solidFill>
              </a:rPr>
              <a:t>Volumn</a:t>
            </a:r>
            <a:r>
              <a:rPr lang="en-US" altLang="zh-CN" sz="2400" dirty="0">
                <a:solidFill>
                  <a:srgbClr val="FF0000"/>
                </a:solidFill>
              </a:rPr>
              <a:t> Manager, LVM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LVM</a:t>
            </a:r>
            <a:r>
              <a:rPr lang="zh-CN" altLang="en-US" sz="2400" dirty="0">
                <a:solidFill>
                  <a:srgbClr val="1353A2"/>
                </a:solidFill>
              </a:rPr>
              <a:t>是</a:t>
            </a: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</a:t>
            </a:r>
            <a:r>
              <a:rPr lang="zh-CN" altLang="en-US" sz="2400" dirty="0">
                <a:solidFill>
                  <a:srgbClr val="FF0000"/>
                </a:solidFill>
              </a:rPr>
              <a:t>管理磁盘</a:t>
            </a:r>
            <a:r>
              <a:rPr lang="zh-CN" altLang="en-US" sz="2400" dirty="0">
                <a:solidFill>
                  <a:srgbClr val="1353A2"/>
                </a:solidFill>
              </a:rPr>
              <a:t>分区的一种</a:t>
            </a:r>
            <a:r>
              <a:rPr lang="zh-CN" altLang="en-US" sz="2400" dirty="0">
                <a:solidFill>
                  <a:srgbClr val="FF0000"/>
                </a:solidFill>
              </a:rPr>
              <a:t>机制</a:t>
            </a:r>
            <a:r>
              <a:rPr lang="zh-CN" altLang="en-US" sz="2400" dirty="0">
                <a:solidFill>
                  <a:srgbClr val="1353A2"/>
                </a:solidFill>
              </a:rPr>
              <a:t>，它建立在磁盘和分区之上，可以帮助管理员</a:t>
            </a:r>
            <a:r>
              <a:rPr lang="zh-CN" altLang="en-US" sz="2400" dirty="0">
                <a:solidFill>
                  <a:srgbClr val="FF0000"/>
                </a:solidFill>
              </a:rPr>
              <a:t>动态地</a:t>
            </a:r>
            <a:r>
              <a:rPr lang="zh-CN" altLang="en-US" sz="2400" dirty="0">
                <a:solidFill>
                  <a:srgbClr val="1353A2"/>
                </a:solidFill>
              </a:rPr>
              <a:t>管理磁盘，提高磁盘分区管理的灵活性。</a:t>
            </a:r>
          </a:p>
          <a:p>
            <a:pPr>
              <a:lnSpc>
                <a:spcPct val="150000"/>
              </a:lnSpc>
            </a:pPr>
            <a:endParaRPr lang="zh-CN" altLang="en-US" sz="2400" b="1" dirty="0">
              <a:solidFill>
                <a:srgbClr val="1353A2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 </a:t>
            </a:r>
            <a:r>
              <a:rPr lang="en-US" altLang="zh-CN" sz="2400" dirty="0">
                <a:solidFill>
                  <a:srgbClr val="1353A2"/>
                </a:solidFill>
              </a:rPr>
              <a:t>                  </a:t>
            </a:r>
            <a:r>
              <a:rPr lang="zh-CN" altLang="en-US" sz="2400" b="1" dirty="0">
                <a:solidFill>
                  <a:srgbClr val="1353A2"/>
                </a:solidFill>
                <a:sym typeface="+mn-ea"/>
              </a:rPr>
              <a:t>碎片资源</a:t>
            </a:r>
            <a:r>
              <a:rPr lang="en-US" altLang="zh-CN" sz="2400" b="1" dirty="0">
                <a:solidFill>
                  <a:srgbClr val="1353A2"/>
                </a:solidFill>
                <a:sym typeface="+mn-ea"/>
              </a:rPr>
              <a:t>--&gt;</a:t>
            </a:r>
            <a:r>
              <a:rPr lang="zh-CN" altLang="en-US" sz="2400" b="1" dirty="0">
                <a:solidFill>
                  <a:srgbClr val="1353A2"/>
                </a:solidFill>
                <a:sym typeface="+mn-ea"/>
              </a:rPr>
              <a:t>统一管理</a:t>
            </a:r>
            <a:r>
              <a:rPr lang="en-US" altLang="zh-CN" sz="2400" b="1" dirty="0">
                <a:solidFill>
                  <a:srgbClr val="1353A2"/>
                </a:solidFill>
                <a:sym typeface="+mn-ea"/>
              </a:rPr>
              <a:t>--&gt;</a:t>
            </a:r>
            <a:r>
              <a:rPr lang="zh-CN" altLang="en-US" sz="2400" b="1" dirty="0">
                <a:solidFill>
                  <a:srgbClr val="1353A2"/>
                </a:solidFill>
                <a:sym typeface="+mn-ea"/>
              </a:rPr>
              <a:t>集中资源</a:t>
            </a:r>
            <a:r>
              <a:rPr lang="en-US" altLang="zh-CN" sz="2400" b="1" dirty="0">
                <a:solidFill>
                  <a:srgbClr val="1353A2"/>
                </a:solidFill>
                <a:sym typeface="+mn-ea"/>
              </a:rPr>
              <a:t>--&gt;</a:t>
            </a:r>
            <a:r>
              <a:rPr lang="zh-CN" altLang="en-US" sz="2400" b="1" dirty="0">
                <a:solidFill>
                  <a:srgbClr val="1353A2"/>
                </a:solidFill>
                <a:sym typeface="+mn-ea"/>
              </a:rPr>
              <a:t>二次分配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3765" y="1226975"/>
            <a:ext cx="6203984" cy="556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首先，将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多个物理卷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（由磁盘分区转换而来）连接为一个整块的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卷组（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Volumn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Group, VG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形成一个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存储池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然后，可主动设置卷组的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存储单位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（物理长度，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Physical Extent, PE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,LVM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大小为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4MB</a:t>
            </a: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最后，可随意创建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逻辑卷组（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Logical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Volumn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LV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，以及创建不同的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 System, FS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861" y="2369436"/>
            <a:ext cx="4886373" cy="249334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3766" y="2552499"/>
            <a:ext cx="10814462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LVM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允许管理员调整存储卷组的大小，并按逻辑卷组进行</a:t>
            </a:r>
            <a:r>
              <a:rPr lang="zh-CN" altLang="zh-CN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命名、管理和分配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。当系统中添加新的磁盘后，管理员不必将原有的文件移动到新的磁盘，只需直接扩展文件系统容量，即可使用新的磁盘。</a:t>
            </a: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1151906" y="1223297"/>
            <a:ext cx="8077154" cy="4459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en-US" altLang="zh-CN" sz="2400" dirty="0"/>
              <a:t>    </a:t>
            </a:r>
            <a:r>
              <a:rPr lang="zh-CN" altLang="zh-CN" sz="2400" dirty="0"/>
              <a:t>下面对实现</a:t>
            </a:r>
            <a:r>
              <a:rPr lang="en-US" altLang="zh-CN" sz="2400" dirty="0"/>
              <a:t>LVM</a:t>
            </a:r>
            <a:r>
              <a:rPr lang="zh-CN" altLang="zh-CN" sz="2400" dirty="0"/>
              <a:t>机制常用的命令</a:t>
            </a:r>
            <a:r>
              <a:rPr lang="zh-CN" altLang="en-US" sz="2400" dirty="0"/>
              <a:t>有：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FF0000"/>
                </a:solidFill>
              </a:rPr>
              <a:t>pv</a:t>
            </a:r>
            <a:r>
              <a:rPr lang="en-US" altLang="zh-CN" sz="2400" dirty="0" err="1">
                <a:solidFill>
                  <a:srgbClr val="1353A2"/>
                </a:solidFill>
              </a:rPr>
              <a:t>create</a:t>
            </a: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Physical </a:t>
            </a:r>
            <a:r>
              <a:rPr lang="en-US" altLang="zh-CN" sz="2400" dirty="0" err="1">
                <a:solidFill>
                  <a:srgbClr val="1353A2"/>
                </a:solidFill>
              </a:rPr>
              <a:t>Volumn</a:t>
            </a:r>
            <a:r>
              <a:rPr lang="en-US" altLang="zh-CN" sz="2400" dirty="0">
                <a:solidFill>
                  <a:srgbClr val="1353A2"/>
                </a:solidFill>
              </a:rPr>
              <a:t> Create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FF0000"/>
                </a:solidFill>
              </a:rPr>
              <a:t>vg</a:t>
            </a:r>
            <a:r>
              <a:rPr lang="en-US" altLang="zh-CN" sz="2400" dirty="0" err="1">
                <a:solidFill>
                  <a:srgbClr val="1353A2"/>
                </a:solidFill>
              </a:rPr>
              <a:t>create</a:t>
            </a: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 err="1">
                <a:solidFill>
                  <a:srgbClr val="1353A2"/>
                </a:solidFill>
              </a:rPr>
              <a:t>Volumn</a:t>
            </a:r>
            <a:r>
              <a:rPr lang="en-US" altLang="zh-CN" sz="2400" dirty="0">
                <a:solidFill>
                  <a:srgbClr val="1353A2"/>
                </a:solidFill>
              </a:rPr>
              <a:t> Group Create 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FF0000"/>
                </a:solidFill>
              </a:rPr>
              <a:t>lv</a:t>
            </a:r>
            <a:r>
              <a:rPr lang="en-US" altLang="zh-CN" sz="2400" dirty="0" err="1">
                <a:solidFill>
                  <a:srgbClr val="1353A2"/>
                </a:solidFill>
              </a:rPr>
              <a:t>create</a:t>
            </a: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Logical </a:t>
            </a:r>
            <a:r>
              <a:rPr lang="en-US" altLang="zh-CN" sz="2400" dirty="0" err="1">
                <a:solidFill>
                  <a:srgbClr val="1353A2"/>
                </a:solidFill>
              </a:rPr>
              <a:t>Volumn</a:t>
            </a:r>
            <a:r>
              <a:rPr lang="en-US" altLang="zh-CN" sz="2400" dirty="0">
                <a:solidFill>
                  <a:srgbClr val="1353A2"/>
                </a:solidFill>
              </a:rPr>
              <a:t> Create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FF0000"/>
                </a:solidFill>
              </a:rPr>
              <a:t>vg</a:t>
            </a:r>
            <a:r>
              <a:rPr lang="en-US" altLang="zh-CN" sz="2400" dirty="0" err="1">
                <a:solidFill>
                  <a:srgbClr val="1353A2"/>
                </a:solidFill>
              </a:rPr>
              <a:t>display</a:t>
            </a: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 err="1">
                <a:solidFill>
                  <a:srgbClr val="1353A2"/>
                </a:solidFill>
              </a:rPr>
              <a:t>Volumn</a:t>
            </a:r>
            <a:r>
              <a:rPr lang="en-US" altLang="zh-CN" sz="2400" dirty="0">
                <a:solidFill>
                  <a:srgbClr val="1353A2"/>
                </a:solidFill>
              </a:rPr>
              <a:t> Group Display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FF0000"/>
                </a:solidFill>
              </a:rPr>
              <a:t>lv</a:t>
            </a:r>
            <a:r>
              <a:rPr lang="en-US" altLang="zh-CN" sz="2400" dirty="0" err="1">
                <a:solidFill>
                  <a:srgbClr val="1353A2"/>
                </a:solidFill>
              </a:rPr>
              <a:t>extend</a:t>
            </a: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Logical </a:t>
            </a:r>
            <a:r>
              <a:rPr lang="en-US" altLang="zh-CN" sz="2400" dirty="0" err="1">
                <a:solidFill>
                  <a:srgbClr val="1353A2"/>
                </a:solidFill>
              </a:rPr>
              <a:t>Volumn</a:t>
            </a:r>
            <a:r>
              <a:rPr lang="en-US" altLang="zh-CN" sz="2400" dirty="0">
                <a:solidFill>
                  <a:srgbClr val="1353A2"/>
                </a:solidFill>
              </a:rPr>
              <a:t> Extend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FF0000"/>
                </a:solidFill>
              </a:rPr>
              <a:t>lv</a:t>
            </a:r>
            <a:r>
              <a:rPr lang="en-US" altLang="zh-CN" sz="2400" dirty="0" err="1">
                <a:solidFill>
                  <a:srgbClr val="1353A2"/>
                </a:solidFill>
              </a:rPr>
              <a:t>remove</a:t>
            </a: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Logical </a:t>
            </a:r>
            <a:r>
              <a:rPr lang="en-US" altLang="zh-CN" sz="2400" dirty="0" err="1">
                <a:solidFill>
                  <a:srgbClr val="1353A2"/>
                </a:solidFill>
              </a:rPr>
              <a:t>Volumn</a:t>
            </a:r>
            <a:r>
              <a:rPr lang="en-US" altLang="zh-CN" sz="2400" dirty="0">
                <a:solidFill>
                  <a:srgbClr val="1353A2"/>
                </a:solidFill>
              </a:rPr>
              <a:t> Remove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indent="0">
              <a:lnSpc>
                <a:spcPct val="150000"/>
              </a:lnSpc>
            </a:pPr>
            <a:endParaRPr lang="en-US" altLang="zh-CN" sz="2400" dirty="0">
              <a:solidFill>
                <a:srgbClr val="1353A2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pvcreate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88060" y="2312027"/>
            <a:ext cx="10983786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err="1"/>
              <a:t>pvcreate</a:t>
            </a:r>
            <a:r>
              <a:rPr lang="zh-CN" altLang="en-US" sz="2400" dirty="0"/>
              <a:t>命令用于</a:t>
            </a:r>
            <a:r>
              <a:rPr lang="zh-CN" altLang="en-US" sz="2400" dirty="0">
                <a:solidFill>
                  <a:srgbClr val="FF0000"/>
                </a:solidFill>
              </a:rPr>
              <a:t>将</a:t>
            </a:r>
            <a:r>
              <a:rPr lang="zh-CN" altLang="en-US" sz="2400" dirty="0"/>
              <a:t>磁盘</a:t>
            </a:r>
            <a:r>
              <a:rPr lang="zh-CN" altLang="en-US" sz="2400" b="1" dirty="0">
                <a:solidFill>
                  <a:srgbClr val="FF0000"/>
                </a:solidFill>
              </a:rPr>
              <a:t>分区</a:t>
            </a:r>
            <a:r>
              <a:rPr lang="zh-CN" altLang="en-US" sz="2400" dirty="0">
                <a:solidFill>
                  <a:srgbClr val="FF0000"/>
                </a:solidFill>
              </a:rPr>
              <a:t>初始化为</a:t>
            </a:r>
            <a:r>
              <a:rPr lang="zh-CN" altLang="en-US" sz="2400" b="1" dirty="0">
                <a:solidFill>
                  <a:srgbClr val="FF0000"/>
                </a:solidFill>
              </a:rPr>
              <a:t>物理卷</a:t>
            </a:r>
            <a:r>
              <a:rPr lang="zh-CN" altLang="en-US" sz="2400" dirty="0"/>
              <a:t>，该命令的语法格式如下：</a:t>
            </a:r>
          </a:p>
          <a:p>
            <a:r>
              <a:rPr lang="en-US" altLang="zh-CN" sz="2400" dirty="0" err="1"/>
              <a:t>pvcreate</a:t>
            </a:r>
            <a:r>
              <a:rPr lang="en-US" altLang="zh-CN" sz="2400" dirty="0"/>
              <a:t> [</a:t>
            </a:r>
            <a:r>
              <a:rPr lang="zh-CN" altLang="en-US" sz="2400" dirty="0"/>
              <a:t>选项</a:t>
            </a:r>
            <a:r>
              <a:rPr lang="en-US" altLang="zh-CN" sz="2400" dirty="0"/>
              <a:t>] </a:t>
            </a:r>
            <a:r>
              <a:rPr lang="zh-CN" altLang="en-US" sz="2400" dirty="0"/>
              <a:t>参数</a:t>
            </a:r>
            <a:endParaRPr lang="en-US" altLang="zh-CN" sz="2400" dirty="0"/>
          </a:p>
          <a:p>
            <a:r>
              <a:rPr lang="en-US" altLang="zh-CN" sz="2400" dirty="0" err="1"/>
              <a:t>pvcreate</a:t>
            </a:r>
            <a:r>
              <a:rPr lang="zh-CN" altLang="en-US" sz="2400" dirty="0"/>
              <a:t>命令的参数通常为磁盘分区名，常用选项如表所示：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762487" y="3900154"/>
          <a:ext cx="8634932" cy="1693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5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9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984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选项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823" marR="110823" marT="0" marB="0" anchor="ctr"/>
                </a:tc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说明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823" marR="110823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285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-f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823" marR="110823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强制创建物理卷，不需要用户确认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823" marR="11082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285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-u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823" marR="110823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指定设备的</a:t>
                      </a:r>
                      <a:r>
                        <a:rPr lang="en-US" sz="1700" kern="100">
                          <a:effectLst/>
                        </a:rPr>
                        <a:t>UUID</a:t>
                      </a:r>
                      <a:r>
                        <a:rPr lang="zh-CN" sz="1700" kern="100">
                          <a:effectLst/>
                        </a:rPr>
                        <a:t>（</a:t>
                      </a:r>
                      <a:r>
                        <a:rPr lang="en-US" sz="1700" kern="100">
                          <a:effectLst/>
                        </a:rPr>
                        <a:t>Universally Unique Identifier</a:t>
                      </a:r>
                      <a:r>
                        <a:rPr lang="zh-CN" sz="1700" kern="100">
                          <a:effectLst/>
                        </a:rPr>
                        <a:t>，通用唯一识别码）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823" marR="11082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285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-y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823" marR="110823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所有的问题都用“</a:t>
                      </a:r>
                      <a:r>
                        <a:rPr lang="en-US" sz="1700" kern="100">
                          <a:effectLst/>
                        </a:rPr>
                        <a:t>yes</a:t>
                      </a:r>
                      <a:r>
                        <a:rPr lang="zh-CN" sz="1700" kern="100">
                          <a:effectLst/>
                        </a:rPr>
                        <a:t>”回答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823" marR="11082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285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-z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823" marR="110823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是否使用前</a:t>
                      </a:r>
                      <a:r>
                        <a:rPr lang="en-US" sz="1700" kern="100" dirty="0">
                          <a:effectLst/>
                        </a:rPr>
                        <a:t>4</a:t>
                      </a:r>
                      <a:r>
                        <a:rPr lang="zh-CN" sz="1700" kern="100" dirty="0">
                          <a:effectLst/>
                        </a:rPr>
                        <a:t>个扇区（</a:t>
                      </a:r>
                      <a:r>
                        <a:rPr lang="en-US" sz="1700" kern="100" dirty="0">
                          <a:effectLst/>
                        </a:rPr>
                        <a:t>y/n</a:t>
                      </a:r>
                      <a:r>
                        <a:rPr lang="zh-CN" sz="1700" kern="100" dirty="0">
                          <a:effectLst/>
                        </a:rPr>
                        <a:t>）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823" marR="11082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4"/>
          <p:cNvSpPr txBox="1">
            <a:spLocks noChangeArrowheads="1"/>
          </p:cNvSpPr>
          <p:nvPr/>
        </p:nvSpPr>
        <p:spPr bwMode="auto">
          <a:xfrm>
            <a:off x="604107" y="5690836"/>
            <a:ext cx="10983786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</a:rPr>
              <a:t>示例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pvcreate</a:t>
            </a:r>
            <a:r>
              <a:rPr lang="en-US" altLang="zh-CN" sz="2400" dirty="0"/>
              <a:t> /dev/sda5; </a:t>
            </a:r>
            <a:r>
              <a:rPr lang="en-US" altLang="zh-CN" sz="2400" dirty="0" err="1"/>
              <a:t>pvcreate</a:t>
            </a:r>
            <a:r>
              <a:rPr lang="en-US" altLang="zh-CN" sz="2400" dirty="0"/>
              <a:t> /dev/sda6 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90" y="3940146"/>
            <a:ext cx="8215746" cy="18829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090" y="1992010"/>
            <a:ext cx="6979340" cy="1308628"/>
          </a:xfrm>
          <a:prstGeom prst="rect">
            <a:avLst/>
          </a:prstGeom>
        </p:spPr>
      </p:pic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88060" y="1255863"/>
            <a:ext cx="10983786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fdisk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 –l 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查看当前磁盘分区情况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05104" y="4458577"/>
            <a:ext cx="4248422" cy="2055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3206" y="5229218"/>
            <a:ext cx="4299222" cy="2055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3206" y="2662194"/>
            <a:ext cx="6979340" cy="6384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 Box 44"/>
          <p:cNvSpPr txBox="1">
            <a:spLocks noChangeArrowheads="1"/>
          </p:cNvSpPr>
          <p:nvPr/>
        </p:nvSpPr>
        <p:spPr bwMode="auto">
          <a:xfrm>
            <a:off x="604107" y="3400639"/>
            <a:ext cx="10983786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</a:rPr>
              <a:t>分区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物理卷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6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vgcreate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88060" y="2312027"/>
            <a:ext cx="10983786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err="1"/>
              <a:t>vgcreate</a:t>
            </a:r>
            <a:r>
              <a:rPr lang="zh-CN" altLang="zh-CN" sz="2400" dirty="0"/>
              <a:t>命令用于将</a:t>
            </a:r>
            <a:r>
              <a:rPr lang="zh-CN" altLang="zh-CN" sz="2400" b="1" dirty="0">
                <a:solidFill>
                  <a:srgbClr val="FF0000"/>
                </a:solidFill>
              </a:rPr>
              <a:t>物理卷</a:t>
            </a:r>
            <a:r>
              <a:rPr lang="zh-CN" altLang="zh-CN" sz="2400" dirty="0">
                <a:solidFill>
                  <a:srgbClr val="FF0000"/>
                </a:solidFill>
              </a:rPr>
              <a:t>整合</a:t>
            </a:r>
            <a:r>
              <a:rPr lang="zh-CN" altLang="zh-CN" sz="2400" dirty="0"/>
              <a:t>为</a:t>
            </a:r>
            <a:r>
              <a:rPr lang="zh-CN" altLang="zh-CN" sz="2400" b="1" dirty="0">
                <a:solidFill>
                  <a:srgbClr val="FF0000"/>
                </a:solidFill>
              </a:rPr>
              <a:t>卷组</a:t>
            </a:r>
            <a:r>
              <a:rPr lang="zh-CN" altLang="zh-CN" sz="2400" dirty="0"/>
              <a:t>，该命令的语法格式如下：</a:t>
            </a:r>
          </a:p>
          <a:p>
            <a:r>
              <a:rPr lang="en-US" altLang="zh-CN" sz="2400" dirty="0" err="1"/>
              <a:t>vgcreate</a:t>
            </a:r>
            <a:r>
              <a:rPr lang="en-US" altLang="zh-CN" sz="2400" dirty="0"/>
              <a:t> [</a:t>
            </a:r>
            <a:r>
              <a:rPr lang="zh-CN" altLang="zh-CN" sz="2400" dirty="0"/>
              <a:t>选项</a:t>
            </a:r>
            <a:r>
              <a:rPr lang="en-US" altLang="zh-CN" sz="2400" dirty="0"/>
              <a:t>] </a:t>
            </a:r>
            <a:r>
              <a:rPr lang="zh-CN" altLang="zh-CN" sz="2400" dirty="0"/>
              <a:t>卷组名称 物理卷路径</a:t>
            </a:r>
            <a:r>
              <a:rPr lang="en-US" altLang="zh-CN" sz="2400" dirty="0"/>
              <a:t>1 </a:t>
            </a:r>
            <a:r>
              <a:rPr lang="zh-CN" altLang="zh-CN" sz="2400" dirty="0"/>
              <a:t>物理卷路径</a:t>
            </a:r>
            <a:r>
              <a:rPr lang="en-US" altLang="zh-CN" sz="2400" dirty="0"/>
              <a:t>2 …</a:t>
            </a:r>
            <a:endParaRPr lang="zh-CN" altLang="zh-CN" sz="2400" dirty="0"/>
          </a:p>
          <a:p>
            <a:r>
              <a:rPr lang="en-US" altLang="zh-CN" sz="2400" dirty="0" err="1"/>
              <a:t>vgcreate</a:t>
            </a:r>
            <a:r>
              <a:rPr lang="zh-CN" altLang="zh-CN" sz="2400" dirty="0"/>
              <a:t>命令的常用选项如表</a:t>
            </a:r>
            <a:r>
              <a:rPr lang="en-US" altLang="zh-CN" sz="2400" dirty="0"/>
              <a:t>2-28</a:t>
            </a:r>
            <a:r>
              <a:rPr lang="zh-CN" altLang="zh-CN" sz="2400" dirty="0"/>
              <a:t>所示</a:t>
            </a:r>
            <a:r>
              <a:rPr lang="zh-CN" altLang="en-US" sz="2400" dirty="0"/>
              <a:t>：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656027" y="3900154"/>
          <a:ext cx="9264031" cy="14674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4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542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选项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8896" marR="118896" marT="0" marB="0" anchor="ctr"/>
                </a:tc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说明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8896" marR="11889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84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-l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8896" marR="118896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设置卷组上允许</a:t>
                      </a: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</a:rPr>
                        <a:t>创建</a:t>
                      </a:r>
                      <a:r>
                        <a:rPr lang="zh-CN" sz="1800" kern="100" dirty="0">
                          <a:effectLst/>
                        </a:rPr>
                        <a:t>的最大</a:t>
                      </a: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</a:rPr>
                        <a:t>逻辑</a:t>
                      </a:r>
                      <a:r>
                        <a:rPr lang="zh-CN" sz="1800" kern="100" dirty="0">
                          <a:effectLst/>
                        </a:rPr>
                        <a:t>卷数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8896" marR="11889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984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-p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8896" marR="118896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设置卷组上允许</a:t>
                      </a: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</a:rPr>
                        <a:t>添加</a:t>
                      </a:r>
                      <a:r>
                        <a:rPr lang="zh-CN" sz="1800" kern="100" dirty="0">
                          <a:effectLst/>
                        </a:rPr>
                        <a:t>的最大</a:t>
                      </a: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</a:rPr>
                        <a:t>物理</a:t>
                      </a:r>
                      <a:r>
                        <a:rPr lang="zh-CN" sz="1800" kern="100" dirty="0">
                          <a:effectLst/>
                        </a:rPr>
                        <a:t>卷数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8896" marR="11889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984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-s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8896" marR="118896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设置卷组上的</a:t>
                      </a: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</a:rPr>
                        <a:t>最小存储单元（</a:t>
                      </a: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PE</a:t>
                      </a: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</a:rPr>
                        <a:t>）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8896" marR="11889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671" y="5437947"/>
            <a:ext cx="6533696" cy="988652"/>
          </a:xfrm>
          <a:prstGeom prst="rect">
            <a:avLst/>
          </a:prstGeom>
        </p:spPr>
      </p:pic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04107" y="5682447"/>
            <a:ext cx="2499820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物理卷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卷组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lvcreate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88060" y="2312027"/>
            <a:ext cx="10983786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err="1"/>
              <a:t>lvcreate</a:t>
            </a:r>
            <a:r>
              <a:rPr lang="zh-CN" altLang="zh-CN" sz="2400" dirty="0"/>
              <a:t>命令的功能是在已经存在的卷组中</a:t>
            </a:r>
            <a:r>
              <a:rPr lang="zh-CN" altLang="zh-CN" sz="2400" dirty="0">
                <a:solidFill>
                  <a:srgbClr val="FF0000"/>
                </a:solidFill>
              </a:rPr>
              <a:t>创建逻辑卷</a:t>
            </a:r>
            <a:r>
              <a:rPr lang="zh-CN" altLang="zh-CN" sz="2400" dirty="0"/>
              <a:t>，该命令的语法格式如下：</a:t>
            </a:r>
          </a:p>
          <a:p>
            <a:r>
              <a:rPr lang="en-US" altLang="zh-CN" sz="2400" dirty="0" err="1">
                <a:solidFill>
                  <a:srgbClr val="FF0000"/>
                </a:solidFill>
              </a:rPr>
              <a:t>lvcreate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[</a:t>
            </a:r>
            <a:r>
              <a:rPr lang="zh-CN" altLang="zh-CN" sz="2400" dirty="0"/>
              <a:t>选项</a:t>
            </a:r>
            <a:r>
              <a:rPr lang="en-US" altLang="zh-CN" sz="2400" dirty="0"/>
              <a:t>] </a:t>
            </a:r>
            <a:r>
              <a:rPr lang="zh-CN" altLang="zh-CN" sz="2400" dirty="0"/>
              <a:t>卷组名</a:t>
            </a:r>
            <a:r>
              <a:rPr lang="en-US" altLang="zh-CN" sz="2400" dirty="0"/>
              <a:t>/</a:t>
            </a:r>
            <a:r>
              <a:rPr lang="zh-CN" altLang="zh-CN" sz="2400" dirty="0"/>
              <a:t>路径 物理卷路径</a:t>
            </a:r>
          </a:p>
          <a:p>
            <a:r>
              <a:rPr lang="en-US" altLang="zh-CN" sz="2400" dirty="0" err="1"/>
              <a:t>lvcreate</a:t>
            </a:r>
            <a:r>
              <a:rPr lang="zh-CN" altLang="zh-CN" sz="2400" dirty="0"/>
              <a:t>命令的常用选项如表所示。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806491" y="4398752"/>
          <a:ext cx="8965207" cy="14201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977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选项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061" marR="115061" marT="0" marB="0" anchor="ctr"/>
                </a:tc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说明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061" marR="115061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727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-l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061" marR="11506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以</a:t>
                      </a:r>
                      <a:r>
                        <a:rPr lang="en-US" sz="1800" kern="100" dirty="0">
                          <a:effectLst/>
                        </a:rPr>
                        <a:t>PE</a:t>
                      </a:r>
                      <a:r>
                        <a:rPr lang="zh-CN" sz="1800" kern="100" dirty="0">
                          <a:effectLst/>
                        </a:rPr>
                        <a:t>为单位指定逻辑卷容量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061" marR="11506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727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-L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061" marR="11506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指定逻辑卷的容量，单位为</a:t>
                      </a:r>
                      <a:r>
                        <a:rPr lang="en-US" sz="1800" kern="100" dirty="0">
                          <a:effectLst/>
                        </a:rPr>
                        <a:t>B/S/K/M/G/T/P/E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061" marR="11506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727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-n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061" marR="11506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指定逻辑卷的名称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061" marR="11506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588060" y="5963596"/>
            <a:ext cx="10486706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lvcreate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–L 2G –n my_lv1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itcast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595" y="4398752"/>
            <a:ext cx="6781251" cy="1653534"/>
          </a:xfrm>
          <a:prstGeom prst="rect">
            <a:avLst/>
          </a:prstGeom>
        </p:spPr>
      </p:pic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8103865" y="3626757"/>
            <a:ext cx="2499820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卷组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逻辑卷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vgdisplay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88060" y="2312027"/>
            <a:ext cx="10983786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err="1"/>
              <a:t>vgdisplay</a:t>
            </a:r>
            <a:r>
              <a:rPr lang="zh-CN" altLang="zh-CN" sz="2400" dirty="0"/>
              <a:t>命令用于显示</a:t>
            </a:r>
            <a:r>
              <a:rPr lang="en-US" altLang="zh-CN" sz="2400" dirty="0"/>
              <a:t>LVM</a:t>
            </a:r>
            <a:r>
              <a:rPr lang="zh-CN" altLang="zh-CN" sz="2400" dirty="0"/>
              <a:t>卷组的信息，该命令的格式如下：</a:t>
            </a:r>
          </a:p>
          <a:p>
            <a:r>
              <a:rPr lang="en-US" altLang="zh-CN" sz="2400" dirty="0" err="1"/>
              <a:t>vgdisplay</a:t>
            </a:r>
            <a:r>
              <a:rPr lang="en-US" altLang="zh-CN" sz="2400" dirty="0"/>
              <a:t> [</a:t>
            </a:r>
            <a:r>
              <a:rPr lang="zh-CN" altLang="zh-CN" sz="2400" dirty="0"/>
              <a:t>选项</a:t>
            </a:r>
            <a:r>
              <a:rPr lang="en-US" altLang="zh-CN" sz="2400" dirty="0"/>
              <a:t>] </a:t>
            </a:r>
            <a:r>
              <a:rPr lang="zh-CN" altLang="zh-CN" sz="2400" dirty="0"/>
              <a:t>卷组</a:t>
            </a:r>
          </a:p>
          <a:p>
            <a:r>
              <a:rPr lang="en-US" altLang="zh-CN" sz="2400" dirty="0" err="1"/>
              <a:t>vgdisplay</a:t>
            </a:r>
            <a:r>
              <a:rPr lang="zh-CN" altLang="zh-CN" sz="2400" dirty="0"/>
              <a:t>命令的常用选项如表所示。</a:t>
            </a:r>
          </a:p>
        </p:txBody>
      </p:sp>
      <p:sp>
        <p:nvSpPr>
          <p:cNvPr id="4" name="矩形 3"/>
          <p:cNvSpPr/>
          <p:nvPr/>
        </p:nvSpPr>
        <p:spPr>
          <a:xfrm>
            <a:off x="602788" y="5203575"/>
            <a:ext cx="10486706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vgdisplay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-s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itcast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541970" y="3900154"/>
          <a:ext cx="9105421" cy="10993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9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5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3341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选项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6861" marR="116861" marT="0" marB="0" anchor="ctr"/>
                </a:tc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说明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6861" marR="116861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00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-s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6861" marR="11686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使用短格式输出信息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6861" marR="11686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00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-A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6861" marR="11686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仅显示活动卷组的属性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6861" marR="11686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014" y="5426637"/>
            <a:ext cx="6510763" cy="1041017"/>
          </a:xfrm>
          <a:prstGeom prst="rect">
            <a:avLst/>
          </a:prstGeom>
        </p:spPr>
      </p:pic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588060" y="5782423"/>
            <a:ext cx="2976231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卷组使用情况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vgdisplay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840" y="2344666"/>
            <a:ext cx="5226319" cy="3943553"/>
          </a:xfrm>
          <a:prstGeom prst="rect">
            <a:avLst/>
          </a:prstGeom>
        </p:spPr>
      </p:pic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318375" y="2678496"/>
            <a:ext cx="2976231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卷组信息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lvextend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88060" y="2312027"/>
            <a:ext cx="10983786" cy="203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当逻辑卷的可用</a:t>
            </a:r>
            <a:r>
              <a:rPr lang="zh-CN" altLang="en-US" sz="2400" dirty="0">
                <a:solidFill>
                  <a:srgbClr val="FF0000"/>
                </a:solidFill>
              </a:rPr>
              <a:t>存储空间不足</a:t>
            </a:r>
            <a:r>
              <a:rPr lang="zh-CN" altLang="en-US" sz="2400" dirty="0"/>
              <a:t>时，我们需要为其</a:t>
            </a:r>
            <a:r>
              <a:rPr lang="zh-CN" altLang="en-US" sz="2400" dirty="0">
                <a:solidFill>
                  <a:srgbClr val="FF0000"/>
                </a:solidFill>
              </a:rPr>
              <a:t>拓展存储空间</a:t>
            </a:r>
            <a:r>
              <a:rPr lang="zh-CN" altLang="en-US" sz="2400" dirty="0"/>
              <a:t>。使用</a:t>
            </a:r>
            <a:r>
              <a:rPr lang="en-US" altLang="zh-CN" sz="2400" dirty="0"/>
              <a:t>LVM</a:t>
            </a:r>
            <a:r>
              <a:rPr lang="zh-CN" altLang="en-US" sz="2400" dirty="0"/>
              <a:t>机制管理磁盘时可通过</a:t>
            </a:r>
            <a:r>
              <a:rPr lang="en-US" altLang="zh-CN" sz="2400" dirty="0" err="1"/>
              <a:t>lvextend</a:t>
            </a:r>
            <a:r>
              <a:rPr lang="zh-CN" altLang="en-US" sz="2400" dirty="0"/>
              <a:t>命令动态地调整分区的大小，该命令的格式如下：</a:t>
            </a:r>
          </a:p>
          <a:p>
            <a:r>
              <a:rPr lang="en-US" altLang="zh-CN" sz="2400" dirty="0" err="1"/>
              <a:t>lvextend</a:t>
            </a:r>
            <a:r>
              <a:rPr lang="en-US" altLang="zh-CN" sz="2400" dirty="0"/>
              <a:t> [</a:t>
            </a:r>
            <a:r>
              <a:rPr lang="zh-CN" altLang="en-US" sz="2400" dirty="0"/>
              <a:t>选项</a:t>
            </a:r>
            <a:r>
              <a:rPr lang="en-US" altLang="zh-CN" sz="2400" dirty="0"/>
              <a:t>] </a:t>
            </a:r>
            <a:r>
              <a:rPr lang="zh-CN" altLang="en-US" sz="2400" dirty="0"/>
              <a:t>逻辑卷</a:t>
            </a:r>
          </a:p>
          <a:p>
            <a:r>
              <a:rPr lang="en-US" altLang="zh-CN" sz="2400" dirty="0" err="1"/>
              <a:t>lvextend</a:t>
            </a:r>
            <a:r>
              <a:rPr lang="zh-CN" altLang="en-US" sz="2400" dirty="0"/>
              <a:t>命令的常用选项如表所示。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656027" y="4360160"/>
          <a:ext cx="10606685" cy="12806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492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2100" kern="100" dirty="0">
                          <a:effectLst/>
                        </a:rPr>
                        <a:t>选项</a:t>
                      </a:r>
                      <a:endParaRPr lang="zh-CN" sz="21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6129" marR="136129" marT="0" marB="0" anchor="ctr"/>
                </a:tc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说明</a:t>
                      </a:r>
                      <a:endParaRPr lang="zh-CN" sz="21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6129" marR="13612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563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2100" kern="100" dirty="0">
                          <a:effectLst/>
                        </a:rPr>
                        <a:t>-l</a:t>
                      </a:r>
                      <a:endParaRPr lang="zh-CN" sz="21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6129" marR="136129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以</a:t>
                      </a:r>
                      <a:r>
                        <a:rPr lang="en-US" sz="2100" kern="100">
                          <a:effectLst/>
                        </a:rPr>
                        <a:t>PE</a:t>
                      </a:r>
                      <a:r>
                        <a:rPr lang="zh-CN" sz="2100" kern="100">
                          <a:effectLst/>
                        </a:rPr>
                        <a:t>为单位指定逻辑卷容量</a:t>
                      </a:r>
                      <a:endParaRPr lang="zh-CN" sz="21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6129" marR="13612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563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-L</a:t>
                      </a:r>
                      <a:endParaRPr lang="zh-CN" sz="21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6129" marR="136129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2100" kern="100" dirty="0">
                          <a:effectLst/>
                        </a:rPr>
                        <a:t>指定逻辑卷的容量，单位为</a:t>
                      </a:r>
                      <a:r>
                        <a:rPr lang="en-US" sz="2100" kern="100" dirty="0">
                          <a:effectLst/>
                        </a:rPr>
                        <a:t>B/S/K/M/G/T/P/E</a:t>
                      </a:r>
                      <a:endParaRPr lang="zh-CN" sz="21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6129" marR="13612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lvextend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18116" y="4141907"/>
            <a:ext cx="10662493" cy="1596164"/>
            <a:chOff x="918116" y="4418744"/>
            <a:chExt cx="8191921" cy="1226322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8116" y="4729910"/>
              <a:ext cx="8191921" cy="915156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8116" y="4418744"/>
              <a:ext cx="8191921" cy="311166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602788" y="2149410"/>
            <a:ext cx="10486706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lvextend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–L 800M /dev/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itcast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/my_lv2</a:t>
            </a: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4885711" y="3446227"/>
            <a:ext cx="2420578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扩展逻辑卷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6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lvremove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88060" y="2312027"/>
            <a:ext cx="10983786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err="1"/>
              <a:t>lvremove</a:t>
            </a:r>
            <a:r>
              <a:rPr lang="zh-CN" altLang="zh-CN" sz="2400" dirty="0"/>
              <a:t>命令用于删除指定的</a:t>
            </a:r>
            <a:r>
              <a:rPr lang="en-US" altLang="zh-CN" sz="2400" dirty="0"/>
              <a:t>LVM</a:t>
            </a:r>
            <a:r>
              <a:rPr lang="zh-CN" altLang="zh-CN" sz="2400" dirty="0"/>
              <a:t>逻辑卷，若逻辑卷已经被挂载到系统中，则应先使用</a:t>
            </a:r>
            <a:r>
              <a:rPr lang="en-US" altLang="zh-CN" sz="2400" dirty="0" err="1"/>
              <a:t>umount</a:t>
            </a:r>
            <a:r>
              <a:rPr lang="zh-CN" altLang="zh-CN" sz="2400" dirty="0"/>
              <a:t>命令将其卸载，再进行删除。</a:t>
            </a:r>
            <a:r>
              <a:rPr lang="en-US" altLang="zh-CN" sz="2400" dirty="0" err="1"/>
              <a:t>lvremove</a:t>
            </a:r>
            <a:r>
              <a:rPr lang="zh-CN" altLang="zh-CN" sz="2400" dirty="0"/>
              <a:t>命令的语法格式如下：</a:t>
            </a:r>
          </a:p>
          <a:p>
            <a:r>
              <a:rPr lang="en-US" altLang="zh-CN" sz="2400" dirty="0" err="1">
                <a:solidFill>
                  <a:srgbClr val="FF0000"/>
                </a:solidFill>
              </a:rPr>
              <a:t>lvremove</a:t>
            </a:r>
            <a:r>
              <a:rPr lang="en-US" altLang="zh-CN" sz="2400" dirty="0">
                <a:solidFill>
                  <a:srgbClr val="FF0000"/>
                </a:solidFill>
              </a:rPr>
              <a:t> [</a:t>
            </a:r>
            <a:r>
              <a:rPr lang="zh-CN" altLang="zh-CN" sz="2400" dirty="0">
                <a:solidFill>
                  <a:srgbClr val="FF0000"/>
                </a:solidFill>
              </a:rPr>
              <a:t>选项</a:t>
            </a:r>
            <a:r>
              <a:rPr lang="en-US" altLang="zh-CN" sz="2400" dirty="0">
                <a:solidFill>
                  <a:srgbClr val="FF0000"/>
                </a:solidFill>
              </a:rPr>
              <a:t>] </a:t>
            </a:r>
            <a:r>
              <a:rPr lang="zh-CN" altLang="zh-CN" sz="2400" dirty="0">
                <a:solidFill>
                  <a:srgbClr val="FF0000"/>
                </a:solidFill>
              </a:rPr>
              <a:t>逻辑卷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 err="1"/>
              <a:t>lvremove</a:t>
            </a:r>
            <a:r>
              <a:rPr lang="zh-CN" altLang="zh-CN" sz="2400" dirty="0"/>
              <a:t>命令的常用选项为</a:t>
            </a:r>
            <a:r>
              <a:rPr lang="en-US" altLang="zh-CN" sz="2400" dirty="0"/>
              <a:t>-f</a:t>
            </a:r>
            <a:r>
              <a:rPr lang="zh-CN" altLang="zh-CN" sz="2400" dirty="0"/>
              <a:t>，其功能为强制删除指定逻辑卷。</a:t>
            </a:r>
          </a:p>
        </p:txBody>
      </p:sp>
      <p:sp>
        <p:nvSpPr>
          <p:cNvPr id="4" name="矩形 3"/>
          <p:cNvSpPr/>
          <p:nvPr/>
        </p:nvSpPr>
        <p:spPr>
          <a:xfrm>
            <a:off x="602788" y="4347328"/>
            <a:ext cx="10486706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lvremove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/dev/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itcast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/my_lv2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120" y="3660468"/>
            <a:ext cx="8306454" cy="2411823"/>
          </a:xfrm>
          <a:prstGeom prst="rect">
            <a:avLst/>
          </a:prstGeom>
        </p:spPr>
      </p:pic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596202" y="5550784"/>
            <a:ext cx="2420578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删除逻辑卷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rgbClr val="FF0000"/>
                  </a:solidFill>
                </a:rPr>
                <a:t>7</a:t>
              </a:r>
              <a:r>
                <a:rPr lang="zh-CN" altLang="en-US" sz="3200" b="1" dirty="0">
                  <a:solidFill>
                    <a:srgbClr val="FF0000"/>
                  </a:solidFill>
                </a:rPr>
                <a:t>、</a:t>
              </a:r>
              <a:r>
                <a:rPr lang="en-US" altLang="zh-CN" sz="3200" b="1" dirty="0" err="1">
                  <a:solidFill>
                    <a:srgbClr val="FF0000"/>
                  </a:solidFill>
                </a:rPr>
                <a:t>XXremove</a:t>
              </a:r>
              <a:endParaRPr lang="en-US" altLang="zh-CN" sz="3200" b="1" dirty="0">
                <a:solidFill>
                  <a:srgbClr val="FF0000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588060" y="2312027"/>
            <a:ext cx="10983786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err="1"/>
              <a:t>pvcreate</a:t>
            </a:r>
            <a:r>
              <a:rPr lang="zh-CN" altLang="en-US" sz="2400" dirty="0"/>
              <a:t> 创建物理卷</a:t>
            </a:r>
          </a:p>
          <a:p>
            <a:r>
              <a:rPr lang="en-US" altLang="zh-CN" sz="2400" dirty="0" err="1"/>
              <a:t>vgcreate</a:t>
            </a:r>
            <a:r>
              <a:rPr lang="zh-CN" altLang="en-US" sz="2400" dirty="0"/>
              <a:t>创建卷组</a:t>
            </a:r>
            <a:endParaRPr lang="en-US" altLang="zh-CN" sz="2400" dirty="0"/>
          </a:p>
          <a:p>
            <a:r>
              <a:rPr lang="en-US" altLang="zh-CN" sz="2400" dirty="0" err="1"/>
              <a:t>lvcreate</a:t>
            </a:r>
            <a:r>
              <a:rPr lang="zh-CN" altLang="en-US" sz="2400" dirty="0"/>
              <a:t>创建逻辑卷</a:t>
            </a:r>
            <a:endParaRPr lang="en-US" altLang="zh-CN" sz="2400" dirty="0"/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 err="1">
                <a:solidFill>
                  <a:srgbClr val="FF0000"/>
                </a:solidFill>
              </a:rPr>
              <a:t>lvremove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删除</a:t>
            </a:r>
            <a:r>
              <a:rPr lang="zh-CN" altLang="zh-CN" sz="2400" dirty="0">
                <a:solidFill>
                  <a:srgbClr val="FF0000"/>
                </a:solidFill>
              </a:rPr>
              <a:t>逻辑卷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 err="1">
                <a:solidFill>
                  <a:srgbClr val="FF0000"/>
                </a:solidFill>
              </a:rPr>
              <a:t>vgremove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删除卷组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 err="1">
                <a:solidFill>
                  <a:srgbClr val="FF0000"/>
                </a:solidFill>
              </a:rPr>
              <a:t>pvremove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删除物理卷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2.4.4LVM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逻辑卷管理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137" y="2436814"/>
            <a:ext cx="7076709" cy="288655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2.4.5RAID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磁盘阵列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4590185" y="1680047"/>
            <a:ext cx="6947065" cy="3905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Redundant Arrays of Independent Disks</a:t>
            </a:r>
            <a:r>
              <a:rPr lang="zh-CN" altLang="en-US" sz="2400" dirty="0">
                <a:solidFill>
                  <a:srgbClr val="1353A2"/>
                </a:solidFill>
              </a:rPr>
              <a:t>，即磁盘阵列）的</a:t>
            </a:r>
            <a:r>
              <a:rPr lang="zh-CN" altLang="en-US" sz="2400" dirty="0">
                <a:solidFill>
                  <a:srgbClr val="FF0000"/>
                </a:solidFill>
              </a:rPr>
              <a:t>核心思想</a:t>
            </a:r>
            <a:r>
              <a:rPr lang="zh-CN" altLang="en-US" sz="2400" dirty="0">
                <a:solidFill>
                  <a:srgbClr val="1353A2"/>
                </a:solidFill>
              </a:rPr>
              <a:t>是将多个独立的</a:t>
            </a:r>
            <a:r>
              <a:rPr lang="zh-CN" altLang="en-US" sz="2400" dirty="0">
                <a:solidFill>
                  <a:srgbClr val="FF0000"/>
                </a:solidFill>
              </a:rPr>
              <a:t>物理磁盘</a:t>
            </a:r>
            <a:r>
              <a:rPr lang="zh-CN" altLang="en-US" sz="2400" dirty="0">
                <a:solidFill>
                  <a:srgbClr val="1353A2"/>
                </a:solidFill>
              </a:rPr>
              <a:t>按照某些方式</a:t>
            </a:r>
            <a:r>
              <a:rPr lang="zh-CN" altLang="en-US" sz="2400" dirty="0">
                <a:solidFill>
                  <a:srgbClr val="FF0000"/>
                </a:solidFill>
              </a:rPr>
              <a:t>组合成</a:t>
            </a:r>
            <a:r>
              <a:rPr lang="zh-CN" altLang="en-US" sz="2400" dirty="0">
                <a:solidFill>
                  <a:srgbClr val="1353A2"/>
                </a:solidFill>
              </a:rPr>
              <a:t>一个</a:t>
            </a:r>
            <a:r>
              <a:rPr lang="zh-CN" altLang="en-US" sz="2400" dirty="0">
                <a:solidFill>
                  <a:srgbClr val="FF0000"/>
                </a:solidFill>
              </a:rPr>
              <a:t>逻辑磁盘</a:t>
            </a:r>
            <a:r>
              <a:rPr lang="zh-CN" altLang="en-US" sz="2400" dirty="0">
                <a:solidFill>
                  <a:srgbClr val="1353A2"/>
                </a:solidFill>
              </a:rPr>
              <a:t>，这种技术早期的研究目的是使用</a:t>
            </a:r>
            <a:r>
              <a:rPr lang="zh-CN" altLang="en-US" sz="2400" dirty="0">
                <a:solidFill>
                  <a:srgbClr val="FF0000"/>
                </a:solidFill>
              </a:rPr>
              <a:t>多个</a:t>
            </a:r>
            <a:r>
              <a:rPr lang="zh-CN" altLang="en-US" sz="2400" dirty="0">
                <a:solidFill>
                  <a:srgbClr val="1353A2"/>
                </a:solidFill>
              </a:rPr>
              <a:t>廉价</a:t>
            </a:r>
            <a:r>
              <a:rPr lang="zh-CN" altLang="en-US" sz="2400" dirty="0">
                <a:solidFill>
                  <a:srgbClr val="FF0000"/>
                </a:solidFill>
              </a:rPr>
              <a:t>小</a:t>
            </a:r>
            <a:r>
              <a:rPr lang="zh-CN" altLang="en-US" sz="2400" dirty="0">
                <a:solidFill>
                  <a:srgbClr val="1353A2"/>
                </a:solidFill>
              </a:rPr>
              <a:t>磁盘</a:t>
            </a:r>
            <a:r>
              <a:rPr lang="zh-CN" altLang="en-US" sz="2400" dirty="0">
                <a:solidFill>
                  <a:srgbClr val="FF0000"/>
                </a:solidFill>
              </a:rPr>
              <a:t>替</a:t>
            </a:r>
            <a:r>
              <a:rPr lang="zh-CN" altLang="en-US" sz="2400" dirty="0">
                <a:solidFill>
                  <a:srgbClr val="1353A2"/>
                </a:solidFill>
              </a:rPr>
              <a:t>代</a:t>
            </a:r>
            <a:r>
              <a:rPr lang="zh-CN" altLang="en-US" sz="2400" dirty="0">
                <a:solidFill>
                  <a:srgbClr val="FF0000"/>
                </a:solidFill>
              </a:rPr>
              <a:t>大</a:t>
            </a:r>
            <a:r>
              <a:rPr lang="zh-CN" altLang="en-US" sz="2400" dirty="0">
                <a:solidFill>
                  <a:srgbClr val="1353A2"/>
                </a:solidFill>
              </a:rPr>
              <a:t>容量磁盘，节约成本，随着磁盘的发展，</a:t>
            </a:r>
            <a:r>
              <a:rPr lang="en-US" altLang="zh-CN" sz="2400" dirty="0">
                <a:solidFill>
                  <a:srgbClr val="00B050"/>
                </a:solidFill>
              </a:rPr>
              <a:t>RAID</a:t>
            </a:r>
            <a:r>
              <a:rPr lang="zh-CN" altLang="en-US" sz="2400" dirty="0">
                <a:solidFill>
                  <a:srgbClr val="00B050"/>
                </a:solidFill>
              </a:rPr>
              <a:t>技术更侧重于提高磁盘容错功能与传输速率，提升磁盘性能。</a:t>
            </a:r>
            <a:endParaRPr lang="en-US" altLang="zh-CN" sz="2400" dirty="0">
              <a:solidFill>
                <a:srgbClr val="00B05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35" y="1680047"/>
            <a:ext cx="3817671" cy="374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2.4.5RAID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磁盘阵列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47559" y="1205034"/>
            <a:ext cx="110427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</a:rPr>
              <a:t>分为</a:t>
            </a:r>
            <a:r>
              <a:rPr lang="zh-CN" altLang="en-US" sz="2400" dirty="0">
                <a:solidFill>
                  <a:srgbClr val="FF0000"/>
                </a:solidFill>
              </a:rPr>
              <a:t>软件</a:t>
            </a:r>
            <a:r>
              <a:rPr lang="en-US" altLang="zh-CN" sz="2400" dirty="0">
                <a:solidFill>
                  <a:srgbClr val="FF0000"/>
                </a:solidFill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硬件</a:t>
            </a:r>
            <a:r>
              <a:rPr lang="en-US" altLang="zh-CN" sz="2400" dirty="0">
                <a:solidFill>
                  <a:srgbClr val="FF0000"/>
                </a:solidFill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</a:rPr>
              <a:t>，软件</a:t>
            </a: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</a:rPr>
              <a:t>和硬件</a:t>
            </a: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</a:rPr>
              <a:t>可以实现相同的功能。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547559" y="1712866"/>
            <a:ext cx="1104275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1</a:t>
            </a:r>
            <a:r>
              <a:rPr lang="zh-CN" altLang="en-US" sz="2400" dirty="0">
                <a:solidFill>
                  <a:srgbClr val="1353A2"/>
                </a:solidFill>
              </a:rPr>
              <a:t>、软件</a:t>
            </a:r>
            <a:r>
              <a:rPr lang="en-US" altLang="zh-CN" sz="2400" dirty="0">
                <a:solidFill>
                  <a:srgbClr val="1353A2"/>
                </a:solidFill>
              </a:rPr>
              <a:t>RAID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主流操作系统都已集成了软件</a:t>
            </a: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</a:rPr>
              <a:t>功能，但由于软件</a:t>
            </a: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</a:rPr>
              <a:t>没有独立的硬件控制设备，性能略为低下。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47559" y="3418552"/>
            <a:ext cx="1104275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本身有独立的控制部件和内存，不占用系统资源，且效率高、性能强。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7560" y="5025610"/>
            <a:ext cx="110427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卡价格低廉，目前市面上的多数主板已集成了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卡，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存储系统常被用于生产环境中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/>
      <p:bldP spid="2" grpId="0"/>
      <p:bldP spid="3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2.4.5RAID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磁盘阵列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47559" y="1205034"/>
            <a:ext cx="11042758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根据磁盘中数据的存取方式，</a:t>
            </a: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</a:rPr>
              <a:t>分为多个级别，其中较为</a:t>
            </a:r>
            <a:r>
              <a:rPr lang="zh-CN" altLang="en-US" sz="2400" dirty="0">
                <a:solidFill>
                  <a:srgbClr val="C00000"/>
                </a:solidFill>
              </a:rPr>
              <a:t>常用的级别</a:t>
            </a:r>
            <a:r>
              <a:rPr lang="zh-CN" altLang="en-US" sz="2400" dirty="0">
                <a:solidFill>
                  <a:srgbClr val="1353A2"/>
                </a:solidFill>
              </a:rPr>
              <a:t>有</a:t>
            </a:r>
            <a:r>
              <a:rPr lang="en-US" altLang="zh-CN" sz="2400" dirty="0">
                <a:solidFill>
                  <a:srgbClr val="00B0F0"/>
                </a:solidFill>
              </a:rPr>
              <a:t>RAID0</a:t>
            </a:r>
            <a:r>
              <a:rPr lang="zh-CN" altLang="en-US" sz="2400" dirty="0">
                <a:solidFill>
                  <a:srgbClr val="00B0F0"/>
                </a:solidFill>
              </a:rPr>
              <a:t>、</a:t>
            </a:r>
            <a:r>
              <a:rPr lang="en-US" altLang="zh-CN" sz="2400" dirty="0">
                <a:solidFill>
                  <a:srgbClr val="00B0F0"/>
                </a:solidFill>
              </a:rPr>
              <a:t>RAID1</a:t>
            </a:r>
            <a:r>
              <a:rPr lang="zh-CN" altLang="en-US" sz="2400" dirty="0">
                <a:solidFill>
                  <a:srgbClr val="00B0F0"/>
                </a:solidFill>
              </a:rPr>
              <a:t>、</a:t>
            </a:r>
            <a:r>
              <a:rPr lang="en-US" altLang="zh-CN" sz="2400" dirty="0">
                <a:solidFill>
                  <a:srgbClr val="00B0F0"/>
                </a:solidFill>
              </a:rPr>
              <a:t>RAID10</a:t>
            </a:r>
            <a:r>
              <a:rPr lang="zh-CN" altLang="en-US" sz="2400" dirty="0">
                <a:solidFill>
                  <a:srgbClr val="00B0F0"/>
                </a:solidFill>
              </a:rPr>
              <a:t>、</a:t>
            </a:r>
            <a:r>
              <a:rPr lang="en-US" altLang="zh-CN" sz="2400" dirty="0">
                <a:solidFill>
                  <a:srgbClr val="00B0F0"/>
                </a:solidFill>
              </a:rPr>
              <a:t>RAID5</a:t>
            </a:r>
            <a:r>
              <a:rPr lang="zh-CN" altLang="en-US" sz="2400" dirty="0">
                <a:solidFill>
                  <a:srgbClr val="00B0F0"/>
                </a:solidFill>
              </a:rPr>
              <a:t>等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547559" y="2340088"/>
            <a:ext cx="5425729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1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RAID0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</a:rPr>
              <a:t>RAID0</a:t>
            </a:r>
            <a:r>
              <a:rPr lang="zh-CN" altLang="en-US" sz="2400" dirty="0">
                <a:solidFill>
                  <a:srgbClr val="FF0000"/>
                </a:solidFill>
              </a:rPr>
              <a:t>最少</a:t>
            </a:r>
            <a:r>
              <a:rPr lang="zh-CN" altLang="en-US" sz="2400" dirty="0">
                <a:solidFill>
                  <a:srgbClr val="1353A2"/>
                </a:solidFill>
              </a:rPr>
              <a:t>需要</a:t>
            </a:r>
            <a:r>
              <a:rPr lang="zh-CN" altLang="zh-CN" sz="2400" dirty="0">
                <a:solidFill>
                  <a:srgbClr val="FF0000"/>
                </a:solidFill>
              </a:rPr>
              <a:t>两块磁盘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</a:rPr>
              <a:t>多个磁盘中</a:t>
            </a:r>
            <a:r>
              <a:rPr lang="zh-CN" altLang="en-US" sz="2400" dirty="0">
                <a:solidFill>
                  <a:srgbClr val="FF0000"/>
                </a:solidFill>
              </a:rPr>
              <a:t>分</a:t>
            </a:r>
            <a:r>
              <a:rPr lang="zh-CN" altLang="en-US" sz="2400" dirty="0">
                <a:solidFill>
                  <a:srgbClr val="1353A2"/>
                </a:solidFill>
              </a:rPr>
              <a:t>散</a:t>
            </a:r>
            <a:r>
              <a:rPr lang="zh-CN" altLang="en-US" sz="2400" dirty="0">
                <a:solidFill>
                  <a:srgbClr val="FF0000"/>
                </a:solidFill>
              </a:rPr>
              <a:t>存</a:t>
            </a:r>
            <a:r>
              <a:rPr lang="zh-CN" altLang="en-US" sz="2400" dirty="0">
                <a:solidFill>
                  <a:srgbClr val="1353A2"/>
                </a:solidFill>
              </a:rPr>
              <a:t>放</a:t>
            </a:r>
            <a:r>
              <a:rPr lang="zh-CN" altLang="en-US" sz="2400" dirty="0">
                <a:solidFill>
                  <a:srgbClr val="FF0000"/>
                </a:solidFill>
              </a:rPr>
              <a:t>连续</a:t>
            </a:r>
            <a:r>
              <a:rPr lang="zh-CN" altLang="en-US" sz="2400" dirty="0">
                <a:solidFill>
                  <a:srgbClr val="1353A2"/>
                </a:solidFill>
              </a:rPr>
              <a:t>的数据，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</a:rPr>
              <a:t>多个磁盘</a:t>
            </a:r>
            <a:r>
              <a:rPr lang="zh-CN" altLang="en-US" sz="2400" dirty="0">
                <a:solidFill>
                  <a:srgbClr val="FF0000"/>
                </a:solidFill>
              </a:rPr>
              <a:t>并行</a:t>
            </a:r>
            <a:r>
              <a:rPr lang="zh-CN" altLang="en-US" sz="2400" dirty="0">
                <a:solidFill>
                  <a:srgbClr val="1353A2"/>
                </a:solidFill>
              </a:rPr>
              <a:t>执行数据</a:t>
            </a:r>
            <a:r>
              <a:rPr lang="zh-CN" altLang="en-US" sz="2400" dirty="0">
                <a:solidFill>
                  <a:srgbClr val="FF0000"/>
                </a:solidFill>
              </a:rPr>
              <a:t>存取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938" y="2667119"/>
            <a:ext cx="5311244" cy="19859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547559" y="4626599"/>
            <a:ext cx="330111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特点：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1353A2"/>
                </a:solidFill>
              </a:rPr>
              <a:t>存取</a:t>
            </a:r>
            <a:r>
              <a:rPr lang="zh-CN" altLang="en-US" sz="2400" dirty="0">
                <a:solidFill>
                  <a:srgbClr val="00B0F0"/>
                </a:solidFill>
              </a:rPr>
              <a:t>效率高</a:t>
            </a:r>
            <a:endParaRPr lang="en-US" altLang="zh-CN" sz="2400" dirty="0">
              <a:solidFill>
                <a:srgbClr val="00B0F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1353A2"/>
                </a:solidFill>
              </a:rPr>
              <a:t>不具备容错能力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4575923" y="4626599"/>
            <a:ext cx="330111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场合：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1353A2"/>
                </a:solidFill>
              </a:rPr>
              <a:t>成本和效率要求较高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1353A2"/>
                </a:solidFill>
              </a:rPr>
              <a:t>可靠性要求较低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48617" y="1975192"/>
            <a:ext cx="4951885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RAID0(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分散存储，并行存取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 build="p"/>
      <p:bldP spid="6" grpId="0"/>
      <p:bldP spid="8" grpId="0"/>
      <p:bldP spid="3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2.4.5RAID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磁盘阵列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47559" y="1205034"/>
            <a:ext cx="11042758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根据磁盘中数据的存取方式，</a:t>
            </a: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</a:rPr>
              <a:t>分为多个级别，其中较为常用的级别有</a:t>
            </a:r>
            <a:r>
              <a:rPr lang="en-US" altLang="zh-CN" sz="2400" dirty="0">
                <a:solidFill>
                  <a:srgbClr val="1353A2"/>
                </a:solidFill>
              </a:rPr>
              <a:t>RAID0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RAID1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RAID10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RAID5</a:t>
            </a:r>
            <a:r>
              <a:rPr lang="zh-CN" altLang="en-US" sz="2400" dirty="0">
                <a:solidFill>
                  <a:srgbClr val="1353A2"/>
                </a:solidFill>
              </a:rPr>
              <a:t>等。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547559" y="2340088"/>
            <a:ext cx="54257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2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RAID1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</a:rPr>
              <a:t>RAID1</a:t>
            </a:r>
            <a:r>
              <a:rPr lang="zh-CN" altLang="en-US" sz="2400" dirty="0">
                <a:solidFill>
                  <a:srgbClr val="FF0000"/>
                </a:solidFill>
              </a:rPr>
              <a:t>至少</a:t>
            </a:r>
            <a:r>
              <a:rPr lang="zh-CN" altLang="en-US" sz="2400" dirty="0">
                <a:solidFill>
                  <a:srgbClr val="1353A2"/>
                </a:solidFill>
              </a:rPr>
              <a:t>需要</a:t>
            </a:r>
            <a:r>
              <a:rPr lang="zh-CN" altLang="zh-CN" sz="2400" dirty="0">
                <a:solidFill>
                  <a:srgbClr val="FF0000"/>
                </a:solidFill>
              </a:rPr>
              <a:t>两块磁盘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</a:rPr>
              <a:t>将数据同时</a:t>
            </a:r>
            <a:r>
              <a:rPr lang="zh-CN" altLang="en-US" sz="2400" b="1" dirty="0">
                <a:solidFill>
                  <a:srgbClr val="FF0000"/>
                </a:solidFill>
              </a:rPr>
              <a:t>复制</a:t>
            </a:r>
            <a:r>
              <a:rPr lang="zh-CN" altLang="en-US" sz="2400" dirty="0">
                <a:solidFill>
                  <a:srgbClr val="1353A2"/>
                </a:solidFill>
              </a:rPr>
              <a:t>到每块硬盘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</a:rPr>
              <a:t>不含校验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8" name="图片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378" y="2517229"/>
            <a:ext cx="4930079" cy="19865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547559" y="4626599"/>
            <a:ext cx="512991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特点：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1353A2"/>
                </a:solidFill>
              </a:rPr>
              <a:t>具备容错能力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1353A2"/>
                </a:solidFill>
              </a:rPr>
              <a:t>磁盘利用率与写入效率较低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77469" y="4825553"/>
            <a:ext cx="4951885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RAID1(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数据备份，安全储存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 uiExpand="1" build="p"/>
      <p:bldP spid="9" grpId="0"/>
      <p:bldP spid="2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2.4.5RAID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磁盘阵列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47559" y="1205034"/>
            <a:ext cx="1103939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根据磁盘中数据的存取方式，</a:t>
            </a: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</a:rPr>
              <a:t>分为多个级别，其中较为常用的级别有</a:t>
            </a:r>
            <a:r>
              <a:rPr lang="en-US" altLang="zh-CN" sz="2400" dirty="0">
                <a:solidFill>
                  <a:srgbClr val="1353A2"/>
                </a:solidFill>
              </a:rPr>
              <a:t>RAID0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RAID1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RAID10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RAID5</a:t>
            </a:r>
            <a:r>
              <a:rPr lang="zh-CN" altLang="en-US" sz="2400" dirty="0">
                <a:solidFill>
                  <a:srgbClr val="1353A2"/>
                </a:solidFill>
              </a:rPr>
              <a:t>等。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547559" y="2340088"/>
            <a:ext cx="54257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3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RAID10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FF0000"/>
                </a:solidFill>
              </a:rPr>
              <a:t>RAID1+0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FF0000"/>
                </a:solidFill>
              </a:rPr>
              <a:t>RAID0+1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</a:rPr>
              <a:t>至少需要四块磁盘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547559" y="4642937"/>
            <a:ext cx="512991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特点：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1353A2"/>
                </a:solidFill>
              </a:rPr>
              <a:t>高可靠性、高效率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1353A2"/>
                </a:solidFill>
              </a:rPr>
              <a:t>高成本、低磁盘利用率较低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926" y="2383198"/>
            <a:ext cx="3880655" cy="2442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4886" y="2411037"/>
            <a:ext cx="3561129" cy="2415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 uiExpand="1" build="p"/>
      <p:bldP spid="9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2.4.5RAID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磁盘阵列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47559" y="1205034"/>
            <a:ext cx="1103939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根据磁盘中数据的存取方式，</a:t>
            </a: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en-US" sz="2400" dirty="0">
                <a:solidFill>
                  <a:srgbClr val="1353A2"/>
                </a:solidFill>
              </a:rPr>
              <a:t>分为多个级别，其中较为常用的级别有</a:t>
            </a:r>
            <a:r>
              <a:rPr lang="en-US" altLang="zh-CN" sz="2400" dirty="0">
                <a:solidFill>
                  <a:srgbClr val="1353A2"/>
                </a:solidFill>
              </a:rPr>
              <a:t>RAID0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RAID1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RAID10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RAID5</a:t>
            </a:r>
            <a:r>
              <a:rPr lang="zh-CN" altLang="en-US" sz="2400" dirty="0">
                <a:solidFill>
                  <a:srgbClr val="1353A2"/>
                </a:solidFill>
              </a:rPr>
              <a:t>等。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547559" y="2340088"/>
            <a:ext cx="6682581" cy="2797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3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</a:rPr>
              <a:t>RAID5</a:t>
            </a: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b:</a:t>
            </a:r>
            <a:r>
              <a:rPr lang="zh-CN" altLang="en-US" sz="2400" dirty="0">
                <a:solidFill>
                  <a:srgbClr val="1353A2"/>
                </a:solidFill>
              </a:rPr>
              <a:t>数据块；</a:t>
            </a:r>
            <a:r>
              <a:rPr lang="en-US" altLang="zh-CN" sz="2400" dirty="0">
                <a:solidFill>
                  <a:srgbClr val="1353A2"/>
                </a:solidFill>
              </a:rPr>
              <a:t>p:</a:t>
            </a:r>
            <a:r>
              <a:rPr lang="zh-CN" altLang="en-US" sz="2400" dirty="0">
                <a:solidFill>
                  <a:srgbClr val="1353A2"/>
                </a:solidFill>
              </a:rPr>
              <a:t>校验信息）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</a:rPr>
              <a:t>至少需要</a:t>
            </a:r>
            <a:r>
              <a:rPr lang="zh-CN" altLang="en-US" sz="2400" dirty="0">
                <a:solidFill>
                  <a:srgbClr val="FF0000"/>
                </a:solidFill>
              </a:rPr>
              <a:t>三块磁盘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</a:rPr>
              <a:t>将数据以</a:t>
            </a:r>
            <a:r>
              <a:rPr lang="zh-CN" altLang="en-US" sz="2400" dirty="0">
                <a:solidFill>
                  <a:srgbClr val="FF0000"/>
                </a:solidFill>
              </a:rPr>
              <a:t>块为单位</a:t>
            </a:r>
            <a:r>
              <a:rPr lang="zh-CN" altLang="en-US" sz="2400" dirty="0">
                <a:solidFill>
                  <a:srgbClr val="1353A2"/>
                </a:solidFill>
              </a:rPr>
              <a:t>存储到各个磁盘中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</a:rPr>
              <a:t>将各块数据的</a:t>
            </a:r>
            <a:r>
              <a:rPr lang="zh-CN" altLang="en-US" sz="2400" dirty="0">
                <a:solidFill>
                  <a:srgbClr val="FF0000"/>
                </a:solidFill>
              </a:rPr>
              <a:t>校验信息</a:t>
            </a:r>
            <a:r>
              <a:rPr lang="zh-CN" altLang="en-US" sz="2400" dirty="0">
                <a:solidFill>
                  <a:srgbClr val="1353A2"/>
                </a:solidFill>
              </a:rPr>
              <a:t>分别存储到</a:t>
            </a:r>
            <a:r>
              <a:rPr lang="en-US" altLang="zh-CN" sz="2400" dirty="0">
                <a:solidFill>
                  <a:srgbClr val="1353A2"/>
                </a:solidFill>
              </a:rPr>
              <a:t>RAID5</a:t>
            </a:r>
            <a:r>
              <a:rPr lang="zh-CN" altLang="en-US" sz="2400" dirty="0">
                <a:solidFill>
                  <a:srgbClr val="1353A2"/>
                </a:solidFill>
              </a:rPr>
              <a:t>的各个磁盘中</a:t>
            </a: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3084686" y="4651593"/>
            <a:ext cx="695953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特点：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1353A2"/>
                </a:solidFill>
              </a:rPr>
              <a:t>并行存取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1353A2"/>
                </a:solidFill>
              </a:rPr>
              <a:t>存储成本与读写效率处于中间水准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8" name="图片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518" y="2603498"/>
            <a:ext cx="3466531" cy="233550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 uiExpand="1" build="p"/>
      <p:bldP spid="9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2.4.6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614148" y="1229671"/>
            <a:ext cx="10923101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zh-CN" sz="2400" dirty="0">
                <a:solidFill>
                  <a:srgbClr val="1353A2"/>
                </a:solidFill>
              </a:rPr>
              <a:t>系统中使用</a:t>
            </a:r>
            <a:r>
              <a:rPr lang="en-US" altLang="zh-CN" sz="2400" dirty="0" err="1">
                <a:solidFill>
                  <a:srgbClr val="FF0000"/>
                </a:solidFill>
              </a:rPr>
              <a:t>mdadm</a:t>
            </a:r>
            <a:r>
              <a:rPr lang="zh-CN" altLang="zh-CN" sz="2400" dirty="0">
                <a:solidFill>
                  <a:srgbClr val="1353A2"/>
                </a:solidFill>
              </a:rPr>
              <a:t>命令创建和管理</a:t>
            </a: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zh-CN" sz="2400" dirty="0">
                <a:solidFill>
                  <a:srgbClr val="1353A2"/>
                </a:solidFill>
              </a:rPr>
              <a:t>，该命令的全称是</a:t>
            </a:r>
            <a:r>
              <a:rPr lang="en-US" altLang="zh-CN" sz="2400" dirty="0" err="1">
                <a:solidFill>
                  <a:srgbClr val="1353A2"/>
                </a:solidFill>
              </a:rPr>
              <a:t>mltiple</a:t>
            </a:r>
            <a:r>
              <a:rPr lang="en-US" altLang="zh-CN" sz="2400" dirty="0">
                <a:solidFill>
                  <a:srgbClr val="1353A2"/>
                </a:solidFill>
              </a:rPr>
              <a:t> devices admin</a:t>
            </a:r>
            <a:r>
              <a:rPr lang="zh-CN" altLang="zh-CN" sz="2400" dirty="0">
                <a:solidFill>
                  <a:srgbClr val="1353A2"/>
                </a:solidFill>
              </a:rPr>
              <a:t>，其语法格式如下：</a:t>
            </a:r>
          </a:p>
          <a:p>
            <a:r>
              <a:rPr lang="en-US" altLang="zh-CN" sz="2400" dirty="0" err="1">
                <a:solidFill>
                  <a:srgbClr val="1353A2"/>
                </a:solidFill>
              </a:rPr>
              <a:t>mdadm</a:t>
            </a:r>
            <a:r>
              <a:rPr lang="en-US" altLang="zh-CN" sz="2400" dirty="0">
                <a:solidFill>
                  <a:srgbClr val="1353A2"/>
                </a:solidFill>
              </a:rPr>
              <a:t> [</a:t>
            </a:r>
            <a:r>
              <a:rPr lang="zh-CN" altLang="zh-CN" sz="2400" dirty="0">
                <a:solidFill>
                  <a:srgbClr val="1353A2"/>
                </a:solidFill>
              </a:rPr>
              <a:t>模式</a:t>
            </a:r>
            <a:r>
              <a:rPr lang="en-US" altLang="zh-CN" sz="2400" dirty="0">
                <a:solidFill>
                  <a:srgbClr val="1353A2"/>
                </a:solidFill>
              </a:rPr>
              <a:t>] &lt;RAID</a:t>
            </a:r>
            <a:r>
              <a:rPr lang="zh-CN" altLang="zh-CN" sz="2400" dirty="0">
                <a:solidFill>
                  <a:srgbClr val="1353A2"/>
                </a:solidFill>
              </a:rPr>
              <a:t>设备名</a:t>
            </a:r>
            <a:r>
              <a:rPr lang="en-US" altLang="zh-CN" sz="2400" dirty="0">
                <a:solidFill>
                  <a:srgbClr val="1353A2"/>
                </a:solidFill>
              </a:rPr>
              <a:t>&gt; [</a:t>
            </a:r>
            <a:r>
              <a:rPr lang="zh-CN" altLang="zh-CN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&lt;</a:t>
            </a:r>
            <a:r>
              <a:rPr lang="zh-CN" altLang="zh-CN" sz="2400" dirty="0">
                <a:solidFill>
                  <a:srgbClr val="1353A2"/>
                </a:solidFill>
              </a:rPr>
              <a:t>组件设备名</a:t>
            </a:r>
            <a:r>
              <a:rPr lang="en-US" altLang="zh-CN" sz="2400" dirty="0">
                <a:solidFill>
                  <a:srgbClr val="1353A2"/>
                </a:solidFill>
              </a:rPr>
              <a:t>&gt;</a:t>
            </a:r>
            <a:endParaRPr lang="zh-CN" altLang="zh-CN" sz="2400" dirty="0">
              <a:solidFill>
                <a:srgbClr val="1353A2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03196" y="2817798"/>
          <a:ext cx="10345004" cy="32402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5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751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工作模式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tc>
                  <a:txBody>
                    <a:bodyPr/>
                    <a:lstStyle/>
                    <a:p>
                      <a:pPr indent="236855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说明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47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-A/--accemble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组合。将一个本属于一个已存在阵列的每个设备组装为阵列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085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-B/--build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构建。构建一个不需要超级块的阵列，阵列中的每个设备都没有超级块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47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-C/--create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创建。创建一个新阵列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085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-F/--follow/--monitor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监视。监视一个或多个阵列的状态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47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-G/--grow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增长。更改</a:t>
                      </a:r>
                      <a:r>
                        <a:rPr lang="en-US" sz="1800" kern="100">
                          <a:effectLst/>
                        </a:rPr>
                        <a:t>RAID</a:t>
                      </a:r>
                      <a:r>
                        <a:rPr lang="zh-CN" sz="1800" kern="100">
                          <a:effectLst/>
                        </a:rPr>
                        <a:t>的容量或阵列中的设备数目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47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--auto-detect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自动侦测。请求内核启动任何自动检测的阵列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745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-I/--incremental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增加。向阵列中添加单个设备，或从阵列中删除单个设备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804" marR="119804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2.4.6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614148" y="1229671"/>
            <a:ext cx="10923101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zh-CN" sz="2400" dirty="0">
                <a:solidFill>
                  <a:srgbClr val="1353A2"/>
                </a:solidFill>
              </a:rPr>
              <a:t>系统中使用</a:t>
            </a:r>
            <a:r>
              <a:rPr lang="en-US" altLang="zh-CN" sz="2400" dirty="0" err="1">
                <a:solidFill>
                  <a:srgbClr val="FF0000"/>
                </a:solidFill>
              </a:rPr>
              <a:t>mdadm</a:t>
            </a:r>
            <a:r>
              <a:rPr lang="zh-CN" altLang="zh-CN" sz="2400" dirty="0">
                <a:solidFill>
                  <a:srgbClr val="1353A2"/>
                </a:solidFill>
              </a:rPr>
              <a:t>命令创建和管理</a:t>
            </a: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zh-CN" sz="2400" dirty="0">
                <a:solidFill>
                  <a:srgbClr val="1353A2"/>
                </a:solidFill>
              </a:rPr>
              <a:t>，该命令的全称是</a:t>
            </a:r>
            <a:r>
              <a:rPr lang="en-US" altLang="zh-CN" sz="2400" dirty="0" err="1">
                <a:solidFill>
                  <a:srgbClr val="1353A2"/>
                </a:solidFill>
              </a:rPr>
              <a:t>mltiple</a:t>
            </a:r>
            <a:r>
              <a:rPr lang="en-US" altLang="zh-CN" sz="2400" dirty="0">
                <a:solidFill>
                  <a:srgbClr val="1353A2"/>
                </a:solidFill>
              </a:rPr>
              <a:t> devices admin</a:t>
            </a:r>
            <a:r>
              <a:rPr lang="zh-CN" altLang="zh-CN" sz="2400" dirty="0">
                <a:solidFill>
                  <a:srgbClr val="1353A2"/>
                </a:solidFill>
              </a:rPr>
              <a:t>，其语法格式如下：</a:t>
            </a:r>
          </a:p>
          <a:p>
            <a:r>
              <a:rPr lang="en-US" altLang="zh-CN" sz="2400" dirty="0" err="1">
                <a:solidFill>
                  <a:srgbClr val="1353A2"/>
                </a:solidFill>
              </a:rPr>
              <a:t>mdadm</a:t>
            </a:r>
            <a:r>
              <a:rPr lang="en-US" altLang="zh-CN" sz="2400" dirty="0">
                <a:solidFill>
                  <a:srgbClr val="1353A2"/>
                </a:solidFill>
              </a:rPr>
              <a:t> [</a:t>
            </a:r>
            <a:r>
              <a:rPr lang="zh-CN" altLang="zh-CN" sz="2400" dirty="0">
                <a:solidFill>
                  <a:srgbClr val="1353A2"/>
                </a:solidFill>
              </a:rPr>
              <a:t>模式</a:t>
            </a:r>
            <a:r>
              <a:rPr lang="en-US" altLang="zh-CN" sz="2400" dirty="0">
                <a:solidFill>
                  <a:srgbClr val="1353A2"/>
                </a:solidFill>
              </a:rPr>
              <a:t>] &lt;RAID</a:t>
            </a:r>
            <a:r>
              <a:rPr lang="zh-CN" altLang="zh-CN" sz="2400" dirty="0">
                <a:solidFill>
                  <a:srgbClr val="1353A2"/>
                </a:solidFill>
              </a:rPr>
              <a:t>设备名</a:t>
            </a:r>
            <a:r>
              <a:rPr lang="en-US" altLang="zh-CN" sz="2400" dirty="0">
                <a:solidFill>
                  <a:srgbClr val="1353A2"/>
                </a:solidFill>
              </a:rPr>
              <a:t>&gt; [</a:t>
            </a:r>
            <a:r>
              <a:rPr lang="zh-CN" altLang="zh-CN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&lt;</a:t>
            </a:r>
            <a:r>
              <a:rPr lang="zh-CN" altLang="zh-CN" sz="2400" dirty="0">
                <a:solidFill>
                  <a:srgbClr val="1353A2"/>
                </a:solidFill>
              </a:rPr>
              <a:t>组件设备名</a:t>
            </a:r>
            <a:r>
              <a:rPr lang="en-US" altLang="zh-CN" sz="2400" dirty="0">
                <a:solidFill>
                  <a:srgbClr val="1353A2"/>
                </a:solidFill>
              </a:rPr>
              <a:t>&gt;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75636" y="3316396"/>
          <a:ext cx="10200124" cy="23064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3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6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573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选项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214" marR="130214" marT="0" marB="0"/>
                </a:tc>
                <a:tc>
                  <a:txBody>
                    <a:bodyPr/>
                    <a:lstStyle/>
                    <a:p>
                      <a:pPr indent="236855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说明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214" marR="13021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203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-l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214" marR="13021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指定</a:t>
                      </a:r>
                      <a:r>
                        <a:rPr lang="en-US" sz="2000" kern="100">
                          <a:effectLst/>
                        </a:rPr>
                        <a:t>RAID</a:t>
                      </a:r>
                      <a:r>
                        <a:rPr lang="zh-CN" sz="2000" kern="100">
                          <a:effectLst/>
                        </a:rPr>
                        <a:t>级别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214" marR="130214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203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-n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214" marR="13021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指定设备数量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214" marR="130214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203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-a {yes|no}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214" marR="13021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是否自动为其创建设备文件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214" marR="130214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203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-c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214" marR="13021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指定数据块大小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214" marR="130214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096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-x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214" marR="13021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指定空闲盘个数，空闲盘可自动顶替损坏的工作盘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0214" marR="130214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椭圆 3"/>
          <p:cNvSpPr/>
          <p:nvPr/>
        </p:nvSpPr>
        <p:spPr>
          <a:xfrm>
            <a:off x="1692322" y="4189863"/>
            <a:ext cx="900753" cy="327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692321" y="5270311"/>
            <a:ext cx="900753" cy="327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14148" y="2694968"/>
            <a:ext cx="10814001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mdadm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命令在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模式下的常用选项如表所示。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2384037" y="3301822"/>
            <a:ext cx="2873816" cy="2245040"/>
            <a:chOff x="2384037" y="3322093"/>
            <a:chExt cx="2873816" cy="2245040"/>
          </a:xfrm>
        </p:grpSpPr>
        <p:grpSp>
          <p:nvGrpSpPr>
            <p:cNvPr id="11" name="组合 10"/>
            <p:cNvGrpSpPr/>
            <p:nvPr/>
          </p:nvGrpSpPr>
          <p:grpSpPr>
            <a:xfrm>
              <a:off x="2384037" y="4266659"/>
              <a:ext cx="610102" cy="1300474"/>
              <a:chOff x="2384037" y="4266659"/>
              <a:chExt cx="610102" cy="1300474"/>
            </a:xfrm>
          </p:grpSpPr>
          <p:sp>
            <p:nvSpPr>
              <p:cNvPr id="9" name="弧形 8"/>
              <p:cNvSpPr/>
              <p:nvPr/>
            </p:nvSpPr>
            <p:spPr>
              <a:xfrm rot="247662">
                <a:off x="2384037" y="4266659"/>
                <a:ext cx="610102" cy="1300474"/>
              </a:xfrm>
              <a:prstGeom prst="arc">
                <a:avLst>
                  <a:gd name="adj1" fmla="val 16338594"/>
                  <a:gd name="adj2" fmla="val 481669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593074" y="4732230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+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4" name="矩形标注 13"/>
            <p:cNvSpPr/>
            <p:nvPr/>
          </p:nvSpPr>
          <p:spPr>
            <a:xfrm>
              <a:off x="3579009" y="3322093"/>
              <a:ext cx="1678844" cy="477672"/>
            </a:xfrm>
            <a:prstGeom prst="wedgeRectCallout">
              <a:avLst>
                <a:gd name="adj1" fmla="val -83428"/>
                <a:gd name="adj2" fmla="val 30250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FF0000"/>
                  </a:solidFill>
                </a:rPr>
                <a:t>所需磁盘数</a:t>
              </a:r>
            </a:p>
          </p:txBody>
        </p:sp>
      </p:grpSp>
      <p:sp>
        <p:nvSpPr>
          <p:cNvPr id="16" name="矩形 15"/>
          <p:cNvSpPr/>
          <p:nvPr/>
        </p:nvSpPr>
        <p:spPr>
          <a:xfrm>
            <a:off x="614147" y="5725233"/>
            <a:ext cx="10814001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pt-BR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mdadm -C /dev/md0 -l 0 -n 2 /dev/sda5 /dev/sda6</a:t>
            </a: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" grpId="0" animBg="1"/>
      <p:bldP spid="7" grpId="0" animBg="1"/>
      <p:bldP spid="6" grpId="0"/>
      <p:bldP spid="16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2.4.6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614148" y="1229671"/>
            <a:ext cx="10923101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zh-CN" sz="2400" dirty="0">
                <a:solidFill>
                  <a:srgbClr val="1353A2"/>
                </a:solidFill>
              </a:rPr>
              <a:t>系统中使用</a:t>
            </a:r>
            <a:r>
              <a:rPr lang="en-US" altLang="zh-CN" sz="2400" dirty="0" err="1">
                <a:solidFill>
                  <a:srgbClr val="FF0000"/>
                </a:solidFill>
              </a:rPr>
              <a:t>mdadm</a:t>
            </a:r>
            <a:r>
              <a:rPr lang="zh-CN" altLang="zh-CN" sz="2400" dirty="0">
                <a:solidFill>
                  <a:srgbClr val="1353A2"/>
                </a:solidFill>
              </a:rPr>
              <a:t>命令创建和管理</a:t>
            </a:r>
            <a:r>
              <a:rPr lang="en-US" altLang="zh-CN" sz="2400" dirty="0">
                <a:solidFill>
                  <a:srgbClr val="1353A2"/>
                </a:solidFill>
              </a:rPr>
              <a:t>RAID</a:t>
            </a:r>
            <a:r>
              <a:rPr lang="zh-CN" altLang="zh-CN" sz="2400" dirty="0">
                <a:solidFill>
                  <a:srgbClr val="1353A2"/>
                </a:solidFill>
              </a:rPr>
              <a:t>，该命令的全称是</a:t>
            </a:r>
            <a:r>
              <a:rPr lang="en-US" altLang="zh-CN" sz="2400" dirty="0" err="1">
                <a:solidFill>
                  <a:srgbClr val="1353A2"/>
                </a:solidFill>
              </a:rPr>
              <a:t>mltiple</a:t>
            </a:r>
            <a:r>
              <a:rPr lang="en-US" altLang="zh-CN" sz="2400" dirty="0">
                <a:solidFill>
                  <a:srgbClr val="1353A2"/>
                </a:solidFill>
              </a:rPr>
              <a:t> devices admin</a:t>
            </a:r>
            <a:r>
              <a:rPr lang="zh-CN" altLang="zh-CN" sz="2400" dirty="0">
                <a:solidFill>
                  <a:srgbClr val="1353A2"/>
                </a:solidFill>
              </a:rPr>
              <a:t>，其语法格式如下：</a:t>
            </a:r>
          </a:p>
          <a:p>
            <a:r>
              <a:rPr lang="en-US" altLang="zh-CN" sz="2400" dirty="0" err="1">
                <a:solidFill>
                  <a:srgbClr val="1353A2"/>
                </a:solidFill>
              </a:rPr>
              <a:t>mdadm</a:t>
            </a:r>
            <a:r>
              <a:rPr lang="en-US" altLang="zh-CN" sz="2400" dirty="0">
                <a:solidFill>
                  <a:srgbClr val="1353A2"/>
                </a:solidFill>
              </a:rPr>
              <a:t> [</a:t>
            </a:r>
            <a:r>
              <a:rPr lang="zh-CN" altLang="zh-CN" sz="2400" dirty="0">
                <a:solidFill>
                  <a:srgbClr val="1353A2"/>
                </a:solidFill>
              </a:rPr>
              <a:t>模式</a:t>
            </a:r>
            <a:r>
              <a:rPr lang="en-US" altLang="zh-CN" sz="2400" dirty="0">
                <a:solidFill>
                  <a:srgbClr val="1353A2"/>
                </a:solidFill>
              </a:rPr>
              <a:t>] &lt;RAID</a:t>
            </a:r>
            <a:r>
              <a:rPr lang="zh-CN" altLang="zh-CN" sz="2400" dirty="0">
                <a:solidFill>
                  <a:srgbClr val="1353A2"/>
                </a:solidFill>
              </a:rPr>
              <a:t>设备名</a:t>
            </a:r>
            <a:r>
              <a:rPr lang="en-US" altLang="zh-CN" sz="2400" dirty="0">
                <a:solidFill>
                  <a:srgbClr val="1353A2"/>
                </a:solidFill>
              </a:rPr>
              <a:t>&gt; [</a:t>
            </a:r>
            <a:r>
              <a:rPr lang="zh-CN" altLang="zh-CN" sz="2400" dirty="0">
                <a:solidFill>
                  <a:srgbClr val="1353A2"/>
                </a:solidFill>
              </a:rPr>
              <a:t>选项</a:t>
            </a:r>
            <a:r>
              <a:rPr lang="en-US" altLang="zh-CN" sz="2400" dirty="0">
                <a:solidFill>
                  <a:srgbClr val="1353A2"/>
                </a:solidFill>
              </a:rPr>
              <a:t>] &lt;</a:t>
            </a:r>
            <a:r>
              <a:rPr lang="zh-CN" altLang="zh-CN" sz="2400" dirty="0">
                <a:solidFill>
                  <a:srgbClr val="1353A2"/>
                </a:solidFill>
              </a:rPr>
              <a:t>组件设备名</a:t>
            </a:r>
            <a:r>
              <a:rPr lang="en-US" altLang="zh-CN" sz="2400" dirty="0">
                <a:solidFill>
                  <a:srgbClr val="1353A2"/>
                </a:solidFill>
              </a:rPr>
              <a:t>&gt;</a:t>
            </a:r>
          </a:p>
        </p:txBody>
      </p:sp>
      <p:sp>
        <p:nvSpPr>
          <p:cNvPr id="16" name="矩形 15"/>
          <p:cNvSpPr/>
          <p:nvPr/>
        </p:nvSpPr>
        <p:spPr>
          <a:xfrm>
            <a:off x="614147" y="3052917"/>
            <a:ext cx="10814001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pt-BR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mdadm -C /dev/md0 -l 0 -n 2 /dev/sda5 /dev/sda6</a:t>
            </a: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144" y="4125262"/>
            <a:ext cx="9040762" cy="150069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8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9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>
                  <a:lumMod val="50000"/>
                </a:schemeClr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70" name="矩形 28"/>
          <p:cNvSpPr>
            <a:spLocks noChangeArrowheads="1"/>
          </p:cNvSpPr>
          <p:nvPr/>
        </p:nvSpPr>
        <p:spPr bwMode="auto">
          <a:xfrm>
            <a:off x="2099550" y="1660809"/>
            <a:ext cx="18921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用户与用户组管理</a:t>
            </a:r>
          </a:p>
        </p:txBody>
      </p:sp>
      <p:sp>
        <p:nvSpPr>
          <p:cNvPr id="71" name="矩形 29"/>
          <p:cNvSpPr>
            <a:spLocks noChangeArrowheads="1"/>
          </p:cNvSpPr>
          <p:nvPr/>
        </p:nvSpPr>
        <p:spPr bwMode="auto">
          <a:xfrm>
            <a:off x="4070327" y="1841570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</a:t>
            </a:r>
          </a:p>
        </p:txBody>
      </p:sp>
      <p:cxnSp>
        <p:nvCxnSpPr>
          <p:cNvPr id="72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8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9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80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命令格式</a:t>
            </a:r>
          </a:p>
        </p:txBody>
      </p:sp>
      <p:cxnSp>
        <p:nvCxnSpPr>
          <p:cNvPr id="81" name="直接连接符 80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直接连接符 81"/>
          <p:cNvCxnSpPr/>
          <p:nvPr/>
        </p:nvCxnSpPr>
        <p:spPr bwMode="auto">
          <a:xfrm>
            <a:off x="3991652" y="1688477"/>
            <a:ext cx="399995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矩形 1"/>
          <p:cNvSpPr>
            <a:spLocks noChangeArrowheads="1"/>
          </p:cNvSpPr>
          <p:nvPr/>
        </p:nvSpPr>
        <p:spPr bwMode="auto">
          <a:xfrm>
            <a:off x="5950179" y="1769174"/>
            <a:ext cx="1890800" cy="202326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4" name="矩形 21"/>
          <p:cNvSpPr>
            <a:spLocks noChangeArrowheads="1"/>
          </p:cNvSpPr>
          <p:nvPr/>
        </p:nvSpPr>
        <p:spPr bwMode="auto">
          <a:xfrm>
            <a:off x="4009019" y="4479805"/>
            <a:ext cx="1724176" cy="1861019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5" name="矩形 22"/>
          <p:cNvSpPr>
            <a:spLocks noChangeArrowheads="1"/>
          </p:cNvSpPr>
          <p:nvPr/>
        </p:nvSpPr>
        <p:spPr bwMode="auto">
          <a:xfrm>
            <a:off x="5742508" y="4489427"/>
            <a:ext cx="1727610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6" name="矩形 28"/>
          <p:cNvSpPr>
            <a:spLocks noChangeArrowheads="1"/>
          </p:cNvSpPr>
          <p:nvPr/>
        </p:nvSpPr>
        <p:spPr bwMode="auto">
          <a:xfrm>
            <a:off x="3963530" y="4560959"/>
            <a:ext cx="176966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</a:p>
        </p:txBody>
      </p:sp>
      <p:sp>
        <p:nvSpPr>
          <p:cNvPr id="87" name="矩形 29"/>
          <p:cNvSpPr>
            <a:spLocks noChangeArrowheads="1"/>
          </p:cNvSpPr>
          <p:nvPr/>
        </p:nvSpPr>
        <p:spPr bwMode="auto">
          <a:xfrm>
            <a:off x="5733195" y="4566723"/>
            <a:ext cx="1713648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</a:p>
        </p:txBody>
      </p:sp>
      <p:cxnSp>
        <p:nvCxnSpPr>
          <p:cNvPr id="88" name="直接连接符 51"/>
          <p:cNvCxnSpPr>
            <a:cxnSpLocks noChangeShapeType="1"/>
          </p:cNvCxnSpPr>
          <p:nvPr/>
        </p:nvCxnSpPr>
        <p:spPr bwMode="auto">
          <a:xfrm>
            <a:off x="5688897" y="4159855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" name="TextBox 7177"/>
          <p:cNvSpPr txBox="1">
            <a:spLocks noChangeArrowheads="1"/>
          </p:cNvSpPr>
          <p:nvPr/>
        </p:nvSpPr>
        <p:spPr bwMode="auto">
          <a:xfrm>
            <a:off x="5984045" y="1060096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0" name="TextBox 7177"/>
          <p:cNvSpPr txBox="1">
            <a:spLocks noChangeArrowheads="1"/>
          </p:cNvSpPr>
          <p:nvPr/>
        </p:nvSpPr>
        <p:spPr bwMode="auto">
          <a:xfrm>
            <a:off x="3954924" y="3783090"/>
            <a:ext cx="9970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1" name="TextBox 7177"/>
          <p:cNvSpPr txBox="1">
            <a:spLocks noChangeArrowheads="1"/>
          </p:cNvSpPr>
          <p:nvPr/>
        </p:nvSpPr>
        <p:spPr bwMode="auto">
          <a:xfrm>
            <a:off x="5737237" y="3803149"/>
            <a:ext cx="15200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</a:p>
        </p:txBody>
      </p:sp>
      <p:cxnSp>
        <p:nvCxnSpPr>
          <p:cNvPr id="93" name="直接连接符 19"/>
          <p:cNvCxnSpPr/>
          <p:nvPr/>
        </p:nvCxnSpPr>
        <p:spPr bwMode="auto">
          <a:xfrm>
            <a:off x="4029328" y="4427930"/>
            <a:ext cx="1678967" cy="776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直接连接符 20"/>
          <p:cNvCxnSpPr/>
          <p:nvPr/>
        </p:nvCxnSpPr>
        <p:spPr bwMode="auto">
          <a:xfrm>
            <a:off x="5709923" y="4428744"/>
            <a:ext cx="183470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5816" y="5280100"/>
            <a:ext cx="1538977" cy="1046463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7" name="直接连接符 52"/>
          <p:cNvCxnSpPr>
            <a:cxnSpLocks noChangeShapeType="1"/>
          </p:cNvCxnSpPr>
          <p:nvPr/>
        </p:nvCxnSpPr>
        <p:spPr bwMode="auto">
          <a:xfrm>
            <a:off x="4005598" y="4173190"/>
            <a:ext cx="1" cy="296447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矩形 1"/>
          <p:cNvSpPr>
            <a:spLocks noChangeArrowheads="1"/>
          </p:cNvSpPr>
          <p:nvPr/>
        </p:nvSpPr>
        <p:spPr bwMode="auto">
          <a:xfrm>
            <a:off x="7490535" y="4485614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cxnSp>
        <p:nvCxnSpPr>
          <p:cNvPr id="100" name="直接连接符 7167"/>
          <p:cNvCxnSpPr>
            <a:cxnSpLocks noChangeShapeType="1"/>
          </p:cNvCxnSpPr>
          <p:nvPr/>
        </p:nvCxnSpPr>
        <p:spPr bwMode="auto">
          <a:xfrm flipV="1">
            <a:off x="7466430" y="4427930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直接连接符 7172"/>
          <p:cNvCxnSpPr>
            <a:cxnSpLocks noChangeShapeType="1"/>
          </p:cNvCxnSpPr>
          <p:nvPr/>
        </p:nvCxnSpPr>
        <p:spPr bwMode="auto">
          <a:xfrm>
            <a:off x="7465525" y="4074072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" name="TextBox 7177"/>
          <p:cNvSpPr txBox="1">
            <a:spLocks noChangeArrowheads="1"/>
          </p:cNvSpPr>
          <p:nvPr/>
        </p:nvSpPr>
        <p:spPr bwMode="auto">
          <a:xfrm>
            <a:off x="7509602" y="3751901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03" name="矩形 28"/>
          <p:cNvSpPr>
            <a:spLocks noChangeArrowheads="1"/>
          </p:cNvSpPr>
          <p:nvPr/>
        </p:nvSpPr>
        <p:spPr bwMode="auto">
          <a:xfrm>
            <a:off x="7470337" y="4607439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软件包管理</a:t>
            </a:r>
          </a:p>
        </p:txBody>
      </p:sp>
      <p:pic>
        <p:nvPicPr>
          <p:cNvPr id="10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150" y="2604066"/>
            <a:ext cx="1364458" cy="104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" name="矩形 1"/>
          <p:cNvSpPr>
            <a:spLocks noChangeArrowheads="1"/>
          </p:cNvSpPr>
          <p:nvPr/>
        </p:nvSpPr>
        <p:spPr bwMode="auto">
          <a:xfrm>
            <a:off x="9221062" y="4485515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pic>
        <p:nvPicPr>
          <p:cNvPr id="123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76403" y="5321538"/>
            <a:ext cx="1457809" cy="99727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直接连接符 7167"/>
          <p:cNvCxnSpPr>
            <a:cxnSpLocks noChangeShapeType="1"/>
          </p:cNvCxnSpPr>
          <p:nvPr/>
        </p:nvCxnSpPr>
        <p:spPr bwMode="auto">
          <a:xfrm flipV="1">
            <a:off x="9196957" y="4427831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5" name="直接连接符 7172"/>
          <p:cNvCxnSpPr>
            <a:cxnSpLocks noChangeShapeType="1"/>
          </p:cNvCxnSpPr>
          <p:nvPr/>
        </p:nvCxnSpPr>
        <p:spPr bwMode="auto">
          <a:xfrm>
            <a:off x="9196052" y="4073973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" name="TextBox 7177"/>
          <p:cNvSpPr txBox="1">
            <a:spLocks noChangeArrowheads="1"/>
          </p:cNvSpPr>
          <p:nvPr/>
        </p:nvSpPr>
        <p:spPr bwMode="auto">
          <a:xfrm>
            <a:off x="9240129" y="3751802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8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27" name="矩形 28"/>
          <p:cNvSpPr>
            <a:spLocks noChangeArrowheads="1"/>
          </p:cNvSpPr>
          <p:nvPr/>
        </p:nvSpPr>
        <p:spPr bwMode="auto">
          <a:xfrm>
            <a:off x="9221062" y="4601675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文本编辑器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4" y="2604066"/>
            <a:ext cx="1533716" cy="104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35" y="2596545"/>
            <a:ext cx="1654397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548" y="5279692"/>
            <a:ext cx="1530043" cy="104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140" y="5292164"/>
            <a:ext cx="1420225" cy="1000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2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001" y="2596545"/>
            <a:ext cx="1679893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44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44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574083" y="2610851"/>
            <a:ext cx="597491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进程</a:t>
            </a:r>
            <a:r>
              <a:rPr lang="zh-CN" altLang="en-US" sz="2400" dirty="0">
                <a:solidFill>
                  <a:srgbClr val="1353A2"/>
                </a:solidFill>
              </a:rPr>
              <a:t>是一个二进制程序的</a:t>
            </a:r>
            <a:r>
              <a:rPr lang="zh-CN" altLang="en-US" sz="2400" dirty="0">
                <a:solidFill>
                  <a:srgbClr val="FF0000"/>
                </a:solidFill>
              </a:rPr>
              <a:t>执行过程</a:t>
            </a:r>
            <a:r>
              <a:rPr lang="zh-CN" altLang="en-US" sz="2400" dirty="0">
                <a:solidFill>
                  <a:srgbClr val="1353A2"/>
                </a:solidFill>
              </a:rPr>
              <a:t>，在</a:t>
            </a: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操作系统中，向命令行输入一条命令，按下回车，便会有一个进程被启动。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74" y="1535807"/>
            <a:ext cx="4488819" cy="4206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88725" y="1116965"/>
            <a:ext cx="1102290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/>
              <a:t>从计算机用户的角度看，一台计算机可同时运行多个进程，但实际上，一个单核的</a:t>
            </a:r>
            <a:r>
              <a:rPr lang="en-US" altLang="zh-CN" sz="2400" dirty="0"/>
              <a:t>CPU</a:t>
            </a:r>
            <a:r>
              <a:rPr lang="zh-CN" altLang="en-US" sz="2400" dirty="0"/>
              <a:t>同一时刻只能处理一个进程，用户之所以会任务同时有多个进程在运行，是因为计算机系统采用了“</a:t>
            </a:r>
            <a:r>
              <a:rPr lang="zh-CN" altLang="en-US" sz="2400" dirty="0">
                <a:solidFill>
                  <a:srgbClr val="FF0000"/>
                </a:solidFill>
              </a:rPr>
              <a:t>多道程序设计</a:t>
            </a:r>
            <a:r>
              <a:rPr lang="zh-CN" altLang="en-US" sz="2400" dirty="0"/>
              <a:t>”技术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所谓多道程序设计，是指计算机允许多个相互独立的程序同时进入内存，在内核的管理控制之下，相互之间穿插运行。多道程序设计必须有硬件基础作为保障。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CPU</a:t>
            </a:r>
            <a:r>
              <a:rPr lang="zh-CN" altLang="en-US" sz="2400" dirty="0">
                <a:solidFill>
                  <a:srgbClr val="1353A2"/>
                </a:solidFill>
              </a:rPr>
              <a:t>处理进程的示意图如下所示。</a:t>
            </a:r>
          </a:p>
        </p:txBody>
      </p: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797" y="4568585"/>
            <a:ext cx="5915288" cy="1024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直接箭头连接符 15"/>
          <p:cNvCxnSpPr/>
          <p:nvPr/>
        </p:nvCxnSpPr>
        <p:spPr>
          <a:xfrm flipV="1">
            <a:off x="4464429" y="5474053"/>
            <a:ext cx="0" cy="22620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025848" y="569371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时间片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984441" y="446543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穿插运行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8" grpId="0"/>
      <p:bldP spid="19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88725" y="1223543"/>
            <a:ext cx="11022902" cy="5013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1353A2"/>
                </a:solidFill>
              </a:rPr>
              <a:t>通常进程的状态被划分为五种：初始态、</a:t>
            </a:r>
            <a:r>
              <a:rPr lang="zh-CN" altLang="zh-CN" sz="2400" dirty="0">
                <a:solidFill>
                  <a:srgbClr val="FF0000"/>
                </a:solidFill>
              </a:rPr>
              <a:t>就绪态</a:t>
            </a:r>
            <a:r>
              <a:rPr lang="zh-CN" altLang="zh-CN" sz="2400" dirty="0">
                <a:solidFill>
                  <a:srgbClr val="1353A2"/>
                </a:solidFill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</a:rPr>
              <a:t>运行态</a:t>
            </a:r>
            <a:r>
              <a:rPr lang="zh-CN" altLang="zh-CN" sz="2400" dirty="0">
                <a:solidFill>
                  <a:srgbClr val="1353A2"/>
                </a:solidFill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</a:rPr>
              <a:t>睡眠态</a:t>
            </a:r>
            <a:r>
              <a:rPr lang="zh-CN" altLang="zh-CN" sz="2400" dirty="0">
                <a:solidFill>
                  <a:srgbClr val="1353A2"/>
                </a:solidFill>
              </a:rPr>
              <a:t>和终止态。初始态</a:t>
            </a:r>
            <a:r>
              <a:rPr lang="zh-CN" altLang="en-US" sz="2400" dirty="0">
                <a:solidFill>
                  <a:srgbClr val="1353A2"/>
                </a:solidFill>
              </a:rPr>
              <a:t>和终止态</a:t>
            </a:r>
            <a:r>
              <a:rPr lang="zh-CN" altLang="zh-CN" sz="2400" dirty="0">
                <a:solidFill>
                  <a:srgbClr val="1353A2"/>
                </a:solidFill>
              </a:rPr>
              <a:t>一般不进行讨论，因为当初始化完成后，进程会立刻转化为就绪态</a:t>
            </a:r>
            <a:r>
              <a:rPr lang="zh-CN" altLang="en-US" sz="2400" dirty="0">
                <a:solidFill>
                  <a:srgbClr val="1353A2"/>
                </a:solidFill>
              </a:rPr>
              <a:t>；进程运行完毕会立刻转为终止态。</a:t>
            </a:r>
            <a:endParaRPr lang="zh-CN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1</a:t>
            </a:r>
            <a:r>
              <a:rPr lang="zh-CN" altLang="en-US" sz="2400" dirty="0">
                <a:solidFill>
                  <a:srgbClr val="1353A2"/>
                </a:solidFill>
              </a:rPr>
              <a:t>、就绪态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1353A2"/>
                </a:solidFill>
              </a:rPr>
              <a:t>处于就绪态（</a:t>
            </a:r>
            <a:r>
              <a:rPr lang="en-US" altLang="zh-CN" sz="2400" dirty="0">
                <a:solidFill>
                  <a:srgbClr val="1353A2"/>
                </a:solidFill>
              </a:rPr>
              <a:t>Ready</a:t>
            </a:r>
            <a:r>
              <a:rPr lang="zh-CN" altLang="zh-CN" sz="2400" dirty="0">
                <a:solidFill>
                  <a:srgbClr val="1353A2"/>
                </a:solidFill>
              </a:rPr>
              <a:t>）的进程，所需的</a:t>
            </a:r>
            <a:r>
              <a:rPr lang="zh-CN" altLang="en-US" sz="2400" dirty="0">
                <a:solidFill>
                  <a:srgbClr val="1353A2"/>
                </a:solidFill>
              </a:rPr>
              <a:t>其他</a:t>
            </a:r>
            <a:r>
              <a:rPr lang="zh-CN" altLang="zh-CN" sz="2400" dirty="0">
                <a:solidFill>
                  <a:srgbClr val="FF0000"/>
                </a:solidFill>
              </a:rPr>
              <a:t>资源已分配到位</a:t>
            </a:r>
            <a:r>
              <a:rPr lang="zh-CN" altLang="zh-CN" sz="2400" dirty="0">
                <a:solidFill>
                  <a:srgbClr val="1353A2"/>
                </a:solidFill>
              </a:rPr>
              <a:t>，此时只</a:t>
            </a:r>
            <a:r>
              <a:rPr lang="zh-CN" altLang="zh-CN" sz="2400" dirty="0">
                <a:solidFill>
                  <a:srgbClr val="FF0000"/>
                </a:solidFill>
              </a:rPr>
              <a:t>等待</a:t>
            </a:r>
            <a:r>
              <a:rPr lang="en-US" altLang="zh-CN" sz="2400" dirty="0" err="1">
                <a:solidFill>
                  <a:srgbClr val="FF0000"/>
                </a:solidFill>
              </a:rPr>
              <a:t>cpu</a:t>
            </a:r>
            <a:r>
              <a:rPr lang="zh-CN" altLang="zh-CN" sz="2400" dirty="0">
                <a:solidFill>
                  <a:srgbClr val="1353A2"/>
                </a:solidFill>
              </a:rPr>
              <a:t>，当可以使用</a:t>
            </a:r>
            <a:r>
              <a:rPr lang="en-US" altLang="zh-CN" sz="2400" dirty="0" err="1">
                <a:solidFill>
                  <a:srgbClr val="1353A2"/>
                </a:solidFill>
              </a:rPr>
              <a:t>cpu</a:t>
            </a:r>
            <a:r>
              <a:rPr lang="zh-CN" altLang="zh-CN" sz="2400" dirty="0">
                <a:solidFill>
                  <a:srgbClr val="1353A2"/>
                </a:solidFill>
              </a:rPr>
              <a:t>时，进程会立刻变为运行态。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2</a:t>
            </a:r>
            <a:r>
              <a:rPr lang="zh-CN" altLang="en-US" sz="2400" dirty="0">
                <a:solidFill>
                  <a:srgbClr val="1353A2"/>
                </a:solidFill>
              </a:rPr>
              <a:t>、运行态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进程处于运行态（</a:t>
            </a:r>
            <a:r>
              <a:rPr lang="en-US" altLang="zh-CN" sz="2400" dirty="0" err="1">
                <a:solidFill>
                  <a:srgbClr val="1353A2"/>
                </a:solidFill>
              </a:rPr>
              <a:t>Execting</a:t>
            </a:r>
            <a:r>
              <a:rPr lang="zh-CN" altLang="en-US" sz="2400" dirty="0">
                <a:solidFill>
                  <a:srgbClr val="1353A2"/>
                </a:solidFill>
              </a:rPr>
              <a:t>）时会</a:t>
            </a:r>
            <a:r>
              <a:rPr lang="zh-CN" altLang="en-US" sz="2400" dirty="0">
                <a:solidFill>
                  <a:srgbClr val="FF0000"/>
                </a:solidFill>
              </a:rPr>
              <a:t>占用</a:t>
            </a:r>
            <a:r>
              <a:rPr lang="en-US" altLang="zh-CN" sz="2400" dirty="0" err="1">
                <a:solidFill>
                  <a:srgbClr val="FF0000"/>
                </a:solidFill>
              </a:rPr>
              <a:t>cpu</a:t>
            </a:r>
            <a:r>
              <a:rPr lang="zh-CN" altLang="en-US" sz="2400" dirty="0">
                <a:solidFill>
                  <a:srgbClr val="1353A2"/>
                </a:solidFill>
              </a:rPr>
              <a:t>，处于此状态的进程的数目必定小于等于处理器的数目，即每个</a:t>
            </a:r>
            <a:r>
              <a:rPr lang="en-US" altLang="zh-CN" sz="2400" dirty="0" err="1">
                <a:solidFill>
                  <a:srgbClr val="1353A2"/>
                </a:solidFill>
              </a:rPr>
              <a:t>cpu</a:t>
            </a:r>
            <a:r>
              <a:rPr lang="zh-CN" altLang="en-US" sz="2400" dirty="0">
                <a:solidFill>
                  <a:srgbClr val="1353A2"/>
                </a:solidFill>
              </a:rPr>
              <a:t>上至多能运行一个进程。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2311398" y="507137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进程状态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88725" y="1272188"/>
            <a:ext cx="11022902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1353A2"/>
                </a:solidFill>
              </a:rPr>
              <a:t>通常进程的状态被划分为五种：初始态、</a:t>
            </a:r>
            <a:r>
              <a:rPr lang="zh-CN" altLang="zh-CN" sz="2400" dirty="0">
                <a:solidFill>
                  <a:srgbClr val="FF0000"/>
                </a:solidFill>
              </a:rPr>
              <a:t>就绪态</a:t>
            </a:r>
            <a:r>
              <a:rPr lang="zh-CN" altLang="zh-CN" sz="2400" dirty="0">
                <a:solidFill>
                  <a:srgbClr val="1353A2"/>
                </a:solidFill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</a:rPr>
              <a:t>运行态</a:t>
            </a:r>
            <a:r>
              <a:rPr lang="zh-CN" altLang="zh-CN" sz="2400" dirty="0">
                <a:solidFill>
                  <a:srgbClr val="1353A2"/>
                </a:solidFill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</a:rPr>
              <a:t>睡眠态</a:t>
            </a:r>
            <a:r>
              <a:rPr lang="zh-CN" altLang="zh-CN" sz="2400" dirty="0">
                <a:solidFill>
                  <a:srgbClr val="1353A2"/>
                </a:solidFill>
              </a:rPr>
              <a:t>和终止态。初始态一般不进行讨论，因为当初始化完成后，进程会立刻转化为就绪态。</a:t>
            </a:r>
          </a:p>
        </p:txBody>
      </p:sp>
      <p:sp>
        <p:nvSpPr>
          <p:cNvPr id="3" name="矩形 2"/>
          <p:cNvSpPr/>
          <p:nvPr/>
        </p:nvSpPr>
        <p:spPr>
          <a:xfrm>
            <a:off x="588725" y="2407242"/>
            <a:ext cx="10762490" cy="1689052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、睡眠态</a:t>
            </a: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处于睡眠态（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Sleeping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）的进程会因某种原因而暂时不能占有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。睡眠态分为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不可中断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的睡眠和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可中断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的睡眠。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2311398" y="507137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进程状态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88726" y="1154103"/>
            <a:ext cx="11022902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1353A2"/>
                </a:solidFill>
              </a:rPr>
              <a:t>通常进程的状态被划分为五种：初始态、</a:t>
            </a:r>
            <a:r>
              <a:rPr lang="zh-CN" altLang="zh-CN" sz="2400" dirty="0">
                <a:solidFill>
                  <a:srgbClr val="FF0000"/>
                </a:solidFill>
              </a:rPr>
              <a:t>就绪态</a:t>
            </a:r>
            <a:r>
              <a:rPr lang="zh-CN" altLang="zh-CN" sz="2400" dirty="0">
                <a:solidFill>
                  <a:srgbClr val="1353A2"/>
                </a:solidFill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</a:rPr>
              <a:t>运行态</a:t>
            </a:r>
            <a:r>
              <a:rPr lang="zh-CN" altLang="zh-CN" sz="2400" dirty="0">
                <a:solidFill>
                  <a:srgbClr val="1353A2"/>
                </a:solidFill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</a:rPr>
              <a:t>睡眠态</a:t>
            </a:r>
            <a:r>
              <a:rPr lang="zh-CN" altLang="zh-CN" sz="2400" dirty="0">
                <a:solidFill>
                  <a:srgbClr val="1353A2"/>
                </a:solidFill>
              </a:rPr>
              <a:t>和终止态。初始态一般不进行讨论，因为当初始化完成后，进程会立刻转化为就绪态。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2311398" y="507137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进程状态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8727" y="2289157"/>
            <a:ext cx="11022901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进程通常会在这三种状态中转换，这三种状态间可能发生的转换如图所示。</a:t>
            </a:r>
          </a:p>
        </p:txBody>
      </p:sp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4230056" y="3087363"/>
            <a:ext cx="3046203" cy="199436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88725" y="1272188"/>
            <a:ext cx="11022902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</a:rPr>
              <a:t>进程通常会在这三种状态中转换，这三种状态间可能发生的转换如图所示。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2311398" y="507137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2.5.1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进程状态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4287350" y="2070675"/>
            <a:ext cx="3625651" cy="237373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4371585" y="2549134"/>
            <a:ext cx="7252566" cy="308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/>
              <a:t>Linux</a:t>
            </a:r>
            <a:r>
              <a:rPr lang="zh-CN" altLang="en-US" sz="2400" dirty="0"/>
              <a:t>系统为每个进程分配了一个唯一确定的标识符</a:t>
            </a:r>
            <a:r>
              <a:rPr lang="en-US" altLang="zh-CN" sz="2400" dirty="0"/>
              <a:t>——</a:t>
            </a:r>
            <a:r>
              <a:rPr lang="en-US" altLang="zh-CN" sz="2400" dirty="0">
                <a:solidFill>
                  <a:srgbClr val="FF0000"/>
                </a:solidFill>
              </a:rPr>
              <a:t>PID</a:t>
            </a:r>
            <a:r>
              <a:rPr lang="zh-CN" altLang="en-US" sz="2400" dirty="0"/>
              <a:t>（</a:t>
            </a:r>
            <a:r>
              <a:rPr lang="en-US" altLang="zh-CN" sz="2400" dirty="0"/>
              <a:t>Process </a:t>
            </a:r>
            <a:r>
              <a:rPr lang="en-US" altLang="zh-CN" sz="2400" dirty="0" err="1"/>
              <a:t>Identifer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进程标识符</a:t>
            </a:r>
            <a:r>
              <a:rPr lang="zh-CN" altLang="en-US" sz="2400" dirty="0"/>
              <a:t>）。内核可根据</a:t>
            </a:r>
            <a:r>
              <a:rPr lang="en-US" altLang="zh-CN" sz="2400" dirty="0"/>
              <a:t>PID</a:t>
            </a:r>
            <a:r>
              <a:rPr lang="zh-CN" altLang="en-US" sz="2400" dirty="0"/>
              <a:t>来管理进程的相关信息。</a:t>
            </a:r>
            <a:r>
              <a:rPr lang="en-US" altLang="zh-CN" sz="2400" dirty="0"/>
              <a:t>Linux</a:t>
            </a:r>
            <a:r>
              <a:rPr lang="zh-CN" altLang="en-US" sz="2400" dirty="0"/>
              <a:t>系统中提供的进程管理命令大多都通过</a:t>
            </a:r>
            <a:r>
              <a:rPr lang="en-US" altLang="zh-CN" sz="2400" dirty="0"/>
              <a:t>PID</a:t>
            </a:r>
            <a:r>
              <a:rPr lang="zh-CN" altLang="en-US" sz="2400" dirty="0"/>
              <a:t>来管理进程。常用的进程管理命令有</a:t>
            </a:r>
            <a:r>
              <a:rPr lang="en-US" altLang="zh-CN" sz="2400" dirty="0" err="1">
                <a:solidFill>
                  <a:srgbClr val="FF0000"/>
                </a:solidFill>
              </a:rPr>
              <a:t>ps</a:t>
            </a:r>
            <a:r>
              <a:rPr lang="zh-CN" altLang="en-US" sz="2400" dirty="0"/>
              <a:t>、</a:t>
            </a:r>
            <a:r>
              <a:rPr lang="en-US" altLang="zh-CN" sz="2400" dirty="0">
                <a:solidFill>
                  <a:srgbClr val="FF0000"/>
                </a:solidFill>
              </a:rPr>
              <a:t>top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pstree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pgrep</a:t>
            </a:r>
            <a:r>
              <a:rPr lang="zh-CN" altLang="en-US" sz="2400" dirty="0"/>
              <a:t>、</a:t>
            </a:r>
            <a:r>
              <a:rPr lang="en-US" altLang="zh-CN" sz="2400" dirty="0"/>
              <a:t>nice</a:t>
            </a:r>
            <a:r>
              <a:rPr lang="zh-CN" altLang="en-US" sz="2400" dirty="0"/>
              <a:t>、</a:t>
            </a:r>
            <a:r>
              <a:rPr lang="en-US" altLang="zh-CN" sz="2400" dirty="0"/>
              <a:t>jobs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bg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fg</a:t>
            </a:r>
            <a:r>
              <a:rPr lang="zh-CN" altLang="en-US" sz="2400" dirty="0"/>
              <a:t>、</a:t>
            </a:r>
            <a:r>
              <a:rPr lang="en-US" altLang="zh-CN" sz="2400" dirty="0">
                <a:solidFill>
                  <a:srgbClr val="FF0000"/>
                </a:solidFill>
              </a:rPr>
              <a:t>kill</a:t>
            </a:r>
            <a:r>
              <a:rPr lang="zh-CN" altLang="en-US" sz="2400" dirty="0"/>
              <a:t>等。</a:t>
            </a:r>
            <a:endParaRPr lang="zh-CN" altLang="zh-CN" sz="2400" dirty="0"/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44" y="1555322"/>
            <a:ext cx="3535595" cy="4074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588723" y="1155808"/>
            <a:ext cx="1099785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ps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88723" y="2204864"/>
            <a:ext cx="10997852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err="1">
                <a:solidFill>
                  <a:srgbClr val="0070C0"/>
                </a:solidFill>
              </a:rPr>
              <a:t>ps</a:t>
            </a:r>
            <a:r>
              <a:rPr lang="zh-CN" altLang="zh-CN" sz="2400" dirty="0">
                <a:solidFill>
                  <a:srgbClr val="0070C0"/>
                </a:solidFill>
              </a:rPr>
              <a:t>是“</a:t>
            </a:r>
            <a:r>
              <a:rPr lang="en-US" altLang="zh-CN" sz="2400" dirty="0">
                <a:solidFill>
                  <a:srgbClr val="0070C0"/>
                </a:solidFill>
              </a:rPr>
              <a:t>Process Status</a:t>
            </a:r>
            <a:r>
              <a:rPr lang="zh-CN" altLang="zh-CN" sz="2400" dirty="0">
                <a:solidFill>
                  <a:srgbClr val="0070C0"/>
                </a:solidFill>
              </a:rPr>
              <a:t>”的缩写。在命令行输入“</a:t>
            </a:r>
            <a:r>
              <a:rPr lang="en-US" altLang="zh-CN" sz="2400" dirty="0" err="1">
                <a:solidFill>
                  <a:srgbClr val="0070C0"/>
                </a:solidFill>
              </a:rPr>
              <a:t>ps</a:t>
            </a:r>
            <a:r>
              <a:rPr lang="zh-CN" altLang="zh-CN" sz="2400" dirty="0">
                <a:solidFill>
                  <a:srgbClr val="0070C0"/>
                </a:solidFill>
              </a:rPr>
              <a:t>”后回车就能查看</a:t>
            </a:r>
            <a:r>
              <a:rPr lang="zh-CN" altLang="zh-CN" sz="2400" dirty="0">
                <a:solidFill>
                  <a:srgbClr val="FF0000"/>
                </a:solidFill>
              </a:rPr>
              <a:t>当前系统中正在运行的进程</a:t>
            </a:r>
            <a:r>
              <a:rPr lang="zh-CN" altLang="zh-CN" sz="2400" dirty="0">
                <a:solidFill>
                  <a:srgbClr val="0070C0"/>
                </a:solidFill>
              </a:rPr>
              <a:t>。</a:t>
            </a:r>
            <a:r>
              <a:rPr lang="en-US" altLang="zh-CN" sz="2400" dirty="0" err="1">
                <a:solidFill>
                  <a:srgbClr val="0070C0"/>
                </a:solidFill>
              </a:rPr>
              <a:t>ps</a:t>
            </a:r>
            <a:r>
              <a:rPr lang="zh-CN" altLang="zh-CN" sz="2400" dirty="0">
                <a:solidFill>
                  <a:srgbClr val="0070C0"/>
                </a:solidFill>
              </a:rPr>
              <a:t>的命令格式如下：</a:t>
            </a:r>
          </a:p>
          <a:p>
            <a:r>
              <a:rPr lang="en-US" altLang="zh-CN" sz="2400" b="1" dirty="0" err="1">
                <a:solidFill>
                  <a:srgbClr val="FF0000"/>
                </a:solidFill>
              </a:rPr>
              <a:t>ps</a:t>
            </a:r>
            <a:r>
              <a:rPr lang="en-US" altLang="zh-CN" sz="2400" dirty="0">
                <a:solidFill>
                  <a:srgbClr val="0070C0"/>
                </a:solidFill>
              </a:rPr>
              <a:t> [</a:t>
            </a:r>
            <a:r>
              <a:rPr lang="zh-CN" altLang="zh-CN" sz="2400" dirty="0">
                <a:solidFill>
                  <a:srgbClr val="0070C0"/>
                </a:solidFill>
              </a:rPr>
              <a:t>选项</a:t>
            </a:r>
            <a:r>
              <a:rPr lang="en-US" altLang="zh-CN" sz="2400" dirty="0">
                <a:solidFill>
                  <a:srgbClr val="0070C0"/>
                </a:solidFill>
              </a:rPr>
              <a:t>] [</a:t>
            </a:r>
            <a:r>
              <a:rPr lang="zh-CN" altLang="zh-CN" sz="2400" dirty="0">
                <a:solidFill>
                  <a:srgbClr val="0070C0"/>
                </a:solidFill>
              </a:rPr>
              <a:t>参数</a:t>
            </a:r>
            <a:r>
              <a:rPr lang="en-US" altLang="zh-CN" sz="2400" dirty="0">
                <a:solidFill>
                  <a:srgbClr val="0070C0"/>
                </a:solidFill>
              </a:rPr>
              <a:t>]</a:t>
            </a:r>
            <a:endParaRPr lang="zh-CN" altLang="zh-CN" sz="2400" dirty="0">
              <a:solidFill>
                <a:srgbClr val="0070C0"/>
              </a:solidFill>
            </a:endParaRPr>
          </a:p>
          <a:p>
            <a:r>
              <a:rPr lang="zh-CN" altLang="zh-CN" sz="2400" dirty="0">
                <a:solidFill>
                  <a:srgbClr val="0070C0"/>
                </a:solidFill>
              </a:rPr>
              <a:t>执行</a:t>
            </a:r>
            <a:r>
              <a:rPr lang="en-US" altLang="zh-CN" sz="2400" dirty="0" err="1">
                <a:solidFill>
                  <a:srgbClr val="0070C0"/>
                </a:solidFill>
              </a:rPr>
              <a:t>ps</a:t>
            </a:r>
            <a:r>
              <a:rPr lang="zh-CN" altLang="zh-CN" sz="2400" dirty="0">
                <a:solidFill>
                  <a:srgbClr val="0070C0"/>
                </a:solidFill>
              </a:rPr>
              <a:t>命令后终端打印的信息如下所示：</a:t>
            </a:r>
          </a:p>
        </p:txBody>
      </p:sp>
      <p:sp>
        <p:nvSpPr>
          <p:cNvPr id="1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038" y="4235032"/>
            <a:ext cx="3971138" cy="2199840"/>
          </a:xfrm>
          <a:prstGeom prst="rect">
            <a:avLst/>
          </a:prstGeom>
        </p:spPr>
      </p:pic>
      <p:sp>
        <p:nvSpPr>
          <p:cNvPr id="11" name="矩形标注 1"/>
          <p:cNvSpPr/>
          <p:nvPr/>
        </p:nvSpPr>
        <p:spPr>
          <a:xfrm>
            <a:off x="2517507" y="5240769"/>
            <a:ext cx="1210913" cy="499427"/>
          </a:xfrm>
          <a:prstGeom prst="wedgeRectCallout">
            <a:avLst>
              <a:gd name="adj1" fmla="val 140537"/>
              <a:gd name="adj2" fmla="val -665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启动进程的终端</a:t>
            </a:r>
          </a:p>
        </p:txBody>
      </p:sp>
      <p:sp>
        <p:nvSpPr>
          <p:cNvPr id="12" name="矩形标注 12"/>
          <p:cNvSpPr/>
          <p:nvPr/>
        </p:nvSpPr>
        <p:spPr>
          <a:xfrm>
            <a:off x="6736594" y="3582212"/>
            <a:ext cx="2031431" cy="611876"/>
          </a:xfrm>
          <a:prstGeom prst="wedgeRectCallout">
            <a:avLst>
              <a:gd name="adj1" fmla="val -75314"/>
              <a:gd name="adj2" fmla="val 1918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进程到目前为止占用</a:t>
            </a:r>
            <a:r>
              <a:rPr lang="en-US" altLang="zh-CN" dirty="0" err="1"/>
              <a:t>cpu</a:t>
            </a:r>
            <a:r>
              <a:rPr lang="zh-CN" altLang="en-US" dirty="0"/>
              <a:t>的实际时间</a:t>
            </a:r>
          </a:p>
        </p:txBody>
      </p:sp>
      <p:sp>
        <p:nvSpPr>
          <p:cNvPr id="16" name="矩形标注 13"/>
          <p:cNvSpPr/>
          <p:nvPr/>
        </p:nvSpPr>
        <p:spPr>
          <a:xfrm>
            <a:off x="7494624" y="4802822"/>
            <a:ext cx="1904714" cy="432337"/>
          </a:xfrm>
          <a:prstGeom prst="wedgeRectCallout">
            <a:avLst>
              <a:gd name="adj1" fmla="val -92202"/>
              <a:gd name="adj2" fmla="val 216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启动进程的命令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6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588724" y="1155808"/>
            <a:ext cx="10997852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ps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88723" y="2204864"/>
            <a:ext cx="10997852" cy="153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err="1"/>
              <a:t>ps</a:t>
            </a:r>
            <a:r>
              <a:rPr lang="zh-CN" altLang="zh-CN" sz="2400" dirty="0"/>
              <a:t>命令可以与一些选项搭配，实现更丰富的功能。它的选项有两种风格：</a:t>
            </a:r>
            <a:r>
              <a:rPr lang="en-US" altLang="zh-CN" sz="2400" dirty="0" err="1"/>
              <a:t>SysV</a:t>
            </a:r>
            <a:r>
              <a:rPr lang="zh-CN" altLang="zh-CN" sz="2400" dirty="0"/>
              <a:t>和</a:t>
            </a:r>
            <a:r>
              <a:rPr lang="en-US" altLang="zh-CN" sz="2400" dirty="0"/>
              <a:t>BSD</a:t>
            </a:r>
            <a:r>
              <a:rPr lang="zh-CN" altLang="zh-CN" sz="2400" dirty="0"/>
              <a:t>。</a:t>
            </a:r>
            <a:r>
              <a:rPr lang="en-US" altLang="zh-CN" sz="2400" dirty="0" err="1">
                <a:solidFill>
                  <a:srgbClr val="FF0000"/>
                </a:solidFill>
              </a:rPr>
              <a:t>SysV</a:t>
            </a:r>
            <a:r>
              <a:rPr lang="zh-CN" altLang="zh-CN" sz="2400" dirty="0">
                <a:solidFill>
                  <a:srgbClr val="FF0000"/>
                </a:solidFill>
              </a:rPr>
              <a:t>风格</a:t>
            </a:r>
            <a:r>
              <a:rPr lang="zh-CN" altLang="zh-CN" sz="2400" dirty="0"/>
              <a:t>的选项需要与</a:t>
            </a:r>
            <a:r>
              <a:rPr lang="zh-CN" altLang="zh-CN" sz="2400" b="1" dirty="0">
                <a:solidFill>
                  <a:srgbClr val="FF0000"/>
                </a:solidFill>
              </a:rPr>
              <a:t>“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zh-CN" sz="2400" b="1" dirty="0">
                <a:solidFill>
                  <a:srgbClr val="FF0000"/>
                </a:solidFill>
              </a:rPr>
              <a:t>”</a:t>
            </a:r>
            <a:r>
              <a:rPr lang="zh-CN" altLang="zh-CN" sz="2400" dirty="0"/>
              <a:t>一起使用，</a:t>
            </a:r>
            <a:r>
              <a:rPr lang="en-US" altLang="zh-CN" sz="2400" dirty="0"/>
              <a:t>BSD</a:t>
            </a:r>
            <a:r>
              <a:rPr lang="zh-CN" altLang="zh-CN" sz="2400" dirty="0"/>
              <a:t>风格的选项可以直接使用。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944664" y="4048203"/>
          <a:ext cx="8820767" cy="20269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1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7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选项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4432" marR="11443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说明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4432" marR="114432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8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a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4432" marR="11443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显示当前终端机下的所有进程，包括其它用户启动的进程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4432" marR="11443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8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 dirty="0">
                          <a:effectLst/>
                        </a:rPr>
                        <a:t>u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4432" marR="11443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以用户的形式，显示系统中的进程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4432" marR="114432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8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x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4432" marR="11443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忽视终端机，显示所有进程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4432" marR="114432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8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e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4432" marR="11443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显示每个进程使用的环境变量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4432" marR="114432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6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r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4432" marR="11443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只列出当前终端机中正在执行的进程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4432" marR="114432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4330131" y="3556901"/>
            <a:ext cx="28953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/>
            <a:r>
              <a:rPr lang="en-US" altLang="zh-CN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ps</a:t>
            </a:r>
            <a:r>
              <a:rPr lang="zh-CN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命令</a:t>
            </a:r>
            <a:r>
              <a:rPr lang="en-US" altLang="zh-CN" b="1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BSD</a:t>
            </a:r>
            <a:r>
              <a:rPr lang="zh-CN" altLang="zh-CN" b="1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风格</a:t>
            </a:r>
            <a:r>
              <a:rPr lang="zh-CN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的常用选项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588723" y="1155808"/>
            <a:ext cx="1099785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ps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88723" y="2204864"/>
            <a:ext cx="10997852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err="1"/>
              <a:t>ps</a:t>
            </a:r>
            <a:r>
              <a:rPr lang="zh-CN" altLang="zh-CN" sz="2400" dirty="0"/>
              <a:t>命令可以与一些选项搭配，实现更丰富的功能。它的选项有两种风格：</a:t>
            </a:r>
            <a:r>
              <a:rPr lang="en-US" altLang="zh-CN" sz="2400" dirty="0" err="1"/>
              <a:t>SysV</a:t>
            </a:r>
            <a:r>
              <a:rPr lang="zh-CN" altLang="zh-CN" sz="2400" dirty="0"/>
              <a:t>和</a:t>
            </a:r>
            <a:r>
              <a:rPr lang="en-US" altLang="zh-CN" sz="2400" dirty="0"/>
              <a:t>BSD</a:t>
            </a:r>
            <a:r>
              <a:rPr lang="zh-CN" altLang="zh-CN" sz="2400" dirty="0"/>
              <a:t>。</a:t>
            </a:r>
            <a:r>
              <a:rPr lang="en-US" altLang="zh-CN" sz="2400" dirty="0" err="1"/>
              <a:t>SysV</a:t>
            </a:r>
            <a:r>
              <a:rPr lang="zh-CN" altLang="zh-CN" sz="2400" dirty="0"/>
              <a:t>风格的选项需要与“</a:t>
            </a:r>
            <a:r>
              <a:rPr lang="en-US" altLang="zh-CN" sz="2400" dirty="0"/>
              <a:t>-</a:t>
            </a:r>
            <a:r>
              <a:rPr lang="zh-CN" altLang="zh-CN" sz="2400" dirty="0"/>
              <a:t>”，一起使用，</a:t>
            </a:r>
            <a:r>
              <a:rPr lang="en-US" altLang="zh-CN" sz="2400" dirty="0">
                <a:solidFill>
                  <a:srgbClr val="FF0000"/>
                </a:solidFill>
              </a:rPr>
              <a:t>BSD</a:t>
            </a:r>
            <a:r>
              <a:rPr lang="zh-CN" altLang="zh-CN" sz="2400" dirty="0">
                <a:solidFill>
                  <a:srgbClr val="FF0000"/>
                </a:solidFill>
              </a:rPr>
              <a:t>风格的选项</a:t>
            </a:r>
            <a:r>
              <a:rPr lang="zh-CN" altLang="zh-CN" sz="2400" dirty="0"/>
              <a:t>可以直接使用。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92214" y="3792991"/>
          <a:ext cx="8534069" cy="2154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8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5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5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7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选项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713" marR="110713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说明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713" marR="110713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9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-a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713" marR="1107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显示所有终端机中除阶段作业领导之外的进程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713" marR="11071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9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-e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713" marR="1107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显示所有进程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713" marR="11071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-f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713" marR="1107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kern="100">
                          <a:effectLst/>
                        </a:rPr>
                        <a:t>除默认显示外，显示</a:t>
                      </a:r>
                      <a:r>
                        <a:rPr lang="en-US" sz="1700" kern="100">
                          <a:effectLst/>
                        </a:rPr>
                        <a:t>UID</a:t>
                      </a:r>
                      <a:r>
                        <a:rPr lang="zh-CN" sz="1700" kern="100">
                          <a:effectLst/>
                        </a:rPr>
                        <a:t>、</a:t>
                      </a:r>
                      <a:r>
                        <a:rPr lang="en-US" sz="1700" kern="100">
                          <a:effectLst/>
                        </a:rPr>
                        <a:t>PPID</a:t>
                      </a:r>
                      <a:r>
                        <a:rPr lang="zh-CN" sz="1700" kern="100">
                          <a:effectLst/>
                        </a:rPr>
                        <a:t>、</a:t>
                      </a:r>
                      <a:r>
                        <a:rPr lang="en-US" sz="1700" kern="100">
                          <a:effectLst/>
                        </a:rPr>
                        <a:t>C</a:t>
                      </a:r>
                      <a:r>
                        <a:rPr lang="zh-CN" sz="1700" kern="100">
                          <a:effectLst/>
                        </a:rPr>
                        <a:t>、</a:t>
                      </a:r>
                      <a:r>
                        <a:rPr lang="en-US" sz="1700" kern="100">
                          <a:effectLst/>
                        </a:rPr>
                        <a:t>STIME</a:t>
                      </a:r>
                      <a:r>
                        <a:rPr lang="zh-CN" sz="1700" kern="100">
                          <a:effectLst/>
                        </a:rPr>
                        <a:t>项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713" marR="11071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65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-o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713" marR="1107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指定显示哪些字段，字段名可以使用长格式，也可以使用“</a:t>
                      </a:r>
                      <a:r>
                        <a:rPr lang="en-US" sz="1700" kern="100" dirty="0">
                          <a:effectLst/>
                        </a:rPr>
                        <a:t>%</a:t>
                      </a:r>
                      <a:r>
                        <a:rPr lang="zh-CN" sz="1700" kern="100" dirty="0">
                          <a:effectLst/>
                        </a:rPr>
                        <a:t>字符”的短格式指定，多个字段名使用逗号分割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713" marR="11071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6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kern="100">
                          <a:effectLst/>
                        </a:rPr>
                        <a:t>-l</a:t>
                      </a:r>
                      <a:endParaRPr lang="zh-CN" sz="17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713" marR="11071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kern="100" dirty="0">
                          <a:effectLst/>
                        </a:rPr>
                        <a:t>使用详细的格式显示进程信息，等同于</a:t>
                      </a:r>
                      <a:r>
                        <a:rPr lang="en-US" sz="1700" kern="100" dirty="0">
                          <a:effectLst/>
                        </a:rPr>
                        <a:t>BSD</a:t>
                      </a:r>
                      <a:r>
                        <a:rPr lang="zh-CN" sz="1700" kern="100" dirty="0">
                          <a:effectLst/>
                        </a:rPr>
                        <a:t>风格的选项</a:t>
                      </a:r>
                      <a:r>
                        <a:rPr lang="en-US" sz="1700" kern="100" dirty="0">
                          <a:effectLst/>
                        </a:rPr>
                        <a:t>l</a:t>
                      </a:r>
                      <a:endParaRPr lang="zh-CN" sz="17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0713" marR="11071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588723" y="1155808"/>
            <a:ext cx="1099785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top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88723" y="2204864"/>
            <a:ext cx="10997852" cy="308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 err="1">
                <a:solidFill>
                  <a:srgbClr val="00B0F0"/>
                </a:solidFill>
              </a:rPr>
              <a:t>ps</a:t>
            </a:r>
            <a:r>
              <a:rPr lang="zh-CN" altLang="zh-CN" sz="2400" b="1" dirty="0">
                <a:solidFill>
                  <a:srgbClr val="00B0F0"/>
                </a:solidFill>
              </a:rPr>
              <a:t>命令</a:t>
            </a:r>
            <a:r>
              <a:rPr lang="zh-CN" altLang="zh-CN" sz="2400" dirty="0"/>
              <a:t>执行后，会显示执行命令</a:t>
            </a:r>
            <a:r>
              <a:rPr lang="zh-CN" altLang="zh-CN" sz="2400" b="1" dirty="0">
                <a:solidFill>
                  <a:srgbClr val="00B0F0"/>
                </a:solidFill>
              </a:rPr>
              <a:t>那一刻</a:t>
            </a:r>
            <a:r>
              <a:rPr lang="zh-CN" altLang="zh-CN" sz="2400" dirty="0">
                <a:solidFill>
                  <a:srgbClr val="00B0F0"/>
                </a:solidFill>
              </a:rPr>
              <a:t>系统中进程的相关信息</a:t>
            </a:r>
            <a:r>
              <a:rPr lang="zh-CN" altLang="zh-CN" sz="2400" dirty="0"/>
              <a:t>，若想使信息</a:t>
            </a:r>
            <a:r>
              <a:rPr lang="zh-CN" altLang="zh-CN" sz="2400" b="1" dirty="0">
                <a:solidFill>
                  <a:srgbClr val="C00000"/>
                </a:solidFill>
              </a:rPr>
              <a:t>动态地显示</a:t>
            </a:r>
            <a:r>
              <a:rPr lang="zh-CN" altLang="zh-CN" sz="2400" dirty="0"/>
              <a:t>，可以使用</a:t>
            </a:r>
            <a:r>
              <a:rPr lang="en-US" altLang="zh-CN" sz="2400" dirty="0"/>
              <a:t>top</a:t>
            </a:r>
            <a:r>
              <a:rPr lang="zh-CN" altLang="zh-CN" sz="2400" dirty="0"/>
              <a:t>命令。</a:t>
            </a:r>
            <a:r>
              <a:rPr lang="en-US" altLang="zh-CN" sz="2400" dirty="0"/>
              <a:t>top</a:t>
            </a:r>
            <a:r>
              <a:rPr lang="zh-CN" altLang="zh-CN" sz="2400" dirty="0"/>
              <a:t>的命令格式如下：</a:t>
            </a:r>
          </a:p>
          <a:p>
            <a:r>
              <a:rPr lang="en-US" altLang="zh-CN" sz="2400" b="1" dirty="0">
                <a:solidFill>
                  <a:srgbClr val="FF0000"/>
                </a:solidFill>
              </a:rPr>
              <a:t>top</a:t>
            </a:r>
            <a:r>
              <a:rPr lang="en-US" altLang="zh-CN" sz="2400" dirty="0"/>
              <a:t> [</a:t>
            </a:r>
            <a:r>
              <a:rPr lang="zh-CN" altLang="zh-CN" sz="2400" dirty="0"/>
              <a:t>选项</a:t>
            </a:r>
            <a:r>
              <a:rPr lang="en-US" altLang="zh-CN" sz="2400" dirty="0"/>
              <a:t>]</a:t>
            </a:r>
          </a:p>
          <a:p>
            <a:r>
              <a:rPr lang="en-US" altLang="zh-CN" sz="2400" dirty="0"/>
              <a:t>top</a:t>
            </a:r>
            <a:r>
              <a:rPr lang="zh-CN" altLang="zh-CN" sz="2400" dirty="0"/>
              <a:t>命令可以实时观察系统的整体运行情况，</a:t>
            </a:r>
            <a:r>
              <a:rPr lang="zh-CN" altLang="zh-CN" sz="2400" dirty="0">
                <a:solidFill>
                  <a:srgbClr val="00B050"/>
                </a:solidFill>
              </a:rPr>
              <a:t>默认时间间隔为</a:t>
            </a:r>
            <a:r>
              <a:rPr lang="en-US" altLang="zh-CN" sz="2400" dirty="0">
                <a:solidFill>
                  <a:srgbClr val="00B050"/>
                </a:solidFill>
              </a:rPr>
              <a:t>3</a:t>
            </a:r>
            <a:r>
              <a:rPr lang="zh-CN" altLang="zh-CN" sz="2400" dirty="0">
                <a:solidFill>
                  <a:srgbClr val="00B050"/>
                </a:solidFill>
              </a:rPr>
              <a:t>秒</a:t>
            </a:r>
            <a:r>
              <a:rPr lang="zh-CN" altLang="zh-CN" sz="2400" dirty="0"/>
              <a:t>，即每</a:t>
            </a:r>
            <a:r>
              <a:rPr lang="en-US" altLang="zh-CN" sz="2400" dirty="0"/>
              <a:t>3</a:t>
            </a:r>
            <a:r>
              <a:rPr lang="zh-CN" altLang="zh-CN" sz="2400" dirty="0"/>
              <a:t>秒更新一次页面，类似</a:t>
            </a:r>
            <a:r>
              <a:rPr lang="en-US" altLang="zh-CN" sz="2400" dirty="0"/>
              <a:t>Windows</a:t>
            </a:r>
            <a:r>
              <a:rPr lang="zh-CN" altLang="zh-CN" sz="2400" dirty="0"/>
              <a:t>系统中的任务管理器，是一个很实用的系统性能监测工具。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971" y="2537637"/>
            <a:ext cx="7401263" cy="3877188"/>
          </a:xfrm>
          <a:prstGeom prst="rect">
            <a:avLst/>
          </a:prstGeom>
        </p:spPr>
      </p:pic>
      <p:grpSp>
        <p:nvGrpSpPr>
          <p:cNvPr id="5" name="组合 15"/>
          <p:cNvGrpSpPr/>
          <p:nvPr/>
        </p:nvGrpSpPr>
        <p:grpSpPr>
          <a:xfrm>
            <a:off x="588723" y="1155808"/>
            <a:ext cx="1099785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top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88723" y="2204864"/>
            <a:ext cx="10997852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dirty="0"/>
              <a:t>在终端执行</a:t>
            </a:r>
            <a:r>
              <a:rPr lang="en-US" altLang="zh-CN" sz="2400" dirty="0"/>
              <a:t>top</a:t>
            </a:r>
            <a:r>
              <a:rPr lang="zh-CN" altLang="zh-CN" sz="2400" dirty="0"/>
              <a:t>命令后的界面如下：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90765" y="5540576"/>
            <a:ext cx="6498053" cy="21675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600501" y="1155808"/>
            <a:ext cx="11013743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top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796447" y="2292546"/>
            <a:ext cx="2104372" cy="358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执行</a:t>
            </a:r>
            <a:r>
              <a:rPr lang="en-US" altLang="zh-CN" sz="2400" dirty="0"/>
              <a:t>top</a:t>
            </a:r>
            <a:r>
              <a:rPr lang="zh-CN" altLang="en-US" sz="2400" dirty="0"/>
              <a:t>命令后可通过</a:t>
            </a:r>
            <a:r>
              <a:rPr lang="zh-CN" altLang="en-US" sz="2400" b="1" dirty="0">
                <a:solidFill>
                  <a:srgbClr val="FF0000"/>
                </a:solidFill>
              </a:rPr>
              <a:t>热键</a:t>
            </a:r>
            <a:r>
              <a:rPr lang="zh-CN" altLang="en-US" sz="2400" dirty="0"/>
              <a:t>对显示的信息进行操作，常用的热键及其对应的功能如表所示。</a:t>
            </a:r>
            <a:endParaRPr lang="zh-CN" altLang="zh-CN" sz="240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222665" y="2405280"/>
          <a:ext cx="7990764" cy="35129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3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7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9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热键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说明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l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控制是否显示平均负载和启动时间（第</a:t>
                      </a:r>
                      <a:r>
                        <a:rPr lang="en-US" sz="1900" kern="100" dirty="0">
                          <a:effectLst/>
                        </a:rPr>
                        <a:t>1</a:t>
                      </a:r>
                      <a:r>
                        <a:rPr lang="zh-CN" sz="1900" kern="100" dirty="0">
                          <a:effectLst/>
                        </a:rPr>
                        <a:t>行）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7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t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控制是否显示进程统计信息和</a:t>
                      </a:r>
                      <a:r>
                        <a:rPr lang="en-US" sz="1900" kern="100">
                          <a:effectLst/>
                        </a:rPr>
                        <a:t>cpu</a:t>
                      </a:r>
                      <a:r>
                        <a:rPr lang="zh-CN" sz="1900" kern="100">
                          <a:effectLst/>
                        </a:rPr>
                        <a:t>状态信息（第</a:t>
                      </a:r>
                      <a:r>
                        <a:rPr lang="en-US" sz="1900" kern="100">
                          <a:effectLst/>
                        </a:rPr>
                        <a:t>2</a:t>
                      </a:r>
                      <a:r>
                        <a:rPr lang="zh-CN" sz="1900" kern="100">
                          <a:effectLst/>
                        </a:rPr>
                        <a:t>、</a:t>
                      </a:r>
                      <a:r>
                        <a:rPr lang="en-US" sz="1900" kern="100">
                          <a:effectLst/>
                        </a:rPr>
                        <a:t>3</a:t>
                      </a:r>
                      <a:r>
                        <a:rPr lang="zh-CN" sz="1900" kern="100">
                          <a:effectLst/>
                        </a:rPr>
                        <a:t>行）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7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m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控制是否显示内存信息（第</a:t>
                      </a:r>
                      <a:r>
                        <a:rPr lang="en-US" sz="1900" kern="100">
                          <a:effectLst/>
                        </a:rPr>
                        <a:t>4</a:t>
                      </a:r>
                      <a:r>
                        <a:rPr lang="zh-CN" sz="1900" kern="100">
                          <a:effectLst/>
                        </a:rPr>
                        <a:t>、</a:t>
                      </a:r>
                      <a:r>
                        <a:rPr lang="en-US" sz="1900" kern="100">
                          <a:effectLst/>
                        </a:rPr>
                        <a:t>5</a:t>
                      </a:r>
                      <a:r>
                        <a:rPr lang="zh-CN" sz="1900" kern="100">
                          <a:effectLst/>
                        </a:rPr>
                        <a:t>行）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7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M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根据常驻内存集</a:t>
                      </a:r>
                      <a:r>
                        <a:rPr lang="en-US" sz="1900" kern="100">
                          <a:effectLst/>
                        </a:rPr>
                        <a:t>RES</a:t>
                      </a:r>
                      <a:r>
                        <a:rPr lang="zh-CN" sz="1900" kern="100">
                          <a:effectLst/>
                        </a:rPr>
                        <a:t>大小为进程排序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7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P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根据</a:t>
                      </a:r>
                      <a:r>
                        <a:rPr lang="en-US" sz="1900" kern="100">
                          <a:effectLst/>
                        </a:rPr>
                        <a:t>%CPU</a:t>
                      </a:r>
                      <a:r>
                        <a:rPr lang="zh-CN" sz="1900" kern="100">
                          <a:effectLst/>
                        </a:rPr>
                        <a:t>为进程排序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7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T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根据</a:t>
                      </a:r>
                      <a:r>
                        <a:rPr lang="en-US" sz="1900" kern="100">
                          <a:effectLst/>
                        </a:rPr>
                        <a:t>TIME+</a:t>
                      </a:r>
                      <a:r>
                        <a:rPr lang="zh-CN" sz="1900" kern="100">
                          <a:effectLst/>
                        </a:rPr>
                        <a:t>为进程排序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7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r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重置一个进程的优先级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0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i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忽略闲置和僵死的进程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k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终止一个进程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552" marR="121552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588723" y="1155808"/>
            <a:ext cx="1098457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pstree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88723" y="2204864"/>
            <a:ext cx="10762492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err="1"/>
              <a:t>pstree</a:t>
            </a:r>
            <a:r>
              <a:rPr lang="zh-CN" altLang="zh-CN" sz="2400" dirty="0"/>
              <a:t>命令以</a:t>
            </a:r>
            <a:r>
              <a:rPr lang="zh-CN" altLang="zh-CN" sz="2400" dirty="0">
                <a:solidFill>
                  <a:srgbClr val="FF0000"/>
                </a:solidFill>
              </a:rPr>
              <a:t>树状图</a:t>
            </a:r>
            <a:r>
              <a:rPr lang="zh-CN" altLang="zh-CN" sz="2400" dirty="0"/>
              <a:t>的形式显示系统中的进程，可以直接观察到进程之间的</a:t>
            </a:r>
            <a:r>
              <a:rPr lang="zh-CN" altLang="zh-CN" sz="2400" dirty="0">
                <a:solidFill>
                  <a:srgbClr val="FF0000"/>
                </a:solidFill>
              </a:rPr>
              <a:t>派生关系</a:t>
            </a:r>
            <a:r>
              <a:rPr lang="zh-CN" altLang="zh-CN" sz="2400" dirty="0"/>
              <a:t>。</a:t>
            </a:r>
            <a:r>
              <a:rPr lang="en-US" altLang="zh-CN" sz="2400" dirty="0" err="1"/>
              <a:t>pstree</a:t>
            </a:r>
            <a:r>
              <a:rPr lang="zh-CN" altLang="zh-CN" sz="2400" dirty="0"/>
              <a:t>命令的格式如下：</a:t>
            </a:r>
          </a:p>
          <a:p>
            <a:r>
              <a:rPr lang="en-US" altLang="zh-CN" sz="2400" b="1" dirty="0" err="1">
                <a:solidFill>
                  <a:srgbClr val="FF0000"/>
                </a:solidFill>
              </a:rPr>
              <a:t>pstree</a:t>
            </a:r>
            <a:r>
              <a:rPr lang="en-US" altLang="zh-CN" sz="2400" dirty="0"/>
              <a:t> [</a:t>
            </a:r>
            <a:r>
              <a:rPr lang="zh-CN" altLang="zh-CN" sz="2400" dirty="0"/>
              <a:t>选项</a:t>
            </a:r>
            <a:r>
              <a:rPr lang="en-US" altLang="zh-CN" sz="2400" dirty="0"/>
              <a:t>]</a:t>
            </a:r>
            <a:endParaRPr lang="zh-CN" altLang="zh-CN" sz="2400" dirty="0"/>
          </a:p>
          <a:p>
            <a:r>
              <a:rPr lang="en-US" altLang="zh-CN" sz="2400" dirty="0" err="1"/>
              <a:t>pstree</a:t>
            </a:r>
            <a:r>
              <a:rPr lang="zh-CN" altLang="zh-CN" sz="2400" dirty="0"/>
              <a:t>命令中的常用选项如表所示。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989349" y="4265255"/>
          <a:ext cx="6956317" cy="21564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5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0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6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选项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747" marR="12174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说明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747" marR="12174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-a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747" marR="12174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显示每个进程的完整命令（包括路径、参数等）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747" marR="12174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-c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747" marR="12174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不使用精简标识法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747" marR="12174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-h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747" marR="12174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列出树状图，特别标明当前正在执行的进程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747" marR="12174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-u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747" marR="12174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显示用户名称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747" marR="121747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4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-n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747" marR="12174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使用程序识别码排序（默认以程序名称排序）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1747" marR="121747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588723" y="1155808"/>
            <a:ext cx="1098457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pstree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712" y="2713504"/>
            <a:ext cx="6110597" cy="315077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631633" y="1159174"/>
            <a:ext cx="10996259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pgrep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638825" y="3703464"/>
            <a:ext cx="5010413" cy="203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/>
              <a:t>Linux</a:t>
            </a:r>
            <a:r>
              <a:rPr lang="zh-CN" altLang="zh-CN" sz="2400" dirty="0"/>
              <a:t>系统中可能存在多个同名的进程，</a:t>
            </a:r>
            <a:r>
              <a:rPr lang="en-US" altLang="zh-CN" sz="2400" dirty="0" err="1"/>
              <a:t>pgrep</a:t>
            </a:r>
            <a:r>
              <a:rPr lang="zh-CN" altLang="zh-CN" sz="2400" dirty="0"/>
              <a:t>命令可以通过选项缩小搜索范围，其常用选项如表所示。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466030" y="3506650"/>
          <a:ext cx="5885185" cy="22803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5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9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选项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740" marR="12874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说明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740" marR="12874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-o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740" marR="12874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仅显示同名进程中</a:t>
                      </a:r>
                      <a:r>
                        <a:rPr lang="en-US" sz="2000" kern="100">
                          <a:effectLst/>
                        </a:rPr>
                        <a:t>pid</a:t>
                      </a:r>
                      <a:r>
                        <a:rPr lang="zh-CN" sz="2000" kern="100">
                          <a:effectLst/>
                        </a:rPr>
                        <a:t>最小的进程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740" marR="12874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-n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740" marR="12874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仅显示同名进程中</a:t>
                      </a:r>
                      <a:r>
                        <a:rPr lang="en-US" sz="2000" kern="100">
                          <a:effectLst/>
                        </a:rPr>
                        <a:t>pid</a:t>
                      </a:r>
                      <a:r>
                        <a:rPr lang="zh-CN" sz="2000" kern="100">
                          <a:effectLst/>
                        </a:rPr>
                        <a:t>最大的进程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740" marR="12874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-p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740" marR="12874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指定进程父进程的</a:t>
                      </a:r>
                      <a:r>
                        <a:rPr lang="en-US" sz="2000" kern="100">
                          <a:effectLst/>
                        </a:rPr>
                        <a:t>pid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740" marR="12874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-t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740" marR="12874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指定开启进程的终端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740" marR="12874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-u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740" marR="12874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指定进程的有效用户</a:t>
                      </a:r>
                      <a:r>
                        <a:rPr lang="en-US" sz="2000" kern="100" dirty="0">
                          <a:effectLst/>
                        </a:rPr>
                        <a:t>id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740" marR="12874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631633" y="2167286"/>
            <a:ext cx="10719582" cy="158812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pgrep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命令根据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进程名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从进程队列中查找进程，查找成功后默认显示进程的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pgrep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命令的格式如下：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pgrep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[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538" y="3351350"/>
            <a:ext cx="5282141" cy="254203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631633" y="1159174"/>
            <a:ext cx="10968963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nice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8" name="矩形 7"/>
          <p:cNvSpPr/>
          <p:nvPr/>
        </p:nvSpPr>
        <p:spPr>
          <a:xfrm>
            <a:off x="631633" y="2167286"/>
            <a:ext cx="10719582" cy="158812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nice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命令用于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系统中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nice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，该命令的格式如下：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nice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[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nice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选项常用的选项为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-n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表示优先级，是一个整数。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1633" y="3746319"/>
            <a:ext cx="10719582" cy="158812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nice –n 6 bash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nice –n 6 top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631633" y="1159174"/>
            <a:ext cx="10968963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nice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1312" y="2239984"/>
            <a:ext cx="8329375" cy="405518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606580" y="1159174"/>
            <a:ext cx="11062256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6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jobs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8" name="矩形 7"/>
          <p:cNvSpPr/>
          <p:nvPr/>
        </p:nvSpPr>
        <p:spPr>
          <a:xfrm>
            <a:off x="606580" y="2046905"/>
            <a:ext cx="5489420" cy="4579715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jobs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命令可以查看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系统中的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作业列表及作业状态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，进程中的作业也有编号，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编号从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系统中作业从用户角度进行编号，进程从系统管理员的角度进行编号。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jobs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命令的语法格式如下：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jobs [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[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当选项和参数缺省时，默认显示作业编号、作业状态和启动作业的命令。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66371" y="2577596"/>
            <a:ext cx="5452134" cy="59093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jobs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命令的常用选项如表所示。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355048" y="3276137"/>
          <a:ext cx="4426058" cy="2121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2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3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5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选项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757" marR="11975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说明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757" marR="11975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-l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757" marR="11975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显示进程号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757" marR="11975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-p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757" marR="11975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仅显示作业对应的进程号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757" marR="11975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-n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757" marR="11975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显示作业状态的变化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757" marR="11975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-r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757" marR="11975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仅显示运行状态的任务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757" marR="119757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6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-s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757" marR="119757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仅显示停止状态的任务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9757" marR="119757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631634" y="1159174"/>
            <a:ext cx="10996260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7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bg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和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fg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8" name="矩形 7"/>
          <p:cNvSpPr/>
          <p:nvPr/>
        </p:nvSpPr>
        <p:spPr>
          <a:xfrm>
            <a:off x="631633" y="2167286"/>
            <a:ext cx="10719582" cy="308392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系统中可以使用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bg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命令和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fg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，使进程在前台和后台之间进行切换。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bg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的作用是，将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进程放入后台运行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，使前台可以执行其它任务。其命令格式如下：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bg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fg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命令的作用与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bg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相反，是将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后台的进程调往前台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。其命令格式如下：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fg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作业号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606580" y="1159174"/>
            <a:ext cx="11055152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8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kill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8" name="矩形 7"/>
          <p:cNvSpPr/>
          <p:nvPr/>
        </p:nvSpPr>
        <p:spPr>
          <a:xfrm>
            <a:off x="606580" y="2209743"/>
            <a:ext cx="11055152" cy="158812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命令用来终止正在运行的进程，它的工作原理是发送某个信号到指定进程，以终止该进程。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的命令格式如下：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kill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[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6580" y="3752166"/>
            <a:ext cx="11055152" cy="1089529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kill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信号编号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一般是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。除管理进程外，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kill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命令也可用于查看系统中的信号。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606580" y="1159174"/>
            <a:ext cx="11055152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8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kill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8" name="矩形 7"/>
          <p:cNvSpPr/>
          <p:nvPr/>
        </p:nvSpPr>
        <p:spPr>
          <a:xfrm>
            <a:off x="606580" y="2209743"/>
            <a:ext cx="11055152" cy="1038105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-l”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选项可以打印系统中预设的所有信号，如图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2-12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CentOS 7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中的信号列表。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334" y="3247848"/>
            <a:ext cx="7139332" cy="31527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606580" y="1159174"/>
            <a:ext cx="11055152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8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kill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8" name="矩形 7"/>
          <p:cNvSpPr/>
          <p:nvPr/>
        </p:nvSpPr>
        <p:spPr>
          <a:xfrm>
            <a:off x="606580" y="2209743"/>
            <a:ext cx="11055152" cy="3531095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最常用的信号为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号信号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SIGKILL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，该信号不能被忽略，可以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无条件终止指定进程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。除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SIGKILL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系统中常用的信号及其功能分别如下：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SIGINT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：中断进程，使用快捷键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Ctrl+C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可实现相同功能。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SIGQUIT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：退出进程，使用快捷键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Ctrl+\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可实现相同功能。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SIGTERM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：终止进程。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SIGCONT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：使已停止的进程继续执行。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SIGSTOP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：暂停进程，使用快捷键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Ctrl+Z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可实现相同功能。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06580" y="5740837"/>
            <a:ext cx="11055152" cy="53950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kill -9 60053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606580" y="1159174"/>
            <a:ext cx="11055152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8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kill 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与 </a:t>
              </a:r>
              <a:r>
                <a:rPr lang="en-US" altLang="zh-CN" sz="3200" b="1" dirty="0" err="1">
                  <a:solidFill>
                    <a:schemeClr val="bg1"/>
                  </a:solidFill>
                </a:rPr>
                <a:t>killall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8" name="矩形 7"/>
          <p:cNvSpPr/>
          <p:nvPr/>
        </p:nvSpPr>
        <p:spPr>
          <a:xfrm>
            <a:off x="3420662" y="3494938"/>
            <a:ext cx="6127375" cy="119577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kill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		-9 		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进程号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8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killall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-9 		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进程名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进程管理命令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8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9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>
                  <a:lumMod val="50000"/>
                </a:schemeClr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70" name="矩形 28"/>
          <p:cNvSpPr>
            <a:spLocks noChangeArrowheads="1"/>
          </p:cNvSpPr>
          <p:nvPr/>
        </p:nvSpPr>
        <p:spPr bwMode="auto">
          <a:xfrm>
            <a:off x="2099550" y="1660809"/>
            <a:ext cx="18921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用户与用户组管理</a:t>
            </a:r>
          </a:p>
        </p:txBody>
      </p:sp>
      <p:sp>
        <p:nvSpPr>
          <p:cNvPr id="71" name="矩形 29"/>
          <p:cNvSpPr>
            <a:spLocks noChangeArrowheads="1"/>
          </p:cNvSpPr>
          <p:nvPr/>
        </p:nvSpPr>
        <p:spPr bwMode="auto">
          <a:xfrm>
            <a:off x="4070327" y="1841570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</a:t>
            </a:r>
          </a:p>
        </p:txBody>
      </p:sp>
      <p:cxnSp>
        <p:nvCxnSpPr>
          <p:cNvPr id="72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8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9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80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命令格式</a:t>
            </a:r>
          </a:p>
        </p:txBody>
      </p:sp>
      <p:cxnSp>
        <p:nvCxnSpPr>
          <p:cNvPr id="81" name="直接连接符 80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直接连接符 81"/>
          <p:cNvCxnSpPr/>
          <p:nvPr/>
        </p:nvCxnSpPr>
        <p:spPr bwMode="auto">
          <a:xfrm>
            <a:off x="3991652" y="1688477"/>
            <a:ext cx="399995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矩形 1"/>
          <p:cNvSpPr>
            <a:spLocks noChangeArrowheads="1"/>
          </p:cNvSpPr>
          <p:nvPr/>
        </p:nvSpPr>
        <p:spPr bwMode="auto">
          <a:xfrm>
            <a:off x="5950179" y="1769174"/>
            <a:ext cx="1890800" cy="202326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4" name="矩形 21"/>
          <p:cNvSpPr>
            <a:spLocks noChangeArrowheads="1"/>
          </p:cNvSpPr>
          <p:nvPr/>
        </p:nvSpPr>
        <p:spPr bwMode="auto">
          <a:xfrm>
            <a:off x="4009019" y="4479805"/>
            <a:ext cx="1724176" cy="18610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5" name="矩形 22"/>
          <p:cNvSpPr>
            <a:spLocks noChangeArrowheads="1"/>
          </p:cNvSpPr>
          <p:nvPr/>
        </p:nvSpPr>
        <p:spPr bwMode="auto">
          <a:xfrm>
            <a:off x="5742508" y="4489427"/>
            <a:ext cx="1727610" cy="1861019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6" name="矩形 28"/>
          <p:cNvSpPr>
            <a:spLocks noChangeArrowheads="1"/>
          </p:cNvSpPr>
          <p:nvPr/>
        </p:nvSpPr>
        <p:spPr bwMode="auto">
          <a:xfrm>
            <a:off x="3963530" y="4560959"/>
            <a:ext cx="176966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</a:p>
        </p:txBody>
      </p:sp>
      <p:sp>
        <p:nvSpPr>
          <p:cNvPr id="87" name="矩形 29"/>
          <p:cNvSpPr>
            <a:spLocks noChangeArrowheads="1"/>
          </p:cNvSpPr>
          <p:nvPr/>
        </p:nvSpPr>
        <p:spPr bwMode="auto">
          <a:xfrm>
            <a:off x="5733195" y="4566723"/>
            <a:ext cx="1713648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</a:p>
        </p:txBody>
      </p:sp>
      <p:cxnSp>
        <p:nvCxnSpPr>
          <p:cNvPr id="88" name="直接连接符 51"/>
          <p:cNvCxnSpPr>
            <a:cxnSpLocks noChangeShapeType="1"/>
          </p:cNvCxnSpPr>
          <p:nvPr/>
        </p:nvCxnSpPr>
        <p:spPr bwMode="auto">
          <a:xfrm>
            <a:off x="5688897" y="4159855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" name="TextBox 7177"/>
          <p:cNvSpPr txBox="1">
            <a:spLocks noChangeArrowheads="1"/>
          </p:cNvSpPr>
          <p:nvPr/>
        </p:nvSpPr>
        <p:spPr bwMode="auto">
          <a:xfrm>
            <a:off x="5984045" y="1060096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0" name="TextBox 7177"/>
          <p:cNvSpPr txBox="1">
            <a:spLocks noChangeArrowheads="1"/>
          </p:cNvSpPr>
          <p:nvPr/>
        </p:nvSpPr>
        <p:spPr bwMode="auto">
          <a:xfrm>
            <a:off x="3954924" y="3783090"/>
            <a:ext cx="9970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1" name="TextBox 7177"/>
          <p:cNvSpPr txBox="1">
            <a:spLocks noChangeArrowheads="1"/>
          </p:cNvSpPr>
          <p:nvPr/>
        </p:nvSpPr>
        <p:spPr bwMode="auto">
          <a:xfrm>
            <a:off x="5737237" y="3803149"/>
            <a:ext cx="15200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</a:p>
        </p:txBody>
      </p:sp>
      <p:cxnSp>
        <p:nvCxnSpPr>
          <p:cNvPr id="93" name="直接连接符 19"/>
          <p:cNvCxnSpPr/>
          <p:nvPr/>
        </p:nvCxnSpPr>
        <p:spPr bwMode="auto">
          <a:xfrm>
            <a:off x="4029328" y="4427930"/>
            <a:ext cx="1678967" cy="776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直接连接符 20"/>
          <p:cNvCxnSpPr/>
          <p:nvPr/>
        </p:nvCxnSpPr>
        <p:spPr bwMode="auto">
          <a:xfrm>
            <a:off x="5709923" y="4428744"/>
            <a:ext cx="183470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5816" y="5280100"/>
            <a:ext cx="1538977" cy="1046463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7" name="直接连接符 52"/>
          <p:cNvCxnSpPr>
            <a:cxnSpLocks noChangeShapeType="1"/>
          </p:cNvCxnSpPr>
          <p:nvPr/>
        </p:nvCxnSpPr>
        <p:spPr bwMode="auto">
          <a:xfrm>
            <a:off x="4005598" y="4173190"/>
            <a:ext cx="1" cy="296447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矩形 1"/>
          <p:cNvSpPr>
            <a:spLocks noChangeArrowheads="1"/>
          </p:cNvSpPr>
          <p:nvPr/>
        </p:nvSpPr>
        <p:spPr bwMode="auto">
          <a:xfrm>
            <a:off x="7490535" y="4485614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cxnSp>
        <p:nvCxnSpPr>
          <p:cNvPr id="100" name="直接连接符 7167"/>
          <p:cNvCxnSpPr>
            <a:cxnSpLocks noChangeShapeType="1"/>
          </p:cNvCxnSpPr>
          <p:nvPr/>
        </p:nvCxnSpPr>
        <p:spPr bwMode="auto">
          <a:xfrm flipV="1">
            <a:off x="7466430" y="4427930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直接连接符 7172"/>
          <p:cNvCxnSpPr>
            <a:cxnSpLocks noChangeShapeType="1"/>
          </p:cNvCxnSpPr>
          <p:nvPr/>
        </p:nvCxnSpPr>
        <p:spPr bwMode="auto">
          <a:xfrm>
            <a:off x="7465525" y="4074072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" name="TextBox 7177"/>
          <p:cNvSpPr txBox="1">
            <a:spLocks noChangeArrowheads="1"/>
          </p:cNvSpPr>
          <p:nvPr/>
        </p:nvSpPr>
        <p:spPr bwMode="auto">
          <a:xfrm>
            <a:off x="7509602" y="3751901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03" name="矩形 28"/>
          <p:cNvSpPr>
            <a:spLocks noChangeArrowheads="1"/>
          </p:cNvSpPr>
          <p:nvPr/>
        </p:nvSpPr>
        <p:spPr bwMode="auto">
          <a:xfrm>
            <a:off x="7470337" y="4607439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软件包管理</a:t>
            </a:r>
          </a:p>
        </p:txBody>
      </p:sp>
      <p:pic>
        <p:nvPicPr>
          <p:cNvPr id="10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150" y="2604066"/>
            <a:ext cx="1364458" cy="104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" name="矩形 1"/>
          <p:cNvSpPr>
            <a:spLocks noChangeArrowheads="1"/>
          </p:cNvSpPr>
          <p:nvPr/>
        </p:nvSpPr>
        <p:spPr bwMode="auto">
          <a:xfrm>
            <a:off x="9221062" y="4485515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pic>
        <p:nvPicPr>
          <p:cNvPr id="123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76403" y="5321538"/>
            <a:ext cx="1457809" cy="99727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直接连接符 7167"/>
          <p:cNvCxnSpPr>
            <a:cxnSpLocks noChangeShapeType="1"/>
          </p:cNvCxnSpPr>
          <p:nvPr/>
        </p:nvCxnSpPr>
        <p:spPr bwMode="auto">
          <a:xfrm flipV="1">
            <a:off x="9196957" y="4427831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5" name="直接连接符 7172"/>
          <p:cNvCxnSpPr>
            <a:cxnSpLocks noChangeShapeType="1"/>
          </p:cNvCxnSpPr>
          <p:nvPr/>
        </p:nvCxnSpPr>
        <p:spPr bwMode="auto">
          <a:xfrm>
            <a:off x="9196052" y="4073973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" name="TextBox 7177"/>
          <p:cNvSpPr txBox="1">
            <a:spLocks noChangeArrowheads="1"/>
          </p:cNvSpPr>
          <p:nvPr/>
        </p:nvSpPr>
        <p:spPr bwMode="auto">
          <a:xfrm>
            <a:off x="9240129" y="3751802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8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27" name="矩形 28"/>
          <p:cNvSpPr>
            <a:spLocks noChangeArrowheads="1"/>
          </p:cNvSpPr>
          <p:nvPr/>
        </p:nvSpPr>
        <p:spPr bwMode="auto">
          <a:xfrm>
            <a:off x="9221062" y="4601675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文本编辑器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4" y="2604066"/>
            <a:ext cx="1533716" cy="104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35" y="2596545"/>
            <a:ext cx="1654397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548" y="5279692"/>
            <a:ext cx="1530043" cy="104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140" y="5292164"/>
            <a:ext cx="1420225" cy="1000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2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001" y="2596545"/>
            <a:ext cx="1679893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44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44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1015729" y="2232843"/>
            <a:ext cx="647889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系统提供了特定的命令，以便管理各种服务，在</a:t>
            </a:r>
            <a:r>
              <a:rPr lang="en-US" altLang="zh-CN" sz="2400" dirty="0">
                <a:solidFill>
                  <a:srgbClr val="1353A2"/>
                </a:solidFill>
              </a:rPr>
              <a:t>CentOS7</a:t>
            </a:r>
            <a:r>
              <a:rPr lang="zh-CN" altLang="en-US" sz="2400" dirty="0">
                <a:solidFill>
                  <a:srgbClr val="1353A2"/>
                </a:solidFill>
              </a:rPr>
              <a:t>之前的版本中，用于管理服务的命令为</a:t>
            </a:r>
            <a:r>
              <a:rPr lang="en-US" altLang="zh-CN" sz="2400" dirty="0">
                <a:solidFill>
                  <a:srgbClr val="FF0000"/>
                </a:solidFill>
              </a:rPr>
              <a:t>service</a:t>
            </a:r>
            <a:r>
              <a:rPr lang="zh-CN" altLang="en-US" sz="2400" dirty="0">
                <a:solidFill>
                  <a:srgbClr val="FF0000"/>
                </a:solidFill>
              </a:rPr>
              <a:t>和</a:t>
            </a:r>
            <a:r>
              <a:rPr lang="en-US" altLang="zh-CN" sz="2400" dirty="0" err="1">
                <a:solidFill>
                  <a:srgbClr val="FF0000"/>
                </a:solidFill>
              </a:rPr>
              <a:t>chkconfig</a:t>
            </a:r>
            <a:r>
              <a:rPr lang="zh-CN" altLang="en-US" sz="2400" dirty="0">
                <a:solidFill>
                  <a:srgbClr val="1353A2"/>
                </a:solidFill>
              </a:rPr>
              <a:t>，</a:t>
            </a:r>
            <a:r>
              <a:rPr lang="en-US" altLang="zh-CN" sz="2400" dirty="0">
                <a:solidFill>
                  <a:srgbClr val="1353A2"/>
                </a:solidFill>
              </a:rPr>
              <a:t>CentOS7</a:t>
            </a:r>
            <a:r>
              <a:rPr lang="zh-CN" altLang="en-US" sz="2400" dirty="0">
                <a:solidFill>
                  <a:srgbClr val="1353A2"/>
                </a:solidFill>
              </a:rPr>
              <a:t>及其之后的版本统一使用</a:t>
            </a:r>
            <a:r>
              <a:rPr lang="en-US" altLang="zh-CN" sz="2400" b="1" dirty="0" err="1">
                <a:solidFill>
                  <a:srgbClr val="FF0000"/>
                </a:solidFill>
              </a:rPr>
              <a:t>systemctl</a:t>
            </a:r>
            <a:r>
              <a:rPr lang="zh-CN" altLang="en-US" sz="2400" b="1" dirty="0">
                <a:solidFill>
                  <a:srgbClr val="FF0000"/>
                </a:solidFill>
              </a:rPr>
              <a:t>命令</a:t>
            </a:r>
            <a:r>
              <a:rPr lang="zh-CN" altLang="en-US" sz="2400" dirty="0">
                <a:solidFill>
                  <a:srgbClr val="1353A2"/>
                </a:solidFill>
              </a:rPr>
              <a:t>管理服务。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451" y="1581575"/>
            <a:ext cx="3684896" cy="449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92649" y="2044704"/>
            <a:ext cx="109943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1353A2"/>
                </a:solidFill>
              </a:rPr>
              <a:t>systemctl</a:t>
            </a:r>
            <a:r>
              <a:rPr lang="zh-CN" altLang="en-US" sz="2400" dirty="0">
                <a:solidFill>
                  <a:srgbClr val="1353A2"/>
                </a:solidFill>
              </a:rPr>
              <a:t>命令功能的基础</a:t>
            </a:r>
            <a:r>
              <a:rPr lang="zh-CN" altLang="en-US" sz="2400" dirty="0">
                <a:solidFill>
                  <a:srgbClr val="FF0000"/>
                </a:solidFill>
              </a:rPr>
              <a:t>取值</a:t>
            </a:r>
            <a:r>
              <a:rPr lang="zh-CN" altLang="en-US" sz="2400" dirty="0">
                <a:solidFill>
                  <a:srgbClr val="1353A2"/>
                </a:solidFill>
              </a:rPr>
              <a:t>与</a:t>
            </a:r>
            <a:r>
              <a:rPr lang="zh-CN" altLang="en-US" sz="2400" dirty="0">
                <a:solidFill>
                  <a:srgbClr val="FF0000"/>
                </a:solidFill>
              </a:rPr>
              <a:t>含义</a:t>
            </a:r>
            <a:r>
              <a:rPr lang="zh-CN" altLang="en-US" sz="2400" dirty="0">
                <a:solidFill>
                  <a:srgbClr val="1353A2"/>
                </a:solidFill>
              </a:rPr>
              <a:t>如下：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enable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使能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指定服务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开机自启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disable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指定服务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开机自启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指定服务；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stop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指定服务；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status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指定服务运行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，列出该服务的详细信息；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restart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重启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指定服务；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reload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重新加载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指定服务的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配置文件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restart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可实现）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9001" y="998733"/>
            <a:ext cx="10994300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命令实际上是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service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chkconfig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命令的组合，该命令的格式如下：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 服务名称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787392" y="1636999"/>
            <a:ext cx="251411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系统中常使用</a:t>
            </a:r>
            <a:r>
              <a:rPr lang="en-US" altLang="zh-CN" sz="2400" dirty="0" err="1">
                <a:solidFill>
                  <a:srgbClr val="1353A2"/>
                </a:solidFill>
              </a:rPr>
              <a:t>systemctl</a:t>
            </a:r>
            <a:r>
              <a:rPr lang="zh-CN" altLang="en-US" sz="2400" dirty="0">
                <a:solidFill>
                  <a:srgbClr val="1353A2"/>
                </a:solidFill>
              </a:rPr>
              <a:t>命令管理的服务如表所示。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771318" y="1636999"/>
          <a:ext cx="7809459" cy="39926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904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服务名称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说明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dovecot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邮件服务器中</a:t>
                      </a:r>
                      <a:r>
                        <a:rPr lang="en-US" sz="1400" kern="100" dirty="0">
                          <a:effectLst/>
                        </a:rPr>
                        <a:t>POP3/IMAP</a:t>
                      </a:r>
                      <a:r>
                        <a:rPr lang="zh-CN" sz="1400" kern="100" dirty="0">
                          <a:effectLst/>
                        </a:rPr>
                        <a:t>服务的守护进程，主要用于收取邮件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httpd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apache</a:t>
                      </a:r>
                      <a:r>
                        <a:rPr lang="zh-CN" sz="1400" kern="100" dirty="0">
                          <a:effectLst/>
                        </a:rPr>
                        <a:t>服务的守护进程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firewalld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CentOS7</a:t>
                      </a:r>
                      <a:r>
                        <a:rPr lang="zh-CN" sz="1400" kern="100" dirty="0">
                          <a:effectLst/>
                        </a:rPr>
                        <a:t>及之后版本中防火墙服务的守护进程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mariadb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mariadb</a:t>
                      </a:r>
                      <a:r>
                        <a:rPr lang="zh-CN" sz="1400" kern="100">
                          <a:effectLst/>
                        </a:rPr>
                        <a:t>数据库服务的守护进程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named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DNS</a:t>
                      </a:r>
                      <a:r>
                        <a:rPr lang="zh-CN" sz="1400" kern="100">
                          <a:effectLst/>
                        </a:rPr>
                        <a:t>（域名系统）服务的守护进程，用于解析域名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</a:rPr>
                        <a:t>network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网络服务的守护进程，用于管理网络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9706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nfs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NFS</a:t>
                      </a:r>
                      <a:r>
                        <a:rPr lang="zh-CN" sz="1400" kern="100">
                          <a:effectLst/>
                        </a:rPr>
                        <a:t>（网络文件系统）服务的守护进程，用于实现</a:t>
                      </a:r>
                      <a:r>
                        <a:rPr lang="en-US" sz="1400" kern="100">
                          <a:effectLst/>
                        </a:rPr>
                        <a:t>Linux</a:t>
                      </a:r>
                      <a:r>
                        <a:rPr lang="zh-CN" sz="1400" kern="100">
                          <a:effectLst/>
                        </a:rPr>
                        <a:t>系统间的文件共享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vsftpd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vsftp</a:t>
                      </a:r>
                      <a:r>
                        <a:rPr lang="zh-CN" sz="1400" kern="100">
                          <a:effectLst/>
                        </a:rPr>
                        <a:t>服务的守护进程，用于实现文件传输（</a:t>
                      </a:r>
                      <a:r>
                        <a:rPr lang="en-US" sz="1400" kern="100">
                          <a:effectLst/>
                        </a:rPr>
                        <a:t>FTP</a:t>
                      </a:r>
                      <a:r>
                        <a:rPr lang="zh-CN" sz="1400" kern="100">
                          <a:effectLst/>
                        </a:rPr>
                        <a:t>服务）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9706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xinetd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CentOS7</a:t>
                      </a:r>
                      <a:r>
                        <a:rPr lang="zh-CN" sz="1400" kern="100">
                          <a:effectLst/>
                        </a:rPr>
                        <a:t>及之后版本中的超级守护进程，用于管理多种轻量级</a:t>
                      </a:r>
                      <a:r>
                        <a:rPr lang="en-US" sz="1400" kern="100">
                          <a:effectLst/>
                        </a:rPr>
                        <a:t>Internet</a:t>
                      </a:r>
                      <a:r>
                        <a:rPr lang="zh-CN" sz="1400" kern="100">
                          <a:effectLst/>
                        </a:rPr>
                        <a:t>服务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196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postfix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邮件服务中</a:t>
                      </a:r>
                      <a:r>
                        <a:rPr lang="en-US" sz="1400" kern="100" dirty="0">
                          <a:effectLst/>
                        </a:rPr>
                        <a:t>IMAP</a:t>
                      </a:r>
                      <a:r>
                        <a:rPr lang="zh-CN" sz="1400" kern="100" dirty="0">
                          <a:effectLst/>
                        </a:rPr>
                        <a:t>服务的守护进程，主要用于实现邮件发送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95112" y="5705802"/>
            <a:ext cx="100092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333333"/>
                </a:solidFill>
                <a:effectLst/>
                <a:latin typeface="Helvetica Neue"/>
              </a:rPr>
              <a:t>很多守护进程在系统引导的时候启动，并且一直运行直到系统关闭。另一些只在需要的时候才启动，完成任务后就自动结束。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787392" y="4138270"/>
            <a:ext cx="26520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FF0000"/>
                </a:solidFill>
                <a:effectLst/>
                <a:latin typeface="Helvetica Neue"/>
              </a:rPr>
              <a:t>守护进程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Helvetica Neue"/>
              </a:rPr>
              <a:t>(daemon)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Helvetica Neue"/>
              </a:rPr>
              <a:t>是一类在后台运行的特殊进程，用于执行特定的系统任务。</a:t>
            </a:r>
            <a:endParaRPr lang="zh-CN" altLang="en-US" sz="20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6067" y="1371170"/>
            <a:ext cx="322525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命令支持两种形式的服务名称，表中列出的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一种，另一种是在表中服务名称的基础上添加“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.service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”后缀，这两种形式的服务名称可实现相同的效果。</a:t>
            </a: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771318" y="1636999"/>
          <a:ext cx="7809459" cy="39926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904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服务名称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说明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dovecot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邮件服务器中</a:t>
                      </a:r>
                      <a:r>
                        <a:rPr lang="en-US" sz="1400" kern="100" dirty="0">
                          <a:effectLst/>
                        </a:rPr>
                        <a:t>POP3/IMAP</a:t>
                      </a:r>
                      <a:r>
                        <a:rPr lang="zh-CN" sz="1400" kern="100" dirty="0">
                          <a:effectLst/>
                        </a:rPr>
                        <a:t>服务的守护进程，主要用于收取邮件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httpd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apache</a:t>
                      </a:r>
                      <a:r>
                        <a:rPr lang="zh-CN" sz="1400" kern="100" dirty="0">
                          <a:effectLst/>
                        </a:rPr>
                        <a:t>服务的守护进程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firewalld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CentOS7</a:t>
                      </a:r>
                      <a:r>
                        <a:rPr lang="zh-CN" sz="1400" kern="100" dirty="0">
                          <a:effectLst/>
                        </a:rPr>
                        <a:t>及之后版本中防火墙服务的守护进程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mariadb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mariadb</a:t>
                      </a:r>
                      <a:r>
                        <a:rPr lang="zh-CN" sz="1400" kern="100">
                          <a:effectLst/>
                        </a:rPr>
                        <a:t>数据库服务的守护进程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named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DNS</a:t>
                      </a:r>
                      <a:r>
                        <a:rPr lang="zh-CN" sz="1400" kern="100">
                          <a:effectLst/>
                        </a:rPr>
                        <a:t>（域名系统）服务的守护进程，用于解析域名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</a:rPr>
                        <a:t>network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网络服务的守护进程，用于管理网络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9706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nfs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NFS</a:t>
                      </a:r>
                      <a:r>
                        <a:rPr lang="zh-CN" sz="1400" kern="100">
                          <a:effectLst/>
                        </a:rPr>
                        <a:t>（网络文件系统）服务的守护进程，用于实现</a:t>
                      </a:r>
                      <a:r>
                        <a:rPr lang="en-US" sz="1400" kern="100">
                          <a:effectLst/>
                        </a:rPr>
                        <a:t>Linux</a:t>
                      </a:r>
                      <a:r>
                        <a:rPr lang="zh-CN" sz="1400" kern="100">
                          <a:effectLst/>
                        </a:rPr>
                        <a:t>系统间的文件共享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878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vsftpd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vsftp</a:t>
                      </a:r>
                      <a:r>
                        <a:rPr lang="zh-CN" sz="1400" kern="100">
                          <a:effectLst/>
                        </a:rPr>
                        <a:t>服务的守护进程，用于实现文件传输（</a:t>
                      </a:r>
                      <a:r>
                        <a:rPr lang="en-US" sz="1400" kern="100">
                          <a:effectLst/>
                        </a:rPr>
                        <a:t>FTP</a:t>
                      </a:r>
                      <a:r>
                        <a:rPr lang="zh-CN" sz="1400" kern="100">
                          <a:effectLst/>
                        </a:rPr>
                        <a:t>服务）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9706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xinetd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CentOS7</a:t>
                      </a:r>
                      <a:r>
                        <a:rPr lang="zh-CN" sz="1400" kern="100">
                          <a:effectLst/>
                        </a:rPr>
                        <a:t>及之后版本中的超级守护进程，用于管理多种轻量级</a:t>
                      </a:r>
                      <a:r>
                        <a:rPr lang="en-US" sz="1400" kern="100">
                          <a:effectLst/>
                        </a:rPr>
                        <a:t>Internet</a:t>
                      </a:r>
                      <a:r>
                        <a:rPr lang="zh-CN" sz="1400" kern="100">
                          <a:effectLst/>
                        </a:rPr>
                        <a:t>服务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196">
                <a:tc>
                  <a:txBody>
                    <a:bodyPr/>
                    <a:lstStyle/>
                    <a:p>
                      <a:pPr indent="-29210"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postfix</a:t>
                      </a:r>
                      <a:endParaRPr lang="zh-CN" sz="1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 anchor="ctr"/>
                </a:tc>
                <a:tc>
                  <a:txBody>
                    <a:bodyPr/>
                    <a:lstStyle/>
                    <a:p>
                      <a:pPr indent="-29210"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邮件服务中</a:t>
                      </a:r>
                      <a:r>
                        <a:rPr lang="en-US" sz="1400" kern="100" dirty="0">
                          <a:effectLst/>
                        </a:rPr>
                        <a:t>IMAP</a:t>
                      </a:r>
                      <a:r>
                        <a:rPr lang="zh-CN" sz="1400" kern="100" dirty="0">
                          <a:effectLst/>
                        </a:rPr>
                        <a:t>服务的守护进程，主要用于实现邮件发送</a:t>
                      </a:r>
                      <a:endParaRPr lang="zh-CN" sz="1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471" marR="95471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9001" y="1203450"/>
            <a:ext cx="10994300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下面以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服务为例，展示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命令的部分使用方法。</a:t>
            </a:r>
          </a:p>
        </p:txBody>
      </p:sp>
      <p:sp>
        <p:nvSpPr>
          <p:cNvPr id="6" name="矩形 5"/>
          <p:cNvSpPr/>
          <p:nvPr/>
        </p:nvSpPr>
        <p:spPr>
          <a:xfrm>
            <a:off x="579001" y="1784507"/>
            <a:ext cx="482551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、关闭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stop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httpd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、开启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httpd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、取消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服务开机自启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disable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httpd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、使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服务开机自启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enable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httpd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endParaRPr lang="zh-CN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56913" y="1778610"/>
            <a:ext cx="48255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的运行状态</a:t>
            </a:r>
            <a:endParaRPr lang="zh-CN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status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httpd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9001" y="1203450"/>
            <a:ext cx="10994300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下面以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服务为例，展示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命令的部分使用方法。</a:t>
            </a:r>
          </a:p>
        </p:txBody>
      </p:sp>
      <p:sp>
        <p:nvSpPr>
          <p:cNvPr id="9" name="矩形 8"/>
          <p:cNvSpPr/>
          <p:nvPr/>
        </p:nvSpPr>
        <p:spPr>
          <a:xfrm>
            <a:off x="579001" y="1782502"/>
            <a:ext cx="1099430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并非每次执行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都能成功启动服务，在管理服务时常常会看到如下所示的信息：</a:t>
            </a:r>
          </a:p>
          <a:p>
            <a:pPr indent="457200" defTabSz="720725">
              <a:lnSpc>
                <a:spcPct val="150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Job for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named.service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failed because the control process exited with error code. See "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status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named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.service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and "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journalctl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xe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for details.</a:t>
            </a: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终端输出以上信息后返回，说明此次命令执行失败。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此时可使用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systemctl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status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功能，或通过“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journalctl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xe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”查看服务的报错信息，以便更快地定位到问题并及时解决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8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9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>
                  <a:lumMod val="50000"/>
                </a:schemeClr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70" name="矩形 28"/>
          <p:cNvSpPr>
            <a:spLocks noChangeArrowheads="1"/>
          </p:cNvSpPr>
          <p:nvPr/>
        </p:nvSpPr>
        <p:spPr bwMode="auto">
          <a:xfrm>
            <a:off x="2099550" y="1660809"/>
            <a:ext cx="18921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用户与用户组管理</a:t>
            </a:r>
          </a:p>
        </p:txBody>
      </p:sp>
      <p:sp>
        <p:nvSpPr>
          <p:cNvPr id="71" name="矩形 29"/>
          <p:cNvSpPr>
            <a:spLocks noChangeArrowheads="1"/>
          </p:cNvSpPr>
          <p:nvPr/>
        </p:nvSpPr>
        <p:spPr bwMode="auto">
          <a:xfrm>
            <a:off x="4070327" y="1841570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</a:t>
            </a:r>
          </a:p>
        </p:txBody>
      </p:sp>
      <p:cxnSp>
        <p:nvCxnSpPr>
          <p:cNvPr id="72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8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9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80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命令格式</a:t>
            </a:r>
          </a:p>
        </p:txBody>
      </p:sp>
      <p:cxnSp>
        <p:nvCxnSpPr>
          <p:cNvPr id="81" name="直接连接符 80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直接连接符 81"/>
          <p:cNvCxnSpPr/>
          <p:nvPr/>
        </p:nvCxnSpPr>
        <p:spPr bwMode="auto">
          <a:xfrm>
            <a:off x="3991652" y="1688477"/>
            <a:ext cx="399995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矩形 1"/>
          <p:cNvSpPr>
            <a:spLocks noChangeArrowheads="1"/>
          </p:cNvSpPr>
          <p:nvPr/>
        </p:nvSpPr>
        <p:spPr bwMode="auto">
          <a:xfrm>
            <a:off x="5950179" y="1769174"/>
            <a:ext cx="1890800" cy="202326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4" name="矩形 21"/>
          <p:cNvSpPr>
            <a:spLocks noChangeArrowheads="1"/>
          </p:cNvSpPr>
          <p:nvPr/>
        </p:nvSpPr>
        <p:spPr bwMode="auto">
          <a:xfrm>
            <a:off x="4009019" y="4479805"/>
            <a:ext cx="1724176" cy="18610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5" name="矩形 22"/>
          <p:cNvSpPr>
            <a:spLocks noChangeArrowheads="1"/>
          </p:cNvSpPr>
          <p:nvPr/>
        </p:nvSpPr>
        <p:spPr bwMode="auto">
          <a:xfrm>
            <a:off x="5742508" y="4489427"/>
            <a:ext cx="1727610" cy="18610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6" name="矩形 28"/>
          <p:cNvSpPr>
            <a:spLocks noChangeArrowheads="1"/>
          </p:cNvSpPr>
          <p:nvPr/>
        </p:nvSpPr>
        <p:spPr bwMode="auto">
          <a:xfrm>
            <a:off x="3963530" y="4560959"/>
            <a:ext cx="176966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</a:p>
        </p:txBody>
      </p:sp>
      <p:sp>
        <p:nvSpPr>
          <p:cNvPr id="87" name="矩形 29"/>
          <p:cNvSpPr>
            <a:spLocks noChangeArrowheads="1"/>
          </p:cNvSpPr>
          <p:nvPr/>
        </p:nvSpPr>
        <p:spPr bwMode="auto">
          <a:xfrm>
            <a:off x="5733195" y="4566723"/>
            <a:ext cx="1713648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</a:p>
        </p:txBody>
      </p:sp>
      <p:cxnSp>
        <p:nvCxnSpPr>
          <p:cNvPr id="88" name="直接连接符 51"/>
          <p:cNvCxnSpPr>
            <a:cxnSpLocks noChangeShapeType="1"/>
          </p:cNvCxnSpPr>
          <p:nvPr/>
        </p:nvCxnSpPr>
        <p:spPr bwMode="auto">
          <a:xfrm>
            <a:off x="5688897" y="4159855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" name="TextBox 7177"/>
          <p:cNvSpPr txBox="1">
            <a:spLocks noChangeArrowheads="1"/>
          </p:cNvSpPr>
          <p:nvPr/>
        </p:nvSpPr>
        <p:spPr bwMode="auto">
          <a:xfrm>
            <a:off x="5984045" y="1060096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0" name="TextBox 7177"/>
          <p:cNvSpPr txBox="1">
            <a:spLocks noChangeArrowheads="1"/>
          </p:cNvSpPr>
          <p:nvPr/>
        </p:nvSpPr>
        <p:spPr bwMode="auto">
          <a:xfrm>
            <a:off x="3954924" y="3783090"/>
            <a:ext cx="9970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1" name="TextBox 7177"/>
          <p:cNvSpPr txBox="1">
            <a:spLocks noChangeArrowheads="1"/>
          </p:cNvSpPr>
          <p:nvPr/>
        </p:nvSpPr>
        <p:spPr bwMode="auto">
          <a:xfrm>
            <a:off x="5737237" y="3803149"/>
            <a:ext cx="15200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</a:p>
        </p:txBody>
      </p:sp>
      <p:cxnSp>
        <p:nvCxnSpPr>
          <p:cNvPr id="93" name="直接连接符 19"/>
          <p:cNvCxnSpPr/>
          <p:nvPr/>
        </p:nvCxnSpPr>
        <p:spPr bwMode="auto">
          <a:xfrm>
            <a:off x="4029328" y="4427930"/>
            <a:ext cx="1678967" cy="776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直接连接符 20"/>
          <p:cNvCxnSpPr/>
          <p:nvPr/>
        </p:nvCxnSpPr>
        <p:spPr bwMode="auto">
          <a:xfrm>
            <a:off x="5709923" y="4428744"/>
            <a:ext cx="183470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5816" y="5280100"/>
            <a:ext cx="1538977" cy="1046463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7" name="直接连接符 52"/>
          <p:cNvCxnSpPr>
            <a:cxnSpLocks noChangeShapeType="1"/>
          </p:cNvCxnSpPr>
          <p:nvPr/>
        </p:nvCxnSpPr>
        <p:spPr bwMode="auto">
          <a:xfrm>
            <a:off x="4005598" y="4173190"/>
            <a:ext cx="1" cy="296447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矩形 1"/>
          <p:cNvSpPr>
            <a:spLocks noChangeArrowheads="1"/>
          </p:cNvSpPr>
          <p:nvPr/>
        </p:nvSpPr>
        <p:spPr bwMode="auto">
          <a:xfrm>
            <a:off x="7490535" y="4485614"/>
            <a:ext cx="1724177" cy="1861019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cxnSp>
        <p:nvCxnSpPr>
          <p:cNvPr id="100" name="直接连接符 7167"/>
          <p:cNvCxnSpPr>
            <a:cxnSpLocks noChangeShapeType="1"/>
          </p:cNvCxnSpPr>
          <p:nvPr/>
        </p:nvCxnSpPr>
        <p:spPr bwMode="auto">
          <a:xfrm flipV="1">
            <a:off x="7466430" y="4427930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直接连接符 7172"/>
          <p:cNvCxnSpPr>
            <a:cxnSpLocks noChangeShapeType="1"/>
          </p:cNvCxnSpPr>
          <p:nvPr/>
        </p:nvCxnSpPr>
        <p:spPr bwMode="auto">
          <a:xfrm>
            <a:off x="7465525" y="4074072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" name="TextBox 7177"/>
          <p:cNvSpPr txBox="1">
            <a:spLocks noChangeArrowheads="1"/>
          </p:cNvSpPr>
          <p:nvPr/>
        </p:nvSpPr>
        <p:spPr bwMode="auto">
          <a:xfrm>
            <a:off x="7509602" y="3751901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03" name="矩形 28"/>
          <p:cNvSpPr>
            <a:spLocks noChangeArrowheads="1"/>
          </p:cNvSpPr>
          <p:nvPr/>
        </p:nvSpPr>
        <p:spPr bwMode="auto">
          <a:xfrm>
            <a:off x="7470337" y="4607439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软件包管理</a:t>
            </a:r>
          </a:p>
        </p:txBody>
      </p:sp>
      <p:pic>
        <p:nvPicPr>
          <p:cNvPr id="10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150" y="2604066"/>
            <a:ext cx="1364458" cy="104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" name="矩形 1"/>
          <p:cNvSpPr>
            <a:spLocks noChangeArrowheads="1"/>
          </p:cNvSpPr>
          <p:nvPr/>
        </p:nvSpPr>
        <p:spPr bwMode="auto">
          <a:xfrm>
            <a:off x="9221062" y="4485515"/>
            <a:ext cx="1724177" cy="18610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pic>
        <p:nvPicPr>
          <p:cNvPr id="123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76403" y="5321538"/>
            <a:ext cx="1457809" cy="99727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直接连接符 7167"/>
          <p:cNvCxnSpPr>
            <a:cxnSpLocks noChangeShapeType="1"/>
          </p:cNvCxnSpPr>
          <p:nvPr/>
        </p:nvCxnSpPr>
        <p:spPr bwMode="auto">
          <a:xfrm flipV="1">
            <a:off x="9196957" y="4427831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5" name="直接连接符 7172"/>
          <p:cNvCxnSpPr>
            <a:cxnSpLocks noChangeShapeType="1"/>
          </p:cNvCxnSpPr>
          <p:nvPr/>
        </p:nvCxnSpPr>
        <p:spPr bwMode="auto">
          <a:xfrm>
            <a:off x="9196052" y="4073973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" name="TextBox 7177"/>
          <p:cNvSpPr txBox="1">
            <a:spLocks noChangeArrowheads="1"/>
          </p:cNvSpPr>
          <p:nvPr/>
        </p:nvSpPr>
        <p:spPr bwMode="auto">
          <a:xfrm>
            <a:off x="9240129" y="3751802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8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27" name="矩形 28"/>
          <p:cNvSpPr>
            <a:spLocks noChangeArrowheads="1"/>
          </p:cNvSpPr>
          <p:nvPr/>
        </p:nvSpPr>
        <p:spPr bwMode="auto">
          <a:xfrm>
            <a:off x="9221062" y="4601675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文本编辑器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4" y="2604066"/>
            <a:ext cx="1533716" cy="104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35" y="2596545"/>
            <a:ext cx="1654397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548" y="5279692"/>
            <a:ext cx="1530043" cy="104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140" y="5292164"/>
            <a:ext cx="1420225" cy="1000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2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001" y="2596545"/>
            <a:ext cx="1679893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44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44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2.7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软件包管理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Text Box 44"/>
          <p:cNvSpPr txBox="1">
            <a:spLocks noChangeArrowheads="1"/>
          </p:cNvSpPr>
          <p:nvPr/>
        </p:nvSpPr>
        <p:spPr bwMode="auto">
          <a:xfrm>
            <a:off x="4505949" y="2131351"/>
            <a:ext cx="709464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提供了一种集中的软件包管理机制，该机制将软件以包的形式存储在仓库中，方便用户搜索、安装和</a:t>
            </a:r>
            <a:r>
              <a:rPr lang="zh-CN" altLang="en-US" sz="2400" dirty="0">
                <a:solidFill>
                  <a:srgbClr val="FF0000"/>
                </a:solidFill>
              </a:rPr>
              <a:t>管理软件包</a:t>
            </a:r>
            <a:r>
              <a:rPr lang="zh-CN" altLang="en-US" sz="2400" dirty="0">
                <a:solidFill>
                  <a:srgbClr val="1353A2"/>
                </a:solidFill>
              </a:rPr>
              <a:t>。软件包的管理不仅包括软件包的</a:t>
            </a:r>
            <a:r>
              <a:rPr lang="zh-CN" altLang="en-US" sz="2400" dirty="0">
                <a:solidFill>
                  <a:srgbClr val="FF0000"/>
                </a:solidFill>
              </a:rPr>
              <a:t>安装</a:t>
            </a:r>
            <a:r>
              <a:rPr lang="zh-CN" altLang="en-US" sz="2400" dirty="0">
                <a:solidFill>
                  <a:srgbClr val="1353A2"/>
                </a:solidFill>
              </a:rPr>
              <a:t>，还包含软件包的</a:t>
            </a:r>
            <a:r>
              <a:rPr lang="zh-CN" altLang="en-US" sz="2400" dirty="0">
                <a:solidFill>
                  <a:srgbClr val="FF0000"/>
                </a:solidFill>
              </a:rPr>
              <a:t>升级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</a:rPr>
              <a:t>卸载</a:t>
            </a:r>
            <a:r>
              <a:rPr lang="zh-CN" altLang="en-US" sz="2400" dirty="0">
                <a:solidFill>
                  <a:srgbClr val="1353A2"/>
                </a:solidFill>
              </a:rPr>
              <a:t>与</a:t>
            </a:r>
            <a:r>
              <a:rPr lang="zh-CN" altLang="en-US" sz="2400" dirty="0">
                <a:solidFill>
                  <a:srgbClr val="FF0000"/>
                </a:solidFill>
              </a:rPr>
              <a:t>更新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系统中常用的两种软件包管理工具为</a:t>
            </a:r>
            <a:r>
              <a:rPr lang="en-US" altLang="zh-CN" sz="2400" dirty="0">
                <a:solidFill>
                  <a:srgbClr val="FF0000"/>
                </a:solidFill>
              </a:rPr>
              <a:t>rpm</a:t>
            </a:r>
            <a:r>
              <a:rPr lang="zh-CN" altLang="en-US" sz="2400" dirty="0">
                <a:solidFill>
                  <a:srgbClr val="1353A2"/>
                </a:solidFill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</a:rPr>
              <a:t>yum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01" y="1502148"/>
            <a:ext cx="3649404" cy="4120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2.7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.1RPM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软件包管理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Text Box 44"/>
          <p:cNvSpPr txBox="1">
            <a:spLocks noChangeArrowheads="1"/>
          </p:cNvSpPr>
          <p:nvPr/>
        </p:nvSpPr>
        <p:spPr bwMode="auto">
          <a:xfrm>
            <a:off x="602689" y="1189655"/>
            <a:ext cx="110252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RPM</a:t>
            </a:r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 err="1">
                <a:solidFill>
                  <a:srgbClr val="1353A2"/>
                </a:solidFill>
              </a:rPr>
              <a:t>RedHat</a:t>
            </a:r>
            <a:r>
              <a:rPr lang="en-US" altLang="zh-CN" sz="2400" dirty="0">
                <a:solidFill>
                  <a:srgbClr val="1353A2"/>
                </a:solidFill>
              </a:rPr>
              <a:t> Package Manager</a:t>
            </a:r>
            <a:r>
              <a:rPr lang="zh-CN" altLang="en-US" sz="2400" dirty="0">
                <a:solidFill>
                  <a:srgbClr val="1353A2"/>
                </a:solidFill>
              </a:rPr>
              <a:t>）是由</a:t>
            </a:r>
            <a:r>
              <a:rPr lang="en-US" altLang="zh-CN" sz="2400" dirty="0" err="1">
                <a:solidFill>
                  <a:srgbClr val="1353A2"/>
                </a:solidFill>
              </a:rPr>
              <a:t>RedHat</a:t>
            </a:r>
            <a:r>
              <a:rPr lang="zh-CN" altLang="en-US" sz="2400" dirty="0">
                <a:solidFill>
                  <a:srgbClr val="1353A2"/>
                </a:solidFill>
              </a:rPr>
              <a:t>公司开发的一种软件包管理工具，遵循</a:t>
            </a:r>
            <a:r>
              <a:rPr lang="en-US" altLang="zh-CN" sz="2400" dirty="0">
                <a:solidFill>
                  <a:srgbClr val="1353A2"/>
                </a:solidFill>
              </a:rPr>
              <a:t>GPL</a:t>
            </a:r>
            <a:r>
              <a:rPr lang="zh-CN" altLang="en-US" sz="2400" dirty="0">
                <a:solidFill>
                  <a:srgbClr val="1353A2"/>
                </a:solidFill>
              </a:rPr>
              <a:t>协议，被广泛应用于其他</a:t>
            </a: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发行版中。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602689" y="2389984"/>
            <a:ext cx="11025204" cy="1682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RPM</a:t>
            </a:r>
            <a:r>
              <a:rPr lang="zh-CN" altLang="en-US" sz="2400" dirty="0">
                <a:solidFill>
                  <a:srgbClr val="1353A2"/>
                </a:solidFill>
              </a:rPr>
              <a:t>包分为：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二进制包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源码包</a:t>
            </a:r>
            <a:endParaRPr lang="en-US" altLang="zh-CN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02689" y="4296710"/>
            <a:ext cx="11025204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RPM</a:t>
            </a:r>
            <a:r>
              <a:rPr lang="zh-CN" altLang="en-US" sz="2400" dirty="0">
                <a:solidFill>
                  <a:srgbClr val="1353A2"/>
                </a:solidFill>
              </a:rPr>
              <a:t>命名规则：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name-version-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.rpm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name-version-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.src.rpm</a:t>
            </a:r>
            <a:endParaRPr lang="en-US" altLang="zh-CN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" grpId="0"/>
      <p:bldP spid="7" grpId="0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2.7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.1RPM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软件包管理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602689" y="4144310"/>
            <a:ext cx="7960064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示例如下：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</a:rPr>
              <a:t>mysql-community-release-</a:t>
            </a:r>
            <a:r>
              <a:rPr lang="en-US" altLang="zh-CN" sz="2400" b="1" dirty="0">
                <a:solidFill>
                  <a:srgbClr val="00B0F0"/>
                </a:solidFill>
              </a:rPr>
              <a:t>el7</a:t>
            </a:r>
            <a:r>
              <a:rPr lang="en-US" altLang="zh-CN" sz="2400" dirty="0">
                <a:solidFill>
                  <a:srgbClr val="1353A2"/>
                </a:solidFill>
              </a:rPr>
              <a:t>-5.</a:t>
            </a:r>
            <a:r>
              <a:rPr lang="en-US" altLang="zh-CN" sz="2400" b="1" dirty="0">
                <a:solidFill>
                  <a:srgbClr val="00B050"/>
                </a:solidFill>
              </a:rPr>
              <a:t>noarch</a:t>
            </a:r>
            <a:r>
              <a:rPr lang="en-US" altLang="zh-CN" sz="2400" dirty="0">
                <a:solidFill>
                  <a:srgbClr val="1353A2"/>
                </a:solidFill>
              </a:rPr>
              <a:t>.rpm</a:t>
            </a:r>
          </a:p>
        </p:txBody>
      </p:sp>
      <p:sp>
        <p:nvSpPr>
          <p:cNvPr id="2" name="矩形 1"/>
          <p:cNvSpPr/>
          <p:nvPr/>
        </p:nvSpPr>
        <p:spPr>
          <a:xfrm>
            <a:off x="787885" y="1494083"/>
            <a:ext cx="10765983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el*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：软件包的发行商版本，如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el5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表示软件包在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RHEL 5.x/CentOS 5.x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下使用；</a:t>
            </a:r>
          </a:p>
          <a:p>
            <a:pPr marL="342900" indent="-342900" defTabSz="720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devel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：表示当前软件包是一个开发包；</a:t>
            </a:r>
          </a:p>
          <a:p>
            <a:pPr marL="342900" indent="-342900" defTabSz="720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noarch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：表示当前软件包适用于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任何平台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342900" indent="-342900" defTabSz="720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manual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：表示当前软件是手册文档。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build="p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2.7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.1RPM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软件包管理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Text Box 44"/>
          <p:cNvSpPr txBox="1">
            <a:spLocks noChangeArrowheads="1"/>
          </p:cNvSpPr>
          <p:nvPr/>
        </p:nvSpPr>
        <p:spPr bwMode="auto">
          <a:xfrm>
            <a:off x="602689" y="1189655"/>
            <a:ext cx="11025204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/>
              <a:t>rpm</a:t>
            </a:r>
            <a:r>
              <a:rPr lang="zh-CN" altLang="zh-CN" sz="2400" dirty="0"/>
              <a:t>命令与不同的选项搭配，可实现不同的功能，常用的选项如表所示。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689731" y="1770712"/>
          <a:ext cx="8851119" cy="4651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142">
                <a:tc>
                  <a:txBody>
                    <a:bodyPr/>
                    <a:lstStyle/>
                    <a:p>
                      <a:pPr indent="41529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选项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5290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说明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r>
                        <a:rPr lang="en-US" sz="1800" kern="100" dirty="0" err="1">
                          <a:solidFill>
                            <a:srgbClr val="FF0000"/>
                          </a:solidFill>
                          <a:effectLst/>
                        </a:rPr>
                        <a:t>i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</a:rPr>
                        <a:t>安装</a:t>
                      </a:r>
                      <a:r>
                        <a:rPr lang="zh-CN" sz="1800" kern="100" dirty="0">
                          <a:effectLst/>
                        </a:rPr>
                        <a:t>指定的一个或多个软件包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C000"/>
                          </a:solidFill>
                          <a:effectLst/>
                        </a:rPr>
                        <a:t>-q</a:t>
                      </a:r>
                      <a:endParaRPr lang="zh-CN" sz="1800" kern="100" dirty="0">
                        <a:solidFill>
                          <a:srgbClr val="FFC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查询</a:t>
                      </a:r>
                      <a:r>
                        <a:rPr lang="zh-CN" sz="1800" kern="100" dirty="0">
                          <a:effectLst/>
                        </a:rPr>
                        <a:t>软件包信息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-e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</a:rPr>
                        <a:t>卸载</a:t>
                      </a:r>
                      <a:r>
                        <a:rPr lang="zh-CN" sz="1800" kern="100" dirty="0">
                          <a:effectLst/>
                        </a:rPr>
                        <a:t>指定的软件包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7030A0"/>
                          </a:solidFill>
                          <a:effectLst/>
                        </a:rPr>
                        <a:t>-v</a:t>
                      </a:r>
                      <a:endParaRPr lang="zh-CN" sz="1800" kern="100" dirty="0">
                        <a:solidFill>
                          <a:srgbClr val="7030A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显示安装过程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-V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验证已安装软件包内文件与原始软件包内文件是否一致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</a:rPr>
                        <a:t>-a</a:t>
                      </a:r>
                      <a:endParaRPr lang="zh-CN" sz="1800" kern="100" dirty="0">
                        <a:solidFill>
                          <a:srgbClr val="FFFF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查询</a:t>
                      </a:r>
                      <a:r>
                        <a:rPr lang="zh-CN" sz="1800" kern="100" dirty="0">
                          <a:effectLst/>
                        </a:rPr>
                        <a:t>已安装的包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-U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</a:rPr>
                        <a:t>升级</a:t>
                      </a:r>
                      <a:r>
                        <a:rPr lang="zh-CN" sz="1800" kern="100" dirty="0">
                          <a:effectLst/>
                        </a:rPr>
                        <a:t>指定软件包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-c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显示软件包的所有配置文件列表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-d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显示软件包的所有文本文件列表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</a:rPr>
                        <a:t>-p</a:t>
                      </a:r>
                      <a:endParaRPr lang="zh-CN" sz="1800" kern="100" dirty="0">
                        <a:solidFill>
                          <a:srgbClr val="FFFF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查询</a:t>
                      </a:r>
                      <a:r>
                        <a:rPr lang="zh-CN" sz="1800" kern="100" dirty="0">
                          <a:effectLst/>
                        </a:rPr>
                        <a:t>软件包安装后对应的包名，通常和其他选项组合使用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-g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&lt;</a:t>
                      </a:r>
                      <a:r>
                        <a:rPr lang="zh-CN" sz="1800" kern="100" dirty="0">
                          <a:effectLst/>
                        </a:rPr>
                        <a:t>组列表</a:t>
                      </a:r>
                      <a:r>
                        <a:rPr lang="en-US" sz="1800" kern="100" dirty="0">
                          <a:effectLst/>
                        </a:rPr>
                        <a:t>&gt; </a:t>
                      </a:r>
                      <a:r>
                        <a:rPr lang="zh-CN" sz="1800" kern="100" dirty="0">
                          <a:effectLst/>
                        </a:rPr>
                        <a:t>查询组里有哪些软件包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-f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&lt;</a:t>
                      </a:r>
                      <a:r>
                        <a:rPr lang="zh-CN" sz="1800" kern="100">
                          <a:effectLst/>
                        </a:rPr>
                        <a:t>文件列表</a:t>
                      </a:r>
                      <a:r>
                        <a:rPr lang="en-US" sz="1800" kern="100">
                          <a:effectLst/>
                        </a:rPr>
                        <a:t>&gt; </a:t>
                      </a:r>
                      <a:r>
                        <a:rPr lang="zh-CN" sz="1800" kern="100">
                          <a:effectLst/>
                        </a:rPr>
                        <a:t>查询文件属于哪个软件包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-l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显示软件包的文件列表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-s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显示软件包的文件状态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8571">
                <a:tc>
                  <a:txBody>
                    <a:bodyPr/>
                    <a:lstStyle/>
                    <a:p>
                      <a:pPr indent="41338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7030A0"/>
                          </a:solidFill>
                          <a:effectLst/>
                        </a:rPr>
                        <a:t>-h</a:t>
                      </a:r>
                      <a:endParaRPr lang="zh-CN" sz="1800" kern="100" dirty="0">
                        <a:solidFill>
                          <a:srgbClr val="7030A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tc>
                  <a:txBody>
                    <a:bodyPr/>
                    <a:lstStyle/>
                    <a:p>
                      <a:pPr indent="413385"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以</a:t>
                      </a:r>
                      <a:r>
                        <a:rPr lang="en-US" sz="1800" kern="100" dirty="0">
                          <a:effectLst/>
                        </a:rPr>
                        <a:t>#</a:t>
                      </a:r>
                      <a:r>
                        <a:rPr lang="zh-CN" sz="1800" kern="100" dirty="0">
                          <a:effectLst/>
                        </a:rPr>
                        <a:t>号显示安装进度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15102" marR="115102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push dir="u"/>
  </p:transition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2.7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.1RPM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软件包管理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Text Box 44"/>
          <p:cNvSpPr txBox="1">
            <a:spLocks noChangeArrowheads="1"/>
          </p:cNvSpPr>
          <p:nvPr/>
        </p:nvSpPr>
        <p:spPr bwMode="auto">
          <a:xfrm>
            <a:off x="602689" y="1189655"/>
            <a:ext cx="11025204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/>
              <a:t>rpm</a:t>
            </a:r>
            <a:r>
              <a:rPr lang="zh-CN" altLang="zh-CN" sz="2400" dirty="0"/>
              <a:t>命令与不同的选项搭配，可实现不同的功能，常用的选项如表所示。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8374" y="1770712"/>
            <a:ext cx="1096951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720725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、安装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20725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rpm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ivh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jdk-8u151-linux-x64.rpm</a:t>
            </a:r>
          </a:p>
          <a:p>
            <a:pPr defTabSz="720725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、查询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20725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rpm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qp</a:t>
            </a:r>
            <a:r>
              <a:rPr lang="en-US" altLang="zh-CN" sz="20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jdk-8u151-linux-x64.rpm</a:t>
            </a:r>
          </a:p>
          <a:p>
            <a:pPr defTabSz="720725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、验证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20725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rpm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-K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jdk-8u151-linux-x64.rpm </a:t>
            </a:r>
          </a:p>
          <a:p>
            <a:pPr defTabSz="720725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rpm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Vp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jdk-8u151-linux-x64.rpm</a:t>
            </a:r>
          </a:p>
          <a:p>
            <a:pPr defTabSz="720725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、更新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20725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、删除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20725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rpm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-e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jdk1.8-1.8.0_151-fcs.x86_64</a:t>
            </a:r>
            <a:endParaRPr lang="zh-CN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2.7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.2YUM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软件包管理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Text Box 44"/>
          <p:cNvSpPr txBox="1">
            <a:spLocks noChangeArrowheads="1"/>
          </p:cNvSpPr>
          <p:nvPr/>
        </p:nvSpPr>
        <p:spPr bwMode="auto">
          <a:xfrm>
            <a:off x="602689" y="1189655"/>
            <a:ext cx="11025204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YUM</a:t>
            </a:r>
            <a:r>
              <a:rPr lang="zh-CN" altLang="en-US" sz="2400" dirty="0">
                <a:solidFill>
                  <a:srgbClr val="1353A2"/>
                </a:solidFill>
              </a:rPr>
              <a:t>是“</a:t>
            </a:r>
            <a:r>
              <a:rPr lang="en-US" altLang="zh-CN" sz="2400" dirty="0">
                <a:solidFill>
                  <a:srgbClr val="1353A2"/>
                </a:solidFill>
              </a:rPr>
              <a:t>Yellow dog updater, Modified”</a:t>
            </a:r>
            <a:r>
              <a:rPr lang="zh-CN" altLang="en-US" sz="2400" dirty="0">
                <a:solidFill>
                  <a:srgbClr val="1353A2"/>
                </a:solidFill>
              </a:rPr>
              <a:t>的缩写，它是</a:t>
            </a:r>
            <a:r>
              <a:rPr lang="en-US" altLang="zh-CN" sz="2400" dirty="0" err="1">
                <a:solidFill>
                  <a:srgbClr val="1353A2"/>
                </a:solidFill>
              </a:rPr>
              <a:t>RedHat</a:t>
            </a:r>
            <a:r>
              <a:rPr lang="zh-CN" altLang="en-US" sz="2400" dirty="0">
                <a:solidFill>
                  <a:srgbClr val="1353A2"/>
                </a:solidFill>
              </a:rPr>
              <a:t>公司发行的一个高级软件包管理工具，与</a:t>
            </a:r>
            <a:r>
              <a:rPr lang="en-US" altLang="zh-CN" sz="2400" dirty="0">
                <a:solidFill>
                  <a:srgbClr val="1353A2"/>
                </a:solidFill>
              </a:rPr>
              <a:t>RPM</a:t>
            </a:r>
            <a:r>
              <a:rPr lang="zh-CN" altLang="en-US" sz="2400" dirty="0">
                <a:solidFill>
                  <a:srgbClr val="1353A2"/>
                </a:solidFill>
              </a:rPr>
              <a:t>相比，</a:t>
            </a:r>
            <a:r>
              <a:rPr lang="en-US" altLang="zh-CN" sz="2400" dirty="0">
                <a:solidFill>
                  <a:srgbClr val="1353A2"/>
                </a:solidFill>
              </a:rPr>
              <a:t>YUM</a:t>
            </a:r>
            <a:r>
              <a:rPr lang="zh-CN" altLang="en-US" sz="2400" dirty="0">
                <a:solidFill>
                  <a:srgbClr val="1353A2"/>
                </a:solidFill>
              </a:rPr>
              <a:t>最大的优势就是可以</a:t>
            </a:r>
            <a:r>
              <a:rPr lang="zh-CN" altLang="en-US" sz="2400" b="1" dirty="0">
                <a:solidFill>
                  <a:srgbClr val="FF0000"/>
                </a:solidFill>
              </a:rPr>
              <a:t>自动解决</a:t>
            </a:r>
            <a:r>
              <a:rPr lang="zh-CN" altLang="en-US" sz="2400" dirty="0">
                <a:solidFill>
                  <a:srgbClr val="1353A2"/>
                </a:solidFill>
              </a:rPr>
              <a:t>软件包之间的</a:t>
            </a:r>
            <a:r>
              <a:rPr lang="zh-CN" altLang="en-US" sz="2400" b="1" dirty="0">
                <a:solidFill>
                  <a:srgbClr val="FF0000"/>
                </a:solidFill>
              </a:rPr>
              <a:t>依赖关系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602689" y="2772121"/>
            <a:ext cx="11025204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fr-FR" altLang="zh-CN" sz="2400" dirty="0">
                <a:solidFill>
                  <a:srgbClr val="1353A2"/>
                </a:solidFill>
              </a:rPr>
              <a:t>yum</a:t>
            </a:r>
            <a:r>
              <a:rPr lang="zh-CN" altLang="fr-FR" sz="2400" dirty="0">
                <a:solidFill>
                  <a:srgbClr val="1353A2"/>
                </a:solidFill>
              </a:rPr>
              <a:t>命令的格式如下所示：</a:t>
            </a:r>
          </a:p>
          <a:p>
            <a:pPr>
              <a:lnSpc>
                <a:spcPct val="150000"/>
              </a:lnSpc>
            </a:pPr>
            <a:r>
              <a:rPr lang="fr-FR" altLang="zh-CN" sz="2400" dirty="0">
                <a:solidFill>
                  <a:srgbClr val="FF0000"/>
                </a:solidFill>
              </a:rPr>
              <a:t>yum </a:t>
            </a:r>
            <a:r>
              <a:rPr lang="fr-FR" altLang="zh-CN" sz="2400" dirty="0">
                <a:solidFill>
                  <a:srgbClr val="1353A2"/>
                </a:solidFill>
              </a:rPr>
              <a:t>[options] COMMAND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02689" y="3907175"/>
            <a:ext cx="1102520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</a:rPr>
              <a:t>options</a:t>
            </a:r>
            <a:r>
              <a:rPr lang="zh-CN" altLang="en-US" sz="2400" dirty="0">
                <a:solidFill>
                  <a:srgbClr val="1353A2"/>
                </a:solidFill>
              </a:rPr>
              <a:t>表示选项，</a:t>
            </a:r>
            <a:r>
              <a:rPr lang="en-US" altLang="zh-CN" sz="2400" dirty="0">
                <a:solidFill>
                  <a:srgbClr val="1353A2"/>
                </a:solidFill>
              </a:rPr>
              <a:t>yum</a:t>
            </a:r>
            <a:r>
              <a:rPr lang="zh-CN" altLang="en-US" sz="2400" dirty="0">
                <a:solidFill>
                  <a:srgbClr val="1353A2"/>
                </a:solidFill>
              </a:rPr>
              <a:t>命令常用的选项是</a:t>
            </a:r>
            <a:r>
              <a:rPr lang="en-US" altLang="zh-CN" sz="2400" b="1" dirty="0">
                <a:solidFill>
                  <a:srgbClr val="FF0000"/>
                </a:solidFill>
              </a:rPr>
              <a:t>-y</a:t>
            </a:r>
            <a:r>
              <a:rPr lang="zh-CN" altLang="en-US" sz="2400" dirty="0">
                <a:solidFill>
                  <a:srgbClr val="1353A2"/>
                </a:solidFill>
              </a:rPr>
              <a:t>，</a:t>
            </a:r>
            <a:r>
              <a:rPr lang="zh-CN" altLang="en-US" sz="2400" dirty="0">
                <a:solidFill>
                  <a:srgbClr val="00B0F0"/>
                </a:solidFill>
              </a:rPr>
              <a:t>使用该选项，安装过程中遇到的所有问题将自动给出肯定回答，避免用户手动一一确认</a:t>
            </a:r>
            <a:endParaRPr lang="en-US" altLang="zh-CN" sz="2400" dirty="0">
              <a:solidFill>
                <a:srgbClr val="00B0F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</a:rPr>
              <a:t> </a:t>
            </a:r>
            <a:r>
              <a:rPr lang="en-US" altLang="zh-CN" sz="2400" dirty="0">
                <a:solidFill>
                  <a:srgbClr val="1353A2"/>
                </a:solidFill>
              </a:rPr>
              <a:t>COMMAND</a:t>
            </a:r>
            <a:r>
              <a:rPr lang="zh-CN" altLang="en-US" sz="2400" dirty="0">
                <a:solidFill>
                  <a:srgbClr val="1353A2"/>
                </a:solidFill>
              </a:rPr>
              <a:t>表示命令，常用的是安装、更新等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" grpId="0"/>
      <p:bldP spid="7" grpId="0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44"/>
          <p:cNvSpPr txBox="1">
            <a:spLocks noChangeArrowheads="1"/>
          </p:cNvSpPr>
          <p:nvPr/>
        </p:nvSpPr>
        <p:spPr bwMode="auto">
          <a:xfrm>
            <a:off x="602689" y="1189655"/>
            <a:ext cx="11025204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/>
              <a:t>rpm</a:t>
            </a:r>
            <a:r>
              <a:rPr lang="zh-CN" altLang="zh-CN" sz="2400" dirty="0"/>
              <a:t>命令与不同的选项搭配，可实现不同的功能，常用的选项如表所示。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8374" y="1770712"/>
            <a:ext cx="4527775" cy="4459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、安装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yum -y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install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telnet</a:t>
            </a:r>
          </a:p>
          <a:p>
            <a:pPr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、查询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yum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telnet</a:t>
            </a:r>
          </a:p>
          <a:p>
            <a:pPr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yum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telnet</a:t>
            </a:r>
          </a:p>
          <a:p>
            <a:pPr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yum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check-update</a:t>
            </a:r>
          </a:p>
          <a:p>
            <a:pPr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、更新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yum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telnet</a:t>
            </a:r>
          </a:p>
        </p:txBody>
      </p:sp>
      <p:sp>
        <p:nvSpPr>
          <p:cNvPr id="7" name="矩形 6"/>
          <p:cNvSpPr/>
          <p:nvPr/>
        </p:nvSpPr>
        <p:spPr>
          <a:xfrm>
            <a:off x="5491956" y="1770712"/>
            <a:ext cx="4527775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、删除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yum -y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remove 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telnet</a:t>
            </a:r>
          </a:p>
          <a:p>
            <a:pPr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、清除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yum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clean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all</a:t>
            </a:r>
            <a:endParaRPr lang="zh-CN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2.7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.2YUM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软件包管理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2.7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.3YUM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源管理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4653884" y="2791038"/>
            <a:ext cx="6851177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fr-FR" altLang="zh-CN" sz="2400" dirty="0">
                <a:solidFill>
                  <a:srgbClr val="1353A2"/>
                </a:solidFill>
              </a:rPr>
              <a:t>YUM</a:t>
            </a:r>
            <a:r>
              <a:rPr lang="zh-CN" altLang="fr-FR" sz="2400" dirty="0">
                <a:solidFill>
                  <a:srgbClr val="1353A2"/>
                </a:solidFill>
              </a:rPr>
              <a:t>之所以可以自动从服务器下载相应的软件包进行安装，是因为配置了相应的软件源。</a:t>
            </a:r>
            <a:r>
              <a:rPr lang="zh-CN" altLang="fr-FR" sz="2400" dirty="0">
                <a:solidFill>
                  <a:srgbClr val="00B0F0"/>
                </a:solidFill>
              </a:rPr>
              <a:t>软件源</a:t>
            </a:r>
            <a:r>
              <a:rPr lang="zh-CN" altLang="fr-FR" sz="2400" dirty="0">
                <a:solidFill>
                  <a:srgbClr val="1353A2"/>
                </a:solidFill>
              </a:rPr>
              <a:t>也称为</a:t>
            </a:r>
            <a:r>
              <a:rPr lang="zh-CN" altLang="fr-FR" sz="2400" dirty="0">
                <a:solidFill>
                  <a:srgbClr val="00B0F0"/>
                </a:solidFill>
              </a:rPr>
              <a:t>软件仓库</a:t>
            </a:r>
            <a:r>
              <a:rPr lang="zh-CN" altLang="fr-FR" sz="2400" dirty="0">
                <a:solidFill>
                  <a:srgbClr val="1353A2"/>
                </a:solidFill>
              </a:rPr>
              <a:t>，其本质为预先保存了软件包下载地址的文件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83" y="1233061"/>
            <a:ext cx="3796964" cy="464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2.7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.3YUM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源管理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586854" y="1194250"/>
            <a:ext cx="11013743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fr-FR" sz="2400" dirty="0">
                <a:solidFill>
                  <a:srgbClr val="1353A2"/>
                </a:solidFill>
              </a:rPr>
              <a:t>保存了软件包下载地址的文件存储在</a:t>
            </a:r>
            <a:r>
              <a:rPr lang="fr-FR" altLang="zh-CN" sz="2400" b="1" dirty="0">
                <a:solidFill>
                  <a:srgbClr val="FF0000"/>
                </a:solidFill>
              </a:rPr>
              <a:t>/etc/yum.repos.d/</a:t>
            </a:r>
            <a:r>
              <a:rPr lang="zh-CN" altLang="fr-FR" sz="2400" dirty="0">
                <a:solidFill>
                  <a:srgbClr val="1353A2"/>
                </a:solidFill>
              </a:rPr>
              <a:t>目录下，使用</a:t>
            </a:r>
            <a:r>
              <a:rPr lang="fr-FR" altLang="zh-CN" sz="2400" dirty="0">
                <a:solidFill>
                  <a:srgbClr val="1353A2"/>
                </a:solidFill>
              </a:rPr>
              <a:t>ls</a:t>
            </a:r>
            <a:r>
              <a:rPr lang="zh-CN" altLang="fr-FR" sz="2400" dirty="0">
                <a:solidFill>
                  <a:srgbClr val="1353A2"/>
                </a:solidFill>
              </a:rPr>
              <a:t>命令可查看该目录下的软件源文件，具体操作如下：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endParaRPr lang="zh-CN" altLang="fr-FR" sz="2400" dirty="0">
              <a:solidFill>
                <a:srgbClr val="1353A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86854" y="4424888"/>
            <a:ext cx="10731744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YUM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源文件都以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.repo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为扩展名，因此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yum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源也称为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repo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944" y="2681067"/>
            <a:ext cx="8912112" cy="14958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2.7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.3YUM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源管理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586854" y="1194250"/>
            <a:ext cx="11013743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repo</a:t>
            </a:r>
            <a:r>
              <a:rPr lang="zh-CN" altLang="en-US" sz="2400" dirty="0">
                <a:solidFill>
                  <a:srgbClr val="1353A2"/>
                </a:solidFill>
              </a:rPr>
              <a:t>文件中，每个以</a:t>
            </a:r>
            <a:r>
              <a:rPr lang="en-US" altLang="zh-CN" sz="2400" dirty="0">
                <a:solidFill>
                  <a:srgbClr val="1353A2"/>
                </a:solidFill>
              </a:rPr>
              <a:t>[]</a:t>
            </a:r>
            <a:r>
              <a:rPr lang="zh-CN" altLang="en-US" sz="2400" dirty="0">
                <a:solidFill>
                  <a:srgbClr val="1353A2"/>
                </a:solidFill>
              </a:rPr>
              <a:t>开始的部分都是一个“源”。以</a:t>
            </a:r>
            <a:r>
              <a:rPr lang="en-US" altLang="zh-CN" sz="2400" dirty="0">
                <a:solidFill>
                  <a:srgbClr val="1353A2"/>
                </a:solidFill>
              </a:rPr>
              <a:t>CentOS-</a:t>
            </a:r>
            <a:r>
              <a:rPr lang="en-US" altLang="zh-CN" sz="2400" dirty="0" err="1">
                <a:solidFill>
                  <a:srgbClr val="1353A2"/>
                </a:solidFill>
              </a:rPr>
              <a:t>Base.repo</a:t>
            </a:r>
            <a:r>
              <a:rPr lang="zh-CN" altLang="en-US" sz="2400" dirty="0">
                <a:solidFill>
                  <a:srgbClr val="1353A2"/>
                </a:solidFill>
              </a:rPr>
              <a:t>文件为例，该文件中的一个“源”如下所示：</a:t>
            </a:r>
            <a:endParaRPr lang="zh-CN" altLang="fr-FR" sz="2400" dirty="0">
              <a:solidFill>
                <a:srgbClr val="1353A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86854" y="4072004"/>
            <a:ext cx="1101374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上述“源”中各项含义的介绍分别如下：</a:t>
            </a:r>
          </a:p>
          <a:p>
            <a:pPr marL="342900" indent="-342900" defTabSz="720725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[base]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：命名一个叫“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”的源；</a:t>
            </a:r>
          </a:p>
          <a:p>
            <a:pPr marL="342900" indent="-342900" defTabSz="720725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：标识源的名字为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CentOS-$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releasever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 Base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342900" indent="-342900" defTabSz="720725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mirrorlist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：记录源的镜像地址；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93" y="2497702"/>
            <a:ext cx="10729263" cy="140590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2.7</a:t>
            </a:r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.3YUM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源管理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586854" y="1194250"/>
            <a:ext cx="11013743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repo</a:t>
            </a:r>
            <a:r>
              <a:rPr lang="zh-CN" altLang="en-US" sz="2400" dirty="0">
                <a:solidFill>
                  <a:srgbClr val="1353A2"/>
                </a:solidFill>
              </a:rPr>
              <a:t>文件中，每个以</a:t>
            </a:r>
            <a:r>
              <a:rPr lang="en-US" altLang="zh-CN" sz="2400" dirty="0">
                <a:solidFill>
                  <a:srgbClr val="1353A2"/>
                </a:solidFill>
              </a:rPr>
              <a:t>[]</a:t>
            </a:r>
            <a:r>
              <a:rPr lang="zh-CN" altLang="en-US" sz="2400" dirty="0">
                <a:solidFill>
                  <a:srgbClr val="1353A2"/>
                </a:solidFill>
              </a:rPr>
              <a:t>开始的部分都是一个“源”。以</a:t>
            </a:r>
            <a:r>
              <a:rPr lang="en-US" altLang="zh-CN" sz="2400" dirty="0">
                <a:solidFill>
                  <a:srgbClr val="1353A2"/>
                </a:solidFill>
              </a:rPr>
              <a:t>CentOS-</a:t>
            </a:r>
            <a:r>
              <a:rPr lang="en-US" altLang="zh-CN" sz="2400" dirty="0" err="1">
                <a:solidFill>
                  <a:srgbClr val="1353A2"/>
                </a:solidFill>
              </a:rPr>
              <a:t>Base.repo</a:t>
            </a:r>
            <a:r>
              <a:rPr lang="zh-CN" altLang="en-US" sz="2400" dirty="0">
                <a:solidFill>
                  <a:srgbClr val="1353A2"/>
                </a:solidFill>
              </a:rPr>
              <a:t>文件为例，该文件中的一个“源”如下所示：</a:t>
            </a:r>
            <a:endParaRPr lang="zh-CN" altLang="fr-FR" sz="2400" dirty="0">
              <a:solidFill>
                <a:srgbClr val="1353A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86854" y="4076342"/>
            <a:ext cx="1101374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上述“源”中各项含义的介绍分别如下：</a:t>
            </a:r>
          </a:p>
          <a:p>
            <a:pPr marL="342900" indent="-342900" defTabSz="720725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baseurl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：记录源的地址，此项支持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三种类型；</a:t>
            </a:r>
          </a:p>
          <a:p>
            <a:pPr marL="342900" indent="-342900" defTabSz="720725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gpgcheck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：开启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gpg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验证；</a:t>
            </a:r>
          </a:p>
          <a:p>
            <a:pPr marL="342900" indent="-342900" defTabSz="720725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gpgkey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：定义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gpgkey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93" y="2497702"/>
            <a:ext cx="10729263" cy="140590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8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69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>
                  <a:lumMod val="50000"/>
                </a:schemeClr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70" name="矩形 28"/>
          <p:cNvSpPr>
            <a:spLocks noChangeArrowheads="1"/>
          </p:cNvSpPr>
          <p:nvPr/>
        </p:nvSpPr>
        <p:spPr bwMode="auto">
          <a:xfrm>
            <a:off x="2099550" y="1660809"/>
            <a:ext cx="18921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用户与用户组管理</a:t>
            </a:r>
          </a:p>
        </p:txBody>
      </p:sp>
      <p:sp>
        <p:nvSpPr>
          <p:cNvPr id="71" name="矩形 29"/>
          <p:cNvSpPr>
            <a:spLocks noChangeArrowheads="1"/>
          </p:cNvSpPr>
          <p:nvPr/>
        </p:nvSpPr>
        <p:spPr bwMode="auto">
          <a:xfrm>
            <a:off x="4070327" y="1841570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</a:t>
            </a:r>
          </a:p>
        </p:txBody>
      </p:sp>
      <p:cxnSp>
        <p:nvCxnSpPr>
          <p:cNvPr id="72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8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79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80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命令格式</a:t>
            </a:r>
          </a:p>
        </p:txBody>
      </p:sp>
      <p:cxnSp>
        <p:nvCxnSpPr>
          <p:cNvPr id="81" name="直接连接符 80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直接连接符 81"/>
          <p:cNvCxnSpPr/>
          <p:nvPr/>
        </p:nvCxnSpPr>
        <p:spPr bwMode="auto">
          <a:xfrm>
            <a:off x="3991652" y="1688477"/>
            <a:ext cx="399995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矩形 1"/>
          <p:cNvSpPr>
            <a:spLocks noChangeArrowheads="1"/>
          </p:cNvSpPr>
          <p:nvPr/>
        </p:nvSpPr>
        <p:spPr bwMode="auto">
          <a:xfrm>
            <a:off x="5950179" y="1769174"/>
            <a:ext cx="1890800" cy="202326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4" name="矩形 21"/>
          <p:cNvSpPr>
            <a:spLocks noChangeArrowheads="1"/>
          </p:cNvSpPr>
          <p:nvPr/>
        </p:nvSpPr>
        <p:spPr bwMode="auto">
          <a:xfrm>
            <a:off x="4009019" y="4479805"/>
            <a:ext cx="1724176" cy="18610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5" name="矩形 22"/>
          <p:cNvSpPr>
            <a:spLocks noChangeArrowheads="1"/>
          </p:cNvSpPr>
          <p:nvPr/>
        </p:nvSpPr>
        <p:spPr bwMode="auto">
          <a:xfrm>
            <a:off x="5742508" y="4489427"/>
            <a:ext cx="1727610" cy="18610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sp>
        <p:nvSpPr>
          <p:cNvPr id="86" name="矩形 28"/>
          <p:cNvSpPr>
            <a:spLocks noChangeArrowheads="1"/>
          </p:cNvSpPr>
          <p:nvPr/>
        </p:nvSpPr>
        <p:spPr bwMode="auto">
          <a:xfrm>
            <a:off x="3963530" y="4560959"/>
            <a:ext cx="176966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</a:p>
        </p:txBody>
      </p:sp>
      <p:sp>
        <p:nvSpPr>
          <p:cNvPr id="87" name="矩形 29"/>
          <p:cNvSpPr>
            <a:spLocks noChangeArrowheads="1"/>
          </p:cNvSpPr>
          <p:nvPr/>
        </p:nvSpPr>
        <p:spPr bwMode="auto">
          <a:xfrm>
            <a:off x="5733195" y="4566723"/>
            <a:ext cx="1713648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服务管理</a:t>
            </a:r>
          </a:p>
        </p:txBody>
      </p:sp>
      <p:cxnSp>
        <p:nvCxnSpPr>
          <p:cNvPr id="88" name="直接连接符 51"/>
          <p:cNvCxnSpPr>
            <a:cxnSpLocks noChangeShapeType="1"/>
          </p:cNvCxnSpPr>
          <p:nvPr/>
        </p:nvCxnSpPr>
        <p:spPr bwMode="auto">
          <a:xfrm>
            <a:off x="5688897" y="4159855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" name="TextBox 7177"/>
          <p:cNvSpPr txBox="1">
            <a:spLocks noChangeArrowheads="1"/>
          </p:cNvSpPr>
          <p:nvPr/>
        </p:nvSpPr>
        <p:spPr bwMode="auto">
          <a:xfrm>
            <a:off x="5984045" y="1060096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0" name="TextBox 7177"/>
          <p:cNvSpPr txBox="1">
            <a:spLocks noChangeArrowheads="1"/>
          </p:cNvSpPr>
          <p:nvPr/>
        </p:nvSpPr>
        <p:spPr bwMode="auto">
          <a:xfrm>
            <a:off x="3954924" y="3783090"/>
            <a:ext cx="9970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5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1" name="TextBox 7177"/>
          <p:cNvSpPr txBox="1">
            <a:spLocks noChangeArrowheads="1"/>
          </p:cNvSpPr>
          <p:nvPr/>
        </p:nvSpPr>
        <p:spPr bwMode="auto">
          <a:xfrm>
            <a:off x="5737237" y="3803149"/>
            <a:ext cx="15200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6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9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</a:p>
        </p:txBody>
      </p:sp>
      <p:cxnSp>
        <p:nvCxnSpPr>
          <p:cNvPr id="93" name="直接连接符 19"/>
          <p:cNvCxnSpPr/>
          <p:nvPr/>
        </p:nvCxnSpPr>
        <p:spPr bwMode="auto">
          <a:xfrm>
            <a:off x="4029328" y="4427930"/>
            <a:ext cx="1678967" cy="776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直接连接符 20"/>
          <p:cNvCxnSpPr/>
          <p:nvPr/>
        </p:nvCxnSpPr>
        <p:spPr bwMode="auto">
          <a:xfrm>
            <a:off x="5709923" y="4428744"/>
            <a:ext cx="183470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5816" y="5280100"/>
            <a:ext cx="1538977" cy="1046463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7" name="直接连接符 52"/>
          <p:cNvCxnSpPr>
            <a:cxnSpLocks noChangeShapeType="1"/>
          </p:cNvCxnSpPr>
          <p:nvPr/>
        </p:nvCxnSpPr>
        <p:spPr bwMode="auto">
          <a:xfrm>
            <a:off x="4005598" y="4173190"/>
            <a:ext cx="1" cy="296447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矩形 1"/>
          <p:cNvSpPr>
            <a:spLocks noChangeArrowheads="1"/>
          </p:cNvSpPr>
          <p:nvPr/>
        </p:nvSpPr>
        <p:spPr bwMode="auto">
          <a:xfrm>
            <a:off x="7490535" y="4485614"/>
            <a:ext cx="1724177" cy="18610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cxnSp>
        <p:nvCxnSpPr>
          <p:cNvPr id="100" name="直接连接符 7167"/>
          <p:cNvCxnSpPr>
            <a:cxnSpLocks noChangeShapeType="1"/>
          </p:cNvCxnSpPr>
          <p:nvPr/>
        </p:nvCxnSpPr>
        <p:spPr bwMode="auto">
          <a:xfrm flipV="1">
            <a:off x="7466430" y="4427930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直接连接符 7172"/>
          <p:cNvCxnSpPr>
            <a:cxnSpLocks noChangeShapeType="1"/>
          </p:cNvCxnSpPr>
          <p:nvPr/>
        </p:nvCxnSpPr>
        <p:spPr bwMode="auto">
          <a:xfrm>
            <a:off x="7465525" y="4074072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" name="TextBox 7177"/>
          <p:cNvSpPr txBox="1">
            <a:spLocks noChangeArrowheads="1"/>
          </p:cNvSpPr>
          <p:nvPr/>
        </p:nvSpPr>
        <p:spPr bwMode="auto">
          <a:xfrm>
            <a:off x="7509602" y="3751901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7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03" name="矩形 28"/>
          <p:cNvSpPr>
            <a:spLocks noChangeArrowheads="1"/>
          </p:cNvSpPr>
          <p:nvPr/>
        </p:nvSpPr>
        <p:spPr bwMode="auto">
          <a:xfrm>
            <a:off x="7470337" y="4607439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软件包管理</a:t>
            </a:r>
          </a:p>
        </p:txBody>
      </p:sp>
      <p:pic>
        <p:nvPicPr>
          <p:cNvPr id="10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150" y="2604066"/>
            <a:ext cx="1364458" cy="104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" name="矩形 1"/>
          <p:cNvSpPr>
            <a:spLocks noChangeArrowheads="1"/>
          </p:cNvSpPr>
          <p:nvPr/>
        </p:nvSpPr>
        <p:spPr bwMode="auto">
          <a:xfrm>
            <a:off x="9221062" y="4485515"/>
            <a:ext cx="1724177" cy="1861019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anose="020B0603020102020204" pitchFamily="34" charset="0"/>
              <a:ea typeface="+mn-ea"/>
            </a:endParaRPr>
          </a:p>
        </p:txBody>
      </p:sp>
      <p:pic>
        <p:nvPicPr>
          <p:cNvPr id="123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76403" y="5321538"/>
            <a:ext cx="1457809" cy="99727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直接连接符 7167"/>
          <p:cNvCxnSpPr>
            <a:cxnSpLocks noChangeShapeType="1"/>
          </p:cNvCxnSpPr>
          <p:nvPr/>
        </p:nvCxnSpPr>
        <p:spPr bwMode="auto">
          <a:xfrm flipV="1">
            <a:off x="9196957" y="4427831"/>
            <a:ext cx="1748282" cy="81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5" name="直接连接符 7172"/>
          <p:cNvCxnSpPr>
            <a:cxnSpLocks noChangeShapeType="1"/>
          </p:cNvCxnSpPr>
          <p:nvPr/>
        </p:nvCxnSpPr>
        <p:spPr bwMode="auto">
          <a:xfrm>
            <a:off x="9196052" y="4073973"/>
            <a:ext cx="1" cy="260133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" name="TextBox 7177"/>
          <p:cNvSpPr txBox="1">
            <a:spLocks noChangeArrowheads="1"/>
          </p:cNvSpPr>
          <p:nvPr/>
        </p:nvSpPr>
        <p:spPr bwMode="auto">
          <a:xfrm>
            <a:off x="9240129" y="3751802"/>
            <a:ext cx="1504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anose="04040905080B02020502" pitchFamily="82" charset="0"/>
                <a:ea typeface="黑体" panose="02010609060101010101" pitchFamily="2" charset="-122"/>
                <a:cs typeface="Arial" panose="020B0604020202020204" pitchFamily="34" charset="0"/>
              </a:rPr>
              <a:t>8</a:t>
            </a:r>
            <a:endParaRPr lang="zh-CN" altLang="en-US" sz="3600" b="1" dirty="0">
              <a:solidFill>
                <a:srgbClr val="7F7F7F"/>
              </a:solidFill>
              <a:latin typeface="Broadway" panose="04040905080B02020502" pitchFamily="82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27" name="矩形 28"/>
          <p:cNvSpPr>
            <a:spLocks noChangeArrowheads="1"/>
          </p:cNvSpPr>
          <p:nvPr/>
        </p:nvSpPr>
        <p:spPr bwMode="auto">
          <a:xfrm>
            <a:off x="9221062" y="4601675"/>
            <a:ext cx="169948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文本编辑器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4" y="2604066"/>
            <a:ext cx="1533716" cy="104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35" y="2596545"/>
            <a:ext cx="1654397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548" y="5279692"/>
            <a:ext cx="1530043" cy="104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140" y="5292164"/>
            <a:ext cx="1420225" cy="1000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2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001" y="2596545"/>
            <a:ext cx="1679893" cy="10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44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44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 p14:presetBounceEnd="4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4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15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15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3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3" presetClass="entr" presetSubtype="3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2" dur="500" fill="hold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15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10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3" presetClass="entr" presetSubtype="3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 animBg="1"/>
          <p:bldP spid="68" grpId="0" animBg="1"/>
          <p:bldP spid="69" grpId="0" animBg="1"/>
          <p:bldP spid="70" grpId="0"/>
          <p:bldP spid="71" grpId="0"/>
          <p:bldP spid="77" grpId="0"/>
          <p:bldP spid="78" grpId="0"/>
          <p:bldP spid="79" grpId="0"/>
          <p:bldP spid="80" grpId="0"/>
          <p:bldP spid="83" grpId="0" animBg="1"/>
          <p:bldP spid="84" grpId="0" animBg="1"/>
          <p:bldP spid="85" grpId="0" animBg="1"/>
          <p:bldP spid="86" grpId="0"/>
          <p:bldP spid="87" grpId="0"/>
          <p:bldP spid="89" grpId="0"/>
          <p:bldP spid="90" grpId="0"/>
          <p:bldP spid="91" grpId="0"/>
          <p:bldP spid="92" grpId="0"/>
          <p:bldP spid="98" grpId="0" animBg="1"/>
          <p:bldP spid="102" grpId="0"/>
          <p:bldP spid="103" grpId="0"/>
          <p:bldP spid="122" grpId="0" animBg="1"/>
          <p:bldP spid="126" grpId="0"/>
          <p:bldP spid="127" grpId="0"/>
        </p:bldLst>
      </p:timing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Text Box 44"/>
          <p:cNvSpPr txBox="1">
            <a:spLocks noChangeArrowheads="1"/>
          </p:cNvSpPr>
          <p:nvPr/>
        </p:nvSpPr>
        <p:spPr bwMode="auto">
          <a:xfrm>
            <a:off x="5788839" y="2272248"/>
            <a:ext cx="550963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Vi</a:t>
            </a:r>
            <a:r>
              <a:rPr lang="zh-CN" altLang="en-US" sz="2400" dirty="0">
                <a:solidFill>
                  <a:srgbClr val="1353A2"/>
                </a:solidFill>
              </a:rPr>
              <a:t>编辑器用于在</a:t>
            </a:r>
            <a:r>
              <a:rPr lang="en-US" altLang="zh-CN" sz="2400" dirty="0">
                <a:solidFill>
                  <a:srgbClr val="1353A2"/>
                </a:solidFill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</a:rPr>
              <a:t>环境下编写程序。</a:t>
            </a:r>
            <a:r>
              <a:rPr lang="en-US" altLang="zh-CN" sz="2400" dirty="0">
                <a:solidFill>
                  <a:srgbClr val="1353A2"/>
                </a:solidFill>
              </a:rPr>
              <a:t>Vi</a:t>
            </a:r>
            <a:r>
              <a:rPr lang="zh-CN" altLang="en-US" sz="2400" dirty="0">
                <a:solidFill>
                  <a:srgbClr val="1353A2"/>
                </a:solidFill>
              </a:rPr>
              <a:t>编辑器的工作模式分为三种：</a:t>
            </a:r>
            <a:r>
              <a:rPr lang="zh-CN" altLang="en-US" sz="2400" dirty="0">
                <a:solidFill>
                  <a:srgbClr val="FF0000"/>
                </a:solidFill>
              </a:rPr>
              <a:t>命令模式</a:t>
            </a:r>
            <a:r>
              <a:rPr lang="zh-CN" altLang="en-US" sz="2400" dirty="0">
                <a:solidFill>
                  <a:srgbClr val="1353A2"/>
                </a:solidFill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</a:rPr>
              <a:t>插入模式</a:t>
            </a:r>
            <a:r>
              <a:rPr lang="zh-CN" altLang="en-US" sz="2400" dirty="0">
                <a:solidFill>
                  <a:srgbClr val="1353A2"/>
                </a:solidFill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底行模式</a:t>
            </a:r>
            <a:r>
              <a:rPr lang="zh-CN" altLang="en-US" sz="2400" dirty="0">
                <a:solidFill>
                  <a:srgbClr val="1353A2"/>
                </a:solidFill>
              </a:rPr>
              <a:t>，这三种模式之间可以进行转换。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05" y="1702170"/>
            <a:ext cx="4086225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、命令模式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134" y="2456511"/>
            <a:ext cx="2591466" cy="3623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44"/>
          <p:cNvSpPr txBox="1">
            <a:spLocks noChangeArrowheads="1"/>
          </p:cNvSpPr>
          <p:nvPr/>
        </p:nvSpPr>
        <p:spPr bwMode="auto">
          <a:xfrm>
            <a:off x="4694830" y="3143625"/>
            <a:ext cx="652606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命令模式</a:t>
            </a:r>
            <a:r>
              <a:rPr lang="zh-CN" altLang="en-US" sz="2400" dirty="0">
                <a:solidFill>
                  <a:srgbClr val="1353A2"/>
                </a:solidFill>
              </a:rPr>
              <a:t>下，可通过键盘控制光标的移动，实现文本内容的</a:t>
            </a:r>
            <a:r>
              <a:rPr lang="zh-CN" altLang="en-US" sz="2400" dirty="0">
                <a:solidFill>
                  <a:srgbClr val="FF0000"/>
                </a:solidFill>
              </a:rPr>
              <a:t>复制、粘贴、删除等</a:t>
            </a:r>
            <a:r>
              <a:rPr lang="zh-CN" altLang="en-US" sz="2400" dirty="0">
                <a:solidFill>
                  <a:srgbClr val="1353A2"/>
                </a:solidFill>
              </a:rPr>
              <a:t>操作。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光标</a:t>
            </a:r>
            <a:r>
              <a:rPr lang="zh-CN" altLang="en-US" sz="2400" dirty="0">
                <a:solidFill>
                  <a:srgbClr val="1353A2"/>
                </a:solidFill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</a:rPr>
              <a:t>移动</a:t>
            </a:r>
            <a:r>
              <a:rPr lang="zh-CN" altLang="en-US" sz="2400" dirty="0">
                <a:solidFill>
                  <a:srgbClr val="1353A2"/>
                </a:solidFill>
              </a:rPr>
              <a:t>可分为</a:t>
            </a:r>
            <a:r>
              <a:rPr lang="en-US" altLang="zh-CN" sz="2400" dirty="0">
                <a:solidFill>
                  <a:srgbClr val="1353A2"/>
                </a:solidFill>
              </a:rPr>
              <a:t>6</a:t>
            </a:r>
            <a:r>
              <a:rPr lang="zh-CN" altLang="en-US" sz="2400" dirty="0">
                <a:solidFill>
                  <a:srgbClr val="1353A2"/>
                </a:solidFill>
              </a:rPr>
              <a:t>个级别：字符级、行级、单词级、段落级、屏幕级和文档级。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命令模式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光标移动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218367" y="2454629"/>
          <a:ext cx="9713490" cy="3699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6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639">
                <a:tc>
                  <a:txBody>
                    <a:bodyPr/>
                    <a:lstStyle/>
                    <a:p>
                      <a:pPr indent="415290"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级别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操作符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说明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299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字符级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“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左键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”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或字母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“h” 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使</a:t>
                      </a:r>
                      <a:r>
                        <a:rPr lang="zh-CN" sz="1900" kern="100" dirty="0">
                          <a:solidFill>
                            <a:schemeClr val="tx1"/>
                          </a:solidFill>
                          <a:effectLst/>
                        </a:rPr>
                        <a:t>光标向字符的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左边移动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29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“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右键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”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或字母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“l” 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使</a:t>
                      </a:r>
                      <a:r>
                        <a:rPr lang="zh-CN" sz="1900" kern="100" dirty="0">
                          <a:solidFill>
                            <a:schemeClr val="tx1"/>
                          </a:solidFill>
                          <a:effectLst/>
                        </a:rPr>
                        <a:t>光标向字符的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右边移动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299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行级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“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上键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”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或字母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“k” 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使光标移动到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上一行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29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“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下键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”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或字母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“j” 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使光标移动到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下一行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29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符号</a:t>
                      </a:r>
                      <a:r>
                        <a:rPr lang="en-US" sz="1900" kern="100" dirty="0">
                          <a:effectLst/>
                        </a:rPr>
                        <a:t>“$”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使光标移动到当前行尾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29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数字</a:t>
                      </a:r>
                      <a:r>
                        <a:rPr lang="en-US" sz="1900" kern="100">
                          <a:effectLst/>
                        </a:rPr>
                        <a:t>“0”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使光标移动到当前行首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273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单词级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字母</a:t>
                      </a:r>
                      <a:r>
                        <a:rPr lang="en-US" sz="1900" kern="100">
                          <a:effectLst/>
                        </a:rPr>
                        <a:t>“w”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使光标移动到下一个单词的首字母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29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字母</a:t>
                      </a:r>
                      <a:r>
                        <a:rPr lang="en-US" sz="1900" kern="100">
                          <a:effectLst/>
                        </a:rPr>
                        <a:t>“e”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使光标移动到本单词的尾字母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29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字母</a:t>
                      </a:r>
                      <a:r>
                        <a:rPr lang="en-US" sz="1900" kern="100">
                          <a:effectLst/>
                        </a:rPr>
                        <a:t>“b”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使光标移动到本单词的首字母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6928" marR="126928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命令模式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光标移动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17122" y="2657884"/>
          <a:ext cx="10167492" cy="2500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3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645">
                <a:tc>
                  <a:txBody>
                    <a:bodyPr/>
                    <a:lstStyle/>
                    <a:p>
                      <a:pPr indent="41529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级别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操作符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06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段落级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符号</a:t>
                      </a:r>
                      <a:r>
                        <a:rPr lang="en-US" sz="2000" kern="100">
                          <a:effectLst/>
                        </a:rPr>
                        <a:t>“}”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使光标移至段落结尾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0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符号</a:t>
                      </a:r>
                      <a:r>
                        <a:rPr lang="en-US" sz="2000" kern="100">
                          <a:effectLst/>
                        </a:rPr>
                        <a:t>“{”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使光标移至段落开头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06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屏幕级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字母</a:t>
                      </a:r>
                      <a:r>
                        <a:rPr lang="en-US" sz="2000" kern="100">
                          <a:effectLst/>
                        </a:rPr>
                        <a:t>“H”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使光标移至屏幕首部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0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字母</a:t>
                      </a:r>
                      <a:r>
                        <a:rPr lang="en-US" sz="2000" kern="100">
                          <a:effectLst/>
                        </a:rPr>
                        <a:t>“L”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使光标移至屏幕尾部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06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文档级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字母</a:t>
                      </a:r>
                      <a:r>
                        <a:rPr lang="en-US" sz="2000" kern="100">
                          <a:effectLst/>
                        </a:rPr>
                        <a:t>“G”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使光标移至文档尾行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n+G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使光标移至文档的第</a:t>
                      </a:r>
                      <a:r>
                        <a:rPr lang="en-US" sz="2000" kern="100" dirty="0">
                          <a:effectLst/>
                        </a:rPr>
                        <a:t>n</a:t>
                      </a:r>
                      <a:r>
                        <a:rPr lang="zh-CN" sz="2000" kern="100" dirty="0">
                          <a:effectLst/>
                        </a:rPr>
                        <a:t>行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2860" marR="13286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命令模式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复制和粘贴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02788" y="2413157"/>
          <a:ext cx="10985988" cy="2841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1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4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effectLst/>
                        </a:rPr>
                        <a:t>操作符</a:t>
                      </a:r>
                      <a:endParaRPr lang="zh-CN" sz="2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kern="100">
                          <a:effectLst/>
                        </a:rPr>
                        <a:t>说明</a:t>
                      </a:r>
                      <a:endParaRPr lang="zh-CN" sz="2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4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solidFill>
                            <a:srgbClr val="FF0000"/>
                          </a:solidFill>
                          <a:effectLst/>
                        </a:rPr>
                        <a:t>字母“</a:t>
                      </a:r>
                      <a:r>
                        <a:rPr lang="en-US" sz="2200" kern="100" dirty="0" err="1">
                          <a:solidFill>
                            <a:srgbClr val="FF0000"/>
                          </a:solidFill>
                          <a:effectLst/>
                        </a:rPr>
                        <a:t>yy</a:t>
                      </a:r>
                      <a:r>
                        <a:rPr lang="zh-CN" sz="2200" kern="100" dirty="0">
                          <a:solidFill>
                            <a:srgbClr val="FF0000"/>
                          </a:solidFill>
                          <a:effectLst/>
                        </a:rPr>
                        <a:t>”</a:t>
                      </a:r>
                      <a:endParaRPr lang="zh-CN" sz="22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solidFill>
                            <a:srgbClr val="FF0000"/>
                          </a:solidFill>
                          <a:effectLst/>
                        </a:rPr>
                        <a:t>复制光标当前所在行</a:t>
                      </a:r>
                      <a:endParaRPr lang="zh-CN" sz="22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4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kern="100">
                          <a:solidFill>
                            <a:srgbClr val="FF0000"/>
                          </a:solidFill>
                          <a:effectLst/>
                        </a:rPr>
                        <a:t>n+yy</a:t>
                      </a:r>
                      <a:endParaRPr lang="zh-CN" sz="2200" kern="10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solidFill>
                            <a:srgbClr val="FF0000"/>
                          </a:solidFill>
                          <a:effectLst/>
                        </a:rPr>
                        <a:t>复制包括光标所在行后的</a:t>
                      </a:r>
                      <a:r>
                        <a:rPr lang="en-US" sz="2200" kern="100" dirty="0">
                          <a:solidFill>
                            <a:srgbClr val="FF0000"/>
                          </a:solidFill>
                          <a:effectLst/>
                        </a:rPr>
                        <a:t>n</a:t>
                      </a:r>
                      <a:r>
                        <a:rPr lang="zh-CN" sz="2200" kern="100" dirty="0">
                          <a:solidFill>
                            <a:srgbClr val="FF0000"/>
                          </a:solidFill>
                          <a:effectLst/>
                        </a:rPr>
                        <a:t>行内容</a:t>
                      </a:r>
                      <a:endParaRPr lang="zh-CN" sz="22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4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y+e</a:t>
                      </a:r>
                      <a:endParaRPr lang="zh-CN" sz="2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effectLst/>
                        </a:rPr>
                        <a:t>从光标所在位置开始复制直到当前单词结尾</a:t>
                      </a:r>
                      <a:endParaRPr lang="zh-CN" sz="2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1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y+$</a:t>
                      </a:r>
                      <a:endParaRPr lang="zh-CN" sz="2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effectLst/>
                        </a:rPr>
                        <a:t>从光标所在位置开始复制直到当前行结尾</a:t>
                      </a:r>
                      <a:endParaRPr lang="zh-CN" sz="2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1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y+{</a:t>
                      </a:r>
                      <a:endParaRPr lang="zh-CN" sz="2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200" kern="100">
                          <a:effectLst/>
                        </a:rPr>
                        <a:t>从当前段落开始的位置复制到光标所在位置</a:t>
                      </a:r>
                      <a:endParaRPr lang="zh-CN" sz="2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1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endParaRPr lang="zh-CN" sz="22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solidFill>
                            <a:srgbClr val="FF0000"/>
                          </a:solidFill>
                          <a:effectLst/>
                        </a:rPr>
                        <a:t>将复制的内容粘贴到光标所在位置</a:t>
                      </a:r>
                      <a:endParaRPr lang="zh-CN" sz="22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4606" marR="14460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命令模式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——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删除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02788" y="2689347"/>
          <a:ext cx="11102203" cy="2155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50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1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9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300" kern="100">
                          <a:effectLst/>
                        </a:rPr>
                        <a:t>操作符</a:t>
                      </a:r>
                      <a:endParaRPr lang="zh-CN" sz="23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5868" marR="14586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300" kern="100" dirty="0">
                          <a:effectLst/>
                        </a:rPr>
                        <a:t>说明</a:t>
                      </a:r>
                      <a:endParaRPr lang="zh-CN" sz="23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5868" marR="14586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300" kern="100">
                          <a:effectLst/>
                        </a:rPr>
                        <a:t>字母“</a:t>
                      </a:r>
                      <a:r>
                        <a:rPr lang="en-US" sz="2300" kern="100">
                          <a:effectLst/>
                        </a:rPr>
                        <a:t>x</a:t>
                      </a:r>
                      <a:r>
                        <a:rPr lang="zh-CN" sz="2300" kern="100">
                          <a:effectLst/>
                        </a:rPr>
                        <a:t>”</a:t>
                      </a:r>
                      <a:endParaRPr lang="zh-CN" sz="23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5868" marR="14586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300" kern="100">
                          <a:effectLst/>
                        </a:rPr>
                        <a:t>删除光标所在的单个字符</a:t>
                      </a:r>
                      <a:endParaRPr lang="zh-CN" sz="23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5868" marR="14586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300" kern="100" dirty="0">
                          <a:solidFill>
                            <a:srgbClr val="FF0000"/>
                          </a:solidFill>
                          <a:effectLst/>
                        </a:rPr>
                        <a:t>字母“</a:t>
                      </a:r>
                      <a:r>
                        <a:rPr lang="en-US" sz="2300" kern="100" dirty="0">
                          <a:solidFill>
                            <a:srgbClr val="FF0000"/>
                          </a:solidFill>
                          <a:effectLst/>
                        </a:rPr>
                        <a:t>dd</a:t>
                      </a:r>
                      <a:r>
                        <a:rPr lang="zh-CN" sz="2300" kern="100" dirty="0">
                          <a:solidFill>
                            <a:srgbClr val="FF0000"/>
                          </a:solidFill>
                          <a:effectLst/>
                        </a:rPr>
                        <a:t>”</a:t>
                      </a:r>
                      <a:endParaRPr lang="zh-CN" sz="23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5868" marR="14586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300" kern="100" dirty="0">
                          <a:solidFill>
                            <a:srgbClr val="FF0000"/>
                          </a:solidFill>
                          <a:effectLst/>
                        </a:rPr>
                        <a:t>删除光标所在的当前行</a:t>
                      </a:r>
                      <a:endParaRPr lang="zh-CN" sz="23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5868" marR="14586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kern="100">
                          <a:solidFill>
                            <a:srgbClr val="FF0000"/>
                          </a:solidFill>
                          <a:effectLst/>
                        </a:rPr>
                        <a:t>n+dd</a:t>
                      </a:r>
                      <a:endParaRPr lang="zh-CN" sz="2300" kern="10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5868" marR="14586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300" kern="100" dirty="0">
                          <a:solidFill>
                            <a:srgbClr val="FF0000"/>
                          </a:solidFill>
                          <a:effectLst/>
                        </a:rPr>
                        <a:t>删除包括光标所在行的后边</a:t>
                      </a:r>
                      <a:r>
                        <a:rPr lang="en-US" sz="2300" kern="100" dirty="0">
                          <a:solidFill>
                            <a:srgbClr val="FF0000"/>
                          </a:solidFill>
                          <a:effectLst/>
                        </a:rPr>
                        <a:t>n</a:t>
                      </a:r>
                      <a:r>
                        <a:rPr lang="zh-CN" sz="2300" kern="100" dirty="0">
                          <a:solidFill>
                            <a:srgbClr val="FF0000"/>
                          </a:solidFill>
                          <a:effectLst/>
                        </a:rPr>
                        <a:t>行内容</a:t>
                      </a:r>
                      <a:endParaRPr lang="zh-CN" sz="23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5868" marR="14586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2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kern="100">
                          <a:effectLst/>
                        </a:rPr>
                        <a:t>d+$</a:t>
                      </a:r>
                      <a:endParaRPr lang="zh-CN" sz="23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5868" marR="14586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300" kern="100" dirty="0">
                          <a:effectLst/>
                        </a:rPr>
                        <a:t>删除光标位置到行尾的所有内容</a:t>
                      </a:r>
                      <a:endParaRPr lang="zh-CN" sz="23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45868" marR="14586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命令模式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8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602787" y="2219627"/>
            <a:ext cx="10983787" cy="319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命令模式下的其他常见操作：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l"/>
            </a:pPr>
            <a:r>
              <a:rPr lang="zh-CN" altLang="zh-CN" sz="2400" dirty="0"/>
              <a:t>字母“</a:t>
            </a:r>
            <a:r>
              <a:rPr lang="en-US" altLang="zh-CN" sz="2400" dirty="0"/>
              <a:t>u</a:t>
            </a:r>
            <a:r>
              <a:rPr lang="zh-CN" altLang="zh-CN" sz="2400" dirty="0"/>
              <a:t>”：撤销命令；</a:t>
            </a:r>
          </a:p>
          <a:p>
            <a:pPr marL="342900" lvl="0" indent="-342900">
              <a:buFont typeface="Wingdings" panose="05000000000000000000" pitchFamily="2" charset="2"/>
              <a:buChar char="l"/>
            </a:pPr>
            <a:r>
              <a:rPr lang="zh-CN" altLang="zh-CN" sz="2400" dirty="0"/>
              <a:t>符号“</a:t>
            </a:r>
            <a:r>
              <a:rPr lang="en-US" altLang="zh-CN" sz="2400" dirty="0"/>
              <a:t>.</a:t>
            </a:r>
            <a:r>
              <a:rPr lang="zh-CN" altLang="zh-CN" sz="2400" dirty="0"/>
              <a:t>”：重复执行上一次命令；</a:t>
            </a:r>
          </a:p>
          <a:p>
            <a:pPr marL="342900" lvl="0" indent="-342900">
              <a:buFont typeface="Wingdings" panose="05000000000000000000" pitchFamily="2" charset="2"/>
              <a:buChar char="l"/>
            </a:pPr>
            <a:r>
              <a:rPr lang="zh-CN" altLang="zh-CN" sz="2400" dirty="0"/>
              <a:t>字母“</a:t>
            </a:r>
            <a:r>
              <a:rPr lang="en-US" altLang="zh-CN" sz="2400" dirty="0"/>
              <a:t>J</a:t>
            </a:r>
            <a:r>
              <a:rPr lang="zh-CN" altLang="zh-CN" sz="2400" dirty="0"/>
              <a:t>”：合并两行内容；</a:t>
            </a:r>
          </a:p>
          <a:p>
            <a:pPr marL="342900" lvl="0" indent="-342900">
              <a:buFont typeface="Wingdings" panose="05000000000000000000" pitchFamily="2" charset="2"/>
              <a:buChar char="l"/>
            </a:pPr>
            <a:r>
              <a:rPr lang="en-US" altLang="zh-CN" sz="2400" dirty="0"/>
              <a:t>r+</a:t>
            </a:r>
            <a:r>
              <a:rPr lang="zh-CN" altLang="zh-CN" sz="2400" dirty="0"/>
              <a:t>字符：快速替换光标所在字符。</a:t>
            </a: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1353A2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9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6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、插入模式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0" name="Text Box 44"/>
          <p:cNvSpPr txBox="1">
            <a:spLocks noChangeArrowheads="1"/>
          </p:cNvSpPr>
          <p:nvPr/>
        </p:nvSpPr>
        <p:spPr bwMode="auto">
          <a:xfrm>
            <a:off x="4694830" y="3143625"/>
            <a:ext cx="652606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插入模式</a:t>
            </a:r>
            <a:r>
              <a:rPr lang="zh-CN" altLang="en-US" sz="2400" dirty="0">
                <a:solidFill>
                  <a:srgbClr val="1353A2"/>
                </a:solidFill>
              </a:rPr>
              <a:t>下，用户可对文件内容进行</a:t>
            </a:r>
            <a:r>
              <a:rPr lang="zh-CN" altLang="en-US" sz="2400" dirty="0">
                <a:solidFill>
                  <a:srgbClr val="FF0000"/>
                </a:solidFill>
              </a:rPr>
              <a:t>修改</a:t>
            </a:r>
            <a:r>
              <a:rPr lang="zh-CN" altLang="en-US" sz="2400" dirty="0">
                <a:solidFill>
                  <a:srgbClr val="1353A2"/>
                </a:solidFill>
              </a:rPr>
              <a:t>操作，此模式下的操作与</a:t>
            </a:r>
            <a:r>
              <a:rPr lang="en-US" altLang="zh-CN" sz="2400" dirty="0">
                <a:solidFill>
                  <a:srgbClr val="1353A2"/>
                </a:solidFill>
              </a:rPr>
              <a:t>Windows</a:t>
            </a:r>
            <a:r>
              <a:rPr lang="zh-CN" altLang="en-US" sz="2400" dirty="0">
                <a:solidFill>
                  <a:srgbClr val="1353A2"/>
                </a:solidFill>
              </a:rPr>
              <a:t>操作系统中记事本的操作类似。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96" y="2495375"/>
            <a:ext cx="2744236" cy="3605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、底行模式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0" name="Text Box 44"/>
          <p:cNvSpPr txBox="1">
            <a:spLocks noChangeArrowheads="1"/>
          </p:cNvSpPr>
          <p:nvPr/>
        </p:nvSpPr>
        <p:spPr bwMode="auto">
          <a:xfrm>
            <a:off x="602788" y="3293749"/>
            <a:ext cx="7285577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底行模式</a:t>
            </a:r>
            <a:r>
              <a:rPr lang="zh-CN" altLang="en-US" sz="2400" dirty="0">
                <a:solidFill>
                  <a:srgbClr val="1353A2"/>
                </a:solidFill>
              </a:rPr>
              <a:t>下可以对文件进行</a:t>
            </a:r>
            <a:r>
              <a:rPr lang="zh-CN" altLang="en-US" sz="2400" dirty="0">
                <a:solidFill>
                  <a:srgbClr val="FF0000"/>
                </a:solidFill>
              </a:rPr>
              <a:t>保存</a:t>
            </a:r>
            <a:r>
              <a:rPr lang="zh-CN" altLang="en-US" sz="2400" dirty="0">
                <a:solidFill>
                  <a:srgbClr val="1353A2"/>
                </a:solidFill>
              </a:rPr>
              <a:t>，也可进行</a:t>
            </a:r>
            <a:r>
              <a:rPr lang="zh-CN" altLang="en-US" sz="2400" dirty="0">
                <a:solidFill>
                  <a:srgbClr val="FF0000"/>
                </a:solidFill>
              </a:rPr>
              <a:t>查找、设置、退出</a:t>
            </a:r>
            <a:r>
              <a:rPr lang="zh-CN" altLang="en-US" sz="2400" dirty="0">
                <a:solidFill>
                  <a:srgbClr val="1353A2"/>
                </a:solidFill>
              </a:rPr>
              <a:t>编辑器等操作。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961" y="2337747"/>
            <a:ext cx="2511614" cy="3366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底行模式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0" name="Text Box 44"/>
          <p:cNvSpPr txBox="1">
            <a:spLocks noChangeArrowheads="1"/>
          </p:cNvSpPr>
          <p:nvPr/>
        </p:nvSpPr>
        <p:spPr bwMode="auto">
          <a:xfrm>
            <a:off x="602786" y="2403741"/>
            <a:ext cx="10983787" cy="3637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底行模式下的操作：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1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:set nu</a:t>
            </a:r>
            <a:r>
              <a:rPr lang="zh-CN" altLang="en-US" sz="2400" dirty="0">
                <a:solidFill>
                  <a:srgbClr val="1353A2"/>
                </a:solidFill>
              </a:rPr>
              <a:t>。设置行号，仅对本次操作有效，当重新打开文本时，若需要行号，要重新设置。</a:t>
            </a:r>
          </a:p>
          <a:p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2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:set </a:t>
            </a:r>
            <a:r>
              <a:rPr lang="en-US" altLang="zh-CN" sz="2400" dirty="0" err="1">
                <a:solidFill>
                  <a:srgbClr val="FF0000"/>
                </a:solidFill>
              </a:rPr>
              <a:t>nonu</a:t>
            </a:r>
            <a:r>
              <a:rPr lang="zh-CN" altLang="en-US" sz="2400" dirty="0">
                <a:solidFill>
                  <a:srgbClr val="1353A2"/>
                </a:solidFill>
              </a:rPr>
              <a:t>。取消行号，仅对本次操作有效。</a:t>
            </a:r>
          </a:p>
          <a:p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3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:n</a:t>
            </a:r>
            <a:r>
              <a:rPr lang="zh-CN" altLang="en-US" sz="2400" dirty="0">
                <a:solidFill>
                  <a:srgbClr val="1353A2"/>
                </a:solidFill>
              </a:rPr>
              <a:t>。使光标移动到第</a:t>
            </a:r>
            <a:r>
              <a:rPr lang="en-US" altLang="zh-CN" sz="2400" dirty="0">
                <a:solidFill>
                  <a:srgbClr val="1353A2"/>
                </a:solidFill>
              </a:rPr>
              <a:t>n</a:t>
            </a:r>
            <a:r>
              <a:rPr lang="zh-CN" altLang="en-US" sz="2400" dirty="0">
                <a:solidFill>
                  <a:srgbClr val="1353A2"/>
                </a:solidFill>
              </a:rPr>
              <a:t>行。</a:t>
            </a:r>
          </a:p>
          <a:p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4</a:t>
            </a:r>
            <a:r>
              <a:rPr lang="zh-CN" altLang="en-US" sz="2400" dirty="0">
                <a:solidFill>
                  <a:srgbClr val="1353A2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:/xx</a:t>
            </a:r>
            <a:r>
              <a:rPr lang="zh-CN" altLang="en-US" sz="2400" dirty="0">
                <a:solidFill>
                  <a:srgbClr val="1353A2"/>
                </a:solidFill>
              </a:rPr>
              <a:t>。在文件中查找“</a:t>
            </a:r>
            <a:r>
              <a:rPr lang="en-US" altLang="zh-CN" sz="2400" dirty="0">
                <a:solidFill>
                  <a:srgbClr val="1353A2"/>
                </a:solidFill>
              </a:rPr>
              <a:t>xx”</a:t>
            </a:r>
            <a:r>
              <a:rPr lang="zh-CN" altLang="en-US" sz="2400" dirty="0">
                <a:solidFill>
                  <a:srgbClr val="1353A2"/>
                </a:solidFill>
              </a:rPr>
              <a:t>，若查找结果不为空，可以使用“</a:t>
            </a:r>
            <a:r>
              <a:rPr lang="en-US" altLang="zh-CN" sz="2400" dirty="0">
                <a:solidFill>
                  <a:srgbClr val="1353A2"/>
                </a:solidFill>
              </a:rPr>
              <a:t>n”</a:t>
            </a:r>
            <a:r>
              <a:rPr lang="zh-CN" altLang="en-US" sz="2400" dirty="0">
                <a:solidFill>
                  <a:srgbClr val="1353A2"/>
                </a:solidFill>
              </a:rPr>
              <a:t>查找下一个，使用“</a:t>
            </a:r>
            <a:r>
              <a:rPr lang="en-US" altLang="zh-CN" sz="2400" dirty="0">
                <a:solidFill>
                  <a:srgbClr val="1353A2"/>
                </a:solidFill>
              </a:rPr>
              <a:t>N”</a:t>
            </a:r>
            <a:r>
              <a:rPr lang="zh-CN" altLang="en-US" sz="2400" dirty="0">
                <a:solidFill>
                  <a:srgbClr val="1353A2"/>
                </a:solidFill>
              </a:rPr>
              <a:t>查找上一个。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底行模式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47409" y="3650059"/>
          <a:ext cx="10291128" cy="230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0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1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2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kern="100" dirty="0">
                          <a:effectLst/>
                        </a:rPr>
                        <a:t>操作符</a:t>
                      </a:r>
                      <a:endParaRPr lang="zh-CN" sz="21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5212" marR="13521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说明</a:t>
                      </a:r>
                      <a:endParaRPr lang="zh-CN" sz="21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5212" marR="135212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:s/</a:t>
                      </a:r>
                      <a:r>
                        <a:rPr lang="zh-CN" sz="2100" kern="100">
                          <a:effectLst/>
                        </a:rPr>
                        <a:t>被替换内容</a:t>
                      </a:r>
                      <a:r>
                        <a:rPr lang="en-US" sz="2100" kern="100">
                          <a:effectLst/>
                        </a:rPr>
                        <a:t>/</a:t>
                      </a:r>
                      <a:r>
                        <a:rPr lang="zh-CN" sz="2100" kern="100">
                          <a:effectLst/>
                        </a:rPr>
                        <a:t>替换内容</a:t>
                      </a:r>
                      <a:r>
                        <a:rPr lang="en-US" sz="2100" kern="100">
                          <a:effectLst/>
                        </a:rPr>
                        <a:t>/</a:t>
                      </a:r>
                      <a:endParaRPr lang="zh-CN" sz="21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5212" marR="13521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替换光标所在行的第一个目标</a:t>
                      </a:r>
                      <a:endParaRPr lang="zh-CN" sz="21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5212" marR="13521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:s/</a:t>
                      </a:r>
                      <a:r>
                        <a:rPr lang="zh-CN" sz="2100" kern="100">
                          <a:effectLst/>
                        </a:rPr>
                        <a:t>被替换内容</a:t>
                      </a:r>
                      <a:r>
                        <a:rPr lang="en-US" sz="2100" kern="100">
                          <a:effectLst/>
                        </a:rPr>
                        <a:t>/</a:t>
                      </a:r>
                      <a:r>
                        <a:rPr lang="zh-CN" sz="2100" kern="100">
                          <a:effectLst/>
                        </a:rPr>
                        <a:t>替换内容</a:t>
                      </a:r>
                      <a:r>
                        <a:rPr lang="en-US" sz="2100" kern="100">
                          <a:effectLst/>
                        </a:rPr>
                        <a:t>/g</a:t>
                      </a:r>
                      <a:endParaRPr lang="zh-CN" sz="21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5212" marR="13521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替换光标所在行的全部目标</a:t>
                      </a:r>
                      <a:endParaRPr lang="zh-CN" sz="21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5212" marR="135212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:%s/</a:t>
                      </a:r>
                      <a:r>
                        <a:rPr lang="zh-CN" sz="2100" kern="100">
                          <a:effectLst/>
                        </a:rPr>
                        <a:t>被替换内容</a:t>
                      </a:r>
                      <a:r>
                        <a:rPr lang="en-US" sz="2100" kern="100">
                          <a:effectLst/>
                        </a:rPr>
                        <a:t>/</a:t>
                      </a:r>
                      <a:r>
                        <a:rPr lang="zh-CN" sz="2100" kern="100">
                          <a:effectLst/>
                        </a:rPr>
                        <a:t>替换内容</a:t>
                      </a:r>
                      <a:r>
                        <a:rPr lang="en-US" sz="2100" kern="100">
                          <a:effectLst/>
                        </a:rPr>
                        <a:t>/g</a:t>
                      </a:r>
                      <a:endParaRPr lang="zh-CN" sz="21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5212" marR="13521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替换整个文档中的全部目标</a:t>
                      </a:r>
                      <a:endParaRPr lang="zh-CN" sz="21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5212" marR="135212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:%s/</a:t>
                      </a:r>
                      <a:r>
                        <a:rPr lang="zh-CN" sz="2100" kern="100">
                          <a:effectLst/>
                        </a:rPr>
                        <a:t>被替换内容</a:t>
                      </a:r>
                      <a:r>
                        <a:rPr lang="en-US" sz="2100" kern="100">
                          <a:effectLst/>
                        </a:rPr>
                        <a:t>/</a:t>
                      </a:r>
                      <a:r>
                        <a:rPr lang="zh-CN" sz="2100" kern="100">
                          <a:effectLst/>
                        </a:rPr>
                        <a:t>替换内容</a:t>
                      </a:r>
                      <a:r>
                        <a:rPr lang="en-US" sz="2100" kern="100">
                          <a:effectLst/>
                        </a:rPr>
                        <a:t>/gc</a:t>
                      </a:r>
                      <a:endParaRPr lang="zh-CN" sz="21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5212" marR="135212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100" kern="100" dirty="0">
                          <a:effectLst/>
                        </a:rPr>
                        <a:t>替换整个文档中的全部目标，且每替换一个内容都有相应的提示</a:t>
                      </a:r>
                      <a:endParaRPr lang="zh-CN" sz="21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35212" marR="135212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Text Box 44"/>
          <p:cNvSpPr txBox="1">
            <a:spLocks noChangeArrowheads="1"/>
          </p:cNvSpPr>
          <p:nvPr/>
        </p:nvSpPr>
        <p:spPr bwMode="auto">
          <a:xfrm>
            <a:off x="602786" y="2403741"/>
            <a:ext cx="10983787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底行模式下的操作：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12" name="Text Box 44"/>
          <p:cNvSpPr txBox="1">
            <a:spLocks noChangeArrowheads="1"/>
          </p:cNvSpPr>
          <p:nvPr/>
        </p:nvSpPr>
        <p:spPr bwMode="auto">
          <a:xfrm>
            <a:off x="594124" y="2984798"/>
            <a:ext cx="10983787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5</a:t>
            </a:r>
            <a:r>
              <a:rPr lang="zh-CN" altLang="en-US" sz="2400" dirty="0">
                <a:solidFill>
                  <a:srgbClr val="1353A2"/>
                </a:solidFill>
              </a:rPr>
              <a:t>）尾行模式下还可以进行内容替换，其操作符和功能如表所示。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底行模式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0" name="Text Box 44"/>
          <p:cNvSpPr txBox="1">
            <a:spLocks noChangeArrowheads="1"/>
          </p:cNvSpPr>
          <p:nvPr/>
        </p:nvSpPr>
        <p:spPr bwMode="auto">
          <a:xfrm>
            <a:off x="602785" y="2316898"/>
            <a:ext cx="10983787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6</a:t>
            </a:r>
            <a:r>
              <a:rPr lang="zh-CN" altLang="en-US" sz="2400" dirty="0">
                <a:solidFill>
                  <a:srgbClr val="1353A2"/>
                </a:solidFill>
              </a:rPr>
              <a:t>）操作完毕后，如要保存文件或退出编辑器，可先使用“</a:t>
            </a:r>
            <a:r>
              <a:rPr lang="en-US" altLang="zh-CN" sz="2400" dirty="0">
                <a:solidFill>
                  <a:srgbClr val="1353A2"/>
                </a:solidFill>
              </a:rPr>
              <a:t>ESC”</a:t>
            </a:r>
            <a:r>
              <a:rPr lang="zh-CN" altLang="en-US" sz="2400" dirty="0">
                <a:solidFill>
                  <a:srgbClr val="1353A2"/>
                </a:solidFill>
              </a:rPr>
              <a:t>进入底行模式，再使用表中的按键完成所需操作。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689801" y="3450539"/>
          <a:ext cx="9351190" cy="27732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9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1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9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操作符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说明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6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:q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退出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vi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编辑器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6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solidFill>
                            <a:schemeClr val="tx1"/>
                          </a:solidFill>
                          <a:effectLst/>
                        </a:rPr>
                        <a:t>:w</a:t>
                      </a:r>
                      <a:endParaRPr lang="zh-CN" sz="19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solidFill>
                            <a:schemeClr val="tx1"/>
                          </a:solidFill>
                          <a:effectLst/>
                        </a:rPr>
                        <a:t>保存编辑后的内容</a:t>
                      </a:r>
                      <a:endParaRPr lang="zh-CN" sz="19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6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solidFill>
                            <a:srgbClr val="FF0000"/>
                          </a:solidFill>
                          <a:effectLst/>
                        </a:rPr>
                        <a:t>:wq</a:t>
                      </a:r>
                      <a:endParaRPr lang="zh-CN" sz="1900" kern="10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保存并退出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vi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编辑器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6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solidFill>
                            <a:srgbClr val="FF0000"/>
                          </a:solidFill>
                          <a:effectLst/>
                        </a:rPr>
                        <a:t>:q!</a:t>
                      </a:r>
                      <a:endParaRPr lang="zh-CN" sz="1900" kern="10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强行退出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vi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编辑器，不保存对文件的修改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0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:w!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对于没有修改权限的用户强行保存对文件的修改，并且修改后文件的所有者和所属组都有相应的变化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8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:wq!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强行保存文件并退出</a:t>
                      </a:r>
                      <a:r>
                        <a:rPr lang="en-US" sz="1900" kern="100" dirty="0">
                          <a:effectLst/>
                        </a:rPr>
                        <a:t>vi</a:t>
                      </a:r>
                      <a:r>
                        <a:rPr lang="zh-CN" sz="1900" kern="100" dirty="0">
                          <a:effectLst/>
                        </a:rPr>
                        <a:t>编辑器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3538" marR="123538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模式转换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2233109" y="3104879"/>
            <a:ext cx="2077782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命令模式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1122369" y="5306039"/>
            <a:ext cx="1470788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插入模式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1" name="Text Box 44"/>
          <p:cNvSpPr txBox="1">
            <a:spLocks noChangeArrowheads="1"/>
          </p:cNvSpPr>
          <p:nvPr/>
        </p:nvSpPr>
        <p:spPr bwMode="auto">
          <a:xfrm>
            <a:off x="3736120" y="5297399"/>
            <a:ext cx="2077782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底行模式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1751810" y="3722830"/>
            <a:ext cx="1240077" cy="14501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1857763" y="3831111"/>
            <a:ext cx="1284436" cy="14749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981443" y="3722830"/>
            <a:ext cx="997821" cy="15745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11" idx="0"/>
          </p:cNvCxnSpPr>
          <p:nvPr/>
        </p:nvCxnSpPr>
        <p:spPr>
          <a:xfrm flipH="1" flipV="1">
            <a:off x="3736121" y="3722831"/>
            <a:ext cx="1038890" cy="15745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44"/>
          <p:cNvSpPr txBox="1">
            <a:spLocks noChangeArrowheads="1"/>
          </p:cNvSpPr>
          <p:nvPr/>
        </p:nvSpPr>
        <p:spPr bwMode="auto">
          <a:xfrm rot="18653999">
            <a:off x="1299304" y="4136250"/>
            <a:ext cx="1531360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i/o</a:t>
            </a:r>
            <a:r>
              <a:rPr lang="zh-CN" altLang="en-US" sz="2400" dirty="0">
                <a:solidFill>
                  <a:srgbClr val="1353A2"/>
                </a:solidFill>
              </a:rPr>
              <a:t>等按键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23" name="Text Box 44"/>
          <p:cNvSpPr txBox="1">
            <a:spLocks noChangeArrowheads="1"/>
          </p:cNvSpPr>
          <p:nvPr/>
        </p:nvSpPr>
        <p:spPr bwMode="auto">
          <a:xfrm rot="18887493">
            <a:off x="2117392" y="4321584"/>
            <a:ext cx="11976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esc</a:t>
            </a:r>
          </a:p>
        </p:txBody>
      </p:sp>
      <p:sp>
        <p:nvSpPr>
          <p:cNvPr id="24" name="Text Box 44"/>
          <p:cNvSpPr txBox="1">
            <a:spLocks noChangeArrowheads="1"/>
          </p:cNvSpPr>
          <p:nvPr/>
        </p:nvSpPr>
        <p:spPr bwMode="auto">
          <a:xfrm rot="3467198">
            <a:off x="4238364" y="3940423"/>
            <a:ext cx="93909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:</a:t>
            </a:r>
            <a:r>
              <a:rPr lang="zh-CN" altLang="en-US" sz="2400" dirty="0">
                <a:solidFill>
                  <a:srgbClr val="1353A2"/>
                </a:solidFill>
              </a:rPr>
              <a:t>或</a:t>
            </a:r>
            <a:r>
              <a:rPr lang="en-US" altLang="zh-CN" sz="2400" dirty="0">
                <a:solidFill>
                  <a:srgbClr val="1353A2"/>
                </a:solidFill>
              </a:rPr>
              <a:t>/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 rot="3528273">
            <a:off x="3393537" y="4323964"/>
            <a:ext cx="1531360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自动切换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34" name="Text Box 44"/>
          <p:cNvSpPr txBox="1">
            <a:spLocks noChangeArrowheads="1"/>
          </p:cNvSpPr>
          <p:nvPr/>
        </p:nvSpPr>
        <p:spPr bwMode="auto">
          <a:xfrm>
            <a:off x="811327" y="2386783"/>
            <a:ext cx="62545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en-US" altLang="zh-CN" sz="2400" b="1" dirty="0">
                <a:solidFill>
                  <a:srgbClr val="1353A2"/>
                </a:solidFill>
              </a:rPr>
              <a:t>Vi</a:t>
            </a:r>
            <a:r>
              <a:rPr lang="zh-CN" altLang="en-US" sz="2400" b="1" dirty="0">
                <a:solidFill>
                  <a:srgbClr val="1353A2"/>
                </a:solidFill>
              </a:rPr>
              <a:t>编辑器的三种模式之间可进行转换：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079" y="2379901"/>
            <a:ext cx="3493941" cy="3738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5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5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6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3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0" grpId="0"/>
      <p:bldP spid="11" grpId="0"/>
      <p:bldP spid="22" grpId="0"/>
      <p:bldP spid="23" grpId="0"/>
      <p:bldP spid="24" grpId="0"/>
      <p:bldP spid="25" grpId="0"/>
      <p:bldP spid="34" grpId="0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5"/>
          <p:cNvGrpSpPr/>
          <p:nvPr/>
        </p:nvGrpSpPr>
        <p:grpSpPr>
          <a:xfrm>
            <a:off x="602788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0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模式转换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34" name="Text Box 44"/>
          <p:cNvSpPr txBox="1">
            <a:spLocks noChangeArrowheads="1"/>
          </p:cNvSpPr>
          <p:nvPr/>
        </p:nvSpPr>
        <p:spPr bwMode="auto">
          <a:xfrm>
            <a:off x="811327" y="2386783"/>
            <a:ext cx="62545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命令模式切换至插入模式：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362303" y="3033115"/>
          <a:ext cx="9943364" cy="3083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7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96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5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操作符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说明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8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字母“</a:t>
                      </a:r>
                      <a:r>
                        <a:rPr lang="en-US" sz="1900" kern="100" dirty="0">
                          <a:effectLst/>
                        </a:rPr>
                        <a:t>a</a:t>
                      </a:r>
                      <a:r>
                        <a:rPr lang="zh-CN" sz="1900" kern="100" dirty="0">
                          <a:effectLst/>
                        </a:rPr>
                        <a:t>”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光标向后移动一位进入编辑模式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8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字母“</a:t>
                      </a:r>
                      <a:r>
                        <a:rPr lang="en-US" sz="1900" kern="100" dirty="0">
                          <a:effectLst/>
                        </a:rPr>
                        <a:t>s</a:t>
                      </a:r>
                      <a:r>
                        <a:rPr lang="zh-CN" sz="1900" kern="100" dirty="0">
                          <a:effectLst/>
                        </a:rPr>
                        <a:t>”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删除光标所在字母进入编辑模式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8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字母“</a:t>
                      </a:r>
                      <a:r>
                        <a:rPr lang="en-US" sz="1900" kern="100" dirty="0">
                          <a:effectLst/>
                        </a:rPr>
                        <a:t>o</a:t>
                      </a:r>
                      <a:r>
                        <a:rPr lang="zh-CN" sz="1900" kern="100" dirty="0">
                          <a:effectLst/>
                        </a:rPr>
                        <a:t>”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在当前行之下新起一行进入编辑模式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8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字母“</a:t>
                      </a:r>
                      <a:r>
                        <a:rPr lang="en-US" sz="1900" kern="100" dirty="0">
                          <a:effectLst/>
                        </a:rPr>
                        <a:t>A</a:t>
                      </a:r>
                      <a:r>
                        <a:rPr lang="zh-CN" sz="1900" kern="100" dirty="0">
                          <a:effectLst/>
                        </a:rPr>
                        <a:t>”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光标移动到当前行末尾进入编辑模式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8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字母“</a:t>
                      </a:r>
                      <a:r>
                        <a:rPr lang="en-US" sz="1900" kern="100" dirty="0">
                          <a:effectLst/>
                        </a:rPr>
                        <a:t>I</a:t>
                      </a:r>
                      <a:r>
                        <a:rPr lang="zh-CN" sz="1900" kern="100" dirty="0">
                          <a:effectLst/>
                        </a:rPr>
                        <a:t>”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光标移动到当前行行首进入编辑模式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8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字母“</a:t>
                      </a:r>
                      <a:r>
                        <a:rPr lang="en-US" sz="1900" kern="100">
                          <a:effectLst/>
                        </a:rPr>
                        <a:t>S</a:t>
                      </a:r>
                      <a:r>
                        <a:rPr lang="zh-CN" sz="1900" kern="100">
                          <a:effectLst/>
                        </a:rPr>
                        <a:t>”</a:t>
                      </a:r>
                      <a:endParaRPr lang="zh-CN" sz="19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删除光标所在行进入编辑模式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4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字母“</a:t>
                      </a:r>
                      <a:r>
                        <a:rPr lang="en-US" sz="1900" kern="100" dirty="0">
                          <a:effectLst/>
                        </a:rPr>
                        <a:t>O</a:t>
                      </a:r>
                      <a:r>
                        <a:rPr lang="zh-CN" sz="1900" kern="100" dirty="0">
                          <a:effectLst/>
                        </a:rPr>
                        <a:t>”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在当前行之上新起一行进入编辑模式</a:t>
                      </a:r>
                      <a:endParaRPr lang="zh-CN" sz="19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128500" marR="12850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1"/>
          <p:cNvSpPr txBox="1"/>
          <p:nvPr/>
        </p:nvSpPr>
        <p:spPr>
          <a:xfrm>
            <a:off x="2308383" y="502131"/>
            <a:ext cx="5183226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2.8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文本编辑器</a:t>
            </a:r>
            <a:endParaRPr lang="en-US" altLang="zh-CN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8"/>
          <p:cNvGrpSpPr/>
          <p:nvPr/>
        </p:nvGrpSpPr>
        <p:grpSpPr>
          <a:xfrm rot="18087484">
            <a:off x="2739771" y="2546690"/>
            <a:ext cx="313548" cy="626933"/>
            <a:chOff x="6660232" y="483518"/>
            <a:chExt cx="432048" cy="864096"/>
          </a:xfrm>
        </p:grpSpPr>
        <p:sp>
          <p:nvSpPr>
            <p:cNvPr id="16" name="等腰三角形 15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B86E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7" name="等腰三角形 16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6F32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18" name="组合 21"/>
          <p:cNvGrpSpPr/>
          <p:nvPr/>
        </p:nvGrpSpPr>
        <p:grpSpPr>
          <a:xfrm rot="12676450">
            <a:off x="5028875" y="5248224"/>
            <a:ext cx="188576" cy="377250"/>
            <a:chOff x="6660232" y="483518"/>
            <a:chExt cx="432048" cy="864096"/>
          </a:xfrm>
        </p:grpSpPr>
        <p:sp>
          <p:nvSpPr>
            <p:cNvPr id="19" name="等腰三角形 18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B86E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6F32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24" name="组合 27"/>
          <p:cNvGrpSpPr/>
          <p:nvPr/>
        </p:nvGrpSpPr>
        <p:grpSpPr>
          <a:xfrm rot="20465634">
            <a:off x="5427304" y="1591546"/>
            <a:ext cx="99851" cy="199754"/>
            <a:chOff x="6660232" y="483518"/>
            <a:chExt cx="432048" cy="864096"/>
          </a:xfrm>
        </p:grpSpPr>
        <p:sp>
          <p:nvSpPr>
            <p:cNvPr id="25" name="等腰三角形 24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45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6" name="等腰三角形 25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00B0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27" name="组合 30"/>
          <p:cNvGrpSpPr/>
          <p:nvPr/>
        </p:nvGrpSpPr>
        <p:grpSpPr>
          <a:xfrm rot="16914716">
            <a:off x="3478357" y="3392275"/>
            <a:ext cx="194279" cy="388456"/>
            <a:chOff x="6660232" y="483518"/>
            <a:chExt cx="432048" cy="864096"/>
          </a:xfrm>
        </p:grpSpPr>
        <p:sp>
          <p:nvSpPr>
            <p:cNvPr id="28" name="等腰三角形 27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FEA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9" name="等腰三角形 28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963"/>
              </a:avLst>
            </a:prstGeom>
            <a:solidFill>
              <a:srgbClr val="BF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0" name="组合 33"/>
          <p:cNvGrpSpPr/>
          <p:nvPr/>
        </p:nvGrpSpPr>
        <p:grpSpPr>
          <a:xfrm rot="13948803">
            <a:off x="906343" y="4633954"/>
            <a:ext cx="287684" cy="575217"/>
            <a:chOff x="6660232" y="483518"/>
            <a:chExt cx="432048" cy="864096"/>
          </a:xfrm>
        </p:grpSpPr>
        <p:sp>
          <p:nvSpPr>
            <p:cNvPr id="31" name="等腰三角形 30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FEA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2" name="等腰三角形 31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963"/>
              </a:avLst>
            </a:prstGeom>
            <a:solidFill>
              <a:srgbClr val="BF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3" name="组合 36"/>
          <p:cNvGrpSpPr/>
          <p:nvPr/>
        </p:nvGrpSpPr>
        <p:grpSpPr>
          <a:xfrm rot="13953194">
            <a:off x="2464585" y="4392860"/>
            <a:ext cx="274805" cy="549466"/>
            <a:chOff x="6660232" y="483518"/>
            <a:chExt cx="432048" cy="864096"/>
          </a:xfrm>
        </p:grpSpPr>
        <p:sp>
          <p:nvSpPr>
            <p:cNvPr id="34" name="等腰三角形 33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3ED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5" name="等腰三角形 34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58818"/>
              </a:avLst>
            </a:prstGeom>
            <a:solidFill>
              <a:srgbClr val="05B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6" name="组合 39"/>
          <p:cNvGrpSpPr/>
          <p:nvPr/>
        </p:nvGrpSpPr>
        <p:grpSpPr>
          <a:xfrm rot="19166967">
            <a:off x="3295492" y="1914864"/>
            <a:ext cx="139828" cy="279727"/>
            <a:chOff x="6660232" y="483518"/>
            <a:chExt cx="432048" cy="864096"/>
          </a:xfrm>
        </p:grpSpPr>
        <p:sp>
          <p:nvSpPr>
            <p:cNvPr id="37" name="等腰三角形 36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3ED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8" name="等腰三角形 37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58818"/>
              </a:avLst>
            </a:prstGeom>
            <a:solidFill>
              <a:srgbClr val="05B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51" name="等腰三角形 50"/>
          <p:cNvSpPr/>
          <p:nvPr/>
        </p:nvSpPr>
        <p:spPr>
          <a:xfrm rot="6229131">
            <a:off x="3474683" y="2475896"/>
            <a:ext cx="111867" cy="173792"/>
          </a:xfrm>
          <a:prstGeom prst="triangle">
            <a:avLst/>
          </a:prstGeom>
          <a:solidFill>
            <a:srgbClr val="B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2" name="等腰三角形 51"/>
          <p:cNvSpPr/>
          <p:nvPr/>
        </p:nvSpPr>
        <p:spPr>
          <a:xfrm rot="7496882">
            <a:off x="3731670" y="1699838"/>
            <a:ext cx="107837" cy="167531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3" name="等腰三角形 52"/>
          <p:cNvSpPr/>
          <p:nvPr/>
        </p:nvSpPr>
        <p:spPr>
          <a:xfrm rot="7278906">
            <a:off x="2592230" y="1885474"/>
            <a:ext cx="198348" cy="308146"/>
          </a:xfrm>
          <a:prstGeom prst="triangle">
            <a:avLst>
              <a:gd name="adj" fmla="val 35756"/>
            </a:avLst>
          </a:prstGeom>
          <a:solidFill>
            <a:srgbClr val="45D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4" name="等腰三角形 53"/>
          <p:cNvSpPr/>
          <p:nvPr/>
        </p:nvSpPr>
        <p:spPr>
          <a:xfrm rot="1068765">
            <a:off x="2948935" y="3869120"/>
            <a:ext cx="156890" cy="135285"/>
          </a:xfrm>
          <a:prstGeom prst="triangle">
            <a:avLst/>
          </a:prstGeom>
          <a:solidFill>
            <a:srgbClr val="00B0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5" name="等腰三角形 54"/>
          <p:cNvSpPr/>
          <p:nvPr/>
        </p:nvSpPr>
        <p:spPr>
          <a:xfrm rot="17959049">
            <a:off x="4422158" y="4602010"/>
            <a:ext cx="156931" cy="135250"/>
          </a:xfrm>
          <a:prstGeom prst="triangle">
            <a:avLst/>
          </a:prstGeom>
          <a:solidFill>
            <a:srgbClr val="3E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6" name="等腰三角形 55"/>
          <p:cNvSpPr/>
          <p:nvPr/>
        </p:nvSpPr>
        <p:spPr>
          <a:xfrm rot="4382759">
            <a:off x="3095593" y="5009675"/>
            <a:ext cx="146369" cy="227393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7" name="等腰三角形 56"/>
          <p:cNvSpPr/>
          <p:nvPr/>
        </p:nvSpPr>
        <p:spPr>
          <a:xfrm rot="2697357">
            <a:off x="3950026" y="5441071"/>
            <a:ext cx="121153" cy="188317"/>
          </a:xfrm>
          <a:prstGeom prst="triangle">
            <a:avLst/>
          </a:prstGeom>
          <a:solidFill>
            <a:srgbClr val="FEA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8" name="等腰三角形 57"/>
          <p:cNvSpPr/>
          <p:nvPr/>
        </p:nvSpPr>
        <p:spPr>
          <a:xfrm rot="3556479">
            <a:off x="3959493" y="4040850"/>
            <a:ext cx="127727" cy="198431"/>
          </a:xfrm>
          <a:prstGeom prst="triangle">
            <a:avLst/>
          </a:prstGeom>
          <a:solidFill>
            <a:srgbClr val="B86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61" name="直接连接符 68"/>
          <p:cNvCxnSpPr/>
          <p:nvPr/>
        </p:nvCxnSpPr>
        <p:spPr>
          <a:xfrm flipH="1">
            <a:off x="1525190" y="1070746"/>
            <a:ext cx="1223817" cy="1224136"/>
          </a:xfrm>
          <a:prstGeom prst="line">
            <a:avLst/>
          </a:prstGeom>
          <a:ln>
            <a:solidFill>
              <a:srgbClr val="EF5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9"/>
          <p:cNvCxnSpPr/>
          <p:nvPr/>
        </p:nvCxnSpPr>
        <p:spPr>
          <a:xfrm flipH="1">
            <a:off x="7852899" y="1023764"/>
            <a:ext cx="1474501" cy="1463953"/>
          </a:xfrm>
          <a:prstGeom prst="line">
            <a:avLst/>
          </a:prstGeom>
          <a:ln>
            <a:solidFill>
              <a:srgbClr val="B86E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72"/>
          <p:cNvCxnSpPr/>
          <p:nvPr/>
        </p:nvCxnSpPr>
        <p:spPr>
          <a:xfrm flipH="1">
            <a:off x="1722905" y="4773360"/>
            <a:ext cx="1474501" cy="1463953"/>
          </a:xfrm>
          <a:prstGeom prst="line">
            <a:avLst/>
          </a:prstGeom>
          <a:ln>
            <a:solidFill>
              <a:srgbClr val="45D4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1"/>
          <p:cNvSpPr txBox="1"/>
          <p:nvPr/>
        </p:nvSpPr>
        <p:spPr>
          <a:xfrm>
            <a:off x="2294286" y="424987"/>
            <a:ext cx="5903119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</a:p>
        </p:txBody>
      </p:sp>
      <p:sp>
        <p:nvSpPr>
          <p:cNvPr id="67" name="矩形 66"/>
          <p:cNvSpPr/>
          <p:nvPr/>
        </p:nvSpPr>
        <p:spPr>
          <a:xfrm>
            <a:off x="5082542" y="1363661"/>
            <a:ext cx="6492356" cy="5013039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本章主要对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常用命令，包括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用户和权限管理命令、文件管理命令、存储管理命令、进程管理命令、服务管理命令、软件包管理命令等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进行了讲解，同时对与用户、文件、磁盘、进程、服务与关联包的概念与相关知识进行了阐述。此外，本章还介绍了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系统中常用的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文本编辑器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——Vi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。通过本章的学习，读者应能通过各种命令使用、管理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系统，并熟练掌握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编辑器的使用方法。</a:t>
            </a:r>
          </a:p>
        </p:txBody>
      </p:sp>
      <p:grpSp>
        <p:nvGrpSpPr>
          <p:cNvPr id="68" name="组合 5"/>
          <p:cNvGrpSpPr/>
          <p:nvPr/>
        </p:nvGrpSpPr>
        <p:grpSpPr>
          <a:xfrm rot="1223044">
            <a:off x="4619962" y="1671811"/>
            <a:ext cx="194228" cy="388557"/>
            <a:chOff x="6660232" y="483518"/>
            <a:chExt cx="432048" cy="864096"/>
          </a:xfrm>
        </p:grpSpPr>
        <p:sp>
          <p:nvSpPr>
            <p:cNvPr id="69" name="等腰三角形 68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FEA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0" name="等腰三角形 69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963"/>
              </a:avLst>
            </a:prstGeom>
            <a:solidFill>
              <a:srgbClr val="BF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71" name="组合 9"/>
          <p:cNvGrpSpPr/>
          <p:nvPr/>
        </p:nvGrpSpPr>
        <p:grpSpPr>
          <a:xfrm rot="6407950">
            <a:off x="8821748" y="5205250"/>
            <a:ext cx="349232" cy="698282"/>
            <a:chOff x="6660232" y="483518"/>
            <a:chExt cx="432048" cy="864096"/>
          </a:xfrm>
        </p:grpSpPr>
        <p:sp>
          <p:nvSpPr>
            <p:cNvPr id="72" name="等腰三角形 71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45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3" name="等腰三角形 72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00B0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74" name="组合 12"/>
          <p:cNvGrpSpPr/>
          <p:nvPr/>
        </p:nvGrpSpPr>
        <p:grpSpPr>
          <a:xfrm rot="6226596">
            <a:off x="10509660" y="5333370"/>
            <a:ext cx="377870" cy="755543"/>
            <a:chOff x="6660232" y="483518"/>
            <a:chExt cx="432048" cy="864096"/>
          </a:xfrm>
        </p:grpSpPr>
        <p:sp>
          <p:nvSpPr>
            <p:cNvPr id="75" name="等腰三角形 74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3ED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6" name="等腰三角形 75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58818"/>
              </a:avLst>
            </a:prstGeom>
            <a:solidFill>
              <a:srgbClr val="05B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77" name="等腰三角形 76"/>
          <p:cNvSpPr/>
          <p:nvPr/>
        </p:nvSpPr>
        <p:spPr>
          <a:xfrm rot="12209274">
            <a:off x="3340616" y="1481684"/>
            <a:ext cx="224553" cy="336917"/>
          </a:xfrm>
          <a:prstGeom prst="triangle">
            <a:avLst/>
          </a:prstGeom>
          <a:solidFill>
            <a:srgbClr val="B86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等腰三角形 77"/>
          <p:cNvSpPr/>
          <p:nvPr/>
        </p:nvSpPr>
        <p:spPr>
          <a:xfrm rot="1409274">
            <a:off x="4462529" y="2918608"/>
            <a:ext cx="224553" cy="112306"/>
          </a:xfrm>
          <a:prstGeom prst="triangle">
            <a:avLst>
              <a:gd name="adj" fmla="val 63228"/>
            </a:avLst>
          </a:prstGeom>
          <a:solidFill>
            <a:srgbClr val="6F3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grpSp>
        <p:nvGrpSpPr>
          <p:cNvPr id="79" name="组合 24"/>
          <p:cNvGrpSpPr/>
          <p:nvPr/>
        </p:nvGrpSpPr>
        <p:grpSpPr>
          <a:xfrm rot="7346403">
            <a:off x="11657117" y="3693748"/>
            <a:ext cx="154658" cy="309235"/>
            <a:chOff x="6660232" y="483518"/>
            <a:chExt cx="432048" cy="864096"/>
          </a:xfrm>
        </p:grpSpPr>
        <p:sp>
          <p:nvSpPr>
            <p:cNvPr id="80" name="等腰三角形 79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45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81" name="等腰三角形 80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00B0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82" name="等腰三角形 81"/>
          <p:cNvSpPr/>
          <p:nvPr/>
        </p:nvSpPr>
        <p:spPr>
          <a:xfrm rot="17675433">
            <a:off x="1343179" y="3421504"/>
            <a:ext cx="155723" cy="241925"/>
          </a:xfrm>
          <a:prstGeom prst="triangle">
            <a:avLst/>
          </a:prstGeom>
          <a:solidFill>
            <a:srgbClr val="FEA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3" name="等腰三角形 82"/>
          <p:cNvSpPr/>
          <p:nvPr/>
        </p:nvSpPr>
        <p:spPr>
          <a:xfrm rot="18842669">
            <a:off x="6062702" y="3897352"/>
            <a:ext cx="127727" cy="198431"/>
          </a:xfrm>
          <a:prstGeom prst="triangle">
            <a:avLst/>
          </a:prstGeom>
          <a:solidFill>
            <a:srgbClr val="B86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4" name="等腰三角形 83"/>
          <p:cNvSpPr/>
          <p:nvPr/>
        </p:nvSpPr>
        <p:spPr>
          <a:xfrm rot="14558547">
            <a:off x="5505625" y="2129781"/>
            <a:ext cx="155723" cy="241925"/>
          </a:xfrm>
          <a:prstGeom prst="triangle">
            <a:avLst/>
          </a:prstGeom>
          <a:solidFill>
            <a:srgbClr val="05B0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5" name="等腰三角形 84"/>
          <p:cNvSpPr/>
          <p:nvPr/>
        </p:nvSpPr>
        <p:spPr>
          <a:xfrm rot="12105279">
            <a:off x="4187620" y="1175288"/>
            <a:ext cx="111838" cy="173837"/>
          </a:xfrm>
          <a:prstGeom prst="triangle">
            <a:avLst/>
          </a:prstGeom>
          <a:solidFill>
            <a:srgbClr val="B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6" name="等腰三角形 85"/>
          <p:cNvSpPr/>
          <p:nvPr/>
        </p:nvSpPr>
        <p:spPr>
          <a:xfrm rot="14668738">
            <a:off x="4929800" y="2224024"/>
            <a:ext cx="107837" cy="167531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7" name="等腰三角形 86"/>
          <p:cNvSpPr/>
          <p:nvPr/>
        </p:nvSpPr>
        <p:spPr>
          <a:xfrm rot="17171880">
            <a:off x="9704124" y="5213536"/>
            <a:ext cx="107837" cy="167531"/>
          </a:xfrm>
          <a:prstGeom prst="triangle">
            <a:avLst>
              <a:gd name="adj" fmla="val 77077"/>
            </a:avLst>
          </a:prstGeom>
          <a:solidFill>
            <a:srgbClr val="6F3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8" name="等腰三角形 87"/>
          <p:cNvSpPr/>
          <p:nvPr/>
        </p:nvSpPr>
        <p:spPr>
          <a:xfrm rot="11654353">
            <a:off x="5276649" y="1246690"/>
            <a:ext cx="107809" cy="167575"/>
          </a:xfrm>
          <a:prstGeom prst="triangle">
            <a:avLst>
              <a:gd name="adj" fmla="val 35756"/>
            </a:avLst>
          </a:prstGeom>
          <a:solidFill>
            <a:srgbClr val="45D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9" name="等腰三角形 88"/>
          <p:cNvSpPr/>
          <p:nvPr/>
        </p:nvSpPr>
        <p:spPr>
          <a:xfrm rot="19005263">
            <a:off x="5227066" y="3819557"/>
            <a:ext cx="155682" cy="241988"/>
          </a:xfrm>
          <a:prstGeom prst="triangle">
            <a:avLst>
              <a:gd name="adj" fmla="val 100000"/>
            </a:avLst>
          </a:prstGeom>
          <a:solidFill>
            <a:srgbClr val="05B0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0" name="等腰三角形 89"/>
          <p:cNvSpPr/>
          <p:nvPr/>
        </p:nvSpPr>
        <p:spPr>
          <a:xfrm rot="20250676">
            <a:off x="10500484" y="3433487"/>
            <a:ext cx="107809" cy="167575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1" name="等腰三角形 90"/>
          <p:cNvSpPr/>
          <p:nvPr/>
        </p:nvSpPr>
        <p:spPr>
          <a:xfrm rot="17959049">
            <a:off x="10208234" y="3008665"/>
            <a:ext cx="156931" cy="135250"/>
          </a:xfrm>
          <a:prstGeom prst="triangle">
            <a:avLst/>
          </a:prstGeom>
          <a:solidFill>
            <a:srgbClr val="3E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2" name="等腰三角形 91"/>
          <p:cNvSpPr/>
          <p:nvPr/>
        </p:nvSpPr>
        <p:spPr>
          <a:xfrm rot="1068765">
            <a:off x="936441" y="4248182"/>
            <a:ext cx="156890" cy="135285"/>
          </a:xfrm>
          <a:prstGeom prst="triangle">
            <a:avLst/>
          </a:prstGeom>
          <a:solidFill>
            <a:srgbClr val="00B0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3" name="等腰三角形 92"/>
          <p:cNvSpPr/>
          <p:nvPr/>
        </p:nvSpPr>
        <p:spPr>
          <a:xfrm rot="17007495">
            <a:off x="7995445" y="5211691"/>
            <a:ext cx="155723" cy="241925"/>
          </a:xfrm>
          <a:prstGeom prst="triangle">
            <a:avLst/>
          </a:prstGeom>
          <a:solidFill>
            <a:srgbClr val="B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94" name="直接连接符 71"/>
          <p:cNvCxnSpPr/>
          <p:nvPr/>
        </p:nvCxnSpPr>
        <p:spPr>
          <a:xfrm flipH="1">
            <a:off x="9202549" y="7121749"/>
            <a:ext cx="1474501" cy="1463953"/>
          </a:xfrm>
          <a:prstGeom prst="line">
            <a:avLst/>
          </a:prstGeom>
          <a:ln>
            <a:solidFill>
              <a:srgbClr val="FEA5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59" y="1450893"/>
            <a:ext cx="4143375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51eb4b1c2574c4eecf2bccd5accad88f058b5"/>
  <p:tag name="COMMONDATA" val="eyJoZGlkIjoiN2EwZjRiMDZmYWE2MTI1MzU1ODA3NmMxZTI0ZTU4ZD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Linux常用命令"/>
  <p:tag name="GENSWF_ADVANCE_TIME" val="0.00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Linux常用命令"/>
  <p:tag name="GENSWF_ADVANCE_TIME" val="0.00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Linux常用命令"/>
  <p:tag name="GENSWF_ADVANCE_TIME" val="0.00"/>
  <p:tag name="ISPRING_SLIDE_INDENT_LEVEL" val="0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Linux常用命令"/>
  <p:tag name="GENSWF_ADVANCE_TIME" val="0.00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1命令格式"/>
  <p:tag name="GENSWF_ADVANCE_TIME" val="0.00"/>
  <p:tag name="ISPRING_SLIDE_INDENT_LEVEL" val="0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Linux常用命令"/>
  <p:tag name="GENSWF_ADVANCE_TIME" val="0.00"/>
  <p:tag name="ISPRING_SLIDE_INDENT_LEVEL" val="0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Linux常用命令"/>
  <p:tag name="GENSWF_ADVANCE_TIME" val="0.00"/>
  <p:tag name="ISPRING_SLIDE_INDENT_LEVEL" val="0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2用户组管理"/>
  <p:tag name="GENSWF_ADVANCE_TIME" val="0.00"/>
  <p:tag name="ISPRING_SLIDE_INDENT_LEVEL" val="0"/>
  <p:tag name="ISPRING_CUSTOM_TIMING_US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2用户组管理"/>
  <p:tag name="GENSWF_ADVANCE_TIME" val="0.00"/>
  <p:tag name="ISPRING_SLIDE_INDENT_LEVEL" val="0"/>
  <p:tag name="ISPRING_CUSTOM_TIMING_US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2用户组管理"/>
  <p:tag name="GENSWF_ADVANCE_TIME" val="0.00"/>
  <p:tag name="ISPRING_SLIDE_INDENT_LEVEL" val="0"/>
  <p:tag name="ISPRING_CUSTOM_TIMING_USED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2用户组管理"/>
  <p:tag name="GENSWF_ADVANCE_TIME" val="0.00"/>
  <p:tag name="ISPRING_SLIDE_INDENT_LEVEL" val="0"/>
  <p:tag name="ISPRING_CUSTOM_TIMING_USED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2用户组管理"/>
  <p:tag name="GENSWF_ADVANCE_TIME" val="0.00"/>
  <p:tag name="ISPRING_SLIDE_INDENT_LEVEL" val="0"/>
  <p:tag name="ISPRING_CUSTOM_TIMING_USED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2用户组管理"/>
  <p:tag name="GENSWF_ADVANCE_TIME" val="0.00"/>
  <p:tag name="ISPRING_SLIDE_INDENT_LEVEL" val="0"/>
  <p:tag name="ISPRING_CUSTOM_TIMING_USED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2用户组管理"/>
  <p:tag name="GENSWF_ADVANCE_TIME" val="0.00"/>
  <p:tag name="ISPRING_SLIDE_INDENT_LEVEL" val="0"/>
  <p:tag name="ISPRING_CUSTOM_TIMING_USED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2用户组管理"/>
  <p:tag name="GENSWF_ADVANCE_TIME" val="0.00"/>
  <p:tag name="ISPRING_SLIDE_INDENT_LEVEL" val="0"/>
  <p:tag name="ISPRING_CUSTOM_TIMING_USED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2用户组管理"/>
  <p:tag name="GENSWF_ADVANCE_TIME" val="0.00"/>
  <p:tag name="ISPRING_SLIDE_INDENT_LEVEL" val="0"/>
  <p:tag name="ISPRING_CUSTOM_TIMING_USED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2用户组管理"/>
  <p:tag name="GENSWF_ADVANCE_TIME" val="0.00"/>
  <p:tag name="ISPRING_SLIDE_INDENT_LEVEL" val="0"/>
  <p:tag name="ISPRING_CUSTOM_TIMING_USED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3用户切换"/>
  <p:tag name="GENSWF_ADVANCE_TIME" val="0.00"/>
  <p:tag name="ISPRING_SLIDE_INDENT_LEVEL" val="0"/>
  <p:tag name="ISPRING_CUSTOM_TIMING_USED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3用户切换"/>
  <p:tag name="GENSWF_ADVANCE_TIME" val="0.00"/>
  <p:tag name="ISPRING_SLIDE_INDENT_LEVEL" val="0"/>
  <p:tag name="ISPRING_CUSTOM_TIMING_USED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3用户切换"/>
  <p:tag name="GENSWF_ADVANCE_TIME" val="0.00"/>
  <p:tag name="ISPRING_SLIDE_INDENT_LEVEL" val="0"/>
  <p:tag name="ISPRING_CUSTOM_TIMING_USED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3用户切换"/>
  <p:tag name="GENSWF_ADVANCE_TIME" val="0.00"/>
  <p:tag name="ISPRING_SLIDE_INDENT_LEVEL" val="0"/>
  <p:tag name="ISPRING_CUSTOM_TIMING_USED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3用户切换"/>
  <p:tag name="GENSWF_ADVANCE_TIME" val="0.00"/>
  <p:tag name="ISPRING_SLIDE_INDENT_LEVEL" val="0"/>
  <p:tag name="ISPRING_CUSTOM_TIMING_USED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2文件操作命令"/>
  <p:tag name="GENSWF_ADVANCE_TIME" val="0.00"/>
  <p:tag name="ISPRING_SLIDE_INDENT_LEVEL" val="0"/>
  <p:tag name="ISPRING_CUSTOM_TIMING_USED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4压缩解压命令"/>
  <p:tag name="GENSWF_ADVANCE_TIME" val="0.00"/>
  <p:tag name="ISPRING_SLIDE_INDENT_LEVEL" val="0"/>
  <p:tag name="ISPRING_CUSTOM_TIMING_USED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4压缩解压命令"/>
  <p:tag name="GENSWF_ADVANCE_TIME" val="0.00"/>
  <p:tag name="ISPRING_SLIDE_INDENT_LEVEL" val="0"/>
  <p:tag name="ISPRING_CUSTOM_TIMING_USED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4压缩解压命令"/>
  <p:tag name="GENSWF_ADVANCE_TIME" val="0.00"/>
  <p:tag name="ISPRING_SLIDE_INDENT_LEVEL" val="0"/>
  <p:tag name="ISPRING_CUSTOM_TIMING_USED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4压缩解压命令"/>
  <p:tag name="GENSWF_ADVANCE_TIME" val="0.00"/>
  <p:tag name="ISPRING_SLIDE_INDENT_LEVEL" val="0"/>
  <p:tag name="ISPRING_CUSTOM_TIMING_USED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4压缩解压命令"/>
  <p:tag name="GENSWF_ADVANCE_TIME" val="0.00"/>
  <p:tag name="ISPRING_SLIDE_INDENT_LEVEL" val="0"/>
  <p:tag name="ISPRING_CUSTOM_TIMING_USED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4压缩解压命令"/>
  <p:tag name="GENSWF_ADVANCE_TIME" val="0.00"/>
  <p:tag name="ISPRING_SLIDE_INDENT_LEVEL" val="0"/>
  <p:tag name="ISPRING_CUSTOM_TIMING_USED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4压缩解压命令"/>
  <p:tag name="GENSWF_ADVANCE_TIME" val="0.00"/>
  <p:tag name="ISPRING_SLIDE_INDENT_LEVEL" val="0"/>
  <p:tag name="ISPRING_CUSTOM_TIMING_USED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4压缩解压命令"/>
  <p:tag name="GENSWF_ADVANCE_TIME" val="0.00"/>
  <p:tag name="ISPRING_SLIDE_INDENT_LEVEL" val="0"/>
  <p:tag name="ISPRING_CUSTOM_TIMING_USED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4压缩解压命令"/>
  <p:tag name="GENSWF_ADVANCE_TIME" val="0.00"/>
  <p:tag name="ISPRING_SLIDE_INDENT_LEVEL" val="0"/>
  <p:tag name="ISPRING_CUSTOM_TIMING_USED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4压缩解压命令"/>
  <p:tag name="GENSWF_ADVANCE_TIME" val="0.00"/>
  <p:tag name="ISPRING_SLIDE_INDENT_LEVEL" val="0"/>
  <p:tag name="ISPRING_CUSTOM_TIMING_USED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4压缩解压命令"/>
  <p:tag name="GENSWF_ADVANCE_TIME" val="0.00"/>
  <p:tag name="ISPRING_SLIDE_INDENT_LEVEL" val="0"/>
  <p:tag name="ISPRING_CUSTOM_TIMING_USED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4压缩解压命令"/>
  <p:tag name="GENSWF_ADVANCE_TIME" val="0.00"/>
  <p:tag name="ISPRING_SLIDE_INDENT_LEVEL" val="0"/>
  <p:tag name="ISPRING_CUSTOM_TIMING_USED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3网络管理与通信命令"/>
  <p:tag name="GENSWF_ADVANCE_TIME" val="0.00"/>
  <p:tag name="ISPRING_SLIDE_INDENT_LEVEL" val="0"/>
  <p:tag name="ISPRING_CUSTOM_TIMING_USED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3网络管理与通信命令"/>
  <p:tag name="GENSWF_ADVANCE_TIME" val="0.00"/>
  <p:tag name="ISPRING_SLIDE_INDENT_LEVEL" val="0"/>
  <p:tag name="ISPRING_CUSTOM_TIMING_USED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.5帮助命令"/>
  <p:tag name="GENSWF_ADVANCE_TIME" val="0.00"/>
  <p:tag name="ISPRING_SLIDE_INDENT_LEVEL" val="0"/>
  <p:tag name="ISPRING_CUSTOM_TIMING_USED" val="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1进程概述"/>
  <p:tag name="GENSWF_ADVANCE_TIME" val="0.00"/>
  <p:tag name="ISPRING_SLIDE_INDENT_LEVEL" val="0"/>
  <p:tag name="ISPRING_CUSTOM_TIMING_USED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1.1进程处理机制"/>
  <p:tag name="GENSWF_ADVANCE_TIME" val="0.00"/>
  <p:tag name="ISPRING_SLIDE_INDENT_LEVEL" val="0"/>
  <p:tag name="ISPRING_CUSTOM_TIMING_USED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1.2进程属性"/>
  <p:tag name="GENSWF_ADVANCE_TIME" val="0.00"/>
  <p:tag name="ISPRING_SLIDE_INDENT_LEVEL" val="0"/>
  <p:tag name="ISPRING_CUSTOM_TIMING_USED" val="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1.2进程属性"/>
  <p:tag name="GENSWF_ADVANCE_TIME" val="0.00"/>
  <p:tag name="ISPRING_SLIDE_INDENT_LEVEL" val="0"/>
  <p:tag name="ISPRING_CUSTOM_TIMING_USED" val="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1.2进程属性"/>
  <p:tag name="GENSWF_ADVANCE_TIME" val="0.00"/>
  <p:tag name="ISPRING_SLIDE_INDENT_LEVEL" val="0"/>
  <p:tag name="ISPRING_CUSTOM_TIMING_USED" val="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1.2进程属性"/>
  <p:tag name="GENSWF_ADVANCE_TIME" val="0.00"/>
  <p:tag name="ISPRING_SLIDE_INDENT_LEVEL" val="0"/>
  <p:tag name="ISPRING_CUSTOM_TIMING_USED" val="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3进程管理命令"/>
  <p:tag name="GENSWF_ADVANCE_TIME" val="0.00"/>
  <p:tag name="ISPRING_SLIDE_INDENT_LEVEL" val="0"/>
  <p:tag name="ISPRING_CUSTOM_TIMING_USED" val="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1进程概述"/>
  <p:tag name="GENSWF_ADVANCE_TIME" val="0.00"/>
  <p:tag name="ISPRING_SLIDE_INDENT_LEVEL" val="0"/>
  <p:tag name="ISPRING_CUSTOM_TIMING_USED" val="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1进程概述"/>
  <p:tag name="GENSWF_ADVANCE_TIME" val="0.00"/>
  <p:tag name="ISPRING_SLIDE_INDENT_LEVEL" val="0"/>
  <p:tag name="ISPRING_CUSTOM_TIMING_USED" val="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1进程概述"/>
  <p:tag name="GENSWF_ADVANCE_TIME" val="0.00"/>
  <p:tag name="ISPRING_SLIDE_INDENT_LEVEL" val="0"/>
  <p:tag name="ISPRING_CUSTOM_TIMING_USED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1进程概述"/>
  <p:tag name="GENSWF_ADVANCE_TIME" val="0.00"/>
  <p:tag name="ISPRING_SLIDE_INDENT_LEVEL" val="0"/>
  <p:tag name="ISPRING_CUSTOM_TIMING_USED" val="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1进程概述"/>
  <p:tag name="GENSWF_ADVANCE_TIME" val="0.00"/>
  <p:tag name="ISPRING_SLIDE_INDENT_LEVEL" val="0"/>
  <p:tag name="ISPRING_CUSTOM_TIMING_USED" val="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6.1进程概述"/>
  <p:tag name="GENSWF_ADVANCE_TIME" val="0.00"/>
  <p:tag name="ISPRING_SLIDE_INDENT_LEVEL" val="0"/>
  <p:tag name="ISPRING_CUSTOM_TIMING_USED" val="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.1Vi编辑器"/>
  <p:tag name="GENSWF_ADVANCE_TIME" val="0.00"/>
  <p:tag name="ISPRING_SLIDE_INDENT_LEVEL" val="0"/>
  <p:tag name="ISPRING_CUSTOM_TIMING_USED" val="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3本章小结"/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14412</Words>
  <Application>Microsoft Office PowerPoint</Application>
  <PresentationFormat>宽屏</PresentationFormat>
  <Paragraphs>1902</Paragraphs>
  <Slides>224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224</vt:i4>
      </vt:variant>
    </vt:vector>
  </HeadingPairs>
  <TitlesOfParts>
    <vt:vector size="237" baseType="lpstr">
      <vt:lpstr>Helvetica Neue</vt:lpstr>
      <vt:lpstr>等线</vt:lpstr>
      <vt:lpstr>等线 Light</vt:lpstr>
      <vt:lpstr>方正细倩简体</vt:lpstr>
      <vt:lpstr>华文宋体</vt:lpstr>
      <vt:lpstr>微软雅黑</vt:lpstr>
      <vt:lpstr>Arial</vt:lpstr>
      <vt:lpstr>Broadway</vt:lpstr>
      <vt:lpstr>Calibri</vt:lpstr>
      <vt:lpstr>Franklin Gothic Medium</vt:lpstr>
      <vt:lpstr>Times New Roman</vt:lpstr>
      <vt:lpstr>Wingdings</vt:lpstr>
      <vt:lpstr>Office 主题​​</vt:lpstr>
      <vt:lpstr>第2章 Linux命令与工具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lucius</dc:creator>
  <cp:lastModifiedBy>k459</cp:lastModifiedBy>
  <cp:revision>349</cp:revision>
  <dcterms:created xsi:type="dcterms:W3CDTF">2016-08-25T05:35:00Z</dcterms:created>
  <dcterms:modified xsi:type="dcterms:W3CDTF">2023-11-16T00:34:35Z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5EBD090BC9284A1BB579BB4D4F48008F_12</vt:lpwstr>
  </property>
  <property fmtid="{D5CDD505-2E9C-101B-9397-08002B2CF9AE}" pid="3" name="KSOProductBuildVer">
    <vt:lpwstr>2052-12.1.0.15712</vt:lpwstr>
  </property>
</Properties>
</file>