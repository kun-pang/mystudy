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notesSlides/notesSlide10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3"/>
  </p:notesMasterIdLst>
  <p:sldIdLst>
    <p:sldId id="256" r:id="rId2"/>
    <p:sldId id="335" r:id="rId3"/>
    <p:sldId id="260" r:id="rId4"/>
    <p:sldId id="470" r:id="rId5"/>
    <p:sldId id="471" r:id="rId6"/>
    <p:sldId id="262" r:id="rId7"/>
    <p:sldId id="472" r:id="rId8"/>
    <p:sldId id="337" r:id="rId9"/>
    <p:sldId id="343" r:id="rId10"/>
    <p:sldId id="473" r:id="rId11"/>
    <p:sldId id="338" r:id="rId12"/>
    <p:sldId id="474" r:id="rId13"/>
    <p:sldId id="476" r:id="rId14"/>
    <p:sldId id="475" r:id="rId15"/>
    <p:sldId id="480" r:id="rId16"/>
    <p:sldId id="341" r:id="rId17"/>
    <p:sldId id="336" r:id="rId18"/>
    <p:sldId id="345" r:id="rId19"/>
    <p:sldId id="344" r:id="rId20"/>
    <p:sldId id="481" r:id="rId21"/>
    <p:sldId id="346" r:id="rId22"/>
    <p:sldId id="347" r:id="rId23"/>
    <p:sldId id="484" r:id="rId24"/>
    <p:sldId id="483" r:id="rId25"/>
    <p:sldId id="485" r:id="rId26"/>
    <p:sldId id="348" r:id="rId27"/>
    <p:sldId id="349" r:id="rId28"/>
    <p:sldId id="350" r:id="rId29"/>
    <p:sldId id="351" r:id="rId30"/>
    <p:sldId id="486" r:id="rId31"/>
    <p:sldId id="487" r:id="rId32"/>
    <p:sldId id="352" r:id="rId33"/>
    <p:sldId id="353" r:id="rId34"/>
    <p:sldId id="488" r:id="rId35"/>
    <p:sldId id="489" r:id="rId36"/>
    <p:sldId id="354" r:id="rId37"/>
    <p:sldId id="307" r:id="rId38"/>
    <p:sldId id="490" r:id="rId39"/>
    <p:sldId id="291" r:id="rId40"/>
    <p:sldId id="355" r:id="rId41"/>
    <p:sldId id="356" r:id="rId42"/>
    <p:sldId id="358" r:id="rId43"/>
    <p:sldId id="492" r:id="rId44"/>
    <p:sldId id="493" r:id="rId45"/>
    <p:sldId id="491" r:id="rId46"/>
    <p:sldId id="309" r:id="rId47"/>
    <p:sldId id="359" r:id="rId48"/>
    <p:sldId id="494" r:id="rId49"/>
    <p:sldId id="360" r:id="rId50"/>
    <p:sldId id="361" r:id="rId51"/>
    <p:sldId id="362" r:id="rId52"/>
    <p:sldId id="363" r:id="rId53"/>
    <p:sldId id="495" r:id="rId54"/>
    <p:sldId id="498" r:id="rId55"/>
    <p:sldId id="496" r:id="rId56"/>
    <p:sldId id="497" r:id="rId57"/>
    <p:sldId id="364" r:id="rId58"/>
    <p:sldId id="365" r:id="rId59"/>
    <p:sldId id="366" r:id="rId60"/>
    <p:sldId id="310" r:id="rId61"/>
    <p:sldId id="367" r:id="rId62"/>
    <p:sldId id="368" r:id="rId63"/>
    <p:sldId id="369" r:id="rId64"/>
    <p:sldId id="500" r:id="rId65"/>
    <p:sldId id="370" r:id="rId66"/>
    <p:sldId id="499" r:id="rId67"/>
    <p:sldId id="502" r:id="rId68"/>
    <p:sldId id="501" r:id="rId69"/>
    <p:sldId id="376" r:id="rId70"/>
    <p:sldId id="504" r:id="rId71"/>
    <p:sldId id="377" r:id="rId72"/>
    <p:sldId id="505" r:id="rId73"/>
    <p:sldId id="375" r:id="rId74"/>
    <p:sldId id="506" r:id="rId75"/>
    <p:sldId id="507" r:id="rId76"/>
    <p:sldId id="508" r:id="rId77"/>
    <p:sldId id="378" r:id="rId78"/>
    <p:sldId id="379" r:id="rId79"/>
    <p:sldId id="509" r:id="rId80"/>
    <p:sldId id="510" r:id="rId81"/>
    <p:sldId id="511" r:id="rId82"/>
    <p:sldId id="512" r:id="rId83"/>
    <p:sldId id="380" r:id="rId84"/>
    <p:sldId id="381" r:id="rId85"/>
    <p:sldId id="382" r:id="rId86"/>
    <p:sldId id="383" r:id="rId87"/>
    <p:sldId id="384" r:id="rId88"/>
    <p:sldId id="385" r:id="rId89"/>
    <p:sldId id="386" r:id="rId90"/>
    <p:sldId id="387" r:id="rId91"/>
    <p:sldId id="388" r:id="rId92"/>
    <p:sldId id="389" r:id="rId93"/>
    <p:sldId id="391" r:id="rId94"/>
    <p:sldId id="390" r:id="rId95"/>
    <p:sldId id="393" r:id="rId96"/>
    <p:sldId id="513" r:id="rId97"/>
    <p:sldId id="392" r:id="rId98"/>
    <p:sldId id="395" r:id="rId99"/>
    <p:sldId id="396" r:id="rId100"/>
    <p:sldId id="397" r:id="rId101"/>
    <p:sldId id="398" r:id="rId102"/>
    <p:sldId id="399" r:id="rId103"/>
    <p:sldId id="400" r:id="rId104"/>
    <p:sldId id="514" r:id="rId105"/>
    <p:sldId id="403" r:id="rId106"/>
    <p:sldId id="404" r:id="rId107"/>
    <p:sldId id="405" r:id="rId108"/>
    <p:sldId id="407" r:id="rId109"/>
    <p:sldId id="515" r:id="rId110"/>
    <p:sldId id="408" r:id="rId111"/>
    <p:sldId id="409" r:id="rId112"/>
    <p:sldId id="516" r:id="rId113"/>
    <p:sldId id="517" r:id="rId114"/>
    <p:sldId id="440" r:id="rId115"/>
    <p:sldId id="410" r:id="rId116"/>
    <p:sldId id="411" r:id="rId117"/>
    <p:sldId id="412" r:id="rId118"/>
    <p:sldId id="413" r:id="rId119"/>
    <p:sldId id="519" r:id="rId120"/>
    <p:sldId id="520" r:id="rId121"/>
    <p:sldId id="414" r:id="rId122"/>
    <p:sldId id="522" r:id="rId123"/>
    <p:sldId id="518" r:id="rId124"/>
    <p:sldId id="524" r:id="rId125"/>
    <p:sldId id="523" r:id="rId126"/>
    <p:sldId id="521" r:id="rId127"/>
    <p:sldId id="528" r:id="rId128"/>
    <p:sldId id="527" r:id="rId129"/>
    <p:sldId id="526" r:id="rId130"/>
    <p:sldId id="525" r:id="rId131"/>
    <p:sldId id="536" r:id="rId132"/>
    <p:sldId id="535" r:id="rId133"/>
    <p:sldId id="534" r:id="rId134"/>
    <p:sldId id="533" r:id="rId135"/>
    <p:sldId id="532" r:id="rId136"/>
    <p:sldId id="531" r:id="rId137"/>
    <p:sldId id="539" r:id="rId138"/>
    <p:sldId id="538" r:id="rId139"/>
    <p:sldId id="537" r:id="rId140"/>
    <p:sldId id="530" r:id="rId141"/>
    <p:sldId id="529" r:id="rId142"/>
    <p:sldId id="547" r:id="rId143"/>
    <p:sldId id="546" r:id="rId144"/>
    <p:sldId id="545" r:id="rId145"/>
    <p:sldId id="544" r:id="rId146"/>
    <p:sldId id="441" r:id="rId147"/>
    <p:sldId id="442" r:id="rId148"/>
    <p:sldId id="443" r:id="rId149"/>
    <p:sldId id="552" r:id="rId150"/>
    <p:sldId id="553" r:id="rId151"/>
    <p:sldId id="554" r:id="rId152"/>
    <p:sldId id="555" r:id="rId153"/>
    <p:sldId id="556" r:id="rId154"/>
    <p:sldId id="557" r:id="rId155"/>
    <p:sldId id="558" r:id="rId156"/>
    <p:sldId id="559" r:id="rId157"/>
    <p:sldId id="549" r:id="rId158"/>
    <p:sldId id="449" r:id="rId159"/>
    <p:sldId id="560" r:id="rId160"/>
    <p:sldId id="561" r:id="rId161"/>
    <p:sldId id="562" r:id="rId162"/>
    <p:sldId id="563" r:id="rId163"/>
    <p:sldId id="564" r:id="rId164"/>
    <p:sldId id="565" r:id="rId165"/>
    <p:sldId id="566" r:id="rId166"/>
    <p:sldId id="567" r:id="rId167"/>
    <p:sldId id="568" r:id="rId168"/>
    <p:sldId id="569" r:id="rId169"/>
    <p:sldId id="570" r:id="rId170"/>
    <p:sldId id="571" r:id="rId171"/>
    <p:sldId id="572" r:id="rId172"/>
    <p:sldId id="573" r:id="rId173"/>
    <p:sldId id="574" r:id="rId174"/>
    <p:sldId id="575" r:id="rId175"/>
    <p:sldId id="576" r:id="rId176"/>
    <p:sldId id="466" r:id="rId177"/>
    <p:sldId id="467" r:id="rId178"/>
    <p:sldId id="468" r:id="rId179"/>
    <p:sldId id="469" r:id="rId180"/>
    <p:sldId id="332" r:id="rId181"/>
    <p:sldId id="283" r:id="rId182"/>
  </p:sldIdLst>
  <p:sldSz cx="12192000" cy="6858000"/>
  <p:notesSz cx="6858000" cy="9144000"/>
  <p:custDataLst>
    <p:tags r:id="rId18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95" autoAdjust="0"/>
    <p:restoredTop sz="99839" autoAdjust="0"/>
  </p:normalViewPr>
  <p:slideViewPr>
    <p:cSldViewPr snapToGrid="0">
      <p:cViewPr varScale="1">
        <p:scale>
          <a:sx n="158" d="100"/>
          <a:sy n="158" d="100"/>
        </p:scale>
        <p:origin x="14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ags" Target="tags/tag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6F39E-F733-4BF0-BE23-7D5649C1C09C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F7C60-F33B-4827-BF73-D4E67A3C3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05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F7C60-F33B-4827-BF73-D4E67A3C367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65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78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83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664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303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605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385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904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779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DC25B-E31A-4939-83BD-2CCF42CEBE7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438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9C5DE7-79B1-FAA4-766C-B2DEFA6A3BF7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D9594C6-8813-7A5E-24CB-51ABE4168FFA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E633C7E1-C67E-3661-C080-EAA60529DB79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9495"/>
              <a:stretch/>
            </p:blipFill>
            <p:spPr>
              <a:xfrm>
                <a:off x="0" y="-1"/>
                <a:ext cx="12192000" cy="720437"/>
              </a:xfrm>
              <a:prstGeom prst="rect">
                <a:avLst/>
              </a:prstGeom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590202DB-42FB-BD19-DA9F-FB4F189F6638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173"/>
              <a:stretch/>
            </p:blipFill>
            <p:spPr>
              <a:xfrm>
                <a:off x="0" y="1794933"/>
                <a:ext cx="12192000" cy="5063067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0B900B58-329A-FB9A-E2E5-2632EF36D92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/>
            </p:blipFill>
            <p:spPr>
              <a:xfrm>
                <a:off x="0" y="719378"/>
                <a:ext cx="12192000" cy="1100667"/>
              </a:xfrm>
              <a:prstGeom prst="rect">
                <a:avLst/>
              </a:prstGeom>
            </p:spPr>
          </p:pic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4094E9D-A77B-3034-5F32-07EF15986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94" r="-1"/>
            <a:stretch/>
          </p:blipFill>
          <p:spPr>
            <a:xfrm>
              <a:off x="4552950" y="812512"/>
              <a:ext cx="3095622" cy="1238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2BE117-0286-AE98-7EF1-53A976BC49D8}"/>
              </a:ext>
            </a:extLst>
          </p:cNvPr>
          <p:cNvGrpSpPr/>
          <p:nvPr userDrawn="1"/>
        </p:nvGrpSpPr>
        <p:grpSpPr>
          <a:xfrm>
            <a:off x="0" y="0"/>
            <a:ext cx="12192000" cy="6914408"/>
            <a:chOff x="0" y="0"/>
            <a:chExt cx="12192000" cy="69144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2322403-7432-8C73-EDF7-CCB08D4725D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602"/>
            <a:stretch/>
          </p:blipFill>
          <p:spPr>
            <a:xfrm>
              <a:off x="0" y="4743450"/>
              <a:ext cx="12192000" cy="2170958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47A211D-F97D-904D-ACAA-AD0FCA9AB64E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4571999"/>
              <a:chOff x="0" y="0"/>
              <a:chExt cx="12192000" cy="4571999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E4CCEC6B-A8DF-C24F-90E0-D7D23F3BCBE3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486" b="80872"/>
              <a:stretch/>
            </p:blipFill>
            <p:spPr>
              <a:xfrm>
                <a:off x="0" y="0"/>
                <a:ext cx="9084733" cy="1322589"/>
              </a:xfrm>
              <a:prstGeom prst="rect">
                <a:avLst/>
              </a:prstGeom>
            </p:spPr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990A2EBC-EBFB-DC04-C1F5-469A822CF92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/>
            </p:blipFill>
            <p:spPr>
              <a:xfrm>
                <a:off x="0" y="2446866"/>
                <a:ext cx="12192000" cy="2125133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CDD67319-1D6C-3EC1-9188-2E65281F5EA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388" t="36654" r="32430" b="47892"/>
              <a:stretch/>
            </p:blipFill>
            <p:spPr>
              <a:xfrm>
                <a:off x="3894670" y="2890463"/>
                <a:ext cx="4411134" cy="1068598"/>
              </a:xfrm>
              <a:prstGeom prst="rect">
                <a:avLst/>
              </a:prstGeom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F23A8059-7C04-4F3A-391F-B6313B19A1B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89" b="69265"/>
              <a:stretch/>
            </p:blipFill>
            <p:spPr>
              <a:xfrm>
                <a:off x="9008533" y="0"/>
                <a:ext cx="3183467" cy="212513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75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9C2B36E-736E-4F10-F8A8-DD39EC6ADEC0}"/>
              </a:ext>
            </a:extLst>
          </p:cNvPr>
          <p:cNvGrpSpPr/>
          <p:nvPr userDrawn="1"/>
        </p:nvGrpSpPr>
        <p:grpSpPr>
          <a:xfrm>
            <a:off x="0" y="0"/>
            <a:ext cx="12192000" cy="6851904"/>
            <a:chOff x="0" y="0"/>
            <a:chExt cx="12192000" cy="685190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190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43D420F-5289-B431-8382-A2B1E180C3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8610600" y="395272"/>
              <a:ext cx="2985655" cy="61408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D70D7A1-1878-8AE0-2BC5-A4947620CF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514333" y="6561226"/>
              <a:ext cx="1709322" cy="227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9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Relationship Id="rId4" Type="http://schemas.openxmlformats.org/officeDocument/2006/relationships/image" Target="../media/image1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1.xml"/><Relationship Id="rId4" Type="http://schemas.openxmlformats.org/officeDocument/2006/relationships/image" Target="../media/image1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2.xml"/><Relationship Id="rId4" Type="http://schemas.openxmlformats.org/officeDocument/2006/relationships/image" Target="../media/image1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2.xml"/><Relationship Id="rId4" Type="http://schemas.openxmlformats.org/officeDocument/2006/relationships/image" Target="../media/image4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cast.com/" TargetMode="Externa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8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9.xml"/><Relationship Id="rId4" Type="http://schemas.openxmlformats.org/officeDocument/2006/relationships/image" Target="../media/image43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2.xml"/><Relationship Id="rId4" Type="http://schemas.openxmlformats.org/officeDocument/2006/relationships/image" Target="../media/image44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4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2.xml"/><Relationship Id="rId4" Type="http://schemas.openxmlformats.org/officeDocument/2006/relationships/image" Target="../media/image5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3.xml"/><Relationship Id="rId4" Type="http://schemas.openxmlformats.org/officeDocument/2006/relationships/image" Target="../media/image5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4.xml"/><Relationship Id="rId4" Type="http://schemas.openxmlformats.org/officeDocument/2006/relationships/image" Target="../media/image5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5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8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9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0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5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6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9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5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6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8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9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0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4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5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6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8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9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0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5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6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8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9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0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7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/>
          <a:lstStyle/>
          <a:p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5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章 网络服务</a:t>
            </a:r>
          </a:p>
        </p:txBody>
      </p:sp>
      <p:sp>
        <p:nvSpPr>
          <p:cNvPr id="11" name="矩形 10"/>
          <p:cNvSpPr/>
          <p:nvPr/>
        </p:nvSpPr>
        <p:spPr>
          <a:xfrm>
            <a:off x="4414157" y="5060373"/>
            <a:ext cx="345218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计算机网络基础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DHCP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服务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DNS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服务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75" y="4977312"/>
            <a:ext cx="214312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018745" y="5060373"/>
            <a:ext cx="34521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电子邮件服务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FTP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服务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4507167" y="1970101"/>
            <a:ext cx="707940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当今社会是信息化社会，信息的传播离不开网络，随着计算机与因特网的发展和普及，网络已渗入到社会生活的各行各业，大到操作系统，小到手机应用，都与网络息息相关，因此，</a:t>
            </a:r>
            <a:r>
              <a:rPr lang="en-US" altLang="zh-CN" sz="2400" dirty="0">
                <a:solidFill>
                  <a:srgbClr val="C00000"/>
                </a:solidFill>
              </a:rPr>
              <a:t>Linux</a:t>
            </a:r>
            <a:r>
              <a:rPr lang="zh-CN" altLang="en-US" sz="2400" dirty="0">
                <a:solidFill>
                  <a:srgbClr val="C00000"/>
                </a:solidFill>
              </a:rPr>
              <a:t>系统中网络服务的搭建与配置是运维人员必须掌握的重点技能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章 网络服务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51" y="1334088"/>
            <a:ext cx="3054655" cy="454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442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1414550" y="2436366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23" name="Picture 5" descr="C:\Users\user\Desktop\沟通-0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225" y="3301256"/>
            <a:ext cx="1639966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矩形 21"/>
          <p:cNvSpPr>
            <a:spLocks noChangeArrowheads="1"/>
          </p:cNvSpPr>
          <p:nvPr/>
        </p:nvSpPr>
        <p:spPr bwMode="auto">
          <a:xfrm>
            <a:off x="3315838" y="2436366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203257" y="2436366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8"/>
          <p:cNvSpPr>
            <a:spLocks noChangeArrowheads="1"/>
          </p:cNvSpPr>
          <p:nvPr/>
        </p:nvSpPr>
        <p:spPr bwMode="auto">
          <a:xfrm>
            <a:off x="3264160" y="2562165"/>
            <a:ext cx="188084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sp>
        <p:nvSpPr>
          <p:cNvPr id="27" name="矩形 29"/>
          <p:cNvSpPr>
            <a:spLocks noChangeArrowheads="1"/>
          </p:cNvSpPr>
          <p:nvPr/>
        </p:nvSpPr>
        <p:spPr bwMode="auto">
          <a:xfrm>
            <a:off x="5243922" y="2603701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28" name="直接连接符 7167"/>
          <p:cNvCxnSpPr>
            <a:cxnSpLocks noChangeShapeType="1"/>
          </p:cNvCxnSpPr>
          <p:nvPr/>
        </p:nvCxnSpPr>
        <p:spPr bwMode="auto">
          <a:xfrm>
            <a:off x="1390445" y="2355670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7172"/>
          <p:cNvCxnSpPr>
            <a:cxnSpLocks noChangeShapeType="1"/>
          </p:cNvCxnSpPr>
          <p:nvPr/>
        </p:nvCxnSpPr>
        <p:spPr bwMode="auto">
          <a:xfrm>
            <a:off x="1390445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50"/>
          <p:cNvCxnSpPr>
            <a:cxnSpLocks noChangeShapeType="1"/>
          </p:cNvCxnSpPr>
          <p:nvPr/>
        </p:nvCxnSpPr>
        <p:spPr bwMode="auto">
          <a:xfrm>
            <a:off x="3280914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连接符 51"/>
          <p:cNvCxnSpPr>
            <a:cxnSpLocks noChangeShapeType="1"/>
          </p:cNvCxnSpPr>
          <p:nvPr/>
        </p:nvCxnSpPr>
        <p:spPr bwMode="auto">
          <a:xfrm>
            <a:off x="5161758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52"/>
          <p:cNvCxnSpPr>
            <a:cxnSpLocks noChangeShapeType="1"/>
          </p:cNvCxnSpPr>
          <p:nvPr/>
        </p:nvCxnSpPr>
        <p:spPr bwMode="auto">
          <a:xfrm flipH="1">
            <a:off x="7108427" y="1976682"/>
            <a:ext cx="1" cy="42744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7177"/>
          <p:cNvSpPr txBox="1">
            <a:spLocks noChangeArrowheads="1"/>
          </p:cNvSpPr>
          <p:nvPr/>
        </p:nvSpPr>
        <p:spPr bwMode="auto">
          <a:xfrm>
            <a:off x="1390445" y="1716288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4" name="TextBox 7177"/>
          <p:cNvSpPr txBox="1">
            <a:spLocks noChangeArrowheads="1"/>
          </p:cNvSpPr>
          <p:nvPr/>
        </p:nvSpPr>
        <p:spPr bwMode="auto">
          <a:xfrm>
            <a:off x="3293099" y="1716289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5" name="TextBox 7177"/>
          <p:cNvSpPr txBox="1">
            <a:spLocks noChangeArrowheads="1"/>
          </p:cNvSpPr>
          <p:nvPr/>
        </p:nvSpPr>
        <p:spPr bwMode="auto">
          <a:xfrm>
            <a:off x="5111398" y="1716288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1414550" y="2345682"/>
            <a:ext cx="18663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endParaRPr lang="en-US" altLang="zh-CN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基础</a:t>
            </a: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3280914" y="2355670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5141809" y="2355670"/>
            <a:ext cx="1954013" cy="695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9" name="Picture 4" descr="C:\Users\user\Desktop\45455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533" y="3301257"/>
            <a:ext cx="1640889" cy="10925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C:\Users\user\Desktop\xpic708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55190" y="3301256"/>
            <a:ext cx="1639965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7108347" y="2423840"/>
            <a:ext cx="184272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7130" y="3254358"/>
            <a:ext cx="1675422" cy="113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7142294" y="1677363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矩形 28"/>
          <p:cNvSpPr>
            <a:spLocks noChangeArrowheads="1"/>
          </p:cNvSpPr>
          <p:nvPr/>
        </p:nvSpPr>
        <p:spPr bwMode="auto">
          <a:xfrm>
            <a:off x="7082462" y="2562165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电子邮件服务</a:t>
            </a: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7124591" y="2354478"/>
            <a:ext cx="1812284" cy="1192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矩形 22"/>
          <p:cNvSpPr>
            <a:spLocks noChangeArrowheads="1"/>
          </p:cNvSpPr>
          <p:nvPr/>
        </p:nvSpPr>
        <p:spPr bwMode="auto">
          <a:xfrm>
            <a:off x="8957227" y="2419208"/>
            <a:ext cx="1632802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7" name="矩形 29"/>
          <p:cNvSpPr>
            <a:spLocks noChangeArrowheads="1"/>
          </p:cNvSpPr>
          <p:nvPr/>
        </p:nvSpPr>
        <p:spPr bwMode="auto">
          <a:xfrm>
            <a:off x="8936876" y="2562165"/>
            <a:ext cx="1653154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48" name="直接连接符 51"/>
          <p:cNvCxnSpPr>
            <a:cxnSpLocks noChangeShapeType="1"/>
          </p:cNvCxnSpPr>
          <p:nvPr/>
        </p:nvCxnSpPr>
        <p:spPr bwMode="auto">
          <a:xfrm>
            <a:off x="8915727" y="2018163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7177"/>
          <p:cNvSpPr txBox="1">
            <a:spLocks noChangeArrowheads="1"/>
          </p:cNvSpPr>
          <p:nvPr/>
        </p:nvSpPr>
        <p:spPr bwMode="auto">
          <a:xfrm>
            <a:off x="8865367" y="1699130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121" y="3291322"/>
            <a:ext cx="1467517" cy="107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3" name="直接连接符 52"/>
          <p:cNvCxnSpPr/>
          <p:nvPr/>
        </p:nvCxnSpPr>
        <p:spPr bwMode="auto">
          <a:xfrm flipV="1">
            <a:off x="8915727" y="2355074"/>
            <a:ext cx="1674303" cy="1199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3483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613776" y="1195411"/>
            <a:ext cx="11010378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计算机网络是继电信网络、有线电视网络之后出现的世界级大型网络。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计算机网络基础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254585-02D9-1F76-D788-BC9DD99E24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924" y="2370749"/>
            <a:ext cx="5852160" cy="329184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33EA8DB7-C89C-8050-5CE0-A11B4F869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916" y="3493449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“三网融合”</a:t>
            </a:r>
            <a:endParaRPr lang="fr-FR" altLang="zh-CN" sz="28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010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613776" y="1195411"/>
            <a:ext cx="11010378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计算机网络由若干个</a:t>
            </a:r>
            <a:r>
              <a:rPr lang="zh-CN" altLang="en-US" sz="2400" dirty="0">
                <a:solidFill>
                  <a:srgbClr val="FF0000"/>
                </a:solidFill>
              </a:rPr>
              <a:t>结点</a:t>
            </a:r>
            <a:r>
              <a:rPr lang="zh-CN" altLang="en-US" sz="2400" dirty="0">
                <a:solidFill>
                  <a:srgbClr val="1353A2"/>
                </a:solidFill>
              </a:rPr>
              <a:t>和连接这些结点的</a:t>
            </a:r>
            <a:r>
              <a:rPr lang="zh-CN" altLang="en-US" sz="2400" dirty="0">
                <a:solidFill>
                  <a:srgbClr val="FF0000"/>
                </a:solidFill>
              </a:rPr>
              <a:t>链路</a:t>
            </a:r>
            <a:r>
              <a:rPr lang="zh-CN" altLang="en-US" sz="2400" dirty="0">
                <a:solidFill>
                  <a:srgbClr val="1353A2"/>
                </a:solidFill>
              </a:rPr>
              <a:t>组成。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网络中的结点可以是计算机、交换机、路由等，如图</a:t>
            </a:r>
            <a:r>
              <a:rPr lang="en-US" altLang="zh-CN" sz="2400" dirty="0">
                <a:solidFill>
                  <a:srgbClr val="1353A2"/>
                </a:solidFill>
              </a:rPr>
              <a:t> (a)</a:t>
            </a:r>
            <a:r>
              <a:rPr lang="zh-CN" altLang="en-US" sz="2400" dirty="0">
                <a:solidFill>
                  <a:srgbClr val="1353A2"/>
                </a:solidFill>
              </a:rPr>
              <a:t>所示，是一个最简单的</a:t>
            </a:r>
            <a:r>
              <a:rPr lang="zh-CN" altLang="en-US" sz="2400" dirty="0">
                <a:solidFill>
                  <a:srgbClr val="FF0000"/>
                </a:solidFill>
              </a:rPr>
              <a:t>计算机网络模型</a:t>
            </a:r>
            <a:r>
              <a:rPr lang="zh-CN" altLang="en-US" sz="2400" dirty="0">
                <a:solidFill>
                  <a:srgbClr val="1353A2"/>
                </a:solidFill>
              </a:rPr>
              <a:t>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计算机网络基础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/>
          <p:nvPr/>
        </p:nvPicPr>
        <p:blipFill rotWithShape="1">
          <a:blip r:embed="rId3"/>
          <a:srcRect r="52053"/>
          <a:stretch/>
        </p:blipFill>
        <p:spPr>
          <a:xfrm>
            <a:off x="4080144" y="2884463"/>
            <a:ext cx="4031711" cy="32732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989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613776" y="1195411"/>
            <a:ext cx="11010378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1353A2"/>
                </a:solidFill>
              </a:rPr>
              <a:t>此外，计算机网络之间可以相互连接，组成更大的网络，如图</a:t>
            </a:r>
            <a:r>
              <a:rPr lang="en-US" altLang="zh-CN" sz="2400" dirty="0">
                <a:solidFill>
                  <a:srgbClr val="1353A2"/>
                </a:solidFill>
              </a:rPr>
              <a:t> (b)</a:t>
            </a:r>
            <a:r>
              <a:rPr lang="zh-CN" altLang="zh-CN" sz="2400" dirty="0">
                <a:solidFill>
                  <a:srgbClr val="1353A2"/>
                </a:solidFill>
              </a:rPr>
              <a:t>所示，这种网络被称为</a:t>
            </a:r>
            <a:r>
              <a:rPr lang="zh-CN" altLang="zh-CN" sz="2400" dirty="0">
                <a:solidFill>
                  <a:srgbClr val="FF0000"/>
                </a:solidFill>
              </a:rPr>
              <a:t>互联网</a:t>
            </a:r>
            <a:r>
              <a:rPr lang="zh-CN" altLang="zh-CN" sz="2400" dirty="0">
                <a:solidFill>
                  <a:srgbClr val="1353A2"/>
                </a:solidFill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</a:rPr>
              <a:t>internet</a:t>
            </a:r>
            <a:r>
              <a:rPr lang="zh-CN" altLang="zh-CN" sz="2400" dirty="0">
                <a:solidFill>
                  <a:srgbClr val="1353A2"/>
                </a:solidFill>
              </a:rPr>
              <a:t>）。</a:t>
            </a:r>
            <a:endParaRPr lang="zh-CN" altLang="en-US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计算机网络基础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559048-E4DD-2991-5D6C-102346BA778F}"/>
              </a:ext>
            </a:extLst>
          </p:cNvPr>
          <p:cNvPicPr/>
          <p:nvPr/>
        </p:nvPicPr>
        <p:blipFill rotWithShape="1">
          <a:blip r:embed="rId3"/>
          <a:srcRect l="52297"/>
          <a:stretch/>
        </p:blipFill>
        <p:spPr>
          <a:xfrm>
            <a:off x="3921985" y="2884463"/>
            <a:ext cx="4011168" cy="32732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7519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613776" y="1195411"/>
            <a:ext cx="11010378" cy="2797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根据网络的覆盖范围分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局域网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</a:t>
            </a:r>
            <a:r>
              <a:rPr lang="zh-CN" altLang="en-US" sz="2400" dirty="0">
                <a:solidFill>
                  <a:srgbClr val="1353A2"/>
                </a:solidFill>
              </a:rPr>
              <a:t>覆盖范围较小、通常为一个城市或一个小型区域（如公司或学校）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</a:rPr>
              <a:t>   广域网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	</a:t>
            </a:r>
            <a:r>
              <a:rPr lang="zh-CN" altLang="en-US" sz="2400" dirty="0">
                <a:solidFill>
                  <a:srgbClr val="1353A2"/>
                </a:solidFill>
              </a:rPr>
              <a:t>覆盖范围较大，一般为几十公里到几千公里，可连接多个城市和国家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计算机网络基础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635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2" presetClass="entr" presetSubtype="0" fill="hold" grpId="0" nodeType="click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2" presetClass="entr" presetSubtype="0" fill="hold" grpId="0" nodeType="click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4146115" y="2581610"/>
            <a:ext cx="73693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400" dirty="0"/>
              <a:t>为了保证通讯能顺利进行，且进行交互的进程能获取到准确、有效的数据信息，进行通讯的双方必须遵循一系列事先约定好的规则，这些规则即是</a:t>
            </a:r>
            <a:r>
              <a:rPr lang="zh-CN" altLang="zh-CN" sz="2400" dirty="0">
                <a:solidFill>
                  <a:srgbClr val="FF0000"/>
                </a:solidFill>
              </a:rPr>
              <a:t>协议</a:t>
            </a:r>
            <a:r>
              <a:rPr lang="zh-CN" altLang="zh-CN" sz="2400" dirty="0"/>
              <a:t>（</a:t>
            </a:r>
            <a:r>
              <a:rPr lang="en-US" altLang="zh-CN" sz="2400" dirty="0"/>
              <a:t>protocol</a:t>
            </a:r>
            <a:r>
              <a:rPr lang="zh-CN" altLang="zh-CN" sz="2400" dirty="0"/>
              <a:t>）。</a:t>
            </a:r>
            <a:endParaRPr lang="zh-CN" altLang="en-US" sz="2400" dirty="0">
              <a:solidFill>
                <a:srgbClr val="1353A2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协议与体系结构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48" y="1550485"/>
            <a:ext cx="3467100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848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3" y="1180784"/>
            <a:ext cx="11010378" cy="214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FF0000"/>
                </a:solidFill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</a:rPr>
              <a:t>协议通常都由如下几个要素组成：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语法：即数据与控制信息的结构或格式</a:t>
            </a:r>
            <a:r>
              <a:rPr lang="zh-CN" altLang="zh-CN" sz="2400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语义：即需要发出何种控制信息，完成何种动作以及做出何种响应</a:t>
            </a:r>
            <a:r>
              <a:rPr lang="zh-CN" altLang="zh-CN" sz="2400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同步：即事件实现顺序的详细说明</a:t>
            </a:r>
            <a:r>
              <a:rPr lang="zh-CN" altLang="zh-CN" sz="2400" dirty="0"/>
              <a:t>。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协议与体系结构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A2D4A02-522A-6D13-A5AE-03DBD1BC6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006" y="3642042"/>
            <a:ext cx="2399281" cy="355374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400" b="1">
                <a:latin typeface="微软雅黑" pitchFamily="34" charset="-122"/>
                <a:ea typeface="微软雅黑" pitchFamily="34" charset="-122"/>
              </a:rPr>
              <a:t>数据报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1C20D774-3C06-1C74-1C73-899FBEF0A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412" y="4738485"/>
            <a:ext cx="2952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A4FE0FCF-202C-4EA5-F2CB-A6BE9F02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5587" y="4738485"/>
            <a:ext cx="2952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EFF23746-C4A7-B12A-965A-A9119F606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098" y="4738485"/>
            <a:ext cx="2952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483A588B-20B5-BD42-3E40-575E4C0D6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822" y="4738485"/>
            <a:ext cx="2952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900FA959-C5B3-D722-1495-635937E41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93" y="4720197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DBD4544D-585D-0747-10FF-E09A017B0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470" y="4738485"/>
            <a:ext cx="2952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11" name="Text Box 23">
            <a:extLst>
              <a:ext uri="{FF2B5EF4-FFF2-40B4-BE49-F238E27FC236}">
                <a16:creationId xmlns:a16="http://schemas.microsoft.com/office/drawing/2014/main" id="{ACDD8E2F-34A5-FA45-9845-3B855E68C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868" y="4738485"/>
            <a:ext cx="2952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2" name="Line 26">
            <a:extLst>
              <a:ext uri="{FF2B5EF4-FFF2-40B4-BE49-F238E27FC236}">
                <a16:creationId xmlns:a16="http://schemas.microsoft.com/office/drawing/2014/main" id="{041546C1-4B53-9D07-BA8F-ECB94BD2E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3006" y="3632339"/>
            <a:ext cx="14454" cy="70589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Line 27">
            <a:extLst>
              <a:ext uri="{FF2B5EF4-FFF2-40B4-BE49-F238E27FC236}">
                <a16:creationId xmlns:a16="http://schemas.microsoft.com/office/drawing/2014/main" id="{A10E4F8C-D0A8-CA40-A13B-B215FFAD3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2286" y="3632338"/>
            <a:ext cx="0" cy="6792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id="{785BC7C1-729A-0D63-1E3D-10CF349D3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588" y="4738485"/>
            <a:ext cx="16305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不超过 </a:t>
            </a:r>
            <a:r>
              <a: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1500 </a:t>
            </a:r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sp>
        <p:nvSpPr>
          <p:cNvPr id="15" name="Line 32">
            <a:extLst>
              <a:ext uri="{FF2B5EF4-FFF2-40B4-BE49-F238E27FC236}">
                <a16:creationId xmlns:a16="http://schemas.microsoft.com/office/drawing/2014/main" id="{24A2C534-C653-6A16-B20A-7DA08D28B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656" y="5213158"/>
            <a:ext cx="607178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33">
            <a:extLst>
              <a:ext uri="{FF2B5EF4-FFF2-40B4-BE49-F238E27FC236}">
                <a16:creationId xmlns:a16="http://schemas.microsoft.com/office/drawing/2014/main" id="{9FCBFEF7-0790-2176-6426-954275C96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912" y="5068703"/>
            <a:ext cx="772969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PPP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</a:t>
            </a:r>
          </a:p>
        </p:txBody>
      </p:sp>
      <p:sp>
        <p:nvSpPr>
          <p:cNvPr id="17" name="Text Box 39">
            <a:extLst>
              <a:ext uri="{FF2B5EF4-FFF2-40B4-BE49-F238E27FC236}">
                <a16:creationId xmlns:a16="http://schemas.microsoft.com/office/drawing/2014/main" id="{B64FD386-7A37-49DA-AE01-E6D980A67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03" y="3878184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先发送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AB9F3869-F864-D469-2268-9C5B9C15E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16" y="4280017"/>
            <a:ext cx="6071783" cy="432998"/>
          </a:xfrm>
          <a:prstGeom prst="rect">
            <a:avLst/>
          </a:prstGeom>
          <a:solidFill>
            <a:srgbClr val="00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12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91064FBB-99C0-3484-CEC4-E9E9E54E4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4203" y="4280017"/>
            <a:ext cx="0" cy="4329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Line 7">
            <a:extLst>
              <a:ext uri="{FF2B5EF4-FFF2-40B4-BE49-F238E27FC236}">
                <a16:creationId xmlns:a16="http://schemas.microsoft.com/office/drawing/2014/main" id="{8528D121-DBDA-1B62-28BC-A44694708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031" y="4288507"/>
            <a:ext cx="0" cy="424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6E0CCFEA-5961-CF92-553F-EA67BFC1A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88" y="4435266"/>
            <a:ext cx="39786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7E</a:t>
            </a:r>
          </a:p>
        </p:txBody>
      </p:sp>
      <p:sp>
        <p:nvSpPr>
          <p:cNvPr id="22" name="Line 14">
            <a:extLst>
              <a:ext uri="{FF2B5EF4-FFF2-40B4-BE49-F238E27FC236}">
                <a16:creationId xmlns:a16="http://schemas.microsoft.com/office/drawing/2014/main" id="{6A7710EC-D3E5-F660-620B-05B7456F38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3575" y="4288507"/>
            <a:ext cx="0" cy="424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Line 15">
            <a:extLst>
              <a:ext uri="{FF2B5EF4-FFF2-40B4-BE49-F238E27FC236}">
                <a16:creationId xmlns:a16="http://schemas.microsoft.com/office/drawing/2014/main" id="{F9CA635A-F083-668D-1CDD-FBCDA670A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2948" y="4280017"/>
            <a:ext cx="0" cy="4329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40CC468C-F66D-FB17-A80F-B238728E0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261" y="4435266"/>
            <a:ext cx="386644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FF</a:t>
            </a: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4B173150-7BC7-9F28-86C3-63D09F7F4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953" y="4435266"/>
            <a:ext cx="405880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03</a:t>
            </a:r>
          </a:p>
        </p:txBody>
      </p:sp>
      <p:sp>
        <p:nvSpPr>
          <p:cNvPr id="26" name="Text Box 19">
            <a:extLst>
              <a:ext uri="{FF2B5EF4-FFF2-40B4-BE49-F238E27FC236}">
                <a16:creationId xmlns:a16="http://schemas.microsoft.com/office/drawing/2014/main" id="{9862BF1B-AEFC-B060-88B6-94D861A0C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959" y="4254546"/>
            <a:ext cx="28565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F</a:t>
            </a:r>
          </a:p>
        </p:txBody>
      </p:sp>
      <p:sp>
        <p:nvSpPr>
          <p:cNvPr id="27" name="Text Box 20">
            <a:extLst>
              <a:ext uri="{FF2B5EF4-FFF2-40B4-BE49-F238E27FC236}">
                <a16:creationId xmlns:a16="http://schemas.microsoft.com/office/drawing/2014/main" id="{D88F869A-1D69-ED2B-1906-C1747CA21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424" y="4253334"/>
            <a:ext cx="319318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28" name="Text Box 21">
            <a:extLst>
              <a:ext uri="{FF2B5EF4-FFF2-40B4-BE49-F238E27FC236}">
                <a16:creationId xmlns:a16="http://schemas.microsoft.com/office/drawing/2014/main" id="{B993D2A3-63EB-800B-91CD-F6C16C511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11" y="4254546"/>
            <a:ext cx="304892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1B7BD091-7BBD-E388-CF64-BD490E4E7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9428" y="4358880"/>
            <a:ext cx="513282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FCS</a:t>
            </a:r>
          </a:p>
        </p:txBody>
      </p:sp>
      <p:sp>
        <p:nvSpPr>
          <p:cNvPr id="30" name="Text Box 24">
            <a:extLst>
              <a:ext uri="{FF2B5EF4-FFF2-40B4-BE49-F238E27FC236}">
                <a16:creationId xmlns:a16="http://schemas.microsoft.com/office/drawing/2014/main" id="{66D7BEFE-85EE-18CE-02C6-B0CD5EE27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264" y="4252026"/>
            <a:ext cx="28565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F</a:t>
            </a:r>
          </a:p>
        </p:txBody>
      </p:sp>
      <p:sp>
        <p:nvSpPr>
          <p:cNvPr id="31" name="Text Box 25">
            <a:extLst>
              <a:ext uri="{FF2B5EF4-FFF2-40B4-BE49-F238E27FC236}">
                <a16:creationId xmlns:a16="http://schemas.microsoft.com/office/drawing/2014/main" id="{AD5E0C55-B46F-824E-2A3D-0D8AE15F9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334" y="4435266"/>
            <a:ext cx="397866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7E</a:t>
            </a: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EE109E1C-7B11-99F1-9099-BCE4FB2A3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006" y="4300636"/>
            <a:ext cx="2399281" cy="396612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29">
            <a:extLst>
              <a:ext uri="{FF2B5EF4-FFF2-40B4-BE49-F238E27FC236}">
                <a16:creationId xmlns:a16="http://schemas.microsoft.com/office/drawing/2014/main" id="{2665264D-23D2-8535-B94E-19C25474C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729" y="4383327"/>
            <a:ext cx="543739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  <p:sp>
        <p:nvSpPr>
          <p:cNvPr id="34" name="Text Box 30">
            <a:extLst>
              <a:ext uri="{FF2B5EF4-FFF2-40B4-BE49-F238E27FC236}">
                <a16:creationId xmlns:a16="http://schemas.microsoft.com/office/drawing/2014/main" id="{52309FBF-9D0B-FFE6-13FB-91D28A58E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583" y="4349736"/>
            <a:ext cx="1537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信    息    部    分</a:t>
            </a:r>
          </a:p>
        </p:txBody>
      </p:sp>
      <p:sp>
        <p:nvSpPr>
          <p:cNvPr id="35" name="AutoShape 34">
            <a:extLst>
              <a:ext uri="{FF2B5EF4-FFF2-40B4-BE49-F238E27FC236}">
                <a16:creationId xmlns:a16="http://schemas.microsoft.com/office/drawing/2014/main" id="{BA1C1449-94B3-A6B0-DA92-22D90120365D}"/>
              </a:ext>
            </a:extLst>
          </p:cNvPr>
          <p:cNvSpPr>
            <a:spLocks/>
          </p:cNvSpPr>
          <p:nvPr/>
        </p:nvSpPr>
        <p:spPr bwMode="auto">
          <a:xfrm rot="5400000">
            <a:off x="1890946" y="3087957"/>
            <a:ext cx="134630" cy="2249489"/>
          </a:xfrm>
          <a:prstGeom prst="leftBrace">
            <a:avLst>
              <a:gd name="adj1" fmla="val 128528"/>
              <a:gd name="adj2" fmla="val 50069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AutoShape 35">
            <a:extLst>
              <a:ext uri="{FF2B5EF4-FFF2-40B4-BE49-F238E27FC236}">
                <a16:creationId xmlns:a16="http://schemas.microsoft.com/office/drawing/2014/main" id="{BF4A101A-3434-6ED6-C285-7DF5603444FD}"/>
              </a:ext>
            </a:extLst>
          </p:cNvPr>
          <p:cNvSpPr>
            <a:spLocks/>
          </p:cNvSpPr>
          <p:nvPr/>
        </p:nvSpPr>
        <p:spPr bwMode="auto">
          <a:xfrm rot="5400000">
            <a:off x="6131936" y="3506654"/>
            <a:ext cx="123714" cy="1423013"/>
          </a:xfrm>
          <a:prstGeom prst="leftBrace">
            <a:avLst>
              <a:gd name="adj1" fmla="val 8848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59441B9C-BA9D-A23B-8A6D-31D30EA90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45" y="3852400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首部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1569D717-5479-63C6-134D-59ECF1B73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490" y="3852400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尾部</a:t>
            </a:r>
          </a:p>
        </p:txBody>
      </p:sp>
      <p:sp>
        <p:nvSpPr>
          <p:cNvPr id="39" name="Line 38">
            <a:extLst>
              <a:ext uri="{FF2B5EF4-FFF2-40B4-BE49-F238E27FC236}">
                <a16:creationId xmlns:a16="http://schemas.microsoft.com/office/drawing/2014/main" id="{2BF729AA-CE22-CFB4-E5B4-25449B615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516" y="3845806"/>
            <a:ext cx="0" cy="371142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Line 40">
            <a:extLst>
              <a:ext uri="{FF2B5EF4-FFF2-40B4-BE49-F238E27FC236}">
                <a16:creationId xmlns:a16="http://schemas.microsoft.com/office/drawing/2014/main" id="{26E7ADEB-9F5A-A413-993B-5DAF94B4B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2286" y="4258185"/>
            <a:ext cx="0" cy="4548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Line 41">
            <a:extLst>
              <a:ext uri="{FF2B5EF4-FFF2-40B4-BE49-F238E27FC236}">
                <a16:creationId xmlns:a16="http://schemas.microsoft.com/office/drawing/2014/main" id="{C90E619B-5AB7-E0F0-A7FD-E327E6D59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769" y="5068703"/>
            <a:ext cx="0" cy="424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98D65340-DA10-2B6C-8C55-E81A71E1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855" y="3950114"/>
            <a:ext cx="224686" cy="432998"/>
          </a:xfrm>
          <a:prstGeom prst="downArrow">
            <a:avLst>
              <a:gd name="adj1" fmla="val 50000"/>
              <a:gd name="adj2" fmla="val 78290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8BD0CC5-57E6-25D3-D2E3-54CC5CD37EA6}"/>
              </a:ext>
            </a:extLst>
          </p:cNvPr>
          <p:cNvSpPr/>
          <p:nvPr/>
        </p:nvSpPr>
        <p:spPr>
          <a:xfrm>
            <a:off x="342880" y="5424939"/>
            <a:ext cx="45012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PPP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有一个 </a:t>
            </a: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个字节的协议字段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。其值</a:t>
            </a:r>
          </a:p>
          <a:p>
            <a:pPr marL="360363" indent="-360363">
              <a:spcBef>
                <a:spcPts val="0"/>
              </a:spcBef>
              <a:buClr>
                <a:srgbClr val="0070C0"/>
              </a:buClr>
              <a:buSzPct val="80000"/>
              <a:buFont typeface="Wingdings" pitchFamily="2" charset="2"/>
              <a:buChar char="l"/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若为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0x0021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，则信息字段就是 </a:t>
            </a: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数据报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  <a:p>
            <a:pPr marL="360363" indent="-360363">
              <a:spcBef>
                <a:spcPts val="0"/>
              </a:spcBef>
              <a:buClr>
                <a:srgbClr val="0070C0"/>
              </a:buClr>
              <a:buSzPct val="80000"/>
              <a:buFont typeface="Wingdings" pitchFamily="2" charset="2"/>
              <a:buChar char="l"/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若为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0x8021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，则信息字段是</a:t>
            </a:r>
            <a:r>
              <a:rPr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网络控制数据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60363" indent="-360363">
              <a:spcBef>
                <a:spcPts val="0"/>
              </a:spcBef>
              <a:buClr>
                <a:srgbClr val="0070C0"/>
              </a:buClr>
              <a:buSzPct val="80000"/>
              <a:buFont typeface="Wingdings" pitchFamily="2" charset="2"/>
              <a:buChar char="l"/>
            </a:pP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若为 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0xC021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，则信息字段是 </a:t>
            </a: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PPP </a:t>
            </a:r>
            <a:r>
              <a:rPr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链路控制数据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E64461-1B31-2943-9E50-35242A027BD3}"/>
              </a:ext>
            </a:extLst>
          </p:cNvPr>
          <p:cNvSpPr/>
          <p:nvPr/>
        </p:nvSpPr>
        <p:spPr>
          <a:xfrm>
            <a:off x="8721436" y="6149193"/>
            <a:ext cx="25888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PPP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协议的状态图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C5B28469-A2DD-9C73-F775-91433923E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183" y="3021560"/>
            <a:ext cx="986604" cy="26930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链路静止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72D25A8B-A944-8472-A5BE-AD483E581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183" y="3722107"/>
            <a:ext cx="986604" cy="26930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链路建立</a:t>
            </a: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570988F0-744D-2345-E819-F787F4042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183" y="4422654"/>
            <a:ext cx="986604" cy="27021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鉴别</a:t>
            </a:r>
          </a:p>
        </p:txBody>
      </p:sp>
      <p:sp>
        <p:nvSpPr>
          <p:cNvPr id="48" name="Rectangle 7">
            <a:extLst>
              <a:ext uri="{FF2B5EF4-FFF2-40B4-BE49-F238E27FC236}">
                <a16:creationId xmlns:a16="http://schemas.microsoft.com/office/drawing/2014/main" id="{2095A7B5-5A5F-9FD9-A00C-FF274BCE3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183" y="5123201"/>
            <a:ext cx="986604" cy="27021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网络层协议</a:t>
            </a: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01B01D49-A5C0-835E-4682-70B07C35B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183" y="5824658"/>
            <a:ext cx="986604" cy="26930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链路打开</a:t>
            </a:r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0D26A23C-3571-9B88-18A4-A85652DCF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5807" y="4422654"/>
            <a:ext cx="986604" cy="270211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链路终止</a:t>
            </a:r>
          </a:p>
        </p:txBody>
      </p:sp>
      <p:sp>
        <p:nvSpPr>
          <p:cNvPr id="51" name="Line 19">
            <a:extLst>
              <a:ext uri="{FF2B5EF4-FFF2-40B4-BE49-F238E27FC236}">
                <a16:creationId xmlns:a16="http://schemas.microsoft.com/office/drawing/2014/main" id="{7F1D975A-695D-2E01-426A-D970064C2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977" y="3290862"/>
            <a:ext cx="0" cy="431246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Line 20">
            <a:extLst>
              <a:ext uri="{FF2B5EF4-FFF2-40B4-BE49-F238E27FC236}">
                <a16:creationId xmlns:a16="http://schemas.microsoft.com/office/drawing/2014/main" id="{B1D0351B-F17C-AEAB-B0FE-7BA69BBFB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977" y="3991409"/>
            <a:ext cx="0" cy="431246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21">
            <a:extLst>
              <a:ext uri="{FF2B5EF4-FFF2-40B4-BE49-F238E27FC236}">
                <a16:creationId xmlns:a16="http://schemas.microsoft.com/office/drawing/2014/main" id="{CD478AE0-183E-F19E-8943-C7E3E3957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977" y="4692865"/>
            <a:ext cx="0" cy="430336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Line 22">
            <a:extLst>
              <a:ext uri="{FF2B5EF4-FFF2-40B4-BE49-F238E27FC236}">
                <a16:creationId xmlns:a16="http://schemas.microsoft.com/office/drawing/2014/main" id="{D2995B5E-AC33-DD1E-DF00-59BD94722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977" y="5393413"/>
            <a:ext cx="0" cy="431246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23">
            <a:extLst>
              <a:ext uri="{FF2B5EF4-FFF2-40B4-BE49-F238E27FC236}">
                <a16:creationId xmlns:a16="http://schemas.microsoft.com/office/drawing/2014/main" id="{6866A2ED-4CD5-1BB7-422F-6AC03C2976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53396" y="4557305"/>
            <a:ext cx="1316786" cy="91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Freeform 24">
            <a:extLst>
              <a:ext uri="{FF2B5EF4-FFF2-40B4-BE49-F238E27FC236}">
                <a16:creationId xmlns:a16="http://schemas.microsoft.com/office/drawing/2014/main" id="{1ACD5E0A-F9F9-1361-0912-0482E96292FB}"/>
              </a:ext>
            </a:extLst>
          </p:cNvPr>
          <p:cNvSpPr>
            <a:spLocks/>
          </p:cNvSpPr>
          <p:nvPr/>
        </p:nvSpPr>
        <p:spPr bwMode="auto">
          <a:xfrm>
            <a:off x="8060587" y="4698324"/>
            <a:ext cx="1809595" cy="1251887"/>
          </a:xfrm>
          <a:custGeom>
            <a:avLst/>
            <a:gdLst>
              <a:gd name="T0" fmla="*/ 1497 w 1497"/>
              <a:gd name="T1" fmla="*/ 998 h 998"/>
              <a:gd name="T2" fmla="*/ 0 w 1497"/>
              <a:gd name="T3" fmla="*/ 998 h 998"/>
              <a:gd name="T4" fmla="*/ 0 w 1497"/>
              <a:gd name="T5" fmla="*/ 0 h 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97" h="998">
                <a:moveTo>
                  <a:pt x="1497" y="998"/>
                </a:moveTo>
                <a:lnTo>
                  <a:pt x="0" y="998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0000CC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Freeform 25">
            <a:extLst>
              <a:ext uri="{FF2B5EF4-FFF2-40B4-BE49-F238E27FC236}">
                <a16:creationId xmlns:a16="http://schemas.microsoft.com/office/drawing/2014/main" id="{9E97F3D5-2903-B4D5-CF52-5B78C4982017}"/>
              </a:ext>
            </a:extLst>
          </p:cNvPr>
          <p:cNvSpPr>
            <a:spLocks/>
          </p:cNvSpPr>
          <p:nvPr/>
        </p:nvSpPr>
        <p:spPr bwMode="auto">
          <a:xfrm flipV="1">
            <a:off x="8060587" y="3078878"/>
            <a:ext cx="1809595" cy="1355604"/>
          </a:xfrm>
          <a:custGeom>
            <a:avLst/>
            <a:gdLst>
              <a:gd name="T0" fmla="*/ 1497 w 1497"/>
              <a:gd name="T1" fmla="*/ 998 h 998"/>
              <a:gd name="T2" fmla="*/ 0 w 1497"/>
              <a:gd name="T3" fmla="*/ 998 h 998"/>
              <a:gd name="T4" fmla="*/ 0 w 1497"/>
              <a:gd name="T5" fmla="*/ 0 h 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97" h="998">
                <a:moveTo>
                  <a:pt x="1497" y="998"/>
                </a:moveTo>
                <a:lnTo>
                  <a:pt x="0" y="998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0000CC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Freeform 26">
            <a:extLst>
              <a:ext uri="{FF2B5EF4-FFF2-40B4-BE49-F238E27FC236}">
                <a16:creationId xmlns:a16="http://schemas.microsoft.com/office/drawing/2014/main" id="{C79710BF-E2A2-1C08-FB60-AE6869E7CC10}"/>
              </a:ext>
            </a:extLst>
          </p:cNvPr>
          <p:cNvSpPr>
            <a:spLocks/>
          </p:cNvSpPr>
          <p:nvPr/>
        </p:nvSpPr>
        <p:spPr bwMode="auto">
          <a:xfrm>
            <a:off x="8936802" y="3201701"/>
            <a:ext cx="933380" cy="663246"/>
          </a:xfrm>
          <a:custGeom>
            <a:avLst/>
            <a:gdLst>
              <a:gd name="T0" fmla="*/ 772 w 772"/>
              <a:gd name="T1" fmla="*/ 590 h 590"/>
              <a:gd name="T2" fmla="*/ 0 w 772"/>
              <a:gd name="T3" fmla="*/ 590 h 590"/>
              <a:gd name="T4" fmla="*/ 0 w 772"/>
              <a:gd name="T5" fmla="*/ 0 h 590"/>
              <a:gd name="T6" fmla="*/ 772 w 772"/>
              <a:gd name="T7" fmla="*/ 0 h 5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2" h="590">
                <a:moveTo>
                  <a:pt x="772" y="590"/>
                </a:moveTo>
                <a:lnTo>
                  <a:pt x="0" y="590"/>
                </a:lnTo>
                <a:lnTo>
                  <a:pt x="0" y="0"/>
                </a:lnTo>
                <a:lnTo>
                  <a:pt x="772" y="0"/>
                </a:lnTo>
              </a:path>
            </a:pathLst>
          </a:custGeom>
          <a:noFill/>
          <a:ln w="28575" cmpd="sng">
            <a:solidFill>
              <a:srgbClr val="0000CC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Text Box 27">
            <a:extLst>
              <a:ext uri="{FF2B5EF4-FFF2-40B4-BE49-F238E27FC236}">
                <a16:creationId xmlns:a16="http://schemas.microsoft.com/office/drawing/2014/main" id="{7F77867F-5F1A-ECDD-1B6D-AA708D6A5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1431" y="3369474"/>
            <a:ext cx="14414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物理层连接建立</a:t>
            </a:r>
          </a:p>
        </p:txBody>
      </p:sp>
      <p:sp>
        <p:nvSpPr>
          <p:cNvPr id="60" name="Text Box 28">
            <a:extLst>
              <a:ext uri="{FF2B5EF4-FFF2-40B4-BE49-F238E27FC236}">
                <a16:creationId xmlns:a16="http://schemas.microsoft.com/office/drawing/2014/main" id="{5F937576-F3E6-3387-88A9-CEBB2A4DE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1431" y="4072704"/>
            <a:ext cx="12873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LCP </a:t>
            </a:r>
            <a:r>
              <a:rPr lang="zh-CN" altLang="en-US" sz="1400" b="1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配置协商</a:t>
            </a:r>
          </a:p>
        </p:txBody>
      </p:sp>
      <p:sp>
        <p:nvSpPr>
          <p:cNvPr id="61" name="Text Box 29">
            <a:extLst>
              <a:ext uri="{FF2B5EF4-FFF2-40B4-BE49-F238E27FC236}">
                <a16:creationId xmlns:a16="http://schemas.microsoft.com/office/drawing/2014/main" id="{97D7D297-33E4-9F17-E4BE-C51EB9C89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8352" y="4769704"/>
            <a:ext cx="180049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鉴别成功或无需鉴别</a:t>
            </a:r>
          </a:p>
        </p:txBody>
      </p:sp>
      <p:sp>
        <p:nvSpPr>
          <p:cNvPr id="62" name="Text Box 30">
            <a:extLst>
              <a:ext uri="{FF2B5EF4-FFF2-40B4-BE49-F238E27FC236}">
                <a16:creationId xmlns:a16="http://schemas.microsoft.com/office/drawing/2014/main" id="{F56EC145-2F74-D5E5-771B-5FF6D4EC4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589" y="5461647"/>
            <a:ext cx="134684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NCP </a:t>
            </a:r>
            <a:r>
              <a:rPr lang="zh-CN" altLang="en-US" sz="1400" b="1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配置协商</a:t>
            </a:r>
          </a:p>
        </p:txBody>
      </p:sp>
      <p:sp>
        <p:nvSpPr>
          <p:cNvPr id="63" name="Text Box 31">
            <a:extLst>
              <a:ext uri="{FF2B5EF4-FFF2-40B4-BE49-F238E27FC236}">
                <a16:creationId xmlns:a16="http://schemas.microsoft.com/office/drawing/2014/main" id="{284AC1BE-A8F6-20F8-D7BD-B0E2680D4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686" y="5008567"/>
            <a:ext cx="1082348" cy="52322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链路故障或</a:t>
            </a:r>
          </a:p>
          <a:p>
            <a:pPr algn="ctr"/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关闭请求</a:t>
            </a:r>
          </a:p>
        </p:txBody>
      </p:sp>
      <p:sp>
        <p:nvSpPr>
          <p:cNvPr id="64" name="Text Box 32">
            <a:extLst>
              <a:ext uri="{FF2B5EF4-FFF2-40B4-BE49-F238E27FC236}">
                <a16:creationId xmlns:a16="http://schemas.microsoft.com/office/drawing/2014/main" id="{AB9E6C79-D59A-9257-592D-519668EA7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989" y="3529184"/>
            <a:ext cx="928267" cy="52322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LCP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链路</a:t>
            </a:r>
          </a:p>
          <a:p>
            <a:pPr algn="ctr"/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终止</a:t>
            </a:r>
          </a:p>
        </p:txBody>
      </p:sp>
      <p:sp>
        <p:nvSpPr>
          <p:cNvPr id="65" name="Text Box 33">
            <a:extLst>
              <a:ext uri="{FF2B5EF4-FFF2-40B4-BE49-F238E27FC236}">
                <a16:creationId xmlns:a16="http://schemas.microsoft.com/office/drawing/2014/main" id="{3ED2DEFA-7DD0-A072-64B2-D001CFBF8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528" y="4249608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鉴别失败</a:t>
            </a:r>
          </a:p>
        </p:txBody>
      </p:sp>
      <p:sp>
        <p:nvSpPr>
          <p:cNvPr id="66" name="Text Box 34">
            <a:extLst>
              <a:ext uri="{FF2B5EF4-FFF2-40B4-BE49-F238E27FC236}">
                <a16:creationId xmlns:a16="http://schemas.microsoft.com/office/drawing/2014/main" id="{BCF92FCF-9FC0-6A29-AB7F-AE93FE668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0829" y="3271434"/>
            <a:ext cx="928267" cy="52322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LCP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配置</a:t>
            </a:r>
          </a:p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协商失败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722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 animBg="1"/>
      <p:bldP spid="42" grpId="0" animBg="1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/>
      <p:bldP spid="60" grpId="0"/>
      <p:bldP spid="61" grpId="0"/>
      <p:bldP spid="62" grpId="0"/>
      <p:bldP spid="63" grpId="0" animBg="1"/>
      <p:bldP spid="64" grpId="0" animBg="1"/>
      <p:bldP spid="65" grpId="0"/>
      <p:bldP spid="6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3" y="1180784"/>
            <a:ext cx="11010378" cy="556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</a:rPr>
              <a:t>      当若干计算机互连成网时，网络中的计算机之间进行数据通信的过程是比较复杂的。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</a:rPr>
              <a:t>      </a:t>
            </a:r>
            <a:r>
              <a:rPr lang="zh-CN" altLang="en-US" sz="2400" dirty="0">
                <a:solidFill>
                  <a:srgbClr val="1353A2"/>
                </a:solidFill>
              </a:rPr>
              <a:t>假设网络中的两台计算机之间需要传送一个文件，那么需要相互通信的计算机间密切配合，才能完成通信的任务。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</a:rPr>
              <a:t>      </a:t>
            </a:r>
            <a:r>
              <a:rPr lang="zh-CN" altLang="en-US" sz="2400" dirty="0">
                <a:solidFill>
                  <a:srgbClr val="1353A2"/>
                </a:solidFill>
              </a:rPr>
              <a:t>如何解决如此复杂的问题？</a:t>
            </a:r>
          </a:p>
          <a:p>
            <a:pPr>
              <a:lnSpc>
                <a:spcPct val="150000"/>
              </a:lnSpc>
              <a:buClr>
                <a:srgbClr val="0070C0"/>
              </a:buClr>
            </a:pPr>
            <a:endParaRPr lang="en-US" altLang="zh-CN" sz="2400" b="1" dirty="0"/>
          </a:p>
          <a:p>
            <a:pPr>
              <a:lnSpc>
                <a:spcPct val="150000"/>
              </a:lnSpc>
              <a:buClr>
                <a:srgbClr val="0070C0"/>
              </a:buClr>
            </a:pPr>
            <a:r>
              <a:rPr lang="zh-CN" altLang="en-US" sz="2400" b="1" dirty="0"/>
              <a:t>一种常见的解决复杂问题的方法即</a:t>
            </a:r>
            <a:r>
              <a:rPr lang="zh-CN" altLang="en-US" sz="2400" b="1" dirty="0">
                <a:solidFill>
                  <a:srgbClr val="FF0000"/>
                </a:solidFill>
              </a:rPr>
              <a:t>层次化（分层）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Clr>
                <a:srgbClr val="0070C0"/>
              </a:buClr>
            </a:pPr>
            <a:r>
              <a:rPr lang="en-US" altLang="zh-CN" sz="2400" b="1" dirty="0"/>
              <a:t>       </a:t>
            </a:r>
            <a:r>
              <a:rPr lang="zh-CN" altLang="en-US" sz="2400" b="1" dirty="0"/>
              <a:t>也就是说，</a:t>
            </a:r>
            <a:r>
              <a:rPr lang="zh-CN" altLang="en-US" sz="2400" b="1" dirty="0">
                <a:solidFill>
                  <a:srgbClr val="1353A2"/>
                </a:solidFill>
              </a:rPr>
              <a:t>将一个庞大而复杂的问题分解成若干个容易处理的较小的局部问题</a:t>
            </a:r>
            <a:r>
              <a:rPr lang="zh-CN" altLang="en-US" sz="2400" b="1" dirty="0"/>
              <a:t>，然后对这些小问题加以研究和处理，分别对待，个别解决。</a:t>
            </a:r>
          </a:p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endParaRPr lang="zh-CN" altLang="en-US" sz="2400" dirty="0">
              <a:solidFill>
                <a:srgbClr val="1353A2"/>
              </a:solidFill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协议与体系结构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659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3" y="1472729"/>
            <a:ext cx="11063438" cy="15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zh-CN" sz="2400" dirty="0"/>
              <a:t>较为常见的体系结构有</a:t>
            </a:r>
            <a:r>
              <a:rPr lang="en-US" altLang="zh-CN" sz="2400" dirty="0">
                <a:solidFill>
                  <a:srgbClr val="FF0000"/>
                </a:solidFill>
              </a:rPr>
              <a:t>OSI</a:t>
            </a:r>
            <a:r>
              <a:rPr lang="zh-CN" altLang="zh-CN" sz="2400" dirty="0"/>
              <a:t>（</a:t>
            </a:r>
            <a:r>
              <a:rPr lang="en-US" altLang="zh-CN" sz="2400" dirty="0"/>
              <a:t>Open System Interconnect</a:t>
            </a:r>
            <a:r>
              <a:rPr lang="zh-CN" altLang="zh-CN" sz="2400" dirty="0"/>
              <a:t>，简称开放式系统互联模型）和</a:t>
            </a:r>
            <a:r>
              <a:rPr lang="en-US" altLang="zh-CN" sz="2400" dirty="0">
                <a:solidFill>
                  <a:srgbClr val="FF0000"/>
                </a:solidFill>
              </a:rPr>
              <a:t>TCP/IP</a:t>
            </a:r>
            <a:r>
              <a:rPr lang="zh-CN" altLang="zh-CN" sz="2400" dirty="0"/>
              <a:t>（</a:t>
            </a:r>
            <a:r>
              <a:rPr lang="en-US" altLang="zh-CN" sz="2400" dirty="0"/>
              <a:t>Transmission Control Protocol/Internet Protocol</a:t>
            </a:r>
            <a:r>
              <a:rPr lang="zh-CN" altLang="zh-CN" sz="2400" dirty="0"/>
              <a:t>，传输控制协议</a:t>
            </a:r>
            <a:r>
              <a:rPr lang="en-US" altLang="zh-CN" sz="2400" dirty="0"/>
              <a:t>/</a:t>
            </a:r>
            <a:r>
              <a:rPr lang="zh-CN" altLang="zh-CN" sz="2400" dirty="0"/>
              <a:t>互联网协议模型）。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协议与体系结构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AutoShape 58">
            <a:extLst>
              <a:ext uri="{FF2B5EF4-FFF2-40B4-BE49-F238E27FC236}">
                <a16:creationId xmlns:a16="http://schemas.microsoft.com/office/drawing/2014/main" id="{E8F37F0D-8676-94E2-91C9-A49A574F8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581" y="3361857"/>
            <a:ext cx="1338263" cy="2301875"/>
          </a:xfrm>
          <a:prstGeom prst="cube">
            <a:avLst>
              <a:gd name="adj" fmla="val 9144"/>
            </a:avLst>
          </a:prstGeom>
          <a:solidFill>
            <a:srgbClr val="85D1F7"/>
          </a:solidFill>
          <a:ln w="1905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0">
            <a:extLst>
              <a:ext uri="{FF2B5EF4-FFF2-40B4-BE49-F238E27FC236}">
                <a16:creationId xmlns:a16="http://schemas.microsoft.com/office/drawing/2014/main" id="{9C2CABE2-C3DB-68DE-0DEF-48C0DD11884A}"/>
              </a:ext>
            </a:extLst>
          </p:cNvPr>
          <p:cNvSpPr/>
          <p:nvPr/>
        </p:nvSpPr>
        <p:spPr bwMode="auto">
          <a:xfrm>
            <a:off x="4394581" y="3611094"/>
            <a:ext cx="1330325" cy="169863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Freeform 59">
            <a:extLst>
              <a:ext uri="{FF2B5EF4-FFF2-40B4-BE49-F238E27FC236}">
                <a16:creationId xmlns:a16="http://schemas.microsoft.com/office/drawing/2014/main" id="{404CFCE8-5AC0-DB90-0A29-7A2B8A84DF8C}"/>
              </a:ext>
            </a:extLst>
          </p:cNvPr>
          <p:cNvSpPr/>
          <p:nvPr/>
        </p:nvSpPr>
        <p:spPr bwMode="auto">
          <a:xfrm>
            <a:off x="4394581" y="3923832"/>
            <a:ext cx="1328738" cy="169862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Freeform 60">
            <a:extLst>
              <a:ext uri="{FF2B5EF4-FFF2-40B4-BE49-F238E27FC236}">
                <a16:creationId xmlns:a16="http://schemas.microsoft.com/office/drawing/2014/main" id="{F23B8A01-AE7F-597F-A66A-472965831DA6}"/>
              </a:ext>
            </a:extLst>
          </p:cNvPr>
          <p:cNvSpPr/>
          <p:nvPr/>
        </p:nvSpPr>
        <p:spPr bwMode="auto">
          <a:xfrm>
            <a:off x="4394581" y="4236569"/>
            <a:ext cx="1328738" cy="169863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61">
            <a:extLst>
              <a:ext uri="{FF2B5EF4-FFF2-40B4-BE49-F238E27FC236}">
                <a16:creationId xmlns:a16="http://schemas.microsoft.com/office/drawing/2014/main" id="{4850D1B9-3383-D0BB-06B9-03C93912716E}"/>
              </a:ext>
            </a:extLst>
          </p:cNvPr>
          <p:cNvSpPr/>
          <p:nvPr/>
        </p:nvSpPr>
        <p:spPr bwMode="auto">
          <a:xfrm>
            <a:off x="4394581" y="4549307"/>
            <a:ext cx="1328738" cy="171450"/>
          </a:xfrm>
          <a:custGeom>
            <a:avLst/>
            <a:gdLst>
              <a:gd name="T0" fmla="*/ 2147483647 w 2049"/>
              <a:gd name="T1" fmla="*/ 0 h 185"/>
              <a:gd name="T2" fmla="*/ 2147483647 w 2049"/>
              <a:gd name="T3" fmla="*/ 2147483647 h 185"/>
              <a:gd name="T4" fmla="*/ 0 w 2049"/>
              <a:gd name="T5" fmla="*/ 2147483647 h 185"/>
              <a:gd name="T6" fmla="*/ 0 60000 65536"/>
              <a:gd name="T7" fmla="*/ 0 60000 65536"/>
              <a:gd name="T8" fmla="*/ 0 60000 65536"/>
              <a:gd name="T9" fmla="*/ 0 w 2049"/>
              <a:gd name="T10" fmla="*/ 0 h 185"/>
              <a:gd name="T11" fmla="*/ 2049 w 2049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5">
                <a:moveTo>
                  <a:pt x="2049" y="0"/>
                </a:moveTo>
                <a:lnTo>
                  <a:pt x="1873" y="185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Freeform 62">
            <a:extLst>
              <a:ext uri="{FF2B5EF4-FFF2-40B4-BE49-F238E27FC236}">
                <a16:creationId xmlns:a16="http://schemas.microsoft.com/office/drawing/2014/main" id="{89902127-222A-F4EE-BA37-4E54EB88B6C3}"/>
              </a:ext>
            </a:extLst>
          </p:cNvPr>
          <p:cNvSpPr/>
          <p:nvPr/>
        </p:nvSpPr>
        <p:spPr bwMode="auto">
          <a:xfrm>
            <a:off x="4392994" y="4860457"/>
            <a:ext cx="1330325" cy="174625"/>
          </a:xfrm>
          <a:custGeom>
            <a:avLst/>
            <a:gdLst>
              <a:gd name="T0" fmla="*/ 2147483647 w 2049"/>
              <a:gd name="T1" fmla="*/ 0 h 187"/>
              <a:gd name="T2" fmla="*/ 2147483647 w 2049"/>
              <a:gd name="T3" fmla="*/ 2147483647 h 187"/>
              <a:gd name="T4" fmla="*/ 0 w 2049"/>
              <a:gd name="T5" fmla="*/ 2147483647 h 187"/>
              <a:gd name="T6" fmla="*/ 0 60000 65536"/>
              <a:gd name="T7" fmla="*/ 0 60000 65536"/>
              <a:gd name="T8" fmla="*/ 0 60000 65536"/>
              <a:gd name="T9" fmla="*/ 0 w 2049"/>
              <a:gd name="T10" fmla="*/ 0 h 187"/>
              <a:gd name="T11" fmla="*/ 2049 w 2049"/>
              <a:gd name="T12" fmla="*/ 187 h 1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7">
                <a:moveTo>
                  <a:pt x="2049" y="0"/>
                </a:moveTo>
                <a:lnTo>
                  <a:pt x="1863" y="187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63">
            <a:extLst>
              <a:ext uri="{FF2B5EF4-FFF2-40B4-BE49-F238E27FC236}">
                <a16:creationId xmlns:a16="http://schemas.microsoft.com/office/drawing/2014/main" id="{B94F0D09-FFF0-1D39-6019-B31D3DFF19C2}"/>
              </a:ext>
            </a:extLst>
          </p:cNvPr>
          <p:cNvSpPr/>
          <p:nvPr/>
        </p:nvSpPr>
        <p:spPr bwMode="auto">
          <a:xfrm>
            <a:off x="4391406" y="5173194"/>
            <a:ext cx="1330325" cy="169863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22">
            <a:extLst>
              <a:ext uri="{FF2B5EF4-FFF2-40B4-BE49-F238E27FC236}">
                <a16:creationId xmlns:a16="http://schemas.microsoft.com/office/drawing/2014/main" id="{59BE2B92-C84C-DCA0-C4B1-3FAC65469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1306" y="3517432"/>
            <a:ext cx="6080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CD83C231-DC8F-C8B3-6387-A7B491C10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69" y="4400082"/>
            <a:ext cx="6080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5685E6B8-179D-A59A-3553-17709BD23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606" y="4744569"/>
            <a:ext cx="60801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6" name="Text Box 54">
            <a:extLst>
              <a:ext uri="{FF2B5EF4-FFF2-40B4-BE49-F238E27FC236}">
                <a16:creationId xmlns:a16="http://schemas.microsoft.com/office/drawing/2014/main" id="{EAEA13E8-26B0-33AA-5B7D-5A63EE565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606" y="3817469"/>
            <a:ext cx="6080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表示层</a:t>
            </a:r>
          </a:p>
        </p:txBody>
      </p:sp>
      <p:sp>
        <p:nvSpPr>
          <p:cNvPr id="17" name="Text Box 55">
            <a:extLst>
              <a:ext uri="{FF2B5EF4-FFF2-40B4-BE49-F238E27FC236}">
                <a16:creationId xmlns:a16="http://schemas.microsoft.com/office/drawing/2014/main" id="{F4D9D3E3-DB3D-8429-4E89-25E84240F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606" y="4130207"/>
            <a:ext cx="6080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会话层</a:t>
            </a:r>
          </a:p>
        </p:txBody>
      </p:sp>
      <p:sp>
        <p:nvSpPr>
          <p:cNvPr id="18" name="Text Box 56">
            <a:extLst>
              <a:ext uri="{FF2B5EF4-FFF2-40B4-BE49-F238E27FC236}">
                <a16:creationId xmlns:a16="http://schemas.microsoft.com/office/drawing/2014/main" id="{6522DF01-576E-86F4-763A-B806DE62C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419" y="5052544"/>
            <a:ext cx="889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19" name="Text Box 57">
            <a:extLst>
              <a:ext uri="{FF2B5EF4-FFF2-40B4-BE49-F238E27FC236}">
                <a16:creationId xmlns:a16="http://schemas.microsoft.com/office/drawing/2014/main" id="{F09FD544-3995-4FBC-4A38-E668F58A4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606" y="5376394"/>
            <a:ext cx="6080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20" name="Text Box 43">
            <a:extLst>
              <a:ext uri="{FF2B5EF4-FFF2-40B4-BE49-F238E27FC236}">
                <a16:creationId xmlns:a16="http://schemas.microsoft.com/office/drawing/2014/main" id="{47E90B70-7A47-193E-12A1-6C42C5EA2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6494" y="3341219"/>
            <a:ext cx="271462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3EE2EE1A-020D-ACDD-D351-AA74961EE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656" y="3025307"/>
            <a:ext cx="14509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的体系结构</a:t>
            </a:r>
          </a:p>
        </p:txBody>
      </p:sp>
      <p:sp>
        <p:nvSpPr>
          <p:cNvPr id="22" name="AutoShape 66">
            <a:extLst>
              <a:ext uri="{FF2B5EF4-FFF2-40B4-BE49-F238E27FC236}">
                <a16:creationId xmlns:a16="http://schemas.microsoft.com/office/drawing/2014/main" id="{D61076BC-A6DD-82E0-C8E2-FA07F609C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797" y="3330107"/>
            <a:ext cx="1739900" cy="2338387"/>
          </a:xfrm>
          <a:prstGeom prst="cube">
            <a:avLst>
              <a:gd name="adj" fmla="val 9144"/>
            </a:avLst>
          </a:prstGeom>
          <a:solidFill>
            <a:srgbClr val="7CE07C"/>
          </a:solidFill>
          <a:ln w="1905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69">
            <a:extLst>
              <a:ext uri="{FF2B5EF4-FFF2-40B4-BE49-F238E27FC236}">
                <a16:creationId xmlns:a16="http://schemas.microsoft.com/office/drawing/2014/main" id="{BE9CEFF0-FD7F-6A22-3BC2-D3DE5BFDA46C}"/>
              </a:ext>
            </a:extLst>
          </p:cNvPr>
          <p:cNvSpPr/>
          <p:nvPr/>
        </p:nvSpPr>
        <p:spPr bwMode="auto">
          <a:xfrm>
            <a:off x="6372035" y="4227044"/>
            <a:ext cx="1741487" cy="182563"/>
          </a:xfrm>
          <a:custGeom>
            <a:avLst/>
            <a:gdLst>
              <a:gd name="T0" fmla="*/ 2147483647 w 1684"/>
              <a:gd name="T1" fmla="*/ 0 h 176"/>
              <a:gd name="T2" fmla="*/ 2147483647 w 1684"/>
              <a:gd name="T3" fmla="*/ 2147483647 h 176"/>
              <a:gd name="T4" fmla="*/ 0 w 1684"/>
              <a:gd name="T5" fmla="*/ 2147483647 h 176"/>
              <a:gd name="T6" fmla="*/ 0 60000 65536"/>
              <a:gd name="T7" fmla="*/ 0 60000 65536"/>
              <a:gd name="T8" fmla="*/ 0 60000 65536"/>
              <a:gd name="T9" fmla="*/ 0 w 1684"/>
              <a:gd name="T10" fmla="*/ 0 h 176"/>
              <a:gd name="T11" fmla="*/ 1684 w 1684"/>
              <a:gd name="T12" fmla="*/ 176 h 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4" h="176">
                <a:moveTo>
                  <a:pt x="1684" y="0"/>
                </a:moveTo>
                <a:lnTo>
                  <a:pt x="1528" y="172"/>
                </a:lnTo>
                <a:lnTo>
                  <a:pt x="0" y="176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Freeform 70">
            <a:extLst>
              <a:ext uri="{FF2B5EF4-FFF2-40B4-BE49-F238E27FC236}">
                <a16:creationId xmlns:a16="http://schemas.microsoft.com/office/drawing/2014/main" id="{1A71142C-AA77-0B7B-CFB0-F62272254081}"/>
              </a:ext>
            </a:extLst>
          </p:cNvPr>
          <p:cNvSpPr/>
          <p:nvPr/>
        </p:nvSpPr>
        <p:spPr bwMode="auto">
          <a:xfrm>
            <a:off x="6372035" y="4536607"/>
            <a:ext cx="1738312" cy="193675"/>
          </a:xfrm>
          <a:custGeom>
            <a:avLst/>
            <a:gdLst>
              <a:gd name="T0" fmla="*/ 2147483647 w 1679"/>
              <a:gd name="T1" fmla="*/ 0 h 186"/>
              <a:gd name="T2" fmla="*/ 2147483647 w 1679"/>
              <a:gd name="T3" fmla="*/ 2147483647 h 186"/>
              <a:gd name="T4" fmla="*/ 0 w 1679"/>
              <a:gd name="T5" fmla="*/ 2147483647 h 186"/>
              <a:gd name="T6" fmla="*/ 0 60000 65536"/>
              <a:gd name="T7" fmla="*/ 0 60000 65536"/>
              <a:gd name="T8" fmla="*/ 0 60000 65536"/>
              <a:gd name="T9" fmla="*/ 0 w 1679"/>
              <a:gd name="T10" fmla="*/ 0 h 186"/>
              <a:gd name="T11" fmla="*/ 1679 w 1679"/>
              <a:gd name="T12" fmla="*/ 186 h 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79" h="186">
                <a:moveTo>
                  <a:pt x="1679" y="0"/>
                </a:moveTo>
                <a:lnTo>
                  <a:pt x="1525" y="186"/>
                </a:lnTo>
                <a:lnTo>
                  <a:pt x="0" y="183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71">
            <a:extLst>
              <a:ext uri="{FF2B5EF4-FFF2-40B4-BE49-F238E27FC236}">
                <a16:creationId xmlns:a16="http://schemas.microsoft.com/office/drawing/2014/main" id="{09022385-94B7-6612-9612-F6DE25A5C89C}"/>
              </a:ext>
            </a:extLst>
          </p:cNvPr>
          <p:cNvSpPr/>
          <p:nvPr/>
        </p:nvSpPr>
        <p:spPr bwMode="auto">
          <a:xfrm>
            <a:off x="6372035" y="4868394"/>
            <a:ext cx="1725612" cy="168275"/>
          </a:xfrm>
          <a:custGeom>
            <a:avLst/>
            <a:gdLst>
              <a:gd name="T0" fmla="*/ 2147483647 w 1668"/>
              <a:gd name="T1" fmla="*/ 0 h 162"/>
              <a:gd name="T2" fmla="*/ 2147483647 w 1668"/>
              <a:gd name="T3" fmla="*/ 2147483647 h 162"/>
              <a:gd name="T4" fmla="*/ 0 w 1668"/>
              <a:gd name="T5" fmla="*/ 2147483647 h 162"/>
              <a:gd name="T6" fmla="*/ 0 60000 65536"/>
              <a:gd name="T7" fmla="*/ 0 60000 65536"/>
              <a:gd name="T8" fmla="*/ 0 60000 65536"/>
              <a:gd name="T9" fmla="*/ 0 w 1668"/>
              <a:gd name="T10" fmla="*/ 0 h 162"/>
              <a:gd name="T11" fmla="*/ 1668 w 1668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8" h="162">
                <a:moveTo>
                  <a:pt x="1668" y="0"/>
                </a:moveTo>
                <a:lnTo>
                  <a:pt x="1527" y="160"/>
                </a:lnTo>
                <a:lnTo>
                  <a:pt x="0" y="16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Text Box 73">
            <a:extLst>
              <a:ext uri="{FF2B5EF4-FFF2-40B4-BE49-F238E27FC236}">
                <a16:creationId xmlns:a16="http://schemas.microsoft.com/office/drawing/2014/main" id="{A5066D83-F7AF-4B42-3A9A-028D664C9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6697" y="3582519"/>
            <a:ext cx="6080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94759481-9844-B1AD-422A-9F95454B4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035" y="5112869"/>
            <a:ext cx="889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</a:p>
        </p:txBody>
      </p:sp>
      <p:sp>
        <p:nvSpPr>
          <p:cNvPr id="28" name="Text Box 9">
            <a:extLst>
              <a:ext uri="{FF2B5EF4-FFF2-40B4-BE49-F238E27FC236}">
                <a16:creationId xmlns:a16="http://schemas.microsoft.com/office/drawing/2014/main" id="{23AEDECD-B0F2-4601-193A-8E9E528EF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5897" y="4747744"/>
            <a:ext cx="79057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网际层 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</a:p>
        </p:txBody>
      </p:sp>
      <p:sp>
        <p:nvSpPr>
          <p:cNvPr id="29" name="Text Box 16">
            <a:extLst>
              <a:ext uri="{FF2B5EF4-FFF2-40B4-BE49-F238E27FC236}">
                <a16:creationId xmlns:a16="http://schemas.microsoft.com/office/drawing/2014/main" id="{8C97C7FE-CBA3-8879-E1E5-4D481266B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122" y="3842869"/>
            <a:ext cx="16970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各种应用层协议，如</a:t>
            </a:r>
          </a:p>
          <a:p>
            <a:pPr algn="ctr"/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DNS, HTTP, SMTP </a:t>
            </a:r>
            <a:r>
              <a: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0" name="Text Box 41">
            <a:extLst>
              <a:ext uri="{FF2B5EF4-FFF2-40B4-BE49-F238E27FC236}">
                <a16:creationId xmlns:a16="http://schemas.microsoft.com/office/drawing/2014/main" id="{2525C72C-8ADB-1D91-5FB1-B9050CED3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447" y="4447707"/>
            <a:ext cx="15732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运输层 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(TCP </a:t>
            </a:r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UDP)</a:t>
            </a:r>
          </a:p>
        </p:txBody>
      </p:sp>
      <p:sp>
        <p:nvSpPr>
          <p:cNvPr id="31" name="Text Box 12">
            <a:extLst>
              <a:ext uri="{FF2B5EF4-FFF2-40B4-BE49-F238E27FC236}">
                <a16:creationId xmlns:a16="http://schemas.microsoft.com/office/drawing/2014/main" id="{BB36B8A4-74E9-3FA9-5759-255E05FCB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0760" y="3014194"/>
            <a:ext cx="1744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的体系结构</a:t>
            </a:r>
          </a:p>
        </p:txBody>
      </p:sp>
      <p:sp>
        <p:nvSpPr>
          <p:cNvPr id="32" name="Text Box 95">
            <a:extLst>
              <a:ext uri="{FF2B5EF4-FFF2-40B4-BE49-F238E27FC236}">
                <a16:creationId xmlns:a16="http://schemas.microsoft.com/office/drawing/2014/main" id="{5E277950-249B-98F5-FB4D-4EA8A5BA1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944" y="5663732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33" name="Text Box 96">
            <a:extLst>
              <a:ext uri="{FF2B5EF4-FFF2-40B4-BE49-F238E27FC236}">
                <a16:creationId xmlns:a16="http://schemas.microsoft.com/office/drawing/2014/main" id="{739EB081-0C27-60CD-7A32-994039D80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497" y="5663732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47" name="Text Box 15">
            <a:extLst>
              <a:ext uri="{FF2B5EF4-FFF2-40B4-BE49-F238E27FC236}">
                <a16:creationId xmlns:a16="http://schemas.microsoft.com/office/drawing/2014/main" id="{59A2CA9A-5558-4CF3-9D40-0087B6572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260" y="5347819"/>
            <a:ext cx="18780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（这一层并没有具体内容）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6827889-F02A-4F05-C6E2-D79BD88BE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547" y="5900269"/>
            <a:ext cx="480396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 OSI </a:t>
            </a:r>
            <a:r>
              <a:rPr lang="zh-CN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的七层协议；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(b) TCP/IP </a:t>
            </a:r>
            <a:r>
              <a:rPr lang="zh-CN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753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7" grpId="0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3" y="1472729"/>
            <a:ext cx="11063438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2400" dirty="0"/>
              <a:t>除</a:t>
            </a:r>
            <a:r>
              <a:rPr lang="en-US" altLang="zh-CN" sz="2400" dirty="0"/>
              <a:t>OSI</a:t>
            </a:r>
            <a:r>
              <a:rPr lang="zh-CN" altLang="en-US" sz="2400" dirty="0"/>
              <a:t>和</a:t>
            </a:r>
            <a:r>
              <a:rPr lang="en-US" altLang="zh-CN" sz="2400" dirty="0"/>
              <a:t>TCP/IP</a:t>
            </a:r>
            <a:r>
              <a:rPr lang="zh-CN" altLang="en-US" sz="2400" dirty="0"/>
              <a:t>体系结构外，人们还提出了一种五层体系结构，这种体系结构由上而下依次为应用层、传输层、网络层、数据链路层和物理层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协议与体系结构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AutoShape 58">
            <a:extLst>
              <a:ext uri="{FF2B5EF4-FFF2-40B4-BE49-F238E27FC236}">
                <a16:creationId xmlns:a16="http://schemas.microsoft.com/office/drawing/2014/main" id="{422C1180-9AFC-3A15-6A8C-B7ABCBD9B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3061" y="3249512"/>
            <a:ext cx="1338263" cy="2301875"/>
          </a:xfrm>
          <a:prstGeom prst="cube">
            <a:avLst>
              <a:gd name="adj" fmla="val 9144"/>
            </a:avLst>
          </a:prstGeom>
          <a:solidFill>
            <a:srgbClr val="85D1F7"/>
          </a:solidFill>
          <a:ln w="1905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0">
            <a:extLst>
              <a:ext uri="{FF2B5EF4-FFF2-40B4-BE49-F238E27FC236}">
                <a16:creationId xmlns:a16="http://schemas.microsoft.com/office/drawing/2014/main" id="{D73C7382-1447-FC08-38C1-B9E89A154DE6}"/>
              </a:ext>
            </a:extLst>
          </p:cNvPr>
          <p:cNvSpPr/>
          <p:nvPr/>
        </p:nvSpPr>
        <p:spPr bwMode="auto">
          <a:xfrm>
            <a:off x="3663061" y="3498749"/>
            <a:ext cx="1330325" cy="169863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Freeform 59">
            <a:extLst>
              <a:ext uri="{FF2B5EF4-FFF2-40B4-BE49-F238E27FC236}">
                <a16:creationId xmlns:a16="http://schemas.microsoft.com/office/drawing/2014/main" id="{F211EF3A-DE81-961B-E777-FCF14F994EA0}"/>
              </a:ext>
            </a:extLst>
          </p:cNvPr>
          <p:cNvSpPr/>
          <p:nvPr/>
        </p:nvSpPr>
        <p:spPr bwMode="auto">
          <a:xfrm>
            <a:off x="3663061" y="3811487"/>
            <a:ext cx="1328738" cy="169862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Freeform 60">
            <a:extLst>
              <a:ext uri="{FF2B5EF4-FFF2-40B4-BE49-F238E27FC236}">
                <a16:creationId xmlns:a16="http://schemas.microsoft.com/office/drawing/2014/main" id="{7382AA13-63DA-D5FF-AA86-83A63F34D58F}"/>
              </a:ext>
            </a:extLst>
          </p:cNvPr>
          <p:cNvSpPr/>
          <p:nvPr/>
        </p:nvSpPr>
        <p:spPr bwMode="auto">
          <a:xfrm>
            <a:off x="3663061" y="4124224"/>
            <a:ext cx="1328738" cy="169863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61">
            <a:extLst>
              <a:ext uri="{FF2B5EF4-FFF2-40B4-BE49-F238E27FC236}">
                <a16:creationId xmlns:a16="http://schemas.microsoft.com/office/drawing/2014/main" id="{B719A465-9036-B40D-C8F7-9A29CF8A74FF}"/>
              </a:ext>
            </a:extLst>
          </p:cNvPr>
          <p:cNvSpPr/>
          <p:nvPr/>
        </p:nvSpPr>
        <p:spPr bwMode="auto">
          <a:xfrm>
            <a:off x="3663061" y="4436962"/>
            <a:ext cx="1328738" cy="171450"/>
          </a:xfrm>
          <a:custGeom>
            <a:avLst/>
            <a:gdLst>
              <a:gd name="T0" fmla="*/ 2147483647 w 2049"/>
              <a:gd name="T1" fmla="*/ 0 h 185"/>
              <a:gd name="T2" fmla="*/ 2147483647 w 2049"/>
              <a:gd name="T3" fmla="*/ 2147483647 h 185"/>
              <a:gd name="T4" fmla="*/ 0 w 2049"/>
              <a:gd name="T5" fmla="*/ 2147483647 h 185"/>
              <a:gd name="T6" fmla="*/ 0 60000 65536"/>
              <a:gd name="T7" fmla="*/ 0 60000 65536"/>
              <a:gd name="T8" fmla="*/ 0 60000 65536"/>
              <a:gd name="T9" fmla="*/ 0 w 2049"/>
              <a:gd name="T10" fmla="*/ 0 h 185"/>
              <a:gd name="T11" fmla="*/ 2049 w 2049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5">
                <a:moveTo>
                  <a:pt x="2049" y="0"/>
                </a:moveTo>
                <a:lnTo>
                  <a:pt x="1873" y="185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Freeform 62">
            <a:extLst>
              <a:ext uri="{FF2B5EF4-FFF2-40B4-BE49-F238E27FC236}">
                <a16:creationId xmlns:a16="http://schemas.microsoft.com/office/drawing/2014/main" id="{96C732C4-B677-4360-0CC0-4C23670204CE}"/>
              </a:ext>
            </a:extLst>
          </p:cNvPr>
          <p:cNvSpPr/>
          <p:nvPr/>
        </p:nvSpPr>
        <p:spPr bwMode="auto">
          <a:xfrm>
            <a:off x="3661474" y="4748112"/>
            <a:ext cx="1330325" cy="174625"/>
          </a:xfrm>
          <a:custGeom>
            <a:avLst/>
            <a:gdLst>
              <a:gd name="T0" fmla="*/ 2147483647 w 2049"/>
              <a:gd name="T1" fmla="*/ 0 h 187"/>
              <a:gd name="T2" fmla="*/ 2147483647 w 2049"/>
              <a:gd name="T3" fmla="*/ 2147483647 h 187"/>
              <a:gd name="T4" fmla="*/ 0 w 2049"/>
              <a:gd name="T5" fmla="*/ 2147483647 h 187"/>
              <a:gd name="T6" fmla="*/ 0 60000 65536"/>
              <a:gd name="T7" fmla="*/ 0 60000 65536"/>
              <a:gd name="T8" fmla="*/ 0 60000 65536"/>
              <a:gd name="T9" fmla="*/ 0 w 2049"/>
              <a:gd name="T10" fmla="*/ 0 h 187"/>
              <a:gd name="T11" fmla="*/ 2049 w 2049"/>
              <a:gd name="T12" fmla="*/ 187 h 1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7">
                <a:moveTo>
                  <a:pt x="2049" y="0"/>
                </a:moveTo>
                <a:lnTo>
                  <a:pt x="1863" y="187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63">
            <a:extLst>
              <a:ext uri="{FF2B5EF4-FFF2-40B4-BE49-F238E27FC236}">
                <a16:creationId xmlns:a16="http://schemas.microsoft.com/office/drawing/2014/main" id="{833013DF-EAAA-D1AC-AE74-8A726C9966A4}"/>
              </a:ext>
            </a:extLst>
          </p:cNvPr>
          <p:cNvSpPr/>
          <p:nvPr/>
        </p:nvSpPr>
        <p:spPr bwMode="auto">
          <a:xfrm>
            <a:off x="3659886" y="5060849"/>
            <a:ext cx="1330325" cy="169863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22">
            <a:extLst>
              <a:ext uri="{FF2B5EF4-FFF2-40B4-BE49-F238E27FC236}">
                <a16:creationId xmlns:a16="http://schemas.microsoft.com/office/drawing/2014/main" id="{7666A878-BC24-8DED-DBFB-DFC88B83D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786" y="3405087"/>
            <a:ext cx="6080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E6D8C56D-0690-47D7-217B-412BEFBE6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149" y="4287737"/>
            <a:ext cx="6080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A40A7730-89C4-9069-F14D-D5BE808B3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086" y="4632224"/>
            <a:ext cx="60801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6" name="Text Box 54">
            <a:extLst>
              <a:ext uri="{FF2B5EF4-FFF2-40B4-BE49-F238E27FC236}">
                <a16:creationId xmlns:a16="http://schemas.microsoft.com/office/drawing/2014/main" id="{A58C730A-1E22-36D1-5F8A-4A8565D37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086" y="3705124"/>
            <a:ext cx="6080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表示层</a:t>
            </a:r>
          </a:p>
        </p:txBody>
      </p:sp>
      <p:sp>
        <p:nvSpPr>
          <p:cNvPr id="17" name="Text Box 55">
            <a:extLst>
              <a:ext uri="{FF2B5EF4-FFF2-40B4-BE49-F238E27FC236}">
                <a16:creationId xmlns:a16="http://schemas.microsoft.com/office/drawing/2014/main" id="{546D0768-F3C6-DB06-FC25-3B808CFB1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086" y="4017862"/>
            <a:ext cx="6080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会话层</a:t>
            </a:r>
          </a:p>
        </p:txBody>
      </p:sp>
      <p:sp>
        <p:nvSpPr>
          <p:cNvPr id="18" name="Text Box 56">
            <a:extLst>
              <a:ext uri="{FF2B5EF4-FFF2-40B4-BE49-F238E27FC236}">
                <a16:creationId xmlns:a16="http://schemas.microsoft.com/office/drawing/2014/main" id="{7796CED4-7208-BC1B-DD0A-7E2852DC9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899" y="4940199"/>
            <a:ext cx="889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19" name="Text Box 57">
            <a:extLst>
              <a:ext uri="{FF2B5EF4-FFF2-40B4-BE49-F238E27FC236}">
                <a16:creationId xmlns:a16="http://schemas.microsoft.com/office/drawing/2014/main" id="{47A03293-C2EB-D972-C918-A118CB8EF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086" y="5264049"/>
            <a:ext cx="6080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20" name="Text Box 43">
            <a:extLst>
              <a:ext uri="{FF2B5EF4-FFF2-40B4-BE49-F238E27FC236}">
                <a16:creationId xmlns:a16="http://schemas.microsoft.com/office/drawing/2014/main" id="{6F2B4D56-1F5B-557D-3B10-CBDACB782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974" y="3228874"/>
            <a:ext cx="271462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80273B69-06E1-A006-F8F5-2997B0312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136" y="2912962"/>
            <a:ext cx="14509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的体系结构</a:t>
            </a:r>
          </a:p>
        </p:txBody>
      </p:sp>
      <p:sp>
        <p:nvSpPr>
          <p:cNvPr id="22" name="AutoShape 66">
            <a:extLst>
              <a:ext uri="{FF2B5EF4-FFF2-40B4-BE49-F238E27FC236}">
                <a16:creationId xmlns:a16="http://schemas.microsoft.com/office/drawing/2014/main" id="{1C8A4A0B-8132-F28C-AA7C-A82528236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861" y="3217762"/>
            <a:ext cx="1739900" cy="2338387"/>
          </a:xfrm>
          <a:prstGeom prst="cube">
            <a:avLst>
              <a:gd name="adj" fmla="val 9144"/>
            </a:avLst>
          </a:prstGeom>
          <a:solidFill>
            <a:srgbClr val="7CE07C"/>
          </a:solidFill>
          <a:ln w="1905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Freeform 69">
            <a:extLst>
              <a:ext uri="{FF2B5EF4-FFF2-40B4-BE49-F238E27FC236}">
                <a16:creationId xmlns:a16="http://schemas.microsoft.com/office/drawing/2014/main" id="{89924DEC-9DAE-5901-3CA7-AE37CFFA967B}"/>
              </a:ext>
            </a:extLst>
          </p:cNvPr>
          <p:cNvSpPr/>
          <p:nvPr/>
        </p:nvSpPr>
        <p:spPr bwMode="auto">
          <a:xfrm>
            <a:off x="5360099" y="4114699"/>
            <a:ext cx="1741487" cy="182563"/>
          </a:xfrm>
          <a:custGeom>
            <a:avLst/>
            <a:gdLst>
              <a:gd name="T0" fmla="*/ 2147483647 w 1684"/>
              <a:gd name="T1" fmla="*/ 0 h 176"/>
              <a:gd name="T2" fmla="*/ 2147483647 w 1684"/>
              <a:gd name="T3" fmla="*/ 2147483647 h 176"/>
              <a:gd name="T4" fmla="*/ 0 w 1684"/>
              <a:gd name="T5" fmla="*/ 2147483647 h 176"/>
              <a:gd name="T6" fmla="*/ 0 60000 65536"/>
              <a:gd name="T7" fmla="*/ 0 60000 65536"/>
              <a:gd name="T8" fmla="*/ 0 60000 65536"/>
              <a:gd name="T9" fmla="*/ 0 w 1684"/>
              <a:gd name="T10" fmla="*/ 0 h 176"/>
              <a:gd name="T11" fmla="*/ 1684 w 1684"/>
              <a:gd name="T12" fmla="*/ 176 h 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4" h="176">
                <a:moveTo>
                  <a:pt x="1684" y="0"/>
                </a:moveTo>
                <a:lnTo>
                  <a:pt x="1528" y="172"/>
                </a:lnTo>
                <a:lnTo>
                  <a:pt x="0" y="176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Freeform 70">
            <a:extLst>
              <a:ext uri="{FF2B5EF4-FFF2-40B4-BE49-F238E27FC236}">
                <a16:creationId xmlns:a16="http://schemas.microsoft.com/office/drawing/2014/main" id="{672B477F-730C-CF22-BF83-CC55FAB0F789}"/>
              </a:ext>
            </a:extLst>
          </p:cNvPr>
          <p:cNvSpPr/>
          <p:nvPr/>
        </p:nvSpPr>
        <p:spPr bwMode="auto">
          <a:xfrm>
            <a:off x="5360099" y="4424262"/>
            <a:ext cx="1738312" cy="193675"/>
          </a:xfrm>
          <a:custGeom>
            <a:avLst/>
            <a:gdLst>
              <a:gd name="T0" fmla="*/ 2147483647 w 1679"/>
              <a:gd name="T1" fmla="*/ 0 h 186"/>
              <a:gd name="T2" fmla="*/ 2147483647 w 1679"/>
              <a:gd name="T3" fmla="*/ 2147483647 h 186"/>
              <a:gd name="T4" fmla="*/ 0 w 1679"/>
              <a:gd name="T5" fmla="*/ 2147483647 h 186"/>
              <a:gd name="T6" fmla="*/ 0 60000 65536"/>
              <a:gd name="T7" fmla="*/ 0 60000 65536"/>
              <a:gd name="T8" fmla="*/ 0 60000 65536"/>
              <a:gd name="T9" fmla="*/ 0 w 1679"/>
              <a:gd name="T10" fmla="*/ 0 h 186"/>
              <a:gd name="T11" fmla="*/ 1679 w 1679"/>
              <a:gd name="T12" fmla="*/ 186 h 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79" h="186">
                <a:moveTo>
                  <a:pt x="1679" y="0"/>
                </a:moveTo>
                <a:lnTo>
                  <a:pt x="1525" y="186"/>
                </a:lnTo>
                <a:lnTo>
                  <a:pt x="0" y="183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Freeform 71">
            <a:extLst>
              <a:ext uri="{FF2B5EF4-FFF2-40B4-BE49-F238E27FC236}">
                <a16:creationId xmlns:a16="http://schemas.microsoft.com/office/drawing/2014/main" id="{B84BCC65-6A4C-E7F7-7DD0-ECFACE4C2D00}"/>
              </a:ext>
            </a:extLst>
          </p:cNvPr>
          <p:cNvSpPr/>
          <p:nvPr/>
        </p:nvSpPr>
        <p:spPr bwMode="auto">
          <a:xfrm>
            <a:off x="5360099" y="4756049"/>
            <a:ext cx="1725612" cy="168275"/>
          </a:xfrm>
          <a:custGeom>
            <a:avLst/>
            <a:gdLst>
              <a:gd name="T0" fmla="*/ 2147483647 w 1668"/>
              <a:gd name="T1" fmla="*/ 0 h 162"/>
              <a:gd name="T2" fmla="*/ 2147483647 w 1668"/>
              <a:gd name="T3" fmla="*/ 2147483647 h 162"/>
              <a:gd name="T4" fmla="*/ 0 w 1668"/>
              <a:gd name="T5" fmla="*/ 2147483647 h 162"/>
              <a:gd name="T6" fmla="*/ 0 60000 65536"/>
              <a:gd name="T7" fmla="*/ 0 60000 65536"/>
              <a:gd name="T8" fmla="*/ 0 60000 65536"/>
              <a:gd name="T9" fmla="*/ 0 w 1668"/>
              <a:gd name="T10" fmla="*/ 0 h 162"/>
              <a:gd name="T11" fmla="*/ 1668 w 1668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8" h="162">
                <a:moveTo>
                  <a:pt x="1668" y="0"/>
                </a:moveTo>
                <a:lnTo>
                  <a:pt x="1527" y="160"/>
                </a:lnTo>
                <a:lnTo>
                  <a:pt x="0" y="16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Text Box 73">
            <a:extLst>
              <a:ext uri="{FF2B5EF4-FFF2-40B4-BE49-F238E27FC236}">
                <a16:creationId xmlns:a16="http://schemas.microsoft.com/office/drawing/2014/main" id="{53BEBB60-C5AD-5A7E-7CCA-8D70D5E69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761" y="3470174"/>
            <a:ext cx="6080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6D557D1B-9206-79AA-B7A9-436F43A07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1099" y="5000524"/>
            <a:ext cx="889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网络接口层</a:t>
            </a:r>
          </a:p>
        </p:txBody>
      </p:sp>
      <p:sp>
        <p:nvSpPr>
          <p:cNvPr id="28" name="Text Box 9">
            <a:extLst>
              <a:ext uri="{FF2B5EF4-FFF2-40B4-BE49-F238E27FC236}">
                <a16:creationId xmlns:a16="http://schemas.microsoft.com/office/drawing/2014/main" id="{54CAE21C-A06F-EE60-29B1-3C9113079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961" y="4635399"/>
            <a:ext cx="79057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网际层 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</a:p>
        </p:txBody>
      </p:sp>
      <p:sp>
        <p:nvSpPr>
          <p:cNvPr id="29" name="Text Box 16">
            <a:extLst>
              <a:ext uri="{FF2B5EF4-FFF2-40B4-BE49-F238E27FC236}">
                <a16:creationId xmlns:a16="http://schemas.microsoft.com/office/drawing/2014/main" id="{3904AC49-11A0-3D1E-3D4A-99246E6EA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8186" y="3730524"/>
            <a:ext cx="16970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各种应用层协议，如</a:t>
            </a:r>
          </a:p>
          <a:p>
            <a:pPr algn="ctr"/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DNS, HTTP, SMTP </a:t>
            </a:r>
            <a:r>
              <a:rPr kumimoji="1" lang="zh-CN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0" name="Text Box 41">
            <a:extLst>
              <a:ext uri="{FF2B5EF4-FFF2-40B4-BE49-F238E27FC236}">
                <a16:creationId xmlns:a16="http://schemas.microsoft.com/office/drawing/2014/main" id="{0AA7CDCA-EB99-9BF3-18F4-E520CDA0C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8511" y="4335362"/>
            <a:ext cx="15732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运输层 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(TCP </a:t>
            </a:r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UDP)</a:t>
            </a:r>
          </a:p>
        </p:txBody>
      </p:sp>
      <p:sp>
        <p:nvSpPr>
          <p:cNvPr id="31" name="Text Box 12">
            <a:extLst>
              <a:ext uri="{FF2B5EF4-FFF2-40B4-BE49-F238E27FC236}">
                <a16:creationId xmlns:a16="http://schemas.microsoft.com/office/drawing/2014/main" id="{9EEFA6DE-6FFD-1EEA-7DC7-D58EF4416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824" y="2901849"/>
            <a:ext cx="1744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的体系结构</a:t>
            </a:r>
          </a:p>
        </p:txBody>
      </p:sp>
      <p:sp>
        <p:nvSpPr>
          <p:cNvPr id="32" name="Text Box 95">
            <a:extLst>
              <a:ext uri="{FF2B5EF4-FFF2-40B4-BE49-F238E27FC236}">
                <a16:creationId xmlns:a16="http://schemas.microsoft.com/office/drawing/2014/main" id="{4EC7FED0-EBDA-31BE-75AE-A82E79DA0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3424" y="5551387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33" name="Text Box 96">
            <a:extLst>
              <a:ext uri="{FF2B5EF4-FFF2-40B4-BE49-F238E27FC236}">
                <a16:creationId xmlns:a16="http://schemas.microsoft.com/office/drawing/2014/main" id="{8005B3BD-5003-1E65-D56B-9D9EDDADB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561" y="5551387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34" name="Text Box 97">
            <a:extLst>
              <a:ext uri="{FF2B5EF4-FFF2-40B4-BE49-F238E27FC236}">
                <a16:creationId xmlns:a16="http://schemas.microsoft.com/office/drawing/2014/main" id="{5C8BBB8B-1D9E-D270-D0CD-BA291C1D7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024" y="5551387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35" name="AutoShape 98">
            <a:extLst>
              <a:ext uri="{FF2B5EF4-FFF2-40B4-BE49-F238E27FC236}">
                <a16:creationId xmlns:a16="http://schemas.microsoft.com/office/drawing/2014/main" id="{83C13FE5-6B00-219E-0367-5CE9846A6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049" y="3241574"/>
            <a:ext cx="1338262" cy="2300288"/>
          </a:xfrm>
          <a:prstGeom prst="cube">
            <a:avLst>
              <a:gd name="adj" fmla="val 9144"/>
            </a:avLst>
          </a:prstGeom>
          <a:solidFill>
            <a:srgbClr val="FFC000"/>
          </a:solidFill>
          <a:ln w="1905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200" b="1">
              <a:solidFill>
                <a:srgbClr val="1956B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Freeform 101">
            <a:extLst>
              <a:ext uri="{FF2B5EF4-FFF2-40B4-BE49-F238E27FC236}">
                <a16:creationId xmlns:a16="http://schemas.microsoft.com/office/drawing/2014/main" id="{2991D065-704F-35C0-A326-872A3B297525}"/>
              </a:ext>
            </a:extLst>
          </p:cNvPr>
          <p:cNvSpPr/>
          <p:nvPr/>
        </p:nvSpPr>
        <p:spPr bwMode="auto">
          <a:xfrm>
            <a:off x="7500049" y="4114699"/>
            <a:ext cx="1328737" cy="169863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Freeform 102">
            <a:extLst>
              <a:ext uri="{FF2B5EF4-FFF2-40B4-BE49-F238E27FC236}">
                <a16:creationId xmlns:a16="http://schemas.microsoft.com/office/drawing/2014/main" id="{C0F9D7D7-879F-B377-D083-70F2FCFA088F}"/>
              </a:ext>
            </a:extLst>
          </p:cNvPr>
          <p:cNvSpPr/>
          <p:nvPr/>
        </p:nvSpPr>
        <p:spPr bwMode="auto">
          <a:xfrm>
            <a:off x="7500049" y="4427437"/>
            <a:ext cx="1328737" cy="173037"/>
          </a:xfrm>
          <a:custGeom>
            <a:avLst/>
            <a:gdLst>
              <a:gd name="T0" fmla="*/ 2147483647 w 2049"/>
              <a:gd name="T1" fmla="*/ 0 h 185"/>
              <a:gd name="T2" fmla="*/ 2147483647 w 2049"/>
              <a:gd name="T3" fmla="*/ 2147483647 h 185"/>
              <a:gd name="T4" fmla="*/ 0 w 2049"/>
              <a:gd name="T5" fmla="*/ 2147483647 h 185"/>
              <a:gd name="T6" fmla="*/ 0 60000 65536"/>
              <a:gd name="T7" fmla="*/ 0 60000 65536"/>
              <a:gd name="T8" fmla="*/ 0 60000 65536"/>
              <a:gd name="T9" fmla="*/ 0 w 2049"/>
              <a:gd name="T10" fmla="*/ 0 h 185"/>
              <a:gd name="T11" fmla="*/ 2049 w 2049"/>
              <a:gd name="T12" fmla="*/ 185 h 1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5">
                <a:moveTo>
                  <a:pt x="2049" y="0"/>
                </a:moveTo>
                <a:lnTo>
                  <a:pt x="1873" y="185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Freeform 103">
            <a:extLst>
              <a:ext uri="{FF2B5EF4-FFF2-40B4-BE49-F238E27FC236}">
                <a16:creationId xmlns:a16="http://schemas.microsoft.com/office/drawing/2014/main" id="{1D26054A-3134-567E-ED03-29974E8DFD0E}"/>
              </a:ext>
            </a:extLst>
          </p:cNvPr>
          <p:cNvSpPr/>
          <p:nvPr/>
        </p:nvSpPr>
        <p:spPr bwMode="auto">
          <a:xfrm>
            <a:off x="7498461" y="4740174"/>
            <a:ext cx="1330325" cy="174625"/>
          </a:xfrm>
          <a:custGeom>
            <a:avLst/>
            <a:gdLst>
              <a:gd name="T0" fmla="*/ 2147483647 w 2049"/>
              <a:gd name="T1" fmla="*/ 0 h 187"/>
              <a:gd name="T2" fmla="*/ 2147483647 w 2049"/>
              <a:gd name="T3" fmla="*/ 2147483647 h 187"/>
              <a:gd name="T4" fmla="*/ 0 w 2049"/>
              <a:gd name="T5" fmla="*/ 2147483647 h 187"/>
              <a:gd name="T6" fmla="*/ 0 60000 65536"/>
              <a:gd name="T7" fmla="*/ 0 60000 65536"/>
              <a:gd name="T8" fmla="*/ 0 60000 65536"/>
              <a:gd name="T9" fmla="*/ 0 w 2049"/>
              <a:gd name="T10" fmla="*/ 0 h 187"/>
              <a:gd name="T11" fmla="*/ 2049 w 2049"/>
              <a:gd name="T12" fmla="*/ 187 h 1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7">
                <a:moveTo>
                  <a:pt x="2049" y="0"/>
                </a:moveTo>
                <a:lnTo>
                  <a:pt x="1863" y="187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Freeform 104">
            <a:extLst>
              <a:ext uri="{FF2B5EF4-FFF2-40B4-BE49-F238E27FC236}">
                <a16:creationId xmlns:a16="http://schemas.microsoft.com/office/drawing/2014/main" id="{12DDDCB9-3307-212A-EBCE-47CCE787AA73}"/>
              </a:ext>
            </a:extLst>
          </p:cNvPr>
          <p:cNvSpPr/>
          <p:nvPr/>
        </p:nvSpPr>
        <p:spPr bwMode="auto">
          <a:xfrm>
            <a:off x="7496874" y="5052912"/>
            <a:ext cx="1330325" cy="169862"/>
          </a:xfrm>
          <a:custGeom>
            <a:avLst/>
            <a:gdLst>
              <a:gd name="T0" fmla="*/ 2147483647 w 2049"/>
              <a:gd name="T1" fmla="*/ 0 h 182"/>
              <a:gd name="T2" fmla="*/ 2147483647 w 2049"/>
              <a:gd name="T3" fmla="*/ 2147483647 h 182"/>
              <a:gd name="T4" fmla="*/ 0 w 2049"/>
              <a:gd name="T5" fmla="*/ 2147483647 h 182"/>
              <a:gd name="T6" fmla="*/ 0 60000 65536"/>
              <a:gd name="T7" fmla="*/ 0 60000 65536"/>
              <a:gd name="T8" fmla="*/ 0 60000 65536"/>
              <a:gd name="T9" fmla="*/ 0 w 2049"/>
              <a:gd name="T10" fmla="*/ 0 h 182"/>
              <a:gd name="T11" fmla="*/ 2049 w 2049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82">
                <a:moveTo>
                  <a:pt x="2049" y="0"/>
                </a:moveTo>
                <a:lnTo>
                  <a:pt x="1870" y="179"/>
                </a:lnTo>
                <a:lnTo>
                  <a:pt x="0" y="182"/>
                </a:lnTo>
              </a:path>
            </a:pathLst>
          </a:cu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Text Box 106">
            <a:extLst>
              <a:ext uri="{FF2B5EF4-FFF2-40B4-BE49-F238E27FC236}">
                <a16:creationId xmlns:a16="http://schemas.microsoft.com/office/drawing/2014/main" id="{7ADBD78A-9CE9-EC72-F03F-49A6C2CF7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136" y="4316312"/>
            <a:ext cx="6080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41" name="Text Box 107">
            <a:extLst>
              <a:ext uri="{FF2B5EF4-FFF2-40B4-BE49-F238E27FC236}">
                <a16:creationId xmlns:a16="http://schemas.microsoft.com/office/drawing/2014/main" id="{1CE92DD4-B158-0287-AA5C-28FBA3B51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074" y="4641749"/>
            <a:ext cx="6080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42" name="Text Box 108">
            <a:extLst>
              <a:ext uri="{FF2B5EF4-FFF2-40B4-BE49-F238E27FC236}">
                <a16:creationId xmlns:a16="http://schemas.microsoft.com/office/drawing/2014/main" id="{FFDDAC8C-5A8B-9621-468E-ECD72D0D3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074" y="3638449"/>
            <a:ext cx="6080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43" name="Text Box 110">
            <a:extLst>
              <a:ext uri="{FF2B5EF4-FFF2-40B4-BE49-F238E27FC236}">
                <a16:creationId xmlns:a16="http://schemas.microsoft.com/office/drawing/2014/main" id="{F597BE3E-C3C3-6549-6028-D81057B29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886" y="4937024"/>
            <a:ext cx="889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44" name="Text Box 111">
            <a:extLst>
              <a:ext uri="{FF2B5EF4-FFF2-40B4-BE49-F238E27FC236}">
                <a16:creationId xmlns:a16="http://schemas.microsoft.com/office/drawing/2014/main" id="{8ADD3C66-308A-4EAE-D559-AA89C1410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074" y="5251349"/>
            <a:ext cx="6080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45" name="Text Box 112">
            <a:extLst>
              <a:ext uri="{FF2B5EF4-FFF2-40B4-BE49-F238E27FC236}">
                <a16:creationId xmlns:a16="http://schemas.microsoft.com/office/drawing/2014/main" id="{18CBD49C-B21A-210E-D29C-BFC27C4D0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961" y="3247924"/>
            <a:ext cx="271463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90000"/>
              </a:lnSpc>
            </a:pPr>
            <a:endParaRPr kumimoji="1" lang="en-US" altLang="zh-CN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>
              <a:lnSpc>
                <a:spcPct val="190000"/>
              </a:lnSpc>
            </a:pPr>
            <a:endParaRPr kumimoji="1" lang="en-US" altLang="zh-CN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90000"/>
              </a:lnSpc>
            </a:pPr>
            <a:r>
              <a:rPr kumimoji="1" lang="en-US" altLang="zh-CN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46" name="Text Box 113">
            <a:extLst>
              <a:ext uri="{FF2B5EF4-FFF2-40B4-BE49-F238E27FC236}">
                <a16:creationId xmlns:a16="http://schemas.microsoft.com/office/drawing/2014/main" id="{9F4E5842-B107-DE23-4E35-80C7D8CC1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5411" y="2897087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sp>
        <p:nvSpPr>
          <p:cNvPr id="47" name="Text Box 15">
            <a:extLst>
              <a:ext uri="{FF2B5EF4-FFF2-40B4-BE49-F238E27FC236}">
                <a16:creationId xmlns:a16="http://schemas.microsoft.com/office/drawing/2014/main" id="{0F1357F6-9F8E-414E-6E9A-DCAE5AA01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5324" y="5235474"/>
            <a:ext cx="18780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100" b="1">
                <a:latin typeface="微软雅黑" panose="020B0503020204020204" pitchFamily="34" charset="-122"/>
                <a:ea typeface="微软雅黑" panose="020B0503020204020204" pitchFamily="34" charset="-122"/>
              </a:rPr>
              <a:t>（这一层并没有具体内容）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0BD2208-A7ED-C069-51A0-1E9B6CAE7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299" y="5787924"/>
            <a:ext cx="690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计算机网络体系结构：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 OSI </a:t>
            </a:r>
            <a:r>
              <a:rPr lang="zh-CN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的七层协议；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(b) TCP/IP </a:t>
            </a:r>
            <a:r>
              <a:rPr lang="zh-CN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的四层协议；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(c) </a:t>
            </a:r>
            <a:r>
              <a:rPr lang="zh-CN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542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协议与体系结构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301D838-3853-8A10-854C-31CACB202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513468"/>
            <a:ext cx="10541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数据链路层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6A8D0F-3596-562B-232D-8CA660085731}"/>
              </a:ext>
            </a:extLst>
          </p:cNvPr>
          <p:cNvGrpSpPr/>
          <p:nvPr/>
        </p:nvGrpSpPr>
        <p:grpSpPr bwMode="auto">
          <a:xfrm>
            <a:off x="573088" y="2675143"/>
            <a:ext cx="1809750" cy="2820987"/>
            <a:chOff x="673" y="1389"/>
            <a:chExt cx="1535" cy="2041"/>
          </a:xfrm>
        </p:grpSpPr>
        <p:sp>
          <p:nvSpPr>
            <p:cNvPr id="49" name="AutoShape 6">
              <a:extLst>
                <a:ext uri="{FF2B5EF4-FFF2-40B4-BE49-F238E27FC236}">
                  <a16:creationId xmlns:a16="http://schemas.microsoft.com/office/drawing/2014/main" id="{DAFA9031-24C4-FE45-F807-1041B81A9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" y="1389"/>
              <a:ext cx="1535" cy="2041"/>
            </a:xfrm>
            <a:prstGeom prst="cube">
              <a:avLst>
                <a:gd name="adj" fmla="val 9250"/>
              </a:avLst>
            </a:prstGeom>
            <a:solidFill>
              <a:srgbClr val="0089FA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C7438032-91F5-95BB-3274-DF9C97B1D604}"/>
                </a:ext>
              </a:extLst>
            </p:cNvPr>
            <p:cNvSpPr/>
            <p:nvPr/>
          </p:nvSpPr>
          <p:spPr bwMode="auto">
            <a:xfrm>
              <a:off x="673" y="2920"/>
              <a:ext cx="1535" cy="134"/>
            </a:xfrm>
            <a:custGeom>
              <a:avLst/>
              <a:gdLst>
                <a:gd name="T0" fmla="*/ 0 w 1200"/>
                <a:gd name="T1" fmla="*/ 134 h 120"/>
                <a:gd name="T2" fmla="*/ 1382 w 1200"/>
                <a:gd name="T3" fmla="*/ 134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305057F0-A6F4-3011-A358-40B611EC588A}"/>
                </a:ext>
              </a:extLst>
            </p:cNvPr>
            <p:cNvSpPr/>
            <p:nvPr/>
          </p:nvSpPr>
          <p:spPr bwMode="auto">
            <a:xfrm>
              <a:off x="673" y="2530"/>
              <a:ext cx="1535" cy="134"/>
            </a:xfrm>
            <a:custGeom>
              <a:avLst/>
              <a:gdLst>
                <a:gd name="T0" fmla="*/ 0 w 1200"/>
                <a:gd name="T1" fmla="*/ 134 h 120"/>
                <a:gd name="T2" fmla="*/ 1382 w 1200"/>
                <a:gd name="T3" fmla="*/ 134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2182ECAF-7518-592A-1928-28C9DF8A714F}"/>
                </a:ext>
              </a:extLst>
            </p:cNvPr>
            <p:cNvSpPr/>
            <p:nvPr/>
          </p:nvSpPr>
          <p:spPr bwMode="auto">
            <a:xfrm>
              <a:off x="673" y="2147"/>
              <a:ext cx="1535" cy="135"/>
            </a:xfrm>
            <a:custGeom>
              <a:avLst/>
              <a:gdLst>
                <a:gd name="T0" fmla="*/ 0 w 1200"/>
                <a:gd name="T1" fmla="*/ 135 h 120"/>
                <a:gd name="T2" fmla="*/ 1382 w 1200"/>
                <a:gd name="T3" fmla="*/ 135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1C72918D-AE21-65F5-2EEE-65B86BC99D89}"/>
                </a:ext>
              </a:extLst>
            </p:cNvPr>
            <p:cNvSpPr/>
            <p:nvPr/>
          </p:nvSpPr>
          <p:spPr bwMode="auto">
            <a:xfrm>
              <a:off x="673" y="1765"/>
              <a:ext cx="1535" cy="134"/>
            </a:xfrm>
            <a:custGeom>
              <a:avLst/>
              <a:gdLst>
                <a:gd name="T0" fmla="*/ 0 w 1200"/>
                <a:gd name="T1" fmla="*/ 134 h 120"/>
                <a:gd name="T2" fmla="*/ 1382 w 1200"/>
                <a:gd name="T3" fmla="*/ 134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" name="Text Box 11">
            <a:extLst>
              <a:ext uri="{FF2B5EF4-FFF2-40B4-BE49-F238E27FC236}">
                <a16:creationId xmlns:a16="http://schemas.microsoft.com/office/drawing/2014/main" id="{0A3B9A66-C886-4940-05EA-D5EF9C2D7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935493"/>
            <a:ext cx="15367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  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55" name="Text Box 12">
            <a:extLst>
              <a:ext uri="{FF2B5EF4-FFF2-40B4-BE49-F238E27FC236}">
                <a16:creationId xmlns:a16="http://schemas.microsoft.com/office/drawing/2014/main" id="{8EACE494-7B29-ACCF-6D45-32CA7AD90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467305"/>
            <a:ext cx="15367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    </a:t>
            </a:r>
            <a:r>
              <a:rPr kumimoji="1"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56" name="Text Box 13">
            <a:extLst>
              <a:ext uri="{FF2B5EF4-FFF2-40B4-BE49-F238E27FC236}">
                <a16:creationId xmlns:a16="http://schemas.microsoft.com/office/drawing/2014/main" id="{A0076AEA-C666-C28B-7B07-5216D7FB3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994355"/>
            <a:ext cx="15367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57" name="Text Box 14">
            <a:extLst>
              <a:ext uri="{FF2B5EF4-FFF2-40B4-BE49-F238E27FC236}">
                <a16:creationId xmlns:a16="http://schemas.microsoft.com/office/drawing/2014/main" id="{577FBF8F-A380-B48C-0AE8-22AE703C5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4522993"/>
            <a:ext cx="17033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58" name="Text Box 15">
            <a:extLst>
              <a:ext uri="{FF2B5EF4-FFF2-40B4-BE49-F238E27FC236}">
                <a16:creationId xmlns:a16="http://schemas.microsoft.com/office/drawing/2014/main" id="{023A4452-EF21-60C2-A174-BE1A05AFB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5064330"/>
            <a:ext cx="15367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5E98289-2908-DA63-F91D-DE3C6FA1C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2851355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(application layer)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5683CA7-F0B2-472B-0242-6315EAA96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3383168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(transport layer)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549312C-F178-3DCF-EA23-1D80458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3910218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(network layer)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7E9B09F-D11F-6B69-4E65-72C348A3A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4438855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 link layer)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405D93-AF73-4BF1-4398-F5CC4CA5E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4980193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(physical layer) </a:t>
            </a: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5CD138A0-DCB3-E424-DF90-1C484EA8A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095" y="1741857"/>
            <a:ext cx="34163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五层协议的体系结构</a:t>
            </a:r>
          </a:p>
        </p:txBody>
      </p:sp>
      <p:sp>
        <p:nvSpPr>
          <p:cNvPr id="65" name="Text Box 44">
            <a:extLst>
              <a:ext uri="{FF2B5EF4-FFF2-40B4-BE49-F238E27FC236}">
                <a16:creationId xmlns:a16="http://schemas.microsoft.com/office/drawing/2014/main" id="{0CF499C4-6493-C67B-BF19-670EB17D5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80784"/>
            <a:ext cx="5503100" cy="445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</a:rPr>
              <a:t>五层协议体系结构中各层的功能分别如下：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FF0000"/>
                </a:solidFill>
              </a:rPr>
              <a:t>应用层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zh-CN" sz="2400" dirty="0"/>
              <a:t>为应用进程提供服务，定义了应用进程间通信和交互的规则。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FF0000"/>
                </a:solidFill>
              </a:rPr>
              <a:t>传输层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zh-CN" sz="2400" dirty="0"/>
              <a:t>为应用进程提供</a:t>
            </a:r>
            <a:r>
              <a:rPr lang="zh-CN" altLang="zh-CN" sz="2400" dirty="0">
                <a:solidFill>
                  <a:srgbClr val="1353A2"/>
                </a:solidFill>
              </a:rPr>
              <a:t>连接服务</a:t>
            </a:r>
            <a:r>
              <a:rPr lang="zh-CN" altLang="zh-CN" sz="2400" dirty="0"/>
              <a:t>，实现连接</a:t>
            </a:r>
            <a:r>
              <a:rPr lang="zh-CN" altLang="zh-CN" sz="2400" dirty="0">
                <a:solidFill>
                  <a:srgbClr val="1353A2"/>
                </a:solidFill>
              </a:rPr>
              <a:t>两端进程的会话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FF0000"/>
                </a:solidFill>
              </a:rPr>
              <a:t>网络层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zh-CN" sz="2400" dirty="0"/>
              <a:t>为</a:t>
            </a:r>
            <a:r>
              <a:rPr lang="zh-CN" altLang="zh-CN" sz="2400" dirty="0">
                <a:solidFill>
                  <a:srgbClr val="1353A2"/>
                </a:solidFill>
              </a:rPr>
              <a:t>分组交换网</a:t>
            </a:r>
            <a:r>
              <a:rPr lang="zh-CN" altLang="zh-CN" sz="2400" dirty="0"/>
              <a:t>上的不同主机提供通信服务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495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2" presetClass="entr" presetSubtype="0" fill="hold" grpId="0" nodeType="click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2" presetClass="entr" presetSubtype="0" fill="hold" grpId="0" nodeType="click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协议与体系结构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F301D838-3853-8A10-854C-31CACB202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513468"/>
            <a:ext cx="1054100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>
                <a:solidFill>
                  <a:srgbClr val="000099"/>
                </a:solidFill>
                <a:ea typeface="黑体" panose="02010609060101010101" pitchFamily="49" charset="-122"/>
              </a:rPr>
              <a:t>数据链路层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6A8D0F-3596-562B-232D-8CA660085731}"/>
              </a:ext>
            </a:extLst>
          </p:cNvPr>
          <p:cNvGrpSpPr/>
          <p:nvPr/>
        </p:nvGrpSpPr>
        <p:grpSpPr bwMode="auto">
          <a:xfrm>
            <a:off x="573088" y="2675143"/>
            <a:ext cx="1809750" cy="2820987"/>
            <a:chOff x="673" y="1389"/>
            <a:chExt cx="1535" cy="2041"/>
          </a:xfrm>
        </p:grpSpPr>
        <p:sp>
          <p:nvSpPr>
            <p:cNvPr id="49" name="AutoShape 6">
              <a:extLst>
                <a:ext uri="{FF2B5EF4-FFF2-40B4-BE49-F238E27FC236}">
                  <a16:creationId xmlns:a16="http://schemas.microsoft.com/office/drawing/2014/main" id="{DAFA9031-24C4-FE45-F807-1041B81A9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" y="1389"/>
              <a:ext cx="1535" cy="2041"/>
            </a:xfrm>
            <a:prstGeom prst="cube">
              <a:avLst>
                <a:gd name="adj" fmla="val 9250"/>
              </a:avLst>
            </a:prstGeom>
            <a:solidFill>
              <a:srgbClr val="0089FA"/>
            </a:solidFill>
            <a:ln w="1905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C7438032-91F5-95BB-3274-DF9C97B1D604}"/>
                </a:ext>
              </a:extLst>
            </p:cNvPr>
            <p:cNvSpPr/>
            <p:nvPr/>
          </p:nvSpPr>
          <p:spPr bwMode="auto">
            <a:xfrm>
              <a:off x="673" y="2920"/>
              <a:ext cx="1535" cy="134"/>
            </a:xfrm>
            <a:custGeom>
              <a:avLst/>
              <a:gdLst>
                <a:gd name="T0" fmla="*/ 0 w 1200"/>
                <a:gd name="T1" fmla="*/ 134 h 120"/>
                <a:gd name="T2" fmla="*/ 1382 w 1200"/>
                <a:gd name="T3" fmla="*/ 134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305057F0-A6F4-3011-A358-40B611EC588A}"/>
                </a:ext>
              </a:extLst>
            </p:cNvPr>
            <p:cNvSpPr/>
            <p:nvPr/>
          </p:nvSpPr>
          <p:spPr bwMode="auto">
            <a:xfrm>
              <a:off x="673" y="2530"/>
              <a:ext cx="1535" cy="134"/>
            </a:xfrm>
            <a:custGeom>
              <a:avLst/>
              <a:gdLst>
                <a:gd name="T0" fmla="*/ 0 w 1200"/>
                <a:gd name="T1" fmla="*/ 134 h 120"/>
                <a:gd name="T2" fmla="*/ 1382 w 1200"/>
                <a:gd name="T3" fmla="*/ 134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2182ECAF-7518-592A-1928-28C9DF8A714F}"/>
                </a:ext>
              </a:extLst>
            </p:cNvPr>
            <p:cNvSpPr/>
            <p:nvPr/>
          </p:nvSpPr>
          <p:spPr bwMode="auto">
            <a:xfrm>
              <a:off x="673" y="2147"/>
              <a:ext cx="1535" cy="135"/>
            </a:xfrm>
            <a:custGeom>
              <a:avLst/>
              <a:gdLst>
                <a:gd name="T0" fmla="*/ 0 w 1200"/>
                <a:gd name="T1" fmla="*/ 135 h 120"/>
                <a:gd name="T2" fmla="*/ 1382 w 1200"/>
                <a:gd name="T3" fmla="*/ 135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1C72918D-AE21-65F5-2EEE-65B86BC99D89}"/>
                </a:ext>
              </a:extLst>
            </p:cNvPr>
            <p:cNvSpPr/>
            <p:nvPr/>
          </p:nvSpPr>
          <p:spPr bwMode="auto">
            <a:xfrm>
              <a:off x="673" y="1765"/>
              <a:ext cx="1535" cy="134"/>
            </a:xfrm>
            <a:custGeom>
              <a:avLst/>
              <a:gdLst>
                <a:gd name="T0" fmla="*/ 0 w 1200"/>
                <a:gd name="T1" fmla="*/ 134 h 120"/>
                <a:gd name="T2" fmla="*/ 1382 w 1200"/>
                <a:gd name="T3" fmla="*/ 134 h 120"/>
                <a:gd name="T4" fmla="*/ 1535 w 1200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00" h="120">
                  <a:moveTo>
                    <a:pt x="0" y="120"/>
                  </a:moveTo>
                  <a:lnTo>
                    <a:pt x="1080" y="120"/>
                  </a:lnTo>
                  <a:lnTo>
                    <a:pt x="1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" name="Text Box 11">
            <a:extLst>
              <a:ext uri="{FF2B5EF4-FFF2-40B4-BE49-F238E27FC236}">
                <a16:creationId xmlns:a16="http://schemas.microsoft.com/office/drawing/2014/main" id="{0A3B9A66-C886-4940-05EA-D5EF9C2D7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935493"/>
            <a:ext cx="15367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  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55" name="Text Box 12">
            <a:extLst>
              <a:ext uri="{FF2B5EF4-FFF2-40B4-BE49-F238E27FC236}">
                <a16:creationId xmlns:a16="http://schemas.microsoft.com/office/drawing/2014/main" id="{8EACE494-7B29-ACCF-6D45-32CA7AD90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467305"/>
            <a:ext cx="15367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    </a:t>
            </a:r>
            <a:r>
              <a:rPr kumimoji="1" lang="en-US" altLang="zh-CN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</a:p>
        </p:txBody>
      </p:sp>
      <p:sp>
        <p:nvSpPr>
          <p:cNvPr id="56" name="Text Box 13">
            <a:extLst>
              <a:ext uri="{FF2B5EF4-FFF2-40B4-BE49-F238E27FC236}">
                <a16:creationId xmlns:a16="http://schemas.microsoft.com/office/drawing/2014/main" id="{A0076AEA-C666-C28B-7B07-5216D7FB3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994355"/>
            <a:ext cx="15367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57" name="Text Box 14">
            <a:extLst>
              <a:ext uri="{FF2B5EF4-FFF2-40B4-BE49-F238E27FC236}">
                <a16:creationId xmlns:a16="http://schemas.microsoft.com/office/drawing/2014/main" id="{577FBF8F-A380-B48C-0AE8-22AE703C5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4522993"/>
            <a:ext cx="17033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58" name="Text Box 15">
            <a:extLst>
              <a:ext uri="{FF2B5EF4-FFF2-40B4-BE49-F238E27FC236}">
                <a16:creationId xmlns:a16="http://schemas.microsoft.com/office/drawing/2014/main" id="{023A4452-EF21-60C2-A174-BE1A05AFB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5064330"/>
            <a:ext cx="15367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    </a:t>
            </a:r>
            <a:r>
              <a:rPr kumimoji="1"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5E98289-2908-DA63-F91D-DE3C6FA1C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2851355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(application layer)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5683CA7-F0B2-472B-0242-6315EAA96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3383168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(transport layer)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549312C-F178-3DCF-EA23-1D80458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3910218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(network layer)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7E9B09F-D11F-6B69-4E65-72C348A3A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4438855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 link layer)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405D93-AF73-4BF1-4398-F5CC4CA5E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238" y="4980193"/>
            <a:ext cx="35607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ts val="2700"/>
              </a:lnSpc>
              <a:spcBef>
                <a:spcPts val="600"/>
              </a:spcBef>
              <a:buClr>
                <a:srgbClr val="00B0F0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物理层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(physical layer) </a:t>
            </a: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5CD138A0-DCB3-E424-DF90-1C484EA8A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095" y="1741857"/>
            <a:ext cx="34163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五层协议的体系结构</a:t>
            </a:r>
          </a:p>
        </p:txBody>
      </p:sp>
      <p:sp>
        <p:nvSpPr>
          <p:cNvPr id="65" name="Text Box 44">
            <a:extLst>
              <a:ext uri="{FF2B5EF4-FFF2-40B4-BE49-F238E27FC236}">
                <a16:creationId xmlns:a16="http://schemas.microsoft.com/office/drawing/2014/main" id="{0CF499C4-6493-C67B-BF19-670EB17D5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80784"/>
            <a:ext cx="5503100" cy="501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</a:rPr>
              <a:t>五层协议体系结构中各层的功能分别如下：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FF0000"/>
                </a:solidFill>
              </a:rPr>
              <a:t>数据链路层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zh-CN" sz="2400" dirty="0"/>
              <a:t>可简称为链路层，该层将从网络层获取的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</a:rPr>
              <a:t>数据报组装成帧</a:t>
            </a:r>
            <a:r>
              <a:rPr lang="zh-CN" altLang="zh-CN" sz="2400" dirty="0"/>
              <a:t>，在网络结点之间以帧为单位传输数据。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2400" dirty="0">
                <a:solidFill>
                  <a:srgbClr val="FF0000"/>
                </a:solidFill>
              </a:rPr>
              <a:t>物理层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zh-CN" sz="2400" dirty="0"/>
              <a:t>以</a:t>
            </a:r>
            <a:r>
              <a:rPr lang="zh-CN" altLang="zh-CN" sz="2400" dirty="0">
                <a:solidFill>
                  <a:srgbClr val="1353A2"/>
                </a:solidFill>
              </a:rPr>
              <a:t>比特为单位传输数据</a:t>
            </a:r>
            <a:r>
              <a:rPr lang="zh-CN" altLang="zh-CN" sz="2400" dirty="0"/>
              <a:t>，该层定义了与网络相关的硬件的规范，如表示“</a:t>
            </a:r>
            <a:r>
              <a:rPr lang="en-US" altLang="zh-CN" sz="2400" dirty="0"/>
              <a:t>0</a:t>
            </a:r>
            <a:r>
              <a:rPr lang="zh-CN" altLang="zh-CN" sz="2400" dirty="0"/>
              <a:t>”、“</a:t>
            </a:r>
            <a:r>
              <a:rPr lang="en-US" altLang="zh-CN" sz="2400" dirty="0"/>
              <a:t>1</a:t>
            </a:r>
            <a:r>
              <a:rPr lang="zh-CN" altLang="zh-CN" sz="2400" dirty="0"/>
              <a:t>”电压的电压数值、硬件连接方式等。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120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4FFC849C-D860-562E-1F30-19D10FF87B2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960268" y="2337595"/>
            <a:ext cx="271463" cy="6340475"/>
          </a:xfrm>
          <a:prstGeom prst="can">
            <a:avLst>
              <a:gd name="adj" fmla="val 48656"/>
            </a:avLst>
          </a:prstGeom>
          <a:gradFill rotWithShape="0">
            <a:gsLst>
              <a:gs pos="0">
                <a:srgbClr val="00CC00"/>
              </a:gs>
              <a:gs pos="50000">
                <a:schemeClr val="bg1"/>
              </a:gs>
              <a:gs pos="100000">
                <a:srgbClr val="00CC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 type="none" w="sm" len="lg"/>
            <a:tailEnd type="none" w="sm" len="lg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b="1">
              <a:latin typeface="+mn-lt"/>
              <a:ea typeface="+mn-ea"/>
            </a:endParaRPr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9E6258E6-2D38-0060-CDE9-109825F7E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387" y="2730501"/>
            <a:ext cx="7810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7" name="组合 35">
            <a:extLst>
              <a:ext uri="{FF2B5EF4-FFF2-40B4-BE49-F238E27FC236}">
                <a16:creationId xmlns:a16="http://schemas.microsoft.com/office/drawing/2014/main" id="{EDA7A71D-CDA1-EED9-F61A-2CC4D5CDD2CC}"/>
              </a:ext>
            </a:extLst>
          </p:cNvPr>
          <p:cNvGrpSpPr/>
          <p:nvPr/>
        </p:nvGrpSpPr>
        <p:grpSpPr bwMode="auto">
          <a:xfrm>
            <a:off x="3146425" y="3121026"/>
            <a:ext cx="639762" cy="2268538"/>
            <a:chOff x="1677593" y="2736942"/>
            <a:chExt cx="638487" cy="2268602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C5121A29-E15B-AE03-A2FE-A33525A9A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463" y="3054236"/>
              <a:ext cx="591180" cy="1951308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072452C7-4C52-057E-DFE1-23E909067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538" y="3141689"/>
              <a:ext cx="3113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7688BADE-C5B0-75F6-425B-2DC375177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538" y="3521359"/>
              <a:ext cx="3113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D3585DA6-3D2D-E861-C7ED-6A6430DC0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538" y="3874604"/>
              <a:ext cx="3113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A509F346-2BC3-C87C-27A1-1645986F3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538" y="4247551"/>
              <a:ext cx="3113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D70E75A2-12E6-BE72-3C1F-05EBB5CAD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538" y="4645478"/>
              <a:ext cx="3113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341EC3B-8E9E-F4B3-FC22-8DF4EDD86A7B}"/>
                </a:ext>
              </a:extLst>
            </p:cNvPr>
            <p:cNvSpPr/>
            <p:nvPr/>
          </p:nvSpPr>
          <p:spPr bwMode="auto">
            <a:xfrm>
              <a:off x="1711463" y="3445945"/>
              <a:ext cx="597898" cy="40307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E178D6D-1C10-7890-7110-542602CE5AB0}"/>
                </a:ext>
              </a:extLst>
            </p:cNvPr>
            <p:cNvSpPr/>
            <p:nvPr/>
          </p:nvSpPr>
          <p:spPr bwMode="auto">
            <a:xfrm>
              <a:off x="1718181" y="3820084"/>
              <a:ext cx="597898" cy="40307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6268FCE9-9E1A-C2DD-F779-220785BBFF04}"/>
                </a:ext>
              </a:extLst>
            </p:cNvPr>
            <p:cNvSpPr/>
            <p:nvPr/>
          </p:nvSpPr>
          <p:spPr bwMode="auto">
            <a:xfrm>
              <a:off x="1702506" y="4195256"/>
              <a:ext cx="613574" cy="39274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E5A290EB-AA56-327B-B8D0-8AA4F055460D}"/>
                </a:ext>
              </a:extLst>
            </p:cNvPr>
            <p:cNvSpPr/>
            <p:nvPr/>
          </p:nvSpPr>
          <p:spPr bwMode="auto">
            <a:xfrm>
              <a:off x="1702506" y="4580764"/>
              <a:ext cx="606855" cy="39274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AutoShape 32">
              <a:extLst>
                <a:ext uri="{FF2B5EF4-FFF2-40B4-BE49-F238E27FC236}">
                  <a16:creationId xmlns:a16="http://schemas.microsoft.com/office/drawing/2014/main" id="{E2526A69-AAE9-0289-E574-7BC241F2D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822" y="2736942"/>
              <a:ext cx="483693" cy="362769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33">
              <a:extLst>
                <a:ext uri="{FF2B5EF4-FFF2-40B4-BE49-F238E27FC236}">
                  <a16:creationId xmlns:a16="http://schemas.microsoft.com/office/drawing/2014/main" id="{7FA94277-A502-CD15-35F4-915326CD4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593" y="2748817"/>
              <a:ext cx="5116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4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</a:t>
              </a:r>
              <a:r>
                <a:rPr kumimoji="1" lang="en-US" altLang="zh-CN" sz="1400" b="1" baseline="-250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sz="1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Text Box 41">
            <a:extLst>
              <a:ext uri="{FF2B5EF4-FFF2-40B4-BE49-F238E27FC236}">
                <a16:creationId xmlns:a16="http://schemas.microsoft.com/office/drawing/2014/main" id="{45EF8BF7-263A-CCEC-50E0-3CB5EEEBA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387" y="2730501"/>
            <a:ext cx="7826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kumimoji="1"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grpSp>
        <p:nvGrpSpPr>
          <p:cNvPr id="22" name="组合 49">
            <a:extLst>
              <a:ext uri="{FF2B5EF4-FFF2-40B4-BE49-F238E27FC236}">
                <a16:creationId xmlns:a16="http://schemas.microsoft.com/office/drawing/2014/main" id="{4414877F-8414-C284-847F-B081ABA2B8FC}"/>
              </a:ext>
            </a:extLst>
          </p:cNvPr>
          <p:cNvGrpSpPr/>
          <p:nvPr/>
        </p:nvGrpSpPr>
        <p:grpSpPr bwMode="auto">
          <a:xfrm>
            <a:off x="8408987" y="3092451"/>
            <a:ext cx="658813" cy="2297113"/>
            <a:chOff x="6957831" y="2709037"/>
            <a:chExt cx="658812" cy="2296508"/>
          </a:xfrm>
        </p:grpSpPr>
        <p:sp>
          <p:nvSpPr>
            <p:cNvPr id="23" name="AutoShape 15">
              <a:extLst>
                <a:ext uri="{FF2B5EF4-FFF2-40B4-BE49-F238E27FC236}">
                  <a16:creationId xmlns:a16="http://schemas.microsoft.com/office/drawing/2014/main" id="{B10B69A6-F38F-D4BE-4F91-3950BBCA9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2026" y="3032533"/>
              <a:ext cx="591180" cy="1973012"/>
            </a:xfrm>
            <a:prstGeom prst="cube">
              <a:avLst>
                <a:gd name="adj" fmla="val 10764"/>
              </a:avLst>
            </a:prstGeom>
            <a:solidFill>
              <a:srgbClr val="0098F6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24" name="Text Box 16">
              <a:extLst>
                <a:ext uri="{FF2B5EF4-FFF2-40B4-BE49-F238E27FC236}">
                  <a16:creationId xmlns:a16="http://schemas.microsoft.com/office/drawing/2014/main" id="{2C7393B1-2C6C-08DC-9B2A-AD4150755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7831" y="3118571"/>
              <a:ext cx="29847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25" name="Text Box 17">
              <a:extLst>
                <a:ext uri="{FF2B5EF4-FFF2-40B4-BE49-F238E27FC236}">
                  <a16:creationId xmlns:a16="http://schemas.microsoft.com/office/drawing/2014/main" id="{6FF560DB-E95F-8CE6-0F52-8E2396F1F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7831" y="3526815"/>
              <a:ext cx="29847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32BEEF4B-6A4B-728B-5B69-1B5E531C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7831" y="3889585"/>
              <a:ext cx="29847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7" name="Text Box 19">
              <a:extLst>
                <a:ext uri="{FF2B5EF4-FFF2-40B4-BE49-F238E27FC236}">
                  <a16:creationId xmlns:a16="http://schemas.microsoft.com/office/drawing/2014/main" id="{7076BDD6-5587-3501-FEA5-E4B04DDCD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7831" y="4254422"/>
              <a:ext cx="29847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8" name="Text Box 20">
              <a:extLst>
                <a:ext uri="{FF2B5EF4-FFF2-40B4-BE49-F238E27FC236}">
                  <a16:creationId xmlns:a16="http://schemas.microsoft.com/office/drawing/2014/main" id="{707B4364-B91C-EB09-3DF1-6D9971F6A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7831" y="4622359"/>
              <a:ext cx="29847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CC020E4A-1B0B-3B20-7095-FDD2F34603AC}"/>
                </a:ext>
              </a:extLst>
            </p:cNvPr>
            <p:cNvSpPr/>
            <p:nvPr/>
          </p:nvSpPr>
          <p:spPr bwMode="auto">
            <a:xfrm>
              <a:off x="7012026" y="3423208"/>
              <a:ext cx="597898" cy="40307"/>
            </a:xfrm>
            <a:custGeom>
              <a:avLst/>
              <a:gdLst>
                <a:gd name="T0" fmla="*/ 0 w 534"/>
                <a:gd name="T1" fmla="*/ 40307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42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003356AE-E39B-0E91-104A-A310E3DAD385}"/>
                </a:ext>
              </a:extLst>
            </p:cNvPr>
            <p:cNvSpPr/>
            <p:nvPr/>
          </p:nvSpPr>
          <p:spPr bwMode="auto">
            <a:xfrm>
              <a:off x="7009219" y="3797346"/>
              <a:ext cx="597898" cy="40307"/>
            </a:xfrm>
            <a:custGeom>
              <a:avLst/>
              <a:gdLst>
                <a:gd name="T0" fmla="*/ 0 w 534"/>
                <a:gd name="T1" fmla="*/ 34549 h 42"/>
                <a:gd name="T2" fmla="*/ 524000 w 534"/>
                <a:gd name="T3" fmla="*/ 40307 h 42"/>
                <a:gd name="T4" fmla="*/ 597898 w 534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4" h="42">
                  <a:moveTo>
                    <a:pt x="0" y="36"/>
                  </a:moveTo>
                  <a:lnTo>
                    <a:pt x="468" y="42"/>
                  </a:lnTo>
                  <a:cubicBezTo>
                    <a:pt x="490" y="28"/>
                    <a:pt x="534" y="0"/>
                    <a:pt x="534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1343BF1-2BCE-C3DF-56D0-BECC9C04A53D}"/>
                </a:ext>
              </a:extLst>
            </p:cNvPr>
            <p:cNvSpPr/>
            <p:nvPr/>
          </p:nvSpPr>
          <p:spPr bwMode="auto">
            <a:xfrm>
              <a:off x="7003069" y="4172518"/>
              <a:ext cx="613574" cy="39274"/>
            </a:xfrm>
            <a:custGeom>
              <a:avLst/>
              <a:gdLst>
                <a:gd name="T0" fmla="*/ 0 w 548"/>
                <a:gd name="T1" fmla="*/ 39274 h 42"/>
                <a:gd name="T2" fmla="*/ 539676 w 548"/>
                <a:gd name="T3" fmla="*/ 39274 h 42"/>
                <a:gd name="T4" fmla="*/ 613574 w 548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42">
                  <a:moveTo>
                    <a:pt x="0" y="42"/>
                  </a:moveTo>
                  <a:lnTo>
                    <a:pt x="482" y="42"/>
                  </a:lnTo>
                  <a:cubicBezTo>
                    <a:pt x="504" y="28"/>
                    <a:pt x="548" y="0"/>
                    <a:pt x="548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2D99D26-E4E4-D8D3-686A-B47EFC4987C4}"/>
                </a:ext>
              </a:extLst>
            </p:cNvPr>
            <p:cNvSpPr/>
            <p:nvPr/>
          </p:nvSpPr>
          <p:spPr bwMode="auto">
            <a:xfrm>
              <a:off x="7003069" y="4558026"/>
              <a:ext cx="606855" cy="39274"/>
            </a:xfrm>
            <a:custGeom>
              <a:avLst/>
              <a:gdLst>
                <a:gd name="T0" fmla="*/ 0 w 542"/>
                <a:gd name="T1" fmla="*/ 39274 h 42"/>
                <a:gd name="T2" fmla="*/ 532958 w 542"/>
                <a:gd name="T3" fmla="*/ 39274 h 42"/>
                <a:gd name="T4" fmla="*/ 606855 w 54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2" h="42">
                  <a:moveTo>
                    <a:pt x="0" y="42"/>
                  </a:moveTo>
                  <a:lnTo>
                    <a:pt x="476" y="42"/>
                  </a:lnTo>
                  <a:cubicBezTo>
                    <a:pt x="498" y="28"/>
                    <a:pt x="542" y="0"/>
                    <a:pt x="542" y="0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30">
              <a:extLst>
                <a:ext uri="{FF2B5EF4-FFF2-40B4-BE49-F238E27FC236}">
                  <a16:creationId xmlns:a16="http://schemas.microsoft.com/office/drawing/2014/main" id="{BAC736E8-A72F-346A-E1E0-2C17D77E6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6155" y="2709037"/>
              <a:ext cx="483693" cy="362770"/>
            </a:xfrm>
            <a:prstGeom prst="cube">
              <a:avLst>
                <a:gd name="adj" fmla="val 17593"/>
              </a:avLst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200" b="1"/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34A45206-2786-5746-6954-D876F7D33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2089" y="2748817"/>
              <a:ext cx="54373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 b="1">
                  <a:solidFill>
                    <a:srgbClr val="0000FF"/>
                  </a:solidFill>
                  <a:latin typeface="Arial" panose="020B0604020202020204" pitchFamily="34" charset="0"/>
                </a:rPr>
                <a:t>AP</a:t>
              </a:r>
              <a:r>
                <a:rPr kumimoji="1" lang="en-US" altLang="zh-CN" sz="1600" b="1" baseline="-2500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5" name="Rectangle 30">
            <a:extLst>
              <a:ext uri="{FF2B5EF4-FFF2-40B4-BE49-F238E27FC236}">
                <a16:creationId xmlns:a16="http://schemas.microsoft.com/office/drawing/2014/main" id="{A1803C54-B684-86E7-400A-9CD334557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7" y="3071814"/>
            <a:ext cx="1922463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400" b="1">
                <a:solidFill>
                  <a:srgbClr val="368A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 用 程 序 数 据</a:t>
            </a:r>
          </a:p>
        </p:txBody>
      </p:sp>
      <p:grpSp>
        <p:nvGrpSpPr>
          <p:cNvPr id="36" name="Group 31">
            <a:extLst>
              <a:ext uri="{FF2B5EF4-FFF2-40B4-BE49-F238E27FC236}">
                <a16:creationId xmlns:a16="http://schemas.microsoft.com/office/drawing/2014/main" id="{4E53B26A-85DF-0D9E-E20A-67127C1776D5}"/>
              </a:ext>
            </a:extLst>
          </p:cNvPr>
          <p:cNvGrpSpPr/>
          <p:nvPr/>
        </p:nvGrpSpPr>
        <p:grpSpPr bwMode="auto">
          <a:xfrm>
            <a:off x="4719637" y="2997201"/>
            <a:ext cx="1036638" cy="714375"/>
            <a:chOff x="1683" y="1503"/>
            <a:chExt cx="880" cy="657"/>
          </a:xfrm>
        </p:grpSpPr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BE31E996-F7A4-7744-0EE8-7285E2BC6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3" y="1503"/>
              <a:ext cx="811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应用层首部</a:t>
              </a:r>
            </a:p>
          </p:txBody>
        </p:sp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D30DE19F-C8AD-4CDF-47D2-9D884FDA8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1735"/>
              <a:ext cx="202" cy="19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34">
              <a:extLst>
                <a:ext uri="{FF2B5EF4-FFF2-40B4-BE49-F238E27FC236}">
                  <a16:creationId xmlns:a16="http://schemas.microsoft.com/office/drawing/2014/main" id="{F1E58ECE-CDBC-E37A-1003-B0613A890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934"/>
              <a:ext cx="318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</p:grpSp>
      <p:sp>
        <p:nvSpPr>
          <p:cNvPr id="40" name="Rectangle 35">
            <a:extLst>
              <a:ext uri="{FF2B5EF4-FFF2-40B4-BE49-F238E27FC236}">
                <a16:creationId xmlns:a16="http://schemas.microsoft.com/office/drawing/2014/main" id="{75163A4C-8DF2-3407-F1A1-798F1681F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5043489"/>
            <a:ext cx="3844925" cy="2444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400" b="1">
                <a:solidFill>
                  <a:srgbClr val="368A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10100110100101  </a:t>
            </a:r>
            <a:r>
              <a:rPr lang="zh-CN" altLang="en-US" sz="1400" b="1">
                <a:solidFill>
                  <a:srgbClr val="368A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  特  流  </a:t>
            </a:r>
            <a:r>
              <a:rPr lang="en-US" altLang="zh-CN" sz="1400" b="1">
                <a:solidFill>
                  <a:srgbClr val="368A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110101110101</a:t>
            </a: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6608273D-B0ED-6A0D-C7D0-74B44A4AF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7" y="3465514"/>
            <a:ext cx="1922463" cy="246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1400" b="1">
                <a:solidFill>
                  <a:srgbClr val="368AD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 用 程 序 数 据</a:t>
            </a:r>
          </a:p>
        </p:txBody>
      </p:sp>
      <p:grpSp>
        <p:nvGrpSpPr>
          <p:cNvPr id="42" name="Group 38">
            <a:extLst>
              <a:ext uri="{FF2B5EF4-FFF2-40B4-BE49-F238E27FC236}">
                <a16:creationId xmlns:a16="http://schemas.microsoft.com/office/drawing/2014/main" id="{CBE65580-E55A-1BC5-4E2D-C04B80BB4DC4}"/>
              </a:ext>
            </a:extLst>
          </p:cNvPr>
          <p:cNvGrpSpPr/>
          <p:nvPr/>
        </p:nvGrpSpPr>
        <p:grpSpPr bwMode="auto">
          <a:xfrm>
            <a:off x="5381650" y="3860498"/>
            <a:ext cx="2295440" cy="245571"/>
            <a:chOff x="2245" y="2297"/>
            <a:chExt cx="1950" cy="226"/>
          </a:xfrm>
          <a:solidFill>
            <a:srgbClr val="00B0F0"/>
          </a:solidFill>
        </p:grpSpPr>
        <p:sp>
          <p:nvSpPr>
            <p:cNvPr id="43" name="Rectangle 39">
              <a:extLst>
                <a:ext uri="{FF2B5EF4-FFF2-40B4-BE49-F238E27FC236}">
                  <a16:creationId xmlns:a16="http://schemas.microsoft.com/office/drawing/2014/main" id="{CCC86931-B7FE-D327-2091-1B51726B9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2297"/>
              <a:ext cx="318" cy="22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4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4" name="Rectangle 40">
              <a:extLst>
                <a:ext uri="{FF2B5EF4-FFF2-40B4-BE49-F238E27FC236}">
                  <a16:creationId xmlns:a16="http://schemas.microsoft.com/office/drawing/2014/main" id="{A17CC5E3-E4DA-C11B-0991-D95AD5729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297"/>
              <a:ext cx="1633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>
                  <a:solidFill>
                    <a:srgbClr val="368A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 用 程 序 数 据</a:t>
              </a:r>
            </a:p>
          </p:txBody>
        </p:sp>
      </p:grpSp>
      <p:grpSp>
        <p:nvGrpSpPr>
          <p:cNvPr id="45" name="Group 41">
            <a:extLst>
              <a:ext uri="{FF2B5EF4-FFF2-40B4-BE49-F238E27FC236}">
                <a16:creationId xmlns:a16="http://schemas.microsoft.com/office/drawing/2014/main" id="{EA53B51F-DCBF-272D-61B8-DF336B3B0D20}"/>
              </a:ext>
            </a:extLst>
          </p:cNvPr>
          <p:cNvGrpSpPr/>
          <p:nvPr/>
        </p:nvGrpSpPr>
        <p:grpSpPr bwMode="auto">
          <a:xfrm>
            <a:off x="5006975" y="4254501"/>
            <a:ext cx="2670175" cy="246063"/>
            <a:chOff x="1927" y="2660"/>
            <a:chExt cx="2268" cy="226"/>
          </a:xfrm>
        </p:grpSpPr>
        <p:sp>
          <p:nvSpPr>
            <p:cNvPr id="46" name="Rectangle 42">
              <a:extLst>
                <a:ext uri="{FF2B5EF4-FFF2-40B4-BE49-F238E27FC236}">
                  <a16:creationId xmlns:a16="http://schemas.microsoft.com/office/drawing/2014/main" id="{3673EE7E-35D7-495A-F5EF-7104ADC9D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660"/>
              <a:ext cx="31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47" name="Rectangle 43">
              <a:extLst>
                <a:ext uri="{FF2B5EF4-FFF2-40B4-BE49-F238E27FC236}">
                  <a16:creationId xmlns:a16="http://schemas.microsoft.com/office/drawing/2014/main" id="{0484A3BE-8652-F7B5-F71D-9D5F61B81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2660"/>
              <a:ext cx="318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8" name="Rectangle 44">
              <a:extLst>
                <a:ext uri="{FF2B5EF4-FFF2-40B4-BE49-F238E27FC236}">
                  <a16:creationId xmlns:a16="http://schemas.microsoft.com/office/drawing/2014/main" id="{410E842B-7FC9-1012-7A74-CDBF6008E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660"/>
              <a:ext cx="1633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368A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 用 程 序 数 据</a:t>
              </a:r>
            </a:p>
          </p:txBody>
        </p:sp>
      </p:grpSp>
      <p:grpSp>
        <p:nvGrpSpPr>
          <p:cNvPr id="49" name="Group 45">
            <a:extLst>
              <a:ext uri="{FF2B5EF4-FFF2-40B4-BE49-F238E27FC236}">
                <a16:creationId xmlns:a16="http://schemas.microsoft.com/office/drawing/2014/main" id="{4BD863DB-0C52-7E83-8D92-2E876EF4991F}"/>
              </a:ext>
            </a:extLst>
          </p:cNvPr>
          <p:cNvGrpSpPr/>
          <p:nvPr/>
        </p:nvGrpSpPr>
        <p:grpSpPr bwMode="auto">
          <a:xfrm>
            <a:off x="4633912" y="4649789"/>
            <a:ext cx="3043238" cy="244475"/>
            <a:chOff x="1610" y="3023"/>
            <a:chExt cx="2585" cy="226"/>
          </a:xfrm>
        </p:grpSpPr>
        <p:sp>
          <p:nvSpPr>
            <p:cNvPr id="50" name="Rectangle 46">
              <a:extLst>
                <a:ext uri="{FF2B5EF4-FFF2-40B4-BE49-F238E27FC236}">
                  <a16:creationId xmlns:a16="http://schemas.microsoft.com/office/drawing/2014/main" id="{05A369C3-A2A1-EE6E-900E-05B7208EE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3023"/>
              <a:ext cx="318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" name="Rectangle 47">
              <a:extLst>
                <a:ext uri="{FF2B5EF4-FFF2-40B4-BE49-F238E27FC236}">
                  <a16:creationId xmlns:a16="http://schemas.microsoft.com/office/drawing/2014/main" id="{ABB1307E-CF67-739C-B8AE-F4C830D7D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3023"/>
              <a:ext cx="31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" name="Rectangle 48">
              <a:extLst>
                <a:ext uri="{FF2B5EF4-FFF2-40B4-BE49-F238E27FC236}">
                  <a16:creationId xmlns:a16="http://schemas.microsoft.com/office/drawing/2014/main" id="{DAA12BD2-E88D-4171-65C6-DB6CC049A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3023"/>
              <a:ext cx="318" cy="22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4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" name="Rectangle 49">
              <a:extLst>
                <a:ext uri="{FF2B5EF4-FFF2-40B4-BE49-F238E27FC236}">
                  <a16:creationId xmlns:a16="http://schemas.microsoft.com/office/drawing/2014/main" id="{BAD3490B-47B7-1634-5758-499AC7EE5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023"/>
              <a:ext cx="1633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368A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 用 程 序 数 据</a:t>
              </a:r>
            </a:p>
          </p:txBody>
        </p:sp>
      </p:grpSp>
      <p:grpSp>
        <p:nvGrpSpPr>
          <p:cNvPr id="54" name="Group 50">
            <a:extLst>
              <a:ext uri="{FF2B5EF4-FFF2-40B4-BE49-F238E27FC236}">
                <a16:creationId xmlns:a16="http://schemas.microsoft.com/office/drawing/2014/main" id="{8C8D522F-883C-2E09-976F-B62695A4F3E4}"/>
              </a:ext>
            </a:extLst>
          </p:cNvPr>
          <p:cNvGrpSpPr/>
          <p:nvPr/>
        </p:nvGrpSpPr>
        <p:grpSpPr bwMode="auto">
          <a:xfrm>
            <a:off x="3252187" y="3296555"/>
            <a:ext cx="3536154" cy="329240"/>
            <a:chOff x="436" y="1744"/>
            <a:chExt cx="3004" cy="303"/>
          </a:xfrm>
          <a:solidFill>
            <a:srgbClr val="CC00CC"/>
          </a:solidFill>
        </p:grpSpPr>
        <p:sp>
          <p:nvSpPr>
            <p:cNvPr id="55" name="AutoShape 51">
              <a:extLst>
                <a:ext uri="{FF2B5EF4-FFF2-40B4-BE49-F238E27FC236}">
                  <a16:creationId xmlns:a16="http://schemas.microsoft.com/office/drawing/2014/main" id="{65E4150F-D848-4FE2-2DD0-893AA01261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36" y="1819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AutoShape 52">
              <a:extLst>
                <a:ext uri="{FF2B5EF4-FFF2-40B4-BE49-F238E27FC236}">
                  <a16:creationId xmlns:a16="http://schemas.microsoft.com/office/drawing/2014/main" id="{F05E07A2-E499-5E1A-968C-6C23E6CAEF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316" y="1744"/>
              <a:ext cx="124" cy="228"/>
            </a:xfrm>
            <a:prstGeom prst="upArrow">
              <a:avLst>
                <a:gd name="adj1" fmla="val 50000"/>
                <a:gd name="adj2" fmla="val 45968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Group 53">
            <a:extLst>
              <a:ext uri="{FF2B5EF4-FFF2-40B4-BE49-F238E27FC236}">
                <a16:creationId xmlns:a16="http://schemas.microsoft.com/office/drawing/2014/main" id="{EE48634E-8626-D0DA-158E-C923539C5BFC}"/>
              </a:ext>
            </a:extLst>
          </p:cNvPr>
          <p:cNvGrpSpPr/>
          <p:nvPr/>
        </p:nvGrpSpPr>
        <p:grpSpPr bwMode="auto">
          <a:xfrm>
            <a:off x="3249834" y="3682299"/>
            <a:ext cx="3306611" cy="289036"/>
            <a:chOff x="434" y="2099"/>
            <a:chExt cx="2809" cy="266"/>
          </a:xfrm>
          <a:solidFill>
            <a:srgbClr val="CC00CC"/>
          </a:solidFill>
        </p:grpSpPr>
        <p:sp>
          <p:nvSpPr>
            <p:cNvPr id="58" name="AutoShape 54">
              <a:extLst>
                <a:ext uri="{FF2B5EF4-FFF2-40B4-BE49-F238E27FC236}">
                  <a16:creationId xmlns:a16="http://schemas.microsoft.com/office/drawing/2014/main" id="{B09B4628-3A74-74EE-9A74-3F7340C893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34" y="2116"/>
              <a:ext cx="125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AutoShape 55">
              <a:extLst>
                <a:ext uri="{FF2B5EF4-FFF2-40B4-BE49-F238E27FC236}">
                  <a16:creationId xmlns:a16="http://schemas.microsoft.com/office/drawing/2014/main" id="{747B9B7B-D0E3-CA79-D15E-FA7972B454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18" y="2099"/>
              <a:ext cx="125" cy="249"/>
            </a:xfrm>
            <a:prstGeom prst="upArrow">
              <a:avLst>
                <a:gd name="adj1" fmla="val 50000"/>
                <a:gd name="adj2" fmla="val 498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Group 56">
            <a:extLst>
              <a:ext uri="{FF2B5EF4-FFF2-40B4-BE49-F238E27FC236}">
                <a16:creationId xmlns:a16="http://schemas.microsoft.com/office/drawing/2014/main" id="{ECC3997E-CFBC-50FE-41F7-97B8CF789268}"/>
              </a:ext>
            </a:extLst>
          </p:cNvPr>
          <p:cNvGrpSpPr/>
          <p:nvPr/>
        </p:nvGrpSpPr>
        <p:grpSpPr bwMode="auto">
          <a:xfrm>
            <a:off x="3249834" y="4075642"/>
            <a:ext cx="3067648" cy="277082"/>
            <a:chOff x="434" y="2461"/>
            <a:chExt cx="2606" cy="255"/>
          </a:xfrm>
          <a:solidFill>
            <a:srgbClr val="CC00CC"/>
          </a:solidFill>
        </p:grpSpPr>
        <p:sp>
          <p:nvSpPr>
            <p:cNvPr id="61" name="AutoShape 57">
              <a:extLst>
                <a:ext uri="{FF2B5EF4-FFF2-40B4-BE49-F238E27FC236}">
                  <a16:creationId xmlns:a16="http://schemas.microsoft.com/office/drawing/2014/main" id="{FAE227EE-9982-598D-46FC-1EE15A8A21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34" y="2468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AutoShape 58">
              <a:extLst>
                <a:ext uri="{FF2B5EF4-FFF2-40B4-BE49-F238E27FC236}">
                  <a16:creationId xmlns:a16="http://schemas.microsoft.com/office/drawing/2014/main" id="{6D7B3898-1633-9F6B-590C-C3F807B62A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915" y="2461"/>
              <a:ext cx="125" cy="248"/>
            </a:xfrm>
            <a:prstGeom prst="upArrow">
              <a:avLst>
                <a:gd name="adj1" fmla="val 50000"/>
                <a:gd name="adj2" fmla="val 49600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Group 59">
            <a:extLst>
              <a:ext uri="{FF2B5EF4-FFF2-40B4-BE49-F238E27FC236}">
                <a16:creationId xmlns:a16="http://schemas.microsoft.com/office/drawing/2014/main" id="{9E64BA30-1FB4-ACBA-2A24-AA06FBFE1AF2}"/>
              </a:ext>
            </a:extLst>
          </p:cNvPr>
          <p:cNvGrpSpPr/>
          <p:nvPr/>
        </p:nvGrpSpPr>
        <p:grpSpPr bwMode="auto">
          <a:xfrm>
            <a:off x="3248657" y="4470082"/>
            <a:ext cx="2813386" cy="321633"/>
            <a:chOff x="433" y="2824"/>
            <a:chExt cx="2390" cy="296"/>
          </a:xfrm>
          <a:solidFill>
            <a:srgbClr val="CC00CC"/>
          </a:solidFill>
        </p:grpSpPr>
        <p:sp>
          <p:nvSpPr>
            <p:cNvPr id="64" name="AutoShape 60">
              <a:extLst>
                <a:ext uri="{FF2B5EF4-FFF2-40B4-BE49-F238E27FC236}">
                  <a16:creationId xmlns:a16="http://schemas.microsoft.com/office/drawing/2014/main" id="{045FBCE0-7371-5394-0E93-4C027F07F0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33" y="2870"/>
              <a:ext cx="124" cy="250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AutoShape 61">
              <a:extLst>
                <a:ext uri="{FF2B5EF4-FFF2-40B4-BE49-F238E27FC236}">
                  <a16:creationId xmlns:a16="http://schemas.microsoft.com/office/drawing/2014/main" id="{435A8883-3043-AA1E-B426-A3E1B4DC4A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699" y="2824"/>
              <a:ext cx="124" cy="250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Group 62">
            <a:extLst>
              <a:ext uri="{FF2B5EF4-FFF2-40B4-BE49-F238E27FC236}">
                <a16:creationId xmlns:a16="http://schemas.microsoft.com/office/drawing/2014/main" id="{AA3C297B-27A4-EC67-C661-F7A182B2B424}"/>
              </a:ext>
            </a:extLst>
          </p:cNvPr>
          <p:cNvGrpSpPr/>
          <p:nvPr/>
        </p:nvGrpSpPr>
        <p:grpSpPr bwMode="auto">
          <a:xfrm>
            <a:off x="3248657" y="4855828"/>
            <a:ext cx="2648584" cy="341193"/>
            <a:chOff x="433" y="3179"/>
            <a:chExt cx="2250" cy="314"/>
          </a:xfrm>
          <a:solidFill>
            <a:srgbClr val="CC00CC"/>
          </a:solidFill>
        </p:grpSpPr>
        <p:sp>
          <p:nvSpPr>
            <p:cNvPr id="67" name="AutoShape 63">
              <a:extLst>
                <a:ext uri="{FF2B5EF4-FFF2-40B4-BE49-F238E27FC236}">
                  <a16:creationId xmlns:a16="http://schemas.microsoft.com/office/drawing/2014/main" id="{EC945C0E-5535-B885-EBA2-E16F0B1D06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33" y="3243"/>
              <a:ext cx="124" cy="250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AutoShape 64">
              <a:extLst>
                <a:ext uri="{FF2B5EF4-FFF2-40B4-BE49-F238E27FC236}">
                  <a16:creationId xmlns:a16="http://schemas.microsoft.com/office/drawing/2014/main" id="{FDA6F557-26CC-A1F8-0404-7EDA708E99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59" y="3179"/>
              <a:ext cx="124" cy="250"/>
            </a:xfrm>
            <a:prstGeom prst="upArrow">
              <a:avLst>
                <a:gd name="adj1" fmla="val 50000"/>
                <a:gd name="adj2" fmla="val 50403"/>
              </a:avLst>
            </a:prstGeom>
            <a:grpFill/>
            <a:ln w="12700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" name="Group 65">
            <a:extLst>
              <a:ext uri="{FF2B5EF4-FFF2-40B4-BE49-F238E27FC236}">
                <a16:creationId xmlns:a16="http://schemas.microsoft.com/office/drawing/2014/main" id="{B4ED3AF4-896D-E5C2-389C-14965D97D2EA}"/>
              </a:ext>
            </a:extLst>
          </p:cNvPr>
          <p:cNvGrpSpPr/>
          <p:nvPr/>
        </p:nvGrpSpPr>
        <p:grpSpPr bwMode="auto">
          <a:xfrm>
            <a:off x="4338637" y="3363914"/>
            <a:ext cx="1042988" cy="741362"/>
            <a:chOff x="1359" y="1840"/>
            <a:chExt cx="886" cy="683"/>
          </a:xfrm>
        </p:grpSpPr>
        <p:sp>
          <p:nvSpPr>
            <p:cNvPr id="70" name="Rectangle 66">
              <a:extLst>
                <a:ext uri="{FF2B5EF4-FFF2-40B4-BE49-F238E27FC236}">
                  <a16:creationId xmlns:a16="http://schemas.microsoft.com/office/drawing/2014/main" id="{A0BB40F6-858E-2487-940D-9A5F16C5C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297"/>
              <a:ext cx="318" cy="2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71" name="Text Box 67">
              <a:extLst>
                <a:ext uri="{FF2B5EF4-FFF2-40B4-BE49-F238E27FC236}">
                  <a16:creationId xmlns:a16="http://schemas.microsoft.com/office/drawing/2014/main" id="{31BF480F-0F09-B466-4020-C7ABF3086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9" y="1840"/>
              <a:ext cx="811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运输层首部</a:t>
              </a:r>
            </a:p>
          </p:txBody>
        </p:sp>
        <p:sp>
          <p:nvSpPr>
            <p:cNvPr id="72" name="Line 68">
              <a:extLst>
                <a:ext uri="{FF2B5EF4-FFF2-40B4-BE49-F238E27FC236}">
                  <a16:creationId xmlns:a16="http://schemas.microsoft.com/office/drawing/2014/main" id="{3F3C770B-B7C3-697F-728B-7FE016D8A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2069"/>
              <a:ext cx="227" cy="227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3" name="Group 69">
            <a:extLst>
              <a:ext uri="{FF2B5EF4-FFF2-40B4-BE49-F238E27FC236}">
                <a16:creationId xmlns:a16="http://schemas.microsoft.com/office/drawing/2014/main" id="{37C838FE-7411-EB2B-0412-4809A5C98ED2}"/>
              </a:ext>
            </a:extLst>
          </p:cNvPr>
          <p:cNvGrpSpPr/>
          <p:nvPr/>
        </p:nvGrpSpPr>
        <p:grpSpPr bwMode="auto">
          <a:xfrm>
            <a:off x="3983037" y="3694114"/>
            <a:ext cx="1023938" cy="806450"/>
            <a:chOff x="1057" y="2144"/>
            <a:chExt cx="870" cy="742"/>
          </a:xfrm>
        </p:grpSpPr>
        <p:sp>
          <p:nvSpPr>
            <p:cNvPr id="74" name="Rectangle 70">
              <a:extLst>
                <a:ext uri="{FF2B5EF4-FFF2-40B4-BE49-F238E27FC236}">
                  <a16:creationId xmlns:a16="http://schemas.microsoft.com/office/drawing/2014/main" id="{29F8F4DF-9471-4198-3076-1FE7CB9F5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2660"/>
              <a:ext cx="318" cy="22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75" name="Text Box 71">
              <a:extLst>
                <a:ext uri="{FF2B5EF4-FFF2-40B4-BE49-F238E27FC236}">
                  <a16:creationId xmlns:a16="http://schemas.microsoft.com/office/drawing/2014/main" id="{BCE15421-5F7D-8E55-6814-FC34079E7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7" y="2144"/>
              <a:ext cx="811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网络层首部</a:t>
              </a:r>
            </a:p>
          </p:txBody>
        </p:sp>
        <p:sp>
          <p:nvSpPr>
            <p:cNvPr id="76" name="Line 72">
              <a:extLst>
                <a:ext uri="{FF2B5EF4-FFF2-40B4-BE49-F238E27FC236}">
                  <a16:creationId xmlns:a16="http://schemas.microsoft.com/office/drawing/2014/main" id="{A7C4DC9E-B2E1-BAC5-05D6-EA62E0A9C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387"/>
              <a:ext cx="227" cy="272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" name="Group 73">
            <a:extLst>
              <a:ext uri="{FF2B5EF4-FFF2-40B4-BE49-F238E27FC236}">
                <a16:creationId xmlns:a16="http://schemas.microsoft.com/office/drawing/2014/main" id="{982C5899-D950-79B5-BB36-91AD077245C6}"/>
              </a:ext>
            </a:extLst>
          </p:cNvPr>
          <p:cNvGrpSpPr/>
          <p:nvPr/>
        </p:nvGrpSpPr>
        <p:grpSpPr bwMode="auto">
          <a:xfrm>
            <a:off x="3790950" y="4024314"/>
            <a:ext cx="842962" cy="869950"/>
            <a:chOff x="894" y="2448"/>
            <a:chExt cx="716" cy="800"/>
          </a:xfrm>
        </p:grpSpPr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FDAF10C6-3621-FFCC-FEE0-FEA913856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3022"/>
              <a:ext cx="363" cy="226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79" name="Text Box 75">
              <a:extLst>
                <a:ext uri="{FF2B5EF4-FFF2-40B4-BE49-F238E27FC236}">
                  <a16:creationId xmlns:a16="http://schemas.microsoft.com/office/drawing/2014/main" id="{A6D1544A-26FC-EABF-19A8-AEF7273FD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2448"/>
              <a:ext cx="54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80" name="Line 76">
              <a:extLst>
                <a:ext uri="{FF2B5EF4-FFF2-40B4-BE49-F238E27FC236}">
                  <a16:creationId xmlns:a16="http://schemas.microsoft.com/office/drawing/2014/main" id="{1BE9C2DF-C2F7-4478-8261-099E134AB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2799"/>
              <a:ext cx="145" cy="223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1" name="Group 77">
            <a:extLst>
              <a:ext uri="{FF2B5EF4-FFF2-40B4-BE49-F238E27FC236}">
                <a16:creationId xmlns:a16="http://schemas.microsoft.com/office/drawing/2014/main" id="{C69624AF-E31E-ADF0-71B5-09AC0355FD5E}"/>
              </a:ext>
            </a:extLst>
          </p:cNvPr>
          <p:cNvGrpSpPr/>
          <p:nvPr/>
        </p:nvGrpSpPr>
        <p:grpSpPr bwMode="auto">
          <a:xfrm>
            <a:off x="7677150" y="4046539"/>
            <a:ext cx="762000" cy="847725"/>
            <a:chOff x="4195" y="2468"/>
            <a:chExt cx="648" cy="781"/>
          </a:xfrm>
        </p:grpSpPr>
        <p:sp>
          <p:nvSpPr>
            <p:cNvPr id="82" name="Rectangle 78">
              <a:extLst>
                <a:ext uri="{FF2B5EF4-FFF2-40B4-BE49-F238E27FC236}">
                  <a16:creationId xmlns:a16="http://schemas.microsoft.com/office/drawing/2014/main" id="{81536395-B43E-AC29-402E-714E248D3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023"/>
              <a:ext cx="318" cy="226"/>
            </a:xfrm>
            <a:prstGeom prst="rect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en-US" altLang="zh-CN" sz="12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83" name="Line 79">
              <a:extLst>
                <a:ext uri="{FF2B5EF4-FFF2-40B4-BE49-F238E27FC236}">
                  <a16:creationId xmlns:a16="http://schemas.microsoft.com/office/drawing/2014/main" id="{F2344800-2328-5765-A596-3CC8843D0A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7" y="2840"/>
              <a:ext cx="136" cy="182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 type="none" w="sm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Text Box 80">
              <a:extLst>
                <a:ext uri="{FF2B5EF4-FFF2-40B4-BE49-F238E27FC236}">
                  <a16:creationId xmlns:a16="http://schemas.microsoft.com/office/drawing/2014/main" id="{94381828-2F9C-DD65-8284-E4F9F7330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2468"/>
              <a:ext cx="54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尾部</a:t>
              </a:r>
            </a:p>
          </p:txBody>
        </p:sp>
      </p:grpSp>
      <p:sp>
        <p:nvSpPr>
          <p:cNvPr id="85" name="Text Box 36">
            <a:extLst>
              <a:ext uri="{FF2B5EF4-FFF2-40B4-BE49-F238E27FC236}">
                <a16:creationId xmlns:a16="http://schemas.microsoft.com/office/drawing/2014/main" id="{BE4BF7DA-BC74-D8CB-466B-63DA4031B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2" y="2557464"/>
            <a:ext cx="38766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注意观察加入或剥去首部（尾部）的层次</a:t>
            </a:r>
          </a:p>
        </p:txBody>
      </p:sp>
      <p:sp>
        <p:nvSpPr>
          <p:cNvPr id="86" name="Rectangle 6">
            <a:extLst>
              <a:ext uri="{FF2B5EF4-FFF2-40B4-BE49-F238E27FC236}">
                <a16:creationId xmlns:a16="http://schemas.microsoft.com/office/drawing/2014/main" id="{402DD303-90EA-AAF3-FD3D-8C47D1E1E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7" y="1669615"/>
            <a:ext cx="43957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主机 </a:t>
            </a:r>
            <a:r>
              <a:rPr lang="en-US" altLang="zh-CN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向主机 </a:t>
            </a:r>
            <a:r>
              <a:rPr lang="en-US" altLang="zh-CN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发送数据 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3730B967-0707-9EB2-EA6B-A2ABB664EED7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5.1.2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数据传输流程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550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9" presetClass="emph" presetSubtype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3" dur="indefinite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9" presetClass="emph" presetSubtype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39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0" dur="indefinite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75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75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750"/>
                            </p:stCondLst>
                            <p:childTnLst>
                              <p:par>
                                <p:cTn id="50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750"/>
                            </p:stCondLst>
                            <p:childTnLst>
                              <p:par>
                                <p:cTn id="55" presetID="9" presetClass="emph" presetSubtype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56" dur="indefinit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7" dur="indefinite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750"/>
                            </p:stCondLst>
                            <p:childTnLst>
                              <p:par>
                                <p:cTn id="67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1750"/>
                            </p:stCondLst>
                            <p:childTnLst>
                              <p:par>
                                <p:cTn id="72" presetID="1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750"/>
                            </p:stCondLst>
                            <p:childTnLst>
                              <p:par>
                                <p:cTn id="77" presetID="9" presetClass="emph" presetSubtype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rctx="PPT">
                                        <p:cTn id="78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9" dur="indefinite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25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25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0" grpId="0" animBg="1"/>
      <p:bldP spid="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88724" y="1443875"/>
            <a:ext cx="345718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1353A2"/>
                </a:solidFill>
              </a:rPr>
              <a:t>除传输层和网络层外，应用层和数据链路层都会在从上层接收到的数据报中添加控制信息，若接收双方通过同一个路由器连接，那么数据在传输过程中的变化将如图所示。</a:t>
            </a:r>
            <a:endParaRPr lang="zh-CN" altLang="zh-CN" sz="2400" dirty="0">
              <a:solidFill>
                <a:srgbClr val="1353A2"/>
              </a:solidFill>
            </a:endParaRPr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5" y="1569135"/>
            <a:ext cx="6875876" cy="355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1A33AF-B6D9-22A9-CC11-4AB1A30B09BB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5.1.2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数据传输流程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55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14" y="1575278"/>
            <a:ext cx="3818234" cy="40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903011" y="2026981"/>
            <a:ext cx="6096000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进行网络通信的对象实质上是网络中的进程，但一个网络中可能有许多台主机，每台主机中的进程也不唯一，那么发送方是如何正确地确定接收方呢？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在计算机网络中，人们常用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标识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一台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主机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，使用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端口号标识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网络中的一个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进程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0068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目前常见的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地址有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两个版本，其中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是广泛使用的版本，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是最新版本。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地址就是给每个连接在互联网上的主机（或路由器）分配一个在全世界范围是唯一的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32 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位的标识符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(IPv4)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584280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版本的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地址由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个字段和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个分割字段的“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组成，每个字段的取值范围为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0~255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780EEA2-1257-817B-E385-4238F519A478}"/>
              </a:ext>
            </a:extLst>
          </p:cNvPr>
          <p:cNvGrpSpPr>
            <a:grpSpLocks/>
          </p:cNvGrpSpPr>
          <p:nvPr/>
        </p:nvGrpSpPr>
        <p:grpSpPr bwMode="auto">
          <a:xfrm>
            <a:off x="3090619" y="3354681"/>
            <a:ext cx="5556609" cy="522927"/>
            <a:chOff x="164" y="1142"/>
            <a:chExt cx="5483" cy="516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B1869826-171A-3697-8EA6-6A259935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1217"/>
              <a:ext cx="3513" cy="410"/>
            </a:xfrm>
            <a:prstGeom prst="rect">
              <a:avLst/>
            </a:prstGeom>
            <a:solidFill>
              <a:srgbClr val="00FF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  10000000000010110000001100011111 </a:t>
              </a:r>
            </a:p>
          </p:txBody>
        </p: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8D498937-007A-B2D2-10E9-ED117994F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" y="1142"/>
              <a:ext cx="1881" cy="5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机器中存放的 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IP 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地址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是 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32 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位二进制代码</a:t>
              </a:r>
            </a:p>
          </p:txBody>
        </p:sp>
      </p:grpSp>
      <p:grpSp>
        <p:nvGrpSpPr>
          <p:cNvPr id="13" name="Group 6">
            <a:extLst>
              <a:ext uri="{FF2B5EF4-FFF2-40B4-BE49-F238E27FC236}">
                <a16:creationId xmlns:a16="http://schemas.microsoft.com/office/drawing/2014/main" id="{45C2E659-AE0E-71CD-68D8-738E2B63003E}"/>
              </a:ext>
            </a:extLst>
          </p:cNvPr>
          <p:cNvGrpSpPr>
            <a:grpSpLocks/>
          </p:cNvGrpSpPr>
          <p:nvPr/>
        </p:nvGrpSpPr>
        <p:grpSpPr bwMode="auto">
          <a:xfrm>
            <a:off x="3298371" y="4240416"/>
            <a:ext cx="5666058" cy="314162"/>
            <a:chOff x="338" y="1738"/>
            <a:chExt cx="5591" cy="310"/>
          </a:xfrm>
        </p:grpSpPr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C6A73484-F253-24FE-9B2A-D12F437F5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" y="1738"/>
              <a:ext cx="3936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10000000 00001011 00000011 00011111 </a:t>
              </a: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178C9063-3473-366F-D045-6D1C6A08A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" y="1744"/>
              <a:ext cx="1282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每 </a:t>
              </a:r>
              <a:r>
                <a: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8 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位为一组</a:t>
              </a:r>
            </a:p>
          </p:txBody>
        </p:sp>
      </p:grpSp>
      <p:sp>
        <p:nvSpPr>
          <p:cNvPr id="16" name="Text Box 9">
            <a:extLst>
              <a:ext uri="{FF2B5EF4-FFF2-40B4-BE49-F238E27FC236}">
                <a16:creationId xmlns:a16="http://schemas.microsoft.com/office/drawing/2014/main" id="{2C30DDA3-F559-F3F2-626A-16EB72BA9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852" y="5600431"/>
            <a:ext cx="1800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采用点分十进制记法</a:t>
            </a:r>
          </a:p>
          <a:p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则进一步提高可读性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255F7BFF-1D56-9497-1674-A0001D71B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338" y="5689612"/>
            <a:ext cx="1436612" cy="338554"/>
          </a:xfrm>
          <a:prstGeom prst="rect">
            <a:avLst/>
          </a:prstGeom>
          <a:solidFill>
            <a:srgbClr val="00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128.11.3.31 </a:t>
            </a:r>
          </a:p>
        </p:txBody>
      </p:sp>
      <p:grpSp>
        <p:nvGrpSpPr>
          <p:cNvPr id="18" name="Group 16">
            <a:extLst>
              <a:ext uri="{FF2B5EF4-FFF2-40B4-BE49-F238E27FC236}">
                <a16:creationId xmlns:a16="http://schemas.microsoft.com/office/drawing/2014/main" id="{D2193A05-196C-0B4E-3599-352ACEEBC62F}"/>
              </a:ext>
            </a:extLst>
          </p:cNvPr>
          <p:cNvGrpSpPr>
            <a:grpSpLocks/>
          </p:cNvGrpSpPr>
          <p:nvPr/>
        </p:nvGrpSpPr>
        <p:grpSpPr bwMode="auto">
          <a:xfrm>
            <a:off x="5581616" y="5131215"/>
            <a:ext cx="2644025" cy="559411"/>
            <a:chOff x="2665" y="2895"/>
            <a:chExt cx="2609" cy="552"/>
          </a:xfrm>
        </p:grpSpPr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C2123000-348B-E466-59A6-C839E9F1A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5" y="2922"/>
              <a:ext cx="756" cy="508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4CF20A3E-3904-3008-6D01-FC578CC626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3" y="2904"/>
              <a:ext cx="881" cy="543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ECCA08D8-25B6-9C01-C038-96E616D55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6" y="2895"/>
              <a:ext cx="276" cy="543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FCAF407B-EB46-295D-110D-060D66609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2900"/>
              <a:ext cx="319" cy="541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6FE40A2-69DF-77B4-1C55-C618AFEDA5E0}"/>
              </a:ext>
            </a:extLst>
          </p:cNvPr>
          <p:cNvGrpSpPr/>
          <p:nvPr/>
        </p:nvGrpSpPr>
        <p:grpSpPr>
          <a:xfrm>
            <a:off x="3040947" y="4496812"/>
            <a:ext cx="5677219" cy="822179"/>
            <a:chOff x="1699827" y="2403736"/>
            <a:chExt cx="5677219" cy="822179"/>
          </a:xfrm>
        </p:grpSpPr>
        <p:sp>
          <p:nvSpPr>
            <p:cNvPr id="24" name="AutoShape 11">
              <a:extLst>
                <a:ext uri="{FF2B5EF4-FFF2-40B4-BE49-F238E27FC236}">
                  <a16:creationId xmlns:a16="http://schemas.microsoft.com/office/drawing/2014/main" id="{93F2DC42-F2CF-6FA5-A7C2-7C731849513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101149" y="2099202"/>
              <a:ext cx="156067" cy="765135"/>
            </a:xfrm>
            <a:prstGeom prst="leftBrace">
              <a:avLst>
                <a:gd name="adj1" fmla="val 40855"/>
                <a:gd name="adj2" fmla="val 50000"/>
              </a:avLst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AutoShape 12">
              <a:extLst>
                <a:ext uri="{FF2B5EF4-FFF2-40B4-BE49-F238E27FC236}">
                  <a16:creationId xmlns:a16="http://schemas.microsoft.com/office/drawing/2014/main" id="{B77DD8A4-DCEA-B5CF-9FDB-F4228612C4B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013739" y="2089574"/>
              <a:ext cx="175322" cy="803646"/>
            </a:xfrm>
            <a:prstGeom prst="leftBrace">
              <a:avLst>
                <a:gd name="adj1" fmla="val 38199"/>
                <a:gd name="adj2" fmla="val 50000"/>
              </a:avLst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AutoShape 13">
              <a:extLst>
                <a:ext uri="{FF2B5EF4-FFF2-40B4-BE49-F238E27FC236}">
                  <a16:creationId xmlns:a16="http://schemas.microsoft.com/office/drawing/2014/main" id="{1510AE1E-278F-A318-DDD3-920F289ED8E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936968" y="2109842"/>
              <a:ext cx="156067" cy="798579"/>
            </a:xfrm>
            <a:prstGeom prst="leftBrace">
              <a:avLst>
                <a:gd name="adj1" fmla="val 42641"/>
                <a:gd name="adj2" fmla="val 50000"/>
              </a:avLst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69AA51AA-3EF1-883B-1987-E3A633808B6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6875907" y="2085013"/>
              <a:ext cx="145933" cy="856344"/>
            </a:xfrm>
            <a:prstGeom prst="leftBrace">
              <a:avLst>
                <a:gd name="adj1" fmla="val 48900"/>
                <a:gd name="adj2" fmla="val 50000"/>
              </a:avLst>
            </a:prstGeom>
            <a:noFill/>
            <a:ln w="28575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 Box 15">
              <a:extLst>
                <a:ext uri="{FF2B5EF4-FFF2-40B4-BE49-F238E27FC236}">
                  <a16:creationId xmlns:a16="http://schemas.microsoft.com/office/drawing/2014/main" id="{60E03A9C-170A-3D7F-8B2E-DA9B91285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611" y="2707763"/>
              <a:ext cx="334418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128             11             3                31 </a:t>
              </a:r>
            </a:p>
          </p:txBody>
        </p:sp>
        <p:sp>
          <p:nvSpPr>
            <p:cNvPr id="29" name="Text Box 21">
              <a:extLst>
                <a:ext uri="{FF2B5EF4-FFF2-40B4-BE49-F238E27FC236}">
                  <a16:creationId xmlns:a16="http://schemas.microsoft.com/office/drawing/2014/main" id="{7BF2B505-1409-1CDD-5047-F15600F55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827" y="2702695"/>
              <a:ext cx="183736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将每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8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位的二进制数</a:t>
              </a:r>
            </a:p>
            <a:p>
              <a:pPr algn="ctr"/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转换为十进制数</a:t>
              </a:r>
            </a:p>
          </p:txBody>
        </p:sp>
      </p:grpSp>
      <p:sp>
        <p:nvSpPr>
          <p:cNvPr id="30" name="Line 22">
            <a:extLst>
              <a:ext uri="{FF2B5EF4-FFF2-40B4-BE49-F238E27FC236}">
                <a16:creationId xmlns:a16="http://schemas.microsoft.com/office/drawing/2014/main" id="{7C1288A5-B01B-6D15-0C4E-215663DB2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0464" y="5864935"/>
            <a:ext cx="1133873" cy="0"/>
          </a:xfrm>
          <a:prstGeom prst="line">
            <a:avLst/>
          </a:prstGeom>
          <a:noFill/>
          <a:ln w="76200">
            <a:solidFill>
              <a:srgbClr val="CC00CC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64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版本的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地址由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个字段和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个分割字段的“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组成，每个字段的取值范围为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0~255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FAD6EEE-A80B-F7CB-2469-B499B38D17B7}"/>
              </a:ext>
            </a:extLst>
          </p:cNvPr>
          <p:cNvGrpSpPr/>
          <p:nvPr/>
        </p:nvGrpSpPr>
        <p:grpSpPr>
          <a:xfrm>
            <a:off x="2964959" y="3354681"/>
            <a:ext cx="6262082" cy="2842408"/>
            <a:chOff x="-56968" y="1101725"/>
            <a:chExt cx="10243382" cy="4649550"/>
          </a:xfrm>
        </p:grpSpPr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DF6A7866-FA85-C732-9F06-07024869E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8248" y="1531940"/>
              <a:ext cx="2494197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32 </a:t>
              </a:r>
              <a:r>
                <a:rPr kumimoji="0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位二进制数</a:t>
              </a:r>
            </a:p>
          </p:txBody>
        </p:sp>
        <p:sp>
          <p:nvSpPr>
            <p:cNvPr id="31" name="Text Box 4">
              <a:extLst>
                <a:ext uri="{FF2B5EF4-FFF2-40B4-BE49-F238E27FC236}">
                  <a16:creationId xmlns:a16="http://schemas.microsoft.com/office/drawing/2014/main" id="{975C964E-08B3-57E5-6535-FD00ED0C2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0207" y="1101725"/>
              <a:ext cx="2315890" cy="956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kumimoji="0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等价的</a:t>
              </a:r>
            </a:p>
            <a:p>
              <a:pPr algn="ctr" eaLnBrk="0" hangingPunct="0"/>
              <a:r>
                <a:rPr kumimoji="0" lang="zh-CN" altLang="en-US" sz="16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点分十进制数</a:t>
              </a:r>
            </a:p>
          </p:txBody>
        </p:sp>
        <p:sp>
          <p:nvSpPr>
            <p:cNvPr id="32" name="Line 5">
              <a:extLst>
                <a:ext uri="{FF2B5EF4-FFF2-40B4-BE49-F238E27FC236}">
                  <a16:creationId xmlns:a16="http://schemas.microsoft.com/office/drawing/2014/main" id="{DB4F83ED-702C-2DBE-BE07-6A1B7DBF7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710" y="2159001"/>
              <a:ext cx="99946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 Box 6">
              <a:extLst>
                <a:ext uri="{FF2B5EF4-FFF2-40B4-BE49-F238E27FC236}">
                  <a16:creationId xmlns:a16="http://schemas.microsoft.com/office/drawing/2014/main" id="{E3174BDF-689B-7DD5-40EF-BC2B3464C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6968" y="2246314"/>
              <a:ext cx="7528742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10000001  00110100  00000110  00000000</a:t>
              </a:r>
            </a:p>
          </p:txBody>
        </p:sp>
        <p:sp>
          <p:nvSpPr>
            <p:cNvPr id="34" name="Text Box 7">
              <a:extLst>
                <a:ext uri="{FF2B5EF4-FFF2-40B4-BE49-F238E27FC236}">
                  <a16:creationId xmlns:a16="http://schemas.microsoft.com/office/drawing/2014/main" id="{435181AF-830A-3B1B-B917-93222BB49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776" y="2228852"/>
              <a:ext cx="2043186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latin typeface="微软雅黑" pitchFamily="34" charset="-122"/>
                  <a:ea typeface="微软雅黑" pitchFamily="34" charset="-122"/>
                </a:rPr>
                <a:t>129.52.6.0</a:t>
              </a:r>
            </a:p>
          </p:txBody>
        </p:sp>
        <p:sp>
          <p:nvSpPr>
            <p:cNvPr id="35" name="Text Box 8">
              <a:extLst>
                <a:ext uri="{FF2B5EF4-FFF2-40B4-BE49-F238E27FC236}">
                  <a16:creationId xmlns:a16="http://schemas.microsoft.com/office/drawing/2014/main" id="{BEEFA08A-B60C-52DB-0F2E-79D123CD5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6968" y="2968626"/>
              <a:ext cx="7528742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11000000  00000101  00110000  00000011</a:t>
              </a:r>
            </a:p>
          </p:txBody>
        </p:sp>
        <p:sp>
          <p:nvSpPr>
            <p:cNvPr id="36" name="Text Box 9">
              <a:extLst>
                <a:ext uri="{FF2B5EF4-FFF2-40B4-BE49-F238E27FC236}">
                  <a16:creationId xmlns:a16="http://schemas.microsoft.com/office/drawing/2014/main" id="{41ABC268-F796-B3DB-E32A-21D9714D8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776" y="2951162"/>
              <a:ext cx="2043186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latin typeface="微软雅黑" pitchFamily="34" charset="-122"/>
                  <a:ea typeface="微软雅黑" pitchFamily="34" charset="-122"/>
                </a:rPr>
                <a:t>192.5.48.3</a:t>
              </a: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86B81A3A-236D-738C-1048-95EBB59E0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6968" y="3743326"/>
              <a:ext cx="7528742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00001010  00000010  00000000  00100101</a:t>
              </a:r>
            </a:p>
          </p:txBody>
        </p:sp>
        <p:sp>
          <p:nvSpPr>
            <p:cNvPr id="38" name="Text Box 11">
              <a:extLst>
                <a:ext uri="{FF2B5EF4-FFF2-40B4-BE49-F238E27FC236}">
                  <a16:creationId xmlns:a16="http://schemas.microsoft.com/office/drawing/2014/main" id="{9444D553-A979-6366-C664-D3F897962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776" y="3725862"/>
              <a:ext cx="1836036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>
                  <a:latin typeface="微软雅黑" pitchFamily="34" charset="-122"/>
                  <a:ea typeface="微软雅黑" pitchFamily="34" charset="-122"/>
                </a:rPr>
                <a:t>10.2.0.37</a:t>
              </a:r>
            </a:p>
          </p:txBody>
        </p:sp>
        <p:sp>
          <p:nvSpPr>
            <p:cNvPr id="39" name="Text Box 12">
              <a:extLst>
                <a:ext uri="{FF2B5EF4-FFF2-40B4-BE49-F238E27FC236}">
                  <a16:creationId xmlns:a16="http://schemas.microsoft.com/office/drawing/2014/main" id="{170B6B1A-9596-BFB4-B1C0-ECEE94285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6968" y="4476752"/>
              <a:ext cx="7528742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10000000  00001010  00000010  00000011</a:t>
              </a:r>
            </a:p>
          </p:txBody>
        </p:sp>
        <p:sp>
          <p:nvSpPr>
            <p:cNvPr id="40" name="Text Box 13">
              <a:extLst>
                <a:ext uri="{FF2B5EF4-FFF2-40B4-BE49-F238E27FC236}">
                  <a16:creationId xmlns:a16="http://schemas.microsoft.com/office/drawing/2014/main" id="{CDB0A6A7-240E-D8C4-EEB3-56F8F885A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776" y="4459288"/>
              <a:ext cx="2043186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>
                  <a:latin typeface="微软雅黑" pitchFamily="34" charset="-122"/>
                  <a:ea typeface="微软雅黑" pitchFamily="34" charset="-122"/>
                </a:rPr>
                <a:t>128.10.2.3</a:t>
              </a:r>
            </a:p>
          </p:txBody>
        </p:sp>
        <p:sp>
          <p:nvSpPr>
            <p:cNvPr id="41" name="Text Box 14">
              <a:extLst>
                <a:ext uri="{FF2B5EF4-FFF2-40B4-BE49-F238E27FC236}">
                  <a16:creationId xmlns:a16="http://schemas.microsoft.com/office/drawing/2014/main" id="{031EC4EB-CC15-C4FF-9CC8-A3149FE17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6968" y="5197476"/>
              <a:ext cx="7528742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10000000  10000000  11111111  00000000</a:t>
              </a:r>
            </a:p>
          </p:txBody>
        </p:sp>
        <p:sp>
          <p:nvSpPr>
            <p:cNvPr id="42" name="Text Box 15">
              <a:extLst>
                <a:ext uri="{FF2B5EF4-FFF2-40B4-BE49-F238E27FC236}">
                  <a16:creationId xmlns:a16="http://schemas.microsoft.com/office/drawing/2014/main" id="{A1E5CA8A-338C-B1EF-B01A-83F149BFA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1776" y="5180012"/>
              <a:ext cx="2664638" cy="553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zh-CN" sz="1600" b="1">
                  <a:latin typeface="微软雅黑" pitchFamily="34" charset="-122"/>
                  <a:ea typeface="微软雅黑" pitchFamily="34" charset="-122"/>
                </a:rPr>
                <a:t>128.128.255.0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28662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地址共分为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类，依次为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地址。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地址在逻辑上又分为两个部分：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/>
          <p:cNvSpPr/>
          <p:nvPr/>
        </p:nvSpPr>
        <p:spPr>
          <a:xfrm>
            <a:off x="627840" y="3429000"/>
            <a:ext cx="42751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网络号：标识网络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主机：标识网络中的主机</a:t>
            </a:r>
          </a:p>
        </p:txBody>
      </p:sp>
      <p:pic>
        <p:nvPicPr>
          <p:cNvPr id="14" name="图片 13"/>
          <p:cNvPicPr/>
          <p:nvPr/>
        </p:nvPicPr>
        <p:blipFill>
          <a:blip r:embed="rId4"/>
          <a:stretch>
            <a:fillRect/>
          </a:stretch>
        </p:blipFill>
        <p:spPr>
          <a:xfrm>
            <a:off x="4610669" y="3354681"/>
            <a:ext cx="6850645" cy="2695390"/>
          </a:xfrm>
          <a:prstGeom prst="rect">
            <a:avLst/>
          </a:prstGeom>
        </p:spPr>
      </p:pic>
      <p:sp>
        <p:nvSpPr>
          <p:cNvPr id="15" name="矩形标注 14"/>
          <p:cNvSpPr/>
          <p:nvPr/>
        </p:nvSpPr>
        <p:spPr>
          <a:xfrm>
            <a:off x="2893512" y="5110619"/>
            <a:ext cx="1878904" cy="400833"/>
          </a:xfrm>
          <a:prstGeom prst="wedgeRectCallout">
            <a:avLst>
              <a:gd name="adj1" fmla="val 121167"/>
              <a:gd name="adj2" fmla="val -4343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网络号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5425858" y="4196219"/>
            <a:ext cx="3379939" cy="2004164"/>
            <a:chOff x="5425858" y="4196219"/>
            <a:chExt cx="3379939" cy="2004164"/>
          </a:xfrm>
        </p:grpSpPr>
        <p:sp>
          <p:nvSpPr>
            <p:cNvPr id="16" name="椭圆 15"/>
            <p:cNvSpPr/>
            <p:nvPr/>
          </p:nvSpPr>
          <p:spPr>
            <a:xfrm>
              <a:off x="6739003" y="4196219"/>
              <a:ext cx="288098" cy="27557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7179501" y="5373665"/>
              <a:ext cx="288098" cy="27557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6309029" y="5751533"/>
              <a:ext cx="288098" cy="27557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5425858" y="5373665"/>
              <a:ext cx="288098" cy="27557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标注 19"/>
            <p:cNvSpPr/>
            <p:nvPr/>
          </p:nvSpPr>
          <p:spPr>
            <a:xfrm>
              <a:off x="7323550" y="5751532"/>
              <a:ext cx="1482247" cy="448851"/>
            </a:xfrm>
            <a:prstGeom prst="wedgeRectCallout">
              <a:avLst>
                <a:gd name="adj1" fmla="val -41115"/>
                <a:gd name="adj2" fmla="val -9098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主机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1313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地址根据取值范围分类，具体如图所示。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22" name="图片 21"/>
          <p:cNvPicPr/>
          <p:nvPr/>
        </p:nvPicPr>
        <p:blipFill>
          <a:blip r:embed="rId4"/>
          <a:stretch>
            <a:fillRect/>
          </a:stretch>
        </p:blipFill>
        <p:spPr>
          <a:xfrm>
            <a:off x="943168" y="2800684"/>
            <a:ext cx="7293182" cy="344873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36350" y="3221709"/>
            <a:ext cx="3575694" cy="2807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类地址网络号字段分别为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个字节，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网络号字段最前面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1~3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位类别位，数值分别为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854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地址根据取值范围分类，具体如图所示。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22" name="图片 21"/>
          <p:cNvPicPr/>
          <p:nvPr/>
        </p:nvPicPr>
        <p:blipFill>
          <a:blip r:embed="rId4"/>
          <a:stretch>
            <a:fillRect/>
          </a:stretch>
        </p:blipFill>
        <p:spPr>
          <a:xfrm>
            <a:off x="943168" y="2800684"/>
            <a:ext cx="7293182" cy="344873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36350" y="3221709"/>
            <a:ext cx="3575694" cy="326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类地址主机号字段分别为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个字节，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类地址用于多播（一对多通信）。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类地址保留为以后用。 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216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地址根据取值范围分类，具体如图所示。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22" name="图片 21"/>
          <p:cNvPicPr/>
          <p:nvPr/>
        </p:nvPicPr>
        <p:blipFill>
          <a:blip r:embed="rId4"/>
          <a:stretch>
            <a:fillRect/>
          </a:stretch>
        </p:blipFill>
        <p:spPr>
          <a:xfrm>
            <a:off x="943168" y="2800684"/>
            <a:ext cx="7293182" cy="344873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36350" y="3221709"/>
            <a:ext cx="357569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地址每个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网络号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中的可用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地址总是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="1" baseline="30000" dirty="0">
                <a:solidFill>
                  <a:srgbClr val="1353A2"/>
                </a:solidFill>
              </a:rPr>
              <a:t>n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-2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主机号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”与网络号一起表示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网络号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主机号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255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”与网络号一起作为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广播地址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68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每个网段中都有一部分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地址是供给局域网使用的，这类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地址也称为私有地址，它们的范围如下：</a:t>
            </a: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26D13EE-51C9-3F43-0ED5-195C63EF7A42}"/>
              </a:ext>
            </a:extLst>
          </p:cNvPr>
          <p:cNvGraphicFramePr>
            <a:graphicFrameLocks noGrp="1"/>
          </p:cNvGraphicFramePr>
          <p:nvPr/>
        </p:nvGraphicFramePr>
        <p:xfrm>
          <a:off x="2549236" y="3749267"/>
          <a:ext cx="7093528" cy="179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8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类别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IP地址范围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网络号</a:t>
                      </a:r>
                      <a:endParaRPr lang="en-US" altLang="en-US" sz="16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网络数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</a:t>
                      </a:r>
                      <a:endParaRPr lang="en-US" altLang="en-US" sz="16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10.0.0.0~10.255.255.255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en-US" sz="16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B</a:t>
                      </a:r>
                      <a:endParaRPr lang="en-US" altLang="en-US" sz="16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172.16.0.0~172.31.255.255</a:t>
                      </a:r>
                      <a:endParaRPr lang="en-US" altLang="en-US" sz="16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172.16~172.31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16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C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192.168.0.0~192.168.255.255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192.168.0~192.168.255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5pPr>
                      <a:lvl6pPr marL="2286000" lvl="5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6pPr>
                      <a:lvl7pPr marL="2743200" lvl="6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7pPr>
                      <a:lvl8pPr marL="3200400" lvl="7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8pPr>
                      <a:lvl9pPr marL="3657600" lvl="8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255</a:t>
                      </a:r>
                      <a:endParaRPr lang="en-US" altLang="en-US" sz="1600" b="1" dirty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4232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654678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常用的三类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——IP 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地址的指派范围 </a:t>
            </a: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F80EA6B-FAB0-7539-E9BD-79B067FC8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629404"/>
              </p:ext>
            </p:extLst>
          </p:nvPr>
        </p:nvGraphicFramePr>
        <p:xfrm>
          <a:off x="290766" y="4462286"/>
          <a:ext cx="6681345" cy="1798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98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网络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类别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最大可指派</a:t>
                      </a:r>
                      <a:endParaRPr lang="en-US" alt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的网络数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第一个可指派</a:t>
                      </a:r>
                      <a:endParaRPr lang="en-US" alt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网络号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最后一个可指派</a:t>
                      </a:r>
                      <a:endParaRPr lang="en-US" alt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网络号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每个网络中</a:t>
                      </a:r>
                      <a:endParaRPr lang="en-US" alt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最大主机数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5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126 (2</a:t>
                      </a:r>
                      <a:r>
                        <a:rPr lang="en-US" sz="1400" b="0" baseline="3000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</a:t>
                      </a: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– 2)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126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16777214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5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16383 (2</a:t>
                      </a:r>
                      <a:r>
                        <a:rPr lang="en-US" sz="1400" b="0" baseline="3000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14</a:t>
                      </a: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– 1)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128.1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191.255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65534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  <a:endParaRPr lang="zh-CN" sz="1400" b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2097151 (2</a:t>
                      </a:r>
                      <a:r>
                        <a:rPr lang="en-US" sz="1400" b="0" baseline="3000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21</a:t>
                      </a: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– 1)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192.0.1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223.255.255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1353A2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254</a:t>
                      </a:r>
                      <a:endParaRPr lang="zh-CN" sz="1400" b="0" dirty="0">
                        <a:solidFill>
                          <a:srgbClr val="1353A2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5E40786D-3675-0798-51FE-3CA14FE04450}"/>
              </a:ext>
            </a:extLst>
          </p:cNvPr>
          <p:cNvGrpSpPr/>
          <p:nvPr/>
        </p:nvGrpSpPr>
        <p:grpSpPr>
          <a:xfrm>
            <a:off x="6577263" y="2502350"/>
            <a:ext cx="5319621" cy="2088980"/>
            <a:chOff x="366021" y="927100"/>
            <a:chExt cx="9010590" cy="3538402"/>
          </a:xfrm>
        </p:grpSpPr>
        <p:sp>
          <p:nvSpPr>
            <p:cNvPr id="11" name="Line 2">
              <a:extLst>
                <a:ext uri="{FF2B5EF4-FFF2-40B4-BE49-F238E27FC236}">
                  <a16:creationId xmlns:a16="http://schemas.microsoft.com/office/drawing/2014/main" id="{AEBC3902-4D67-2C54-F0B1-CF5800D2B3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2138" y="4009478"/>
              <a:ext cx="57475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B579D61B-06E0-B275-AA1D-64A1E8F8F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958" y="3791992"/>
              <a:ext cx="1031790" cy="668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net-id</a:t>
              </a:r>
            </a:p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24 </a:t>
              </a:r>
              <a:r>
                <a:rPr kumimoji="1"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F9CF16D9-817C-1B16-A068-E72793494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137" y="3355428"/>
              <a:ext cx="7634155" cy="44450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5">
              <a:extLst>
                <a:ext uri="{FF2B5EF4-FFF2-40B4-BE49-F238E27FC236}">
                  <a16:creationId xmlns:a16="http://schemas.microsoft.com/office/drawing/2014/main" id="{D8385E06-8635-7B09-09E8-173B5267FB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550" y="1577975"/>
              <a:ext cx="575270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4FBC7074-AA2F-72C5-B0E6-F6C6436A7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6875" y="1370014"/>
              <a:ext cx="1167551" cy="668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host-id</a:t>
              </a:r>
            </a:p>
            <a:p>
              <a:pPr algn="ctr"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24 </a:t>
              </a:r>
              <a:r>
                <a:rPr kumimoji="1"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154747A2-161A-663F-B4E1-4CE69F54D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5131" y="2790849"/>
              <a:ext cx="376462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11585309-47B9-3447-5096-6D8C75601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855" y="2574181"/>
              <a:ext cx="1031790" cy="668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net-id</a:t>
              </a:r>
            </a:p>
            <a:p>
              <a:pPr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16 </a:t>
              </a:r>
              <a:r>
                <a:rPr kumimoji="1"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71465376-989A-4E9F-924D-334027255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862" y="1577975"/>
              <a:ext cx="191068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25D60447-98DF-21FA-042E-215FB25E4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942" y="1370014"/>
              <a:ext cx="1031790" cy="668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net-id</a:t>
              </a:r>
            </a:p>
            <a:p>
              <a:pPr algn="ctr" defTabSz="762000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8 </a:t>
              </a:r>
              <a:r>
                <a:rPr kumimoji="1"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5C9B811C-3140-8921-E39E-23ED1B3CC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4302" y="933451"/>
              <a:ext cx="7675430" cy="442913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EB738533-FD79-4B08-AF0F-CE1A8CFC4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659" y="2140794"/>
              <a:ext cx="7659952" cy="446087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8127DC99-3E89-21A7-1717-B7C183FBB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2456" y="3369716"/>
              <a:ext cx="5742384" cy="423862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2DB01627-7AE8-839F-09A2-0F760F558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736" y="2151905"/>
              <a:ext cx="3804179" cy="423863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3DE2DF28-0A8D-C31F-23CA-E4AB61293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0099" y="957263"/>
              <a:ext cx="1874573" cy="4064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BC5D3C8E-60C9-8CC9-9A79-7F0A6E9B1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829" y="927100"/>
              <a:ext cx="456161" cy="438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050" b="1" dirty="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26" name="Rectangle 18">
              <a:extLst>
                <a:ext uri="{FF2B5EF4-FFF2-40B4-BE49-F238E27FC236}">
                  <a16:creationId xmlns:a16="http://schemas.microsoft.com/office/drawing/2014/main" id="{C77DE9EE-F82A-5E16-6C53-C868FC47E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21" y="955675"/>
              <a:ext cx="1365764" cy="464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 </a:t>
              </a:r>
              <a:r>
                <a:rPr kumimoji="1" lang="zh-CN" altLang="en-US" sz="1200" b="1" dirty="0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AA4D3652-B4F4-5E00-1250-13CDB1B05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188" y="933451"/>
              <a:ext cx="0" cy="4508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95487D9C-FE53-58D0-B1AE-EFE3BE46E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550" y="933450"/>
              <a:ext cx="0" cy="4508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5D96FF69-4ABF-6CE7-70D7-9D461EF15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862" y="1416050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2">
              <a:extLst>
                <a:ext uri="{FF2B5EF4-FFF2-40B4-BE49-F238E27FC236}">
                  <a16:creationId xmlns:a16="http://schemas.microsoft.com/office/drawing/2014/main" id="{8B5F1CD2-7D79-6E37-8C21-EFF7258E0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550" y="1416050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3">
              <a:extLst>
                <a:ext uri="{FF2B5EF4-FFF2-40B4-BE49-F238E27FC236}">
                  <a16:creationId xmlns:a16="http://schemas.microsoft.com/office/drawing/2014/main" id="{E9A943ED-84BB-1925-EEB4-D9CA14D0C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4254" y="1416050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4">
              <a:extLst>
                <a:ext uri="{FF2B5EF4-FFF2-40B4-BE49-F238E27FC236}">
                  <a16:creationId xmlns:a16="http://schemas.microsoft.com/office/drawing/2014/main" id="{570E95C2-9366-F00F-84E5-4FD7E4519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3515" y="2784499"/>
              <a:ext cx="3786979" cy="635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A7284C8B-544D-5FDD-B496-D7C1F063F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6995" y="2636149"/>
              <a:ext cx="1167551" cy="668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defTabSz="76200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host-id</a:t>
              </a:r>
            </a:p>
            <a:p>
              <a:pPr algn="ctr" defTabSz="762000">
                <a:lnSpc>
                  <a:spcPct val="90000"/>
                </a:lnSpc>
              </a:pPr>
              <a:r>
                <a:rPr kumimoji="1"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16 </a:t>
              </a:r>
              <a:r>
                <a:rPr kumimoji="1"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34" name="Line 26">
              <a:extLst>
                <a:ext uri="{FF2B5EF4-FFF2-40B4-BE49-F238E27FC236}">
                  <a16:creationId xmlns:a16="http://schemas.microsoft.com/office/drawing/2014/main" id="{A0983B8C-A6A8-FF7E-739C-7AFC181F0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137" y="2626568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0FB8F393-16DE-1633-F9CD-A956AAA58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3515" y="2626568"/>
              <a:ext cx="0" cy="32385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E4AECAB9-E201-FA68-99FE-8A14352B4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0495" y="2626568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73D869D6-C33D-25D6-D77A-7E858524D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12" y="2151905"/>
              <a:ext cx="1349473" cy="464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B </a:t>
              </a:r>
              <a:r>
                <a:rPr kumimoji="1" lang="zh-CN" altLang="en-US" sz="1200" b="1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38" name="Line 30">
              <a:extLst>
                <a:ext uri="{FF2B5EF4-FFF2-40B4-BE49-F238E27FC236}">
                  <a16:creationId xmlns:a16="http://schemas.microsoft.com/office/drawing/2014/main" id="{623DD7FD-993E-B46B-A4BA-36EB858C9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3514" y="2150319"/>
              <a:ext cx="0" cy="433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Rectangle 31">
              <a:extLst>
                <a:ext uri="{FF2B5EF4-FFF2-40B4-BE49-F238E27FC236}">
                  <a16:creationId xmlns:a16="http://schemas.microsoft.com/office/drawing/2014/main" id="{94FCCF10-65FB-6A51-431F-8DF543A90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29" y="3364953"/>
              <a:ext cx="1346756" cy="464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C </a:t>
              </a:r>
              <a:r>
                <a:rPr kumimoji="1" lang="zh-CN" altLang="en-US" sz="1200" b="1" dirty="0">
                  <a:latin typeface="微软雅黑" pitchFamily="34" charset="-122"/>
                  <a:ea typeface="微软雅黑" pitchFamily="34" charset="-122"/>
                </a:rPr>
                <a:t>类地址</a:t>
              </a:r>
            </a:p>
          </p:txBody>
        </p:sp>
        <p:sp>
          <p:nvSpPr>
            <p:cNvPr id="40" name="Rectangle 32">
              <a:extLst>
                <a:ext uri="{FF2B5EF4-FFF2-40B4-BE49-F238E27FC236}">
                  <a16:creationId xmlns:a16="http://schemas.microsoft.com/office/drawing/2014/main" id="{F7BCE7CE-A25C-0685-2801-E4EC2180E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413" y="3384003"/>
              <a:ext cx="456161" cy="438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100" b="1" dirty="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046434D7-F7B2-9AAC-3CDB-D892433BF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786" y="3376066"/>
              <a:ext cx="526256" cy="438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100" b="1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1F6574C0-E89D-D904-789C-9AA6FAE02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319" y="3384003"/>
              <a:ext cx="522817" cy="438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100" b="1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3EED01F0-CCA2-B8EA-A7FD-5B97A969B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367" y="3353842"/>
              <a:ext cx="0" cy="4397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958158E6-E88D-1C36-EB2B-CD040333E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5477" y="3349079"/>
              <a:ext cx="0" cy="441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F7DC7B65-3B04-7F94-DA47-22C6FF50C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0637" y="4011066"/>
              <a:ext cx="182985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6" name="Group 38">
              <a:extLst>
                <a:ext uri="{FF2B5EF4-FFF2-40B4-BE49-F238E27FC236}">
                  <a16:creationId xmlns:a16="http://schemas.microsoft.com/office/drawing/2014/main" id="{CE0A2531-C96C-9737-1308-D11A2F570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8099" y="3820573"/>
              <a:ext cx="1131196" cy="644929"/>
              <a:chOff x="2827" y="3024"/>
              <a:chExt cx="453" cy="382"/>
            </a:xfrm>
          </p:grpSpPr>
          <p:sp>
            <p:nvSpPr>
              <p:cNvPr id="53" name="Rectangle 39">
                <a:extLst>
                  <a:ext uri="{FF2B5EF4-FFF2-40B4-BE49-F238E27FC236}">
                    <a16:creationId xmlns:a16="http://schemas.microsoft.com/office/drawing/2014/main" id="{C8CA1BE7-C323-E9BD-AD76-BAEC2C48F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072"/>
                <a:ext cx="426" cy="1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4" name="Rectangle 40">
                <a:extLst>
                  <a:ext uri="{FF2B5EF4-FFF2-40B4-BE49-F238E27FC236}">
                    <a16:creationId xmlns:a16="http://schemas.microsoft.com/office/drawing/2014/main" id="{C54BB3F2-C023-C863-0510-9C41BD29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" y="3024"/>
                <a:ext cx="453" cy="3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ctr" defTabSz="762000" eaLnBrk="0" hangingPunct="0">
                  <a:lnSpc>
                    <a:spcPct val="90000"/>
                  </a:lnSpc>
                </a:pPr>
                <a:r>
                  <a:rPr kumimoji="1" lang="en-US" altLang="zh-CN" sz="105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host-id</a:t>
                </a:r>
              </a:p>
              <a:p>
                <a:pPr algn="ctr" defTabSz="762000" eaLnBrk="0" hangingPunct="0">
                  <a:lnSpc>
                    <a:spcPct val="90000"/>
                  </a:lnSpc>
                </a:pPr>
                <a:r>
                  <a:rPr kumimoji="1" lang="en-US" altLang="zh-CN" sz="105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8 </a:t>
                </a:r>
                <a:r>
                  <a:rPr kumimoji="1" lang="zh-CN" altLang="en-US" sz="105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位</a:t>
                </a:r>
              </a:p>
            </p:txBody>
          </p:sp>
        </p:grpSp>
        <p:sp>
          <p:nvSpPr>
            <p:cNvPr id="47" name="Line 41">
              <a:extLst>
                <a:ext uri="{FF2B5EF4-FFF2-40B4-BE49-F238E27FC236}">
                  <a16:creationId xmlns:a16="http://schemas.microsoft.com/office/drawing/2014/main" id="{61A7EDA2-FBE3-F0CE-66A5-E11A3075A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137" y="3857078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42">
              <a:extLst>
                <a:ext uri="{FF2B5EF4-FFF2-40B4-BE49-F238E27FC236}">
                  <a16:creationId xmlns:a16="http://schemas.microsoft.com/office/drawing/2014/main" id="{8AB37E82-CC67-D202-6A96-E822D2CA0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0637" y="3860253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43">
              <a:extLst>
                <a:ext uri="{FF2B5EF4-FFF2-40B4-BE49-F238E27FC236}">
                  <a16:creationId xmlns:a16="http://schemas.microsoft.com/office/drawing/2014/main" id="{A0E8C7F3-3A46-57B0-0C93-8DADE0D4D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0495" y="3841203"/>
              <a:ext cx="0" cy="32385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Rectangle 54">
              <a:extLst>
                <a:ext uri="{FF2B5EF4-FFF2-40B4-BE49-F238E27FC236}">
                  <a16:creationId xmlns:a16="http://schemas.microsoft.com/office/drawing/2014/main" id="{2E0C15DC-0654-C7F2-E8FC-A364C252F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1122" y="2136030"/>
              <a:ext cx="456161" cy="438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100" b="1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51" name="Rectangle 55">
              <a:extLst>
                <a:ext uri="{FF2B5EF4-FFF2-40B4-BE49-F238E27FC236}">
                  <a16:creationId xmlns:a16="http://schemas.microsoft.com/office/drawing/2014/main" id="{F389911A-75F0-53F4-549C-BB2373AEA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026" y="2136030"/>
              <a:ext cx="524537" cy="438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100" b="1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2" name="Line 56">
              <a:extLst>
                <a:ext uri="{FF2B5EF4-FFF2-40B4-BE49-F238E27FC236}">
                  <a16:creationId xmlns:a16="http://schemas.microsoft.com/office/drawing/2014/main" id="{5E2FEEE1-8A03-C560-40FD-381A489F3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794" y="2132856"/>
              <a:ext cx="0" cy="4413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4324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由于使用四个字段表示的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地址难以阅读和记忆，人们发明了域名系统，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域名系统中的每个域名都对应唯一一个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，即使用域名或者与域名对应的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地址可以访问网络上的同一台主机，例如，使用域名“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www.baidu.com”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或者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202.108.22.5”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都能访问百度的主机。</a:t>
            </a:r>
            <a:endParaRPr lang="zh-CN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IP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地址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751676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5.1.3IP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地址与端口号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7839" y="2219627"/>
            <a:ext cx="109837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端口号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是一台主机中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进程的唯一标识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使用“</a:t>
            </a:r>
            <a:r>
              <a:rPr lang="en-US" altLang="zh-CN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en-US" altLang="zh-CN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zh-CN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端口号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确定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网络中的一个进程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端口号的最大取值为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65535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，其中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0~1024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号端口一般由系统进程占用</a:t>
            </a:r>
          </a:p>
        </p:txBody>
      </p:sp>
      <p:grpSp>
        <p:nvGrpSpPr>
          <p:cNvPr id="5" name="组合 15"/>
          <p:cNvGrpSpPr/>
          <p:nvPr/>
        </p:nvGrpSpPr>
        <p:grpSpPr>
          <a:xfrm>
            <a:off x="627840" y="1211515"/>
            <a:ext cx="10983787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、端口号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10604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子网掩码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7838" y="1192493"/>
            <a:ext cx="10983787" cy="445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子网掩码又称为地址掩码，它用于划分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地址中的网络号与主机号，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网络号所占的位用“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标识，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主机号所占的位用“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标识，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在制定子网掩码时，充分利用了二进制数逻辑“与”运算的两个特性，即：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任何一个数与“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进行逻辑与运算，结果都是这个数本身；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任何一个数与“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进行逻辑与运算，结果都是“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8269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子网掩码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7838" y="1192493"/>
            <a:ext cx="1098378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因为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地址网络号和主机号的位置是确定的，所以子网掩码的取值也是确定的，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地址的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默认子网掩码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分别如下：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7837" y="2786615"/>
            <a:ext cx="109837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255.0.0.0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，等同于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11111111.00000000.00000000.00000000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255.255.0.0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，等同于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11111111. 11111111. 00000000. 00000000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255.255.255.0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，等同于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11111111. 11111111. 11111111. 00000000</a:t>
            </a:r>
            <a:endParaRPr lang="zh-CN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202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子网掩码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 Box 155">
            <a:extLst>
              <a:ext uri="{FF2B5EF4-FFF2-40B4-BE49-F238E27FC236}">
                <a16:creationId xmlns:a16="http://schemas.microsoft.com/office/drawing/2014/main" id="{EEA08201-D3A4-60E3-4910-7D86860A1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152" y="2100015"/>
            <a:ext cx="6593695" cy="375809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(IP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 AND (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子网掩码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 =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网络地址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5F25A-F6BB-2D32-4FBC-791AAF5FF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497" y="3545396"/>
            <a:ext cx="5470145" cy="329184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3BDC9F-8B60-F27C-EADA-702EDDF6F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497" y="2634504"/>
            <a:ext cx="5470145" cy="329184"/>
          </a:xfrm>
          <a:prstGeom prst="rect">
            <a:avLst/>
          </a:prstGeom>
          <a:solidFill>
            <a:srgbClr val="00FFFF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CE293065-B54E-8FEE-8EED-5AB60CCB5D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365" y="4080884"/>
            <a:ext cx="267584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D1DD4952-2DED-453E-825A-3E5CB68DA4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5922" y="4080884"/>
            <a:ext cx="136784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3EF52042-D188-D914-24AE-A3845FF492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2205" y="4080884"/>
            <a:ext cx="1377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BC9526-4F40-90A2-ED51-174E7369C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488" y="2643523"/>
            <a:ext cx="2685610" cy="314529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15BAE366-D609-4511-4C54-257BD85FE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535" y="2656607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 dirty="0">
                <a:latin typeface="微软雅黑" pitchFamily="34" charset="-122"/>
                <a:ea typeface="微软雅黑" pitchFamily="34" charset="-122"/>
              </a:rPr>
              <a:t>网络号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058365A-BC98-7E74-0A26-9671C5152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414" y="2656607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>
                <a:latin typeface="微软雅黑" pitchFamily="34" charset="-122"/>
                <a:ea typeface="微软雅黑" pitchFamily="34" charset="-122"/>
              </a:rPr>
              <a:t>主机号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C38B9FFC-7562-1B01-8C4E-ED361F2A1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699" y="2643523"/>
            <a:ext cx="1043556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 defTabSz="762000" eaLnBrk="0" hangingPunct="0"/>
            <a:r>
              <a:rPr kumimoji="1"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两级 </a:t>
            </a:r>
            <a:r>
              <a:rPr kumimoji="1" lang="en-US" altLang="zh-CN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2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75089F21-2269-6DDD-F325-8A5749104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036" y="4006480"/>
            <a:ext cx="892761" cy="1860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50A56864-A8E8-D4EB-7199-BFDB5BC32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2205" y="2640142"/>
            <a:ext cx="0" cy="3224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8C4D66C7-094A-A3CD-56FA-93E612E52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5765" y="3951239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网络号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1FAA0068-B1CB-7D6C-39F0-AF72225EA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258" y="3553288"/>
            <a:ext cx="2666069" cy="314528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6BB93659-20EC-4868-9BBA-3FC491AB4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699" y="3579664"/>
            <a:ext cx="1043556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 defTabSz="762000" eaLnBrk="0" hangingPunct="0"/>
            <a:r>
              <a:rPr kumimoji="1" lang="zh-CN" altLang="en-US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三级 </a:t>
            </a:r>
            <a:r>
              <a:rPr kumimoji="1" lang="en-US" altLang="zh-CN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FFCB2DC1-4EDB-6A1D-48EC-26943CE51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9886" y="3988896"/>
            <a:ext cx="683920" cy="2029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D74EC490-E844-B59E-341C-A463F8B76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2205" y="3552160"/>
            <a:ext cx="0" cy="32016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8EE1E634-EA27-0705-1464-7FC1AE9FD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441" y="3943348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主机号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8CC1F8D7-E746-BD79-6EF1-5D4E477B2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737" y="3998588"/>
            <a:ext cx="683920" cy="2029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466E2657-5865-7195-2538-19CACDF16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5922" y="3543142"/>
            <a:ext cx="0" cy="32129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BF1CB54E-96A3-18F8-AA1F-179542BE8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420" y="3566816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 dirty="0">
                <a:latin typeface="微软雅黑" pitchFamily="34" charset="-122"/>
                <a:ea typeface="微软雅黑" pitchFamily="34" charset="-122"/>
              </a:rPr>
              <a:t>网络号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8C3343B3-F141-7D62-D03F-6026A817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8343" y="3566816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>
                <a:latin typeface="微软雅黑" pitchFamily="34" charset="-122"/>
                <a:ea typeface="微软雅黑" pitchFamily="34" charset="-122"/>
              </a:rPr>
              <a:t>主机号</a:t>
            </a: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BF874858-DB57-F1EE-B377-7AA061AF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034" y="3566816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>
                <a:latin typeface="微软雅黑" pitchFamily="34" charset="-122"/>
                <a:ea typeface="微软雅黑" pitchFamily="34" charset="-122"/>
              </a:rPr>
              <a:t>子网号</a:t>
            </a:r>
          </a:p>
        </p:txBody>
      </p:sp>
      <p:sp>
        <p:nvSpPr>
          <p:cNvPr id="28" name="Rectangle 26">
            <a:extLst>
              <a:ext uri="{FF2B5EF4-FFF2-40B4-BE49-F238E27FC236}">
                <a16:creationId xmlns:a16="http://schemas.microsoft.com/office/drawing/2014/main" id="{E7D02BCB-10D8-DA8A-635D-50AEB64D6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482" y="3951239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子网号</a:t>
            </a: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C5D10563-AC79-CA55-9A50-9343585A6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5922" y="3901637"/>
            <a:ext cx="0" cy="3088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8BE597-FDD6-559F-E5C5-ACF42DAF5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699" y="4305226"/>
            <a:ext cx="104355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 defTabSz="762000" eaLnBrk="0" hangingPunct="0"/>
            <a:r>
              <a:rPr kumimoji="1" lang="zh-CN" altLang="en-US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三级 </a:t>
            </a:r>
            <a:r>
              <a:rPr kumimoji="1" lang="en-US" altLang="zh-CN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algn="r" defTabSz="762000" eaLnBrk="0" hangingPunct="0"/>
            <a:r>
              <a:rPr kumimoji="1" lang="zh-CN" altLang="en-US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的子网掩码</a:t>
            </a:r>
          </a:p>
        </p:txBody>
      </p:sp>
      <p:sp>
        <p:nvSpPr>
          <p:cNvPr id="31" name="Line 44">
            <a:extLst>
              <a:ext uri="{FF2B5EF4-FFF2-40B4-BE49-F238E27FC236}">
                <a16:creationId xmlns:a16="http://schemas.microsoft.com/office/drawing/2014/main" id="{FB37079D-04F3-5A62-6AB0-06BF2D886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2205" y="3938840"/>
            <a:ext cx="0" cy="3224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Rectangle 46">
            <a:extLst>
              <a:ext uri="{FF2B5EF4-FFF2-40B4-BE49-F238E27FC236}">
                <a16:creationId xmlns:a16="http://schemas.microsoft.com/office/drawing/2014/main" id="{D83773A4-7728-AC54-7383-53C0ADAD7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959" y="4902710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 defTabSz="762000" eaLnBrk="0" hangingPunct="0"/>
            <a:r>
              <a:rPr kumimoji="1" lang="zh-CN" altLang="en-US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子网的</a:t>
            </a:r>
          </a:p>
          <a:p>
            <a:pPr algn="r" defTabSz="762000" eaLnBrk="0" hangingPunct="0"/>
            <a:r>
              <a:rPr kumimoji="1" lang="zh-CN" altLang="en-US" sz="1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网络地址</a:t>
            </a:r>
          </a:p>
        </p:txBody>
      </p:sp>
      <p:sp>
        <p:nvSpPr>
          <p:cNvPr id="33" name="Rectangle 47">
            <a:extLst>
              <a:ext uri="{FF2B5EF4-FFF2-40B4-BE49-F238E27FC236}">
                <a16:creationId xmlns:a16="http://schemas.microsoft.com/office/drawing/2014/main" id="{1B8EBE3A-9045-353A-DD5F-B24E5B931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3710" y="4357083"/>
            <a:ext cx="1384940" cy="35736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Rectangle 48">
            <a:extLst>
              <a:ext uri="{FF2B5EF4-FFF2-40B4-BE49-F238E27FC236}">
                <a16:creationId xmlns:a16="http://schemas.microsoft.com/office/drawing/2014/main" id="{F562A895-CDEC-5D88-34CA-31FEA1584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807" y="4357083"/>
            <a:ext cx="4044903" cy="35736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5" name="Group 49">
            <a:extLst>
              <a:ext uri="{FF2B5EF4-FFF2-40B4-BE49-F238E27FC236}">
                <a16:creationId xmlns:a16="http://schemas.microsoft.com/office/drawing/2014/main" id="{726055C9-4581-FEDC-20F7-51DFF217E266}"/>
              </a:ext>
            </a:extLst>
          </p:cNvPr>
          <p:cNvGrpSpPr>
            <a:grpSpLocks/>
          </p:cNvGrpSpPr>
          <p:nvPr/>
        </p:nvGrpSpPr>
        <p:grpSpPr bwMode="auto">
          <a:xfrm>
            <a:off x="3910791" y="4402182"/>
            <a:ext cx="5424957" cy="289727"/>
            <a:chOff x="1174" y="3062"/>
            <a:chExt cx="4442" cy="257"/>
          </a:xfrm>
        </p:grpSpPr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52692848-58B0-778C-D2A1-7E5A62812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3062"/>
              <a:ext cx="334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300" b="1" dirty="0">
                  <a:latin typeface="微软雅黑" pitchFamily="34" charset="-122"/>
                  <a:ea typeface="微软雅黑" pitchFamily="34" charset="-122"/>
                </a:rPr>
                <a:t>1 1 1 1 1 1 1 1 1 1 1 1 1 1 1 1       1 1 1 1 1 1 1 1</a:t>
              </a:r>
            </a:p>
          </p:txBody>
        </p:sp>
        <p:sp>
          <p:nvSpPr>
            <p:cNvPr id="37" name="Rectangle 51">
              <a:extLst>
                <a:ext uri="{FF2B5EF4-FFF2-40B4-BE49-F238E27FC236}">
                  <a16:creationId xmlns:a16="http://schemas.microsoft.com/office/drawing/2014/main" id="{DC9DED8C-0748-FCB7-EE87-3DCAFC3CA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0" y="3062"/>
              <a:ext cx="110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defTabSz="762000" eaLnBrk="0" hangingPunct="0"/>
              <a:r>
                <a:rPr kumimoji="1" lang="en-US" altLang="zh-CN" sz="1300" b="1" dirty="0">
                  <a:latin typeface="微软雅黑" pitchFamily="34" charset="-122"/>
                  <a:ea typeface="微软雅黑" pitchFamily="34" charset="-122"/>
                </a:rPr>
                <a:t>0 0 0 0 0 0 0 0</a:t>
              </a:r>
            </a:p>
          </p:txBody>
        </p:sp>
      </p:grpSp>
      <p:sp>
        <p:nvSpPr>
          <p:cNvPr id="38" name="Line 52">
            <a:extLst>
              <a:ext uri="{FF2B5EF4-FFF2-40B4-BE49-F238E27FC236}">
                <a16:creationId xmlns:a16="http://schemas.microsoft.com/office/drawing/2014/main" id="{0619590A-4778-6ED8-6C99-7473F0B60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2205" y="4357083"/>
            <a:ext cx="1221" cy="3573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Rectangle 53">
            <a:extLst>
              <a:ext uri="{FF2B5EF4-FFF2-40B4-BE49-F238E27FC236}">
                <a16:creationId xmlns:a16="http://schemas.microsoft.com/office/drawing/2014/main" id="{DD16A3CF-7E96-18B5-0B66-BA3C96A2E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3710" y="4970357"/>
            <a:ext cx="1384940" cy="357368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Rectangle 54">
            <a:extLst>
              <a:ext uri="{FF2B5EF4-FFF2-40B4-BE49-F238E27FC236}">
                <a16:creationId xmlns:a16="http://schemas.microsoft.com/office/drawing/2014/main" id="{758B437B-B8B1-21AD-0B60-9AAA8A7D3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807" y="4970357"/>
            <a:ext cx="4044903" cy="35736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Line 55">
            <a:extLst>
              <a:ext uri="{FF2B5EF4-FFF2-40B4-BE49-F238E27FC236}">
                <a16:creationId xmlns:a16="http://schemas.microsoft.com/office/drawing/2014/main" id="{2E4329A0-497C-98D3-13AC-CF713C9CE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2205" y="4970357"/>
            <a:ext cx="1221" cy="3573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57">
            <a:extLst>
              <a:ext uri="{FF2B5EF4-FFF2-40B4-BE49-F238E27FC236}">
                <a16:creationId xmlns:a16="http://schemas.microsoft.com/office/drawing/2014/main" id="{A51EF581-C828-A774-BDBF-945F9474C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599" y="4987267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 dirty="0">
                <a:latin typeface="微软雅黑" pitchFamily="34" charset="-122"/>
                <a:ea typeface="微软雅黑" pitchFamily="34" charset="-122"/>
              </a:rPr>
              <a:t>网络号</a:t>
            </a:r>
          </a:p>
        </p:txBody>
      </p:sp>
      <p:sp>
        <p:nvSpPr>
          <p:cNvPr id="43" name="Rectangle 58">
            <a:extLst>
              <a:ext uri="{FF2B5EF4-FFF2-40B4-BE49-F238E27FC236}">
                <a16:creationId xmlns:a16="http://schemas.microsoft.com/office/drawing/2014/main" id="{DF18C449-60DF-E536-23E8-6F0008272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4855" y="4987267"/>
            <a:ext cx="682880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300" b="1">
                <a:latin typeface="微软雅黑" pitchFamily="34" charset="-122"/>
                <a:ea typeface="微软雅黑" pitchFamily="34" charset="-122"/>
              </a:rPr>
              <a:t>子网号</a:t>
            </a:r>
          </a:p>
        </p:txBody>
      </p:sp>
      <p:sp>
        <p:nvSpPr>
          <p:cNvPr id="44" name="Rectangle 59">
            <a:extLst>
              <a:ext uri="{FF2B5EF4-FFF2-40B4-BE49-F238E27FC236}">
                <a16:creationId xmlns:a16="http://schemas.microsoft.com/office/drawing/2014/main" id="{D68F570C-8EFF-0E8C-E5DD-5119E3526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264" y="4987267"/>
            <a:ext cx="285336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defTabSz="762000" eaLnBrk="0" hangingPunct="0"/>
            <a:r>
              <a:rPr kumimoji="1" lang="en-US" altLang="zh-CN" sz="1300" b="1"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45" name="AutoShape 61">
            <a:extLst>
              <a:ext uri="{FF2B5EF4-FFF2-40B4-BE49-F238E27FC236}">
                <a16:creationId xmlns:a16="http://schemas.microsoft.com/office/drawing/2014/main" id="{3C09586A-29DB-83E9-4FBB-857A433B5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359" y="4766309"/>
            <a:ext cx="665601" cy="357367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 sz="13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Rectangle 60">
            <a:extLst>
              <a:ext uri="{FF2B5EF4-FFF2-40B4-BE49-F238E27FC236}">
                <a16:creationId xmlns:a16="http://schemas.microsoft.com/office/drawing/2014/main" id="{001C7A2A-63EF-E6B8-F95A-65F8E593F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406" y="3905920"/>
            <a:ext cx="5476251" cy="426135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逐位进行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AND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412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35" presetClass="emph" presetSubtype="0" repeatCount="4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5" grpId="0" animBg="1"/>
      <p:bldP spid="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子网掩码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7838" y="1192493"/>
            <a:ext cx="10983787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子网掩码通常应用于网络搭建中，申请到网络号之后，用户可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利用子网掩码将该网络号标识的网络划分为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多个子网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7835" y="2920924"/>
            <a:ext cx="10983787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子网掩码为“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11111111.11111111.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000000.00000000”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255.255.192.0”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。此时得到的四个子网的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地址取值范围分别如下：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网络号：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192.93.54.0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范围：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192.93.54.1~192.93.54.62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网络号：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192.93.54.64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范围：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192.193.54.65~192.93.54.126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网络号：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192.93.54.128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范围：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192.193.54.129~192.93.54.190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342900" indent="-3429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网络号：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192.93.54.192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范围：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192.193.54.193~192.93.54.254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627836" y="2339867"/>
            <a:ext cx="1098378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示例：将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类网络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192.93.54.a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划分为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个子网。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829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5.1.5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7838" y="1192493"/>
            <a:ext cx="10983787" cy="445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实体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指一个特定的硬件或软件模块。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是控制两个对等实体（或多个实体）进行通信的规则的集合。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协议的控制下，两个对等实体间的通信使得本层能够向上一层提供服务。服务是同一开发系统中某一层向它的上一层提供的操作，它定义了该层打算为上一层的用户执行哪些操作，但不涉及这些操作的具体实现。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在同一个开放系统中，本层实体向上一层实体提供服务的交互处，称为</a:t>
            </a: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服务访问点</a:t>
            </a:r>
            <a:r>
              <a:rPr lang="en-US" altLang="zh-CN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SAP(Service Access Point)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1941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5.1.5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7838" y="1192493"/>
            <a:ext cx="10983787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的实现保证了能够向上一层提供服务。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本层的服务用户只能看见服务而无法看见下面的协议。即下面的协议对上面的服务用户是透明的。 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协议是“</a:t>
            </a: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水平的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”，即协议是控制对等实体之间通信的规则。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服务是“</a:t>
            </a: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垂直的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”，即服务是由下层向上层通过层间接口提供的。</a:t>
            </a: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上层使用服务原语获得下层所提供的服务。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1135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5.1.5</a:t>
            </a:r>
            <a:r>
              <a:rPr lang="zh-CN" altLang="en-US" sz="320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协议与服务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63">
            <a:extLst>
              <a:ext uri="{FF2B5EF4-FFF2-40B4-BE49-F238E27FC236}">
                <a16:creationId xmlns:a16="http://schemas.microsoft.com/office/drawing/2014/main" id="{B0F14423-8081-33A8-045D-E5DB02CB1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9144" y="3700644"/>
            <a:ext cx="8053712" cy="1508782"/>
          </a:xfrm>
          <a:prstGeom prst="rect">
            <a:avLst/>
          </a:prstGeom>
          <a:solidFill>
            <a:srgbClr val="CDF3CD"/>
          </a:solidFill>
          <a:ln w="9525">
            <a:noFill/>
            <a:prstDash val="dash"/>
            <a:round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 dirty="0">
              <a:solidFill>
                <a:srgbClr val="368AD6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A2CD8992-E255-6D59-8D22-FD3350116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7185" y="4373511"/>
            <a:ext cx="4800600" cy="571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none" anchor="ctr"/>
          <a:lstStyle/>
          <a:p>
            <a:pPr algn="ctr"/>
            <a:endParaRPr kumimoji="1" lang="zh-CN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A5F3EF23-72F7-D13F-65AD-66C3FBFD9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385" y="4268736"/>
            <a:ext cx="188912" cy="190500"/>
          </a:xfrm>
          <a:prstGeom prst="rect">
            <a:avLst/>
          </a:prstGeom>
          <a:solidFill>
            <a:srgbClr val="CC00CC"/>
          </a:solidFill>
          <a:ln w="19050">
            <a:solidFill>
              <a:srgbClr val="CC0000"/>
            </a:solidFill>
            <a:miter lim="800000"/>
          </a:ln>
        </p:spPr>
        <p:txBody>
          <a:bodyPr wrap="none" anchor="ctr"/>
          <a:lstStyle/>
          <a:p>
            <a:endParaRPr lang="zh-CN" altLang="en-US" sz="1600" b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37">
            <a:extLst>
              <a:ext uri="{FF2B5EF4-FFF2-40B4-BE49-F238E27FC236}">
                <a16:creationId xmlns:a16="http://schemas.microsoft.com/office/drawing/2014/main" id="{98B34344-24C2-A11F-3865-56D33F550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947" y="2954286"/>
            <a:ext cx="20383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38">
            <a:extLst>
              <a:ext uri="{FF2B5EF4-FFF2-40B4-BE49-F238E27FC236}">
                <a16:creationId xmlns:a16="http://schemas.microsoft.com/office/drawing/2014/main" id="{92637EE9-61D4-E40F-D664-CF22E2830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747" y="2768549"/>
            <a:ext cx="1258888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6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+1)</a:t>
            </a:r>
          </a:p>
        </p:txBody>
      </p:sp>
      <p:sp>
        <p:nvSpPr>
          <p:cNvPr id="9" name="Text Box 39">
            <a:extLst>
              <a:ext uri="{FF2B5EF4-FFF2-40B4-BE49-F238E27FC236}">
                <a16:creationId xmlns:a16="http://schemas.microsoft.com/office/drawing/2014/main" id="{2B7C759C-1191-5450-E81E-FE74F2448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910" y="3955999"/>
            <a:ext cx="60483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</a:p>
        </p:txBody>
      </p:sp>
      <p:sp>
        <p:nvSpPr>
          <p:cNvPr id="11" name="Text Box 40">
            <a:extLst>
              <a:ext uri="{FF2B5EF4-FFF2-40B4-BE49-F238E27FC236}">
                <a16:creationId xmlns:a16="http://schemas.microsoft.com/office/drawing/2014/main" id="{CCF1FF82-3C7F-E078-2A4A-10879B008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510" y="3975049"/>
            <a:ext cx="60483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</a:p>
        </p:txBody>
      </p:sp>
      <p:sp>
        <p:nvSpPr>
          <p:cNvPr id="12" name="AutoShape 42">
            <a:extLst>
              <a:ext uri="{FF2B5EF4-FFF2-40B4-BE49-F238E27FC236}">
                <a16:creationId xmlns:a16="http://schemas.microsoft.com/office/drawing/2014/main" id="{338AF631-9D01-84B1-2FBB-49930BE78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2197" y="3178124"/>
            <a:ext cx="128588" cy="1074737"/>
          </a:xfrm>
          <a:prstGeom prst="upDownArrow">
            <a:avLst>
              <a:gd name="adj1" fmla="val 50000"/>
              <a:gd name="adj2" fmla="val 181090"/>
            </a:avLst>
          </a:prstGeom>
          <a:solidFill>
            <a:srgbClr val="0098F6"/>
          </a:solidFill>
          <a:ln w="12700">
            <a:solidFill>
              <a:schemeClr val="tx1"/>
            </a:solidFill>
            <a:miter lim="800000"/>
            <a:headEnd type="none" w="med" len="lg"/>
            <a:tailEnd type="none" w="med" len="lg"/>
          </a:ln>
        </p:spPr>
        <p:txBody>
          <a:bodyPr vert="eaVert"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18190A8D-21C2-E5C8-CC7A-4BCADE2D7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9097" y="4268736"/>
            <a:ext cx="192088" cy="190500"/>
          </a:xfrm>
          <a:prstGeom prst="rect">
            <a:avLst/>
          </a:prstGeom>
          <a:solidFill>
            <a:srgbClr val="CC00CC"/>
          </a:solidFill>
          <a:ln w="19050">
            <a:solidFill>
              <a:srgbClr val="CC0000"/>
            </a:solidFill>
            <a:miter lim="800000"/>
          </a:ln>
        </p:spPr>
        <p:txBody>
          <a:bodyPr wrap="none" anchor="ctr"/>
          <a:lstStyle/>
          <a:p>
            <a:endParaRPr lang="zh-CN" altLang="en-US" sz="1600" b="1">
              <a:solidFill>
                <a:srgbClr val="CC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44">
            <a:extLst>
              <a:ext uri="{FF2B5EF4-FFF2-40B4-BE49-F238E27FC236}">
                <a16:creationId xmlns:a16="http://schemas.microsoft.com/office/drawing/2014/main" id="{EB861F34-8C06-33A8-6897-CC51D7F65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1322" y="3178124"/>
            <a:ext cx="130175" cy="1074737"/>
          </a:xfrm>
          <a:prstGeom prst="upDownArrow">
            <a:avLst>
              <a:gd name="adj1" fmla="val 50000"/>
              <a:gd name="adj2" fmla="val 178882"/>
            </a:avLst>
          </a:prstGeom>
          <a:solidFill>
            <a:srgbClr val="0098F6"/>
          </a:solidFill>
          <a:ln w="12700">
            <a:solidFill>
              <a:schemeClr val="tx1"/>
            </a:solidFill>
            <a:miter lim="800000"/>
            <a:headEnd type="none" w="med" len="lg"/>
            <a:tailEnd type="none" w="med" len="lg"/>
          </a:ln>
        </p:spPr>
        <p:txBody>
          <a:bodyPr vert="eaVert" wrap="none" anchor="ctr"/>
          <a:lstStyle/>
          <a:p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46">
            <a:extLst>
              <a:ext uri="{FF2B5EF4-FFF2-40B4-BE49-F238E27FC236}">
                <a16:creationId xmlns:a16="http://schemas.microsoft.com/office/drawing/2014/main" id="{1208858E-8EEA-AC27-446F-9A5DACFC9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7372" y="2779661"/>
            <a:ext cx="1150938" cy="395288"/>
          </a:xfrm>
          <a:prstGeom prst="rect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47">
            <a:extLst>
              <a:ext uri="{FF2B5EF4-FFF2-40B4-BE49-F238E27FC236}">
                <a16:creationId xmlns:a16="http://schemas.microsoft.com/office/drawing/2014/main" id="{C654C458-6539-53D2-EF43-B0CC552A2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122" y="2835224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+ 1)</a:t>
            </a:r>
          </a:p>
        </p:txBody>
      </p:sp>
      <p:sp>
        <p:nvSpPr>
          <p:cNvPr id="17" name="Text Box 48">
            <a:extLst>
              <a:ext uri="{FF2B5EF4-FFF2-40B4-BE49-F238E27FC236}">
                <a16:creationId xmlns:a16="http://schemas.microsoft.com/office/drawing/2014/main" id="{12E51CE8-E138-1D6F-764C-D2A223753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872" y="4297311"/>
            <a:ext cx="8493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服务提供者</a:t>
            </a:r>
          </a:p>
        </p:txBody>
      </p:sp>
      <p:sp>
        <p:nvSpPr>
          <p:cNvPr id="18" name="Line 49">
            <a:extLst>
              <a:ext uri="{FF2B5EF4-FFF2-40B4-BE49-F238E27FC236}">
                <a16:creationId xmlns:a16="http://schemas.microsoft.com/office/drawing/2014/main" id="{78E03D07-0E7F-8F74-930E-BFDEFC97D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9144" y="3698824"/>
            <a:ext cx="8053712" cy="0"/>
          </a:xfrm>
          <a:prstGeom prst="line">
            <a:avLst/>
          </a:prstGeom>
          <a:noFill/>
          <a:ln w="28575">
            <a:solidFill>
              <a:srgbClr val="339933"/>
            </a:solidFill>
            <a:prstDash val="dash"/>
            <a:round/>
            <a:headEnd type="non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50">
            <a:extLst>
              <a:ext uri="{FF2B5EF4-FFF2-40B4-BE49-F238E27FC236}">
                <a16:creationId xmlns:a16="http://schemas.microsoft.com/office/drawing/2014/main" id="{C1CF81A2-7C04-A662-8265-A5E65DCCF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885" y="4443361"/>
            <a:ext cx="849913" cy="338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kumimoji="1" lang="en-US" altLang="zh-CN" sz="16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20" name="Text Box 51">
            <a:extLst>
              <a:ext uri="{FF2B5EF4-FFF2-40B4-BE49-F238E27FC236}">
                <a16:creationId xmlns:a16="http://schemas.microsoft.com/office/drawing/2014/main" id="{E48E754F-8399-7EE9-886F-F715EA8AB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6522" y="2797124"/>
            <a:ext cx="1132041" cy="338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kumimoji="1" lang="en-US" altLang="zh-CN" sz="16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 </a:t>
            </a:r>
            <a:r>
              <a:rPr kumimoji="1"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21" name="Rectangle 52">
            <a:extLst>
              <a:ext uri="{FF2B5EF4-FFF2-40B4-BE49-F238E27FC236}">
                <a16:creationId xmlns:a16="http://schemas.microsoft.com/office/drawing/2014/main" id="{D8B6CB1E-F723-9565-4E64-06D1DB177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197" y="2779661"/>
            <a:ext cx="1149350" cy="395288"/>
          </a:xfrm>
          <a:prstGeom prst="rect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D4A3B915-FFAA-A3C6-A23A-8063D839F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947" y="2833636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+ 1)</a:t>
            </a:r>
          </a:p>
        </p:txBody>
      </p:sp>
      <p:sp>
        <p:nvSpPr>
          <p:cNvPr id="23" name="Text Box 54">
            <a:extLst>
              <a:ext uri="{FF2B5EF4-FFF2-40B4-BE49-F238E27FC236}">
                <a16:creationId xmlns:a16="http://schemas.microsoft.com/office/drawing/2014/main" id="{8D4A32EC-AB8C-0AB7-EB0E-6389E9943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072" y="2647899"/>
            <a:ext cx="1249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kumimoji="1" lang="zh-CN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55">
            <a:extLst>
              <a:ext uri="{FF2B5EF4-FFF2-40B4-BE49-F238E27FC236}">
                <a16:creationId xmlns:a16="http://schemas.microsoft.com/office/drawing/2014/main" id="{DF02609F-431B-35D6-393D-44F6165A3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872" y="2701874"/>
            <a:ext cx="6746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服务用户</a:t>
            </a:r>
          </a:p>
        </p:txBody>
      </p:sp>
      <p:sp>
        <p:nvSpPr>
          <p:cNvPr id="25" name="Rectangle 56">
            <a:extLst>
              <a:ext uri="{FF2B5EF4-FFF2-40B4-BE49-F238E27FC236}">
                <a16:creationId xmlns:a16="http://schemas.microsoft.com/office/drawing/2014/main" id="{6EA8AA9B-AE50-67DC-46F9-AED747D72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7372" y="4454474"/>
            <a:ext cx="1150938" cy="395287"/>
          </a:xfrm>
          <a:prstGeom prst="rect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57">
            <a:extLst>
              <a:ext uri="{FF2B5EF4-FFF2-40B4-BE49-F238E27FC236}">
                <a16:creationId xmlns:a16="http://schemas.microsoft.com/office/drawing/2014/main" id="{7E348451-49FC-B4AD-A83F-2A33AECCF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972" y="4454474"/>
            <a:ext cx="1150938" cy="395287"/>
          </a:xfrm>
          <a:prstGeom prst="rect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endParaRPr kumimoji="1" lang="zh-CN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58">
            <a:extLst>
              <a:ext uri="{FF2B5EF4-FFF2-40B4-BE49-F238E27FC236}">
                <a16:creationId xmlns:a16="http://schemas.microsoft.com/office/drawing/2014/main" id="{25EA1EA3-E57E-5A88-789E-1C5B6031A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497" y="4486224"/>
            <a:ext cx="855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8" name="Text Box 59">
            <a:extLst>
              <a:ext uri="{FF2B5EF4-FFF2-40B4-BE49-F238E27FC236}">
                <a16:creationId xmlns:a16="http://schemas.microsoft.com/office/drawing/2014/main" id="{DA115902-8653-2EB6-ECCA-A423BD67C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8422" y="4486224"/>
            <a:ext cx="855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实体 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9" name="Line 60">
            <a:extLst>
              <a:ext uri="{FF2B5EF4-FFF2-40B4-BE49-F238E27FC236}">
                <a16:creationId xmlns:a16="http://schemas.microsoft.com/office/drawing/2014/main" id="{1BA3E451-9ED4-DE9D-100D-2A881C102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485" y="4641799"/>
            <a:ext cx="20415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61">
            <a:extLst>
              <a:ext uri="{FF2B5EF4-FFF2-40B4-BE49-F238E27FC236}">
                <a16:creationId xmlns:a16="http://schemas.microsoft.com/office/drawing/2014/main" id="{AFE3366E-1297-84CF-4887-CA7921624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560" y="4492574"/>
            <a:ext cx="889000" cy="338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dash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1" name="矩形 32">
            <a:extLst>
              <a:ext uri="{FF2B5EF4-FFF2-40B4-BE49-F238E27FC236}">
                <a16:creationId xmlns:a16="http://schemas.microsoft.com/office/drawing/2014/main" id="{434D5C20-0919-59E9-2FD9-72C0DAFF4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722" y="5245049"/>
            <a:ext cx="3587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相邻两层之间的关系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F740785-1A35-C8B8-E2FD-45CB3BD2607E}"/>
              </a:ext>
            </a:extLst>
          </p:cNvPr>
          <p:cNvSpPr txBox="1"/>
          <p:nvPr/>
        </p:nvSpPr>
        <p:spPr>
          <a:xfrm>
            <a:off x="3046771" y="1497161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实体、协议、服务和服务访问点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58822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1414550" y="2436366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23" name="Picture 5" descr="C:\Users\user\Desktop\沟通-0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225" y="3301256"/>
            <a:ext cx="1639966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矩形 21"/>
          <p:cNvSpPr>
            <a:spLocks noChangeArrowheads="1"/>
          </p:cNvSpPr>
          <p:nvPr/>
        </p:nvSpPr>
        <p:spPr bwMode="auto">
          <a:xfrm>
            <a:off x="3315838" y="2436366"/>
            <a:ext cx="1888803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203257" y="2436366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8"/>
          <p:cNvSpPr>
            <a:spLocks noChangeArrowheads="1"/>
          </p:cNvSpPr>
          <p:nvPr/>
        </p:nvSpPr>
        <p:spPr bwMode="auto">
          <a:xfrm>
            <a:off x="3264160" y="2562165"/>
            <a:ext cx="188084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sp>
        <p:nvSpPr>
          <p:cNvPr id="27" name="矩形 29"/>
          <p:cNvSpPr>
            <a:spLocks noChangeArrowheads="1"/>
          </p:cNvSpPr>
          <p:nvPr/>
        </p:nvSpPr>
        <p:spPr bwMode="auto">
          <a:xfrm>
            <a:off x="5243922" y="2603701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28" name="直接连接符 7167"/>
          <p:cNvCxnSpPr>
            <a:cxnSpLocks noChangeShapeType="1"/>
          </p:cNvCxnSpPr>
          <p:nvPr/>
        </p:nvCxnSpPr>
        <p:spPr bwMode="auto">
          <a:xfrm>
            <a:off x="1390445" y="2355670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7172"/>
          <p:cNvCxnSpPr>
            <a:cxnSpLocks noChangeShapeType="1"/>
          </p:cNvCxnSpPr>
          <p:nvPr/>
        </p:nvCxnSpPr>
        <p:spPr bwMode="auto">
          <a:xfrm>
            <a:off x="1390445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50"/>
          <p:cNvCxnSpPr>
            <a:cxnSpLocks noChangeShapeType="1"/>
          </p:cNvCxnSpPr>
          <p:nvPr/>
        </p:nvCxnSpPr>
        <p:spPr bwMode="auto">
          <a:xfrm>
            <a:off x="3280914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连接符 51"/>
          <p:cNvCxnSpPr>
            <a:cxnSpLocks noChangeShapeType="1"/>
          </p:cNvCxnSpPr>
          <p:nvPr/>
        </p:nvCxnSpPr>
        <p:spPr bwMode="auto">
          <a:xfrm>
            <a:off x="5161758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52"/>
          <p:cNvCxnSpPr>
            <a:cxnSpLocks noChangeShapeType="1"/>
          </p:cNvCxnSpPr>
          <p:nvPr/>
        </p:nvCxnSpPr>
        <p:spPr bwMode="auto">
          <a:xfrm flipH="1">
            <a:off x="7108427" y="1976682"/>
            <a:ext cx="1" cy="42744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7177"/>
          <p:cNvSpPr txBox="1">
            <a:spLocks noChangeArrowheads="1"/>
          </p:cNvSpPr>
          <p:nvPr/>
        </p:nvSpPr>
        <p:spPr bwMode="auto">
          <a:xfrm>
            <a:off x="1390445" y="1716288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4" name="TextBox 7177"/>
          <p:cNvSpPr txBox="1">
            <a:spLocks noChangeArrowheads="1"/>
          </p:cNvSpPr>
          <p:nvPr/>
        </p:nvSpPr>
        <p:spPr bwMode="auto">
          <a:xfrm>
            <a:off x="3293099" y="1716289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5" name="TextBox 7177"/>
          <p:cNvSpPr txBox="1">
            <a:spLocks noChangeArrowheads="1"/>
          </p:cNvSpPr>
          <p:nvPr/>
        </p:nvSpPr>
        <p:spPr bwMode="auto">
          <a:xfrm>
            <a:off x="5111398" y="1716288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1414550" y="2345682"/>
            <a:ext cx="18663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endParaRPr lang="en-US" altLang="zh-CN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基础</a:t>
            </a: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3280914" y="2355670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5141809" y="2355670"/>
            <a:ext cx="1954013" cy="695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9" name="Picture 4" descr="C:\Users\user\Desktop\45455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533" y="3301257"/>
            <a:ext cx="1640889" cy="10925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C:\Users\user\Desktop\xpic708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55190" y="3301256"/>
            <a:ext cx="1639965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7108347" y="2423840"/>
            <a:ext cx="184272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7130" y="3254358"/>
            <a:ext cx="1675422" cy="113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7142294" y="1677363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矩形 28"/>
          <p:cNvSpPr>
            <a:spLocks noChangeArrowheads="1"/>
          </p:cNvSpPr>
          <p:nvPr/>
        </p:nvSpPr>
        <p:spPr bwMode="auto">
          <a:xfrm>
            <a:off x="7082462" y="2562165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电子邮件服务</a:t>
            </a: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7124591" y="2354478"/>
            <a:ext cx="1812284" cy="1192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矩形 22"/>
          <p:cNvSpPr>
            <a:spLocks noChangeArrowheads="1"/>
          </p:cNvSpPr>
          <p:nvPr/>
        </p:nvSpPr>
        <p:spPr bwMode="auto">
          <a:xfrm>
            <a:off x="8957227" y="2419208"/>
            <a:ext cx="1632802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7" name="矩形 29"/>
          <p:cNvSpPr>
            <a:spLocks noChangeArrowheads="1"/>
          </p:cNvSpPr>
          <p:nvPr/>
        </p:nvSpPr>
        <p:spPr bwMode="auto">
          <a:xfrm>
            <a:off x="8936876" y="2562165"/>
            <a:ext cx="1653154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48" name="直接连接符 51"/>
          <p:cNvCxnSpPr>
            <a:cxnSpLocks noChangeShapeType="1"/>
          </p:cNvCxnSpPr>
          <p:nvPr/>
        </p:nvCxnSpPr>
        <p:spPr bwMode="auto">
          <a:xfrm>
            <a:off x="8915727" y="2018163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7177"/>
          <p:cNvSpPr txBox="1">
            <a:spLocks noChangeArrowheads="1"/>
          </p:cNvSpPr>
          <p:nvPr/>
        </p:nvSpPr>
        <p:spPr bwMode="auto">
          <a:xfrm>
            <a:off x="8865367" y="1699130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121" y="3291322"/>
            <a:ext cx="1467517" cy="107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3" name="直接连接符 52"/>
          <p:cNvCxnSpPr/>
          <p:nvPr/>
        </p:nvCxnSpPr>
        <p:spPr bwMode="auto">
          <a:xfrm flipV="1">
            <a:off x="8915727" y="2355074"/>
            <a:ext cx="1674303" cy="1199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761633062"/>
      </p:ext>
    </p:extLst>
  </p:cSld>
  <p:clrMapOvr>
    <a:masterClrMapping/>
  </p:clrMapOvr>
  <p:transition spd="slow">
    <p:randomBar dir="vert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611746" y="1343640"/>
            <a:ext cx="11012407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DHCP</a:t>
            </a:r>
            <a:r>
              <a:rPr lang="zh-CN" altLang="en-US" sz="2400" dirty="0">
                <a:solidFill>
                  <a:srgbClr val="FF0000"/>
                </a:solidFill>
              </a:rPr>
              <a:t>即动态主机配置协议</a:t>
            </a:r>
            <a:r>
              <a:rPr lang="zh-CN" altLang="en-US" sz="2400" dirty="0">
                <a:solidFill>
                  <a:srgbClr val="1353A2"/>
                </a:solidFill>
              </a:rPr>
              <a:t>，是</a:t>
            </a:r>
            <a:r>
              <a:rPr lang="en-US" altLang="zh-CN" sz="2400" dirty="0">
                <a:solidFill>
                  <a:srgbClr val="1353A2"/>
                </a:solidFill>
              </a:rPr>
              <a:t>Dynamic Host Configuration Protocol</a:t>
            </a:r>
            <a:r>
              <a:rPr lang="zh-CN" altLang="en-US" sz="2400" dirty="0">
                <a:solidFill>
                  <a:srgbClr val="1353A2"/>
                </a:solidFill>
              </a:rPr>
              <a:t>的缩写。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服务分为两部分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FF0000"/>
                </a:solidFill>
              </a:rPr>
              <a:t>服务器的功能</a:t>
            </a:r>
            <a:r>
              <a:rPr lang="zh-CN" altLang="en-US" sz="2400" dirty="0">
                <a:solidFill>
                  <a:srgbClr val="1353A2"/>
                </a:solidFill>
              </a:rPr>
              <a:t>为</a:t>
            </a:r>
            <a:r>
              <a:rPr lang="zh-CN" altLang="en-US" sz="2400" dirty="0">
                <a:solidFill>
                  <a:srgbClr val="00B050"/>
                </a:solidFill>
              </a:rPr>
              <a:t>集中管理</a:t>
            </a:r>
            <a:r>
              <a:rPr lang="zh-CN" altLang="en-US" sz="2400" dirty="0">
                <a:solidFill>
                  <a:srgbClr val="1353A2"/>
                </a:solidFill>
              </a:rPr>
              <a:t>与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相关的网络设置数据，</a:t>
            </a:r>
            <a:r>
              <a:rPr lang="zh-CN" altLang="en-US" sz="2400" dirty="0">
                <a:solidFill>
                  <a:srgbClr val="00B050"/>
                </a:solidFill>
              </a:rPr>
              <a:t>处理</a:t>
            </a:r>
            <a:r>
              <a:rPr lang="zh-CN" altLang="en-US" sz="2400" dirty="0">
                <a:solidFill>
                  <a:srgbClr val="1353A2"/>
                </a:solidFill>
              </a:rPr>
              <a:t>客户端的</a:t>
            </a:r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00B050"/>
                </a:solidFill>
              </a:rPr>
              <a:t>请求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1353A2"/>
                </a:solidFill>
              </a:rPr>
              <a:t>	</a:t>
            </a:r>
            <a:r>
              <a:rPr lang="zh-CN" altLang="en-US" sz="2400" dirty="0">
                <a:solidFill>
                  <a:srgbClr val="FF0000"/>
                </a:solidFill>
              </a:rPr>
              <a:t>客户端的功能</a:t>
            </a:r>
            <a:r>
              <a:rPr lang="zh-CN" altLang="en-US" sz="2400" dirty="0">
                <a:solidFill>
                  <a:srgbClr val="1353A2"/>
                </a:solidFill>
              </a:rPr>
              <a:t>为</a:t>
            </a:r>
            <a:r>
              <a:rPr lang="zh-CN" altLang="en-US" sz="2400" dirty="0">
                <a:solidFill>
                  <a:srgbClr val="00B050"/>
                </a:solidFill>
              </a:rPr>
              <a:t>使用</a:t>
            </a:r>
            <a:r>
              <a:rPr lang="zh-CN" altLang="en-US" sz="2400" dirty="0">
                <a:solidFill>
                  <a:srgbClr val="1353A2"/>
                </a:solidFill>
              </a:rPr>
              <a:t>服务器分配的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配置网络。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552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611746" y="1343640"/>
            <a:ext cx="11012407" cy="335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服务的主要功能是为</a:t>
            </a:r>
            <a:r>
              <a:rPr lang="zh-CN" altLang="en-US" sz="2400" b="1" dirty="0">
                <a:solidFill>
                  <a:srgbClr val="FF0000"/>
                </a:solidFill>
              </a:rPr>
              <a:t>动态分配</a:t>
            </a:r>
            <a:r>
              <a:rPr lang="en-US" altLang="zh-CN" sz="2400" b="1" dirty="0">
                <a:solidFill>
                  <a:srgbClr val="FF0000"/>
                </a:solidFill>
              </a:rPr>
              <a:t>IP</a:t>
            </a:r>
            <a:r>
              <a:rPr lang="zh-CN" altLang="en-US" sz="2400" b="1" dirty="0">
                <a:solidFill>
                  <a:srgbClr val="FF0000"/>
                </a:solidFill>
              </a:rPr>
              <a:t>地址</a:t>
            </a:r>
            <a:r>
              <a:rPr lang="zh-CN" altLang="en-US" sz="2400" dirty="0">
                <a:solidFill>
                  <a:srgbClr val="1353A2"/>
                </a:solidFill>
              </a:rPr>
              <a:t>，它可以</a:t>
            </a:r>
            <a:r>
              <a:rPr lang="zh-CN" altLang="en-US" sz="2400" dirty="0">
                <a:solidFill>
                  <a:srgbClr val="FF0000"/>
                </a:solidFill>
              </a:rPr>
              <a:t>缓解</a:t>
            </a:r>
            <a:r>
              <a:rPr lang="en-US" altLang="zh-CN" sz="2400" dirty="0">
                <a:solidFill>
                  <a:srgbClr val="FF0000"/>
                </a:solidFill>
              </a:rPr>
              <a:t>IP</a:t>
            </a:r>
            <a:r>
              <a:rPr lang="zh-CN" altLang="en-US" sz="2400" dirty="0">
                <a:solidFill>
                  <a:srgbClr val="FF0000"/>
                </a:solidFill>
              </a:rPr>
              <a:t>地址不足</a:t>
            </a:r>
            <a:r>
              <a:rPr lang="zh-CN" altLang="en-US" sz="2400" dirty="0">
                <a:solidFill>
                  <a:srgbClr val="1353A2"/>
                </a:solidFill>
              </a:rPr>
              <a:t>这一问题。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</a:rPr>
              <a:t>本节</a:t>
            </a:r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服务涉及到的主要内容包括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常用术语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工作流程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配置方法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609" y="2591873"/>
            <a:ext cx="4094849" cy="2755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442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7737" y="102824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endParaRPr lang="zh-CN" altLang="zh-CN" sz="24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服务常用术语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7737" y="2104374"/>
            <a:ext cx="11058942" cy="147732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服务器</a:t>
            </a:r>
          </a:p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服务器是用于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提供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网络设置参数给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客户机的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Internet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主机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，用于配置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服务器的主机必须使用</a:t>
            </a:r>
            <a:r>
              <a:rPr lang="zh-CN" altLang="zh-CN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静态</a:t>
            </a:r>
            <a:r>
              <a:rPr lang="en-US" altLang="zh-CN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zh-CN" sz="24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地址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配置子网掩码与默认网关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577737" y="3581703"/>
            <a:ext cx="11058942" cy="145376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客户机</a:t>
            </a:r>
          </a:p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客户机是通过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获取网络配置参数的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Internet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主机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。若网络中存在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服务器，开启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服务的客户机在接入网络后可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获得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由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服务器动态分配的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地址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577737" y="5037866"/>
            <a:ext cx="11058942" cy="101566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中继代理</a:t>
            </a:r>
          </a:p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中继代理是在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客户机和服务器之间</a:t>
            </a:r>
            <a:r>
              <a:rPr lang="zh-CN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转发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消息的主机或路由器</a:t>
            </a:r>
            <a:r>
              <a:rPr lang="zh-CN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202E5E-58E6-5825-FBD1-B1F67A0C8A4A}"/>
              </a:ext>
            </a:extLst>
          </p:cNvPr>
          <p:cNvSpPr/>
          <p:nvPr/>
        </p:nvSpPr>
        <p:spPr>
          <a:xfrm>
            <a:off x="730137" y="118064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服务常用的术语有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服务器、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客户机、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中继代理、作用域、超级作用域、排除范围、地址池、租约、保留等。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865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7737" y="102824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服务常用的术语有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服务器、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客户机、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中继代理、作用域、超级作用域、排除范围、地址池、租约、保留等。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服务常用术语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7737" y="2129426"/>
            <a:ext cx="11058942" cy="134028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、作用域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作用域指使用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服务的网络中可用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物理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地址的集合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，通常情况下，</a:t>
            </a:r>
            <a:r>
              <a:rPr lang="zh-CN" altLang="en-US" sz="2000" dirty="0">
                <a:solidFill>
                  <a:srgbClr val="00B0F0"/>
                </a:solidFill>
                <a:latin typeface="微软雅黑"/>
                <a:ea typeface="微软雅黑"/>
                <a:cs typeface="微软雅黑"/>
              </a:rPr>
              <a:t>作用域被设置为网络上的一个子网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。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服务器只能为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客户端分配存在于作用域中的空闲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地址。</a:t>
            </a:r>
          </a:p>
        </p:txBody>
      </p:sp>
      <p:sp>
        <p:nvSpPr>
          <p:cNvPr id="4" name="矩形 3"/>
          <p:cNvSpPr/>
          <p:nvPr/>
        </p:nvSpPr>
        <p:spPr>
          <a:xfrm>
            <a:off x="577737" y="3468969"/>
            <a:ext cx="11058942" cy="126587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、超级作用域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超级作用域是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服务的一种管理功能，可用于物理子网上多个逻辑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子网作用域的管理性分组，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即将多个作用域组合为单个管理实体进行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统一管理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577737" y="4734840"/>
            <a:ext cx="11058942" cy="169101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、排除范围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排除范围用于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限定从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服务作用域内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排除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的有限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地址集合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。排除范围中的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地址为预留地址，这些地址通常预留给一些需要固定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的设备（如服务器、可网管交换机等）使用。当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服务动态为计算机分配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时，普通设备不会获取到排除范围中的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地址。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612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7737" y="102824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服务常用的术语有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服务器、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客户机、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中继代理、作用域、超级作用域、排除范围、地址池、租约、保留等。</a:t>
            </a:r>
            <a:endParaRPr lang="zh-CN" altLang="zh-CN" sz="20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服务常用术语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7737" y="2129425"/>
            <a:ext cx="11058942" cy="186563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、租约</a:t>
            </a:r>
          </a:p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的前身是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BOOTP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Bootstrap Protocol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，引导程序协议），与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BOOTP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相比，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新增了“租约”的概念。租约是指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服务器分配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地址时，为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客户机指定的客户机使用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地址的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时间长度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577737" y="3995063"/>
            <a:ext cx="11058942" cy="126587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lang="zh-CN" altLang="en-US" sz="20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、保留</a:t>
            </a: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保留是</a:t>
            </a:r>
            <a:r>
              <a:rPr lang="en-US" altLang="zh-CN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服务器的一种功能，使用该功能可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使子网中的某个硬件设备始终使用相同的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地址。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344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7737" y="115350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在一个配置了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服务器的网络中，若有新加入的客户机需要获取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地址，则其过程如下：</a:t>
            </a:r>
            <a:endParaRPr lang="zh-CN" altLang="zh-CN" sz="24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的工作流程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7737" y="2327547"/>
            <a:ext cx="10983787" cy="2797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、客户机通过广播发送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dhcpdiscover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寻找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dhcpdiscover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源地址（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0.0.0.0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）、目的地址（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255.255.255.255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）、端口号（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默认端口号为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67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由于客户机此时还么有获取到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地址，网络中的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服务器通过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地址来识别该主机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23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7737" y="115350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在一个配置了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服务器的网络中，若有新加入的客户机需要获取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地址，则其过程如下：</a:t>
            </a:r>
            <a:endParaRPr lang="zh-CN" altLang="zh-CN" sz="24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的工作流程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7737" y="2327547"/>
            <a:ext cx="10983787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、服务器为客户机提供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租约地址。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dhcpoffer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返回给主机。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服务器监听到客户端发送的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dhcpdiscover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报文后，从地址池中选择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最前面的空闲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，连同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TCP/IP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设置信息生成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dhcpoffer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报文一起返回给主机。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12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7737" y="115350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在一个配置了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服务器的网络中，若有新加入的客户机需要获取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地址，则其过程如下：</a:t>
            </a:r>
            <a:endParaRPr lang="zh-CN" altLang="zh-CN" sz="24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的工作流程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7737" y="2327547"/>
            <a:ext cx="10983787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、客户端接收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租约信息。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广播告知所使用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客户端可能会受到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多台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服务器返回的租约信息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，一般选择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最先抵达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的租约信息，并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广播向网络发送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，通知所有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服务器它将接受哪台服务器提供的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若客户端检测到服务器返回的租约信息中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地址已经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占用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，则向该服务器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en-US" altLang="zh-CN" sz="2400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dhcpdecline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拒绝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接受响应租约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并重新发送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dhcpdiscover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寻找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70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77737" y="1153504"/>
            <a:ext cx="11058942" cy="1101182"/>
          </a:xfrm>
          <a:prstGeom prst="rect">
            <a:avLst/>
          </a:prstGeom>
          <a:noFill/>
          <a:ln>
            <a:noFill/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在一个配置了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服务器的网络中，若有新加入的客户机需要获取</a:t>
            </a:r>
            <a:r>
              <a:rPr lang="en-US" altLang="zh-CN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地址，则其过程如下：</a:t>
            </a:r>
            <a:endParaRPr lang="zh-CN" altLang="zh-CN" sz="24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DHCP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的工作流程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7737" y="2327547"/>
            <a:ext cx="10983787" cy="2797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、租约确认。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dhcppack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报文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响应给客户机。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客户端成功接受租约，则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服务器会在接收到客户机发送的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报文后，向客户机发送回应信息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dhcppack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确认租约正式生效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50000"/>
              </a:lnSpc>
              <a:buClr>
                <a:schemeClr val="bg1">
                  <a:lumMod val="50000"/>
                </a:schemeClr>
              </a:buClr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则一次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工作正式完成。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982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602789" y="2293623"/>
            <a:ext cx="10983786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查看系统中已有的</a:t>
            </a:r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软件包：</a:t>
            </a:r>
            <a:r>
              <a:rPr lang="en-US" altLang="zh-CN" sz="2400" dirty="0"/>
              <a:t> rpm -</a:t>
            </a:r>
            <a:r>
              <a:rPr lang="en-US" altLang="zh-CN" sz="2400" dirty="0" err="1"/>
              <a:t>qa</a:t>
            </a:r>
            <a:r>
              <a:rPr lang="en-US" altLang="zh-CN" sz="2400" dirty="0"/>
              <a:t> | grep </a:t>
            </a:r>
            <a:r>
              <a:rPr lang="en-US" altLang="zh-CN" sz="2400" dirty="0" err="1"/>
              <a:t>dhcp</a:t>
            </a: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</a:rPr>
              <a:t>安装</a:t>
            </a:r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软件包：</a:t>
            </a:r>
            <a:r>
              <a:rPr lang="en-US" altLang="zh-CN" sz="2400" dirty="0">
                <a:solidFill>
                  <a:srgbClr val="1353A2"/>
                </a:solidFill>
              </a:rPr>
              <a:t>yum –y install </a:t>
            </a:r>
            <a:r>
              <a:rPr lang="en-US" altLang="zh-CN" sz="2400" dirty="0" err="1">
                <a:solidFill>
                  <a:srgbClr val="1353A2"/>
                </a:solidFill>
              </a:rPr>
              <a:t>dhcp</a:t>
            </a:r>
            <a:endParaRPr lang="en-US" altLang="zh-CN" sz="2400" dirty="0">
              <a:solidFill>
                <a:srgbClr val="1353A2"/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b="1" dirty="0">
                  <a:solidFill>
                    <a:schemeClr val="bg1"/>
                  </a:solidFill>
                </a:rPr>
                <a:t>安装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DHCP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软件包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551CC81-9D3B-90B6-C64F-FC79FE3DB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854" y="2907886"/>
            <a:ext cx="5021847" cy="11807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0DFDD8F-E437-92B4-9CF9-F05BA58BB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765" y="2958149"/>
            <a:ext cx="4476980" cy="32831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43728F-D4F7-6E54-C019-FED883248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723" y="4625432"/>
            <a:ext cx="4537841" cy="15218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5401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5" y="2293623"/>
            <a:ext cx="11035430" cy="961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53A2"/>
                </a:solidFill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</a:rPr>
              <a:t>服务的</a:t>
            </a:r>
            <a:r>
              <a:rPr lang="zh-CN" altLang="en-US" sz="2000" dirty="0">
                <a:solidFill>
                  <a:srgbClr val="C00000"/>
                </a:solidFill>
              </a:rPr>
              <a:t>配置文件</a:t>
            </a:r>
            <a:r>
              <a:rPr lang="zh-CN" altLang="en-US" sz="2000" dirty="0">
                <a:solidFill>
                  <a:srgbClr val="1353A2"/>
                </a:solidFill>
              </a:rPr>
              <a:t>为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</a:rPr>
              <a:t>dhcp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</a:rPr>
              <a:t>dhcpd.conf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</a:rPr>
              <a:t>以上配置文件默认无配置参数</a:t>
            </a:r>
            <a:endParaRPr lang="en-US" altLang="zh-CN" sz="2000" dirty="0">
              <a:solidFill>
                <a:srgbClr val="1353A2"/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DHCP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配置文件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11793D6-64C4-5B0B-F5F9-B7EA0F4DB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989" y="3429000"/>
            <a:ext cx="7123917" cy="28187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675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5" y="2293623"/>
            <a:ext cx="11035430" cy="49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53A2"/>
                </a:solidFill>
              </a:rPr>
              <a:t>DHCP</a:t>
            </a:r>
            <a:r>
              <a:rPr lang="zh-CN" altLang="en-US" sz="2000" dirty="0">
                <a:solidFill>
                  <a:srgbClr val="1353A2"/>
                </a:solidFill>
              </a:rPr>
              <a:t>软件包提供了</a:t>
            </a:r>
            <a:r>
              <a:rPr lang="zh-CN" altLang="en-US" sz="2000" dirty="0">
                <a:solidFill>
                  <a:srgbClr val="FF0000"/>
                </a:solidFill>
              </a:rPr>
              <a:t>模板配置文件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</a:rPr>
              <a:t>usr</a:t>
            </a:r>
            <a:r>
              <a:rPr lang="en-US" altLang="zh-CN" sz="2000" dirty="0">
                <a:solidFill>
                  <a:srgbClr val="FF0000"/>
                </a:solidFill>
              </a:rPr>
              <a:t>/share/doc/dhcp-4.2.5/</a:t>
            </a:r>
            <a:r>
              <a:rPr lang="en-US" altLang="zh-CN" sz="2000" dirty="0" err="1">
                <a:solidFill>
                  <a:srgbClr val="FF0000"/>
                </a:solidFill>
              </a:rPr>
              <a:t>dhcpd.conf.example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DHCP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配置文件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452AF2C3-8E8E-D0DB-F8C3-9F869867C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722" y="2793247"/>
            <a:ext cx="4940554" cy="36069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226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5" y="2293623"/>
            <a:ext cx="11035430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dirty="0" err="1"/>
              <a:t>dhcpd.conf.example</a:t>
            </a:r>
            <a:r>
              <a:rPr lang="zh-CN" altLang="zh-CN" sz="2000" dirty="0"/>
              <a:t>模板给出了</a:t>
            </a:r>
            <a:r>
              <a:rPr lang="en-US" altLang="zh-CN" sz="2000" dirty="0"/>
              <a:t>DHCP</a:t>
            </a:r>
            <a:r>
              <a:rPr lang="zh-CN" altLang="zh-CN" sz="2000" dirty="0"/>
              <a:t>主配置文件中可配置的内容以及配置示例，</a:t>
            </a:r>
            <a:r>
              <a:rPr lang="en-US" altLang="zh-CN" sz="2000" dirty="0"/>
              <a:t>DHCP</a:t>
            </a:r>
            <a:r>
              <a:rPr lang="zh-CN" altLang="zh-CN" sz="2000" dirty="0"/>
              <a:t>需要配置的内容主要包括</a:t>
            </a:r>
            <a:r>
              <a:rPr lang="en-US" altLang="zh-CN" sz="2000" dirty="0"/>
              <a:t>3</a:t>
            </a:r>
            <a:r>
              <a:rPr lang="zh-CN" altLang="zh-CN" sz="2000" dirty="0"/>
              <a:t>个部分，分别为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服务的</a:t>
            </a:r>
            <a:r>
              <a:rPr lang="zh-CN" altLang="zh-CN" sz="2000" dirty="0">
                <a:solidFill>
                  <a:srgbClr val="FF0000"/>
                </a:solidFill>
              </a:rPr>
              <a:t>参数</a:t>
            </a:r>
            <a:r>
              <a:rPr lang="zh-CN" altLang="zh-CN" sz="2000" dirty="0"/>
              <a:t>、</a:t>
            </a:r>
            <a:r>
              <a:rPr lang="zh-CN" altLang="zh-CN" sz="2000" dirty="0">
                <a:solidFill>
                  <a:srgbClr val="FF0000"/>
                </a:solidFill>
              </a:rPr>
              <a:t>声明</a:t>
            </a:r>
            <a:r>
              <a:rPr lang="zh-CN" altLang="zh-CN" sz="2000" dirty="0"/>
              <a:t>和</a:t>
            </a:r>
            <a:r>
              <a:rPr lang="zh-CN" altLang="zh-CN" sz="2000" dirty="0">
                <a:solidFill>
                  <a:srgbClr val="FF0000"/>
                </a:solidFill>
              </a:rPr>
              <a:t>选项</a:t>
            </a:r>
            <a:r>
              <a:rPr lang="zh-CN" altLang="zh-CN" sz="2000" dirty="0"/>
              <a:t>。</a:t>
            </a: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DHCP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配置文件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502446"/>
              </p:ext>
            </p:extLst>
          </p:nvPr>
        </p:nvGraphicFramePr>
        <p:xfrm>
          <a:off x="4096010" y="3379594"/>
          <a:ext cx="7391139" cy="2606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948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参数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说明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85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rgbClr val="C00000"/>
                          </a:solidFill>
                          <a:effectLst/>
                        </a:rPr>
                        <a:t>ddns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-update-style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配置全局启动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禁用动态</a:t>
                      </a:r>
                      <a:r>
                        <a:rPr lang="en-US" sz="1800" kern="100" dirty="0" err="1">
                          <a:effectLst/>
                        </a:rPr>
                        <a:t>dns</a:t>
                      </a:r>
                      <a:r>
                        <a:rPr lang="zh-CN" sz="1800" kern="100" dirty="0">
                          <a:effectLst/>
                        </a:rPr>
                        <a:t>更新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5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authoritative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拒绝未经验证的</a:t>
                      </a:r>
                      <a:r>
                        <a:rPr lang="en-US" sz="1800" kern="100">
                          <a:effectLst/>
                        </a:rPr>
                        <a:t>IP</a:t>
                      </a:r>
                      <a:r>
                        <a:rPr lang="zh-CN" sz="1800" kern="100">
                          <a:effectLst/>
                        </a:rPr>
                        <a:t>地址的请求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1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default - lease - time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指定租约时间的最大值，单位为</a:t>
                      </a:r>
                      <a:r>
                        <a:rPr lang="en-US" sz="1800" kern="100" dirty="0">
                          <a:effectLst/>
                        </a:rPr>
                        <a:t>s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85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max - lease - time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指定租约时间的最小值，单位为</a:t>
                      </a:r>
                      <a:r>
                        <a:rPr lang="en-US" sz="1800" kern="100">
                          <a:effectLst/>
                        </a:rPr>
                        <a:t>s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85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hardware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指定网卡接口类型和</a:t>
                      </a:r>
                      <a:r>
                        <a:rPr lang="en-US" sz="1800" kern="100">
                          <a:effectLst/>
                        </a:rPr>
                        <a:t>MAC</a:t>
                      </a:r>
                      <a:r>
                        <a:rPr lang="zh-CN" sz="1800" kern="100">
                          <a:effectLst/>
                        </a:rPr>
                        <a:t>地址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619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fixed - address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为客户端主机指定固定</a:t>
                      </a:r>
                      <a:r>
                        <a:rPr lang="en-US" sz="1800" kern="100" dirty="0">
                          <a:effectLst/>
                        </a:rPr>
                        <a:t>IP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6467" marR="116467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51144" y="3182430"/>
            <a:ext cx="3219189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服务参数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配置文件中的参数用于设置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执行的任务、执行任务的方式以及将会发送给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客户端的网络配置选项，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服务参数如表所示。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51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5" y="2293623"/>
            <a:ext cx="11035430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dirty="0" err="1"/>
              <a:t>dhcpd.conf.example</a:t>
            </a:r>
            <a:r>
              <a:rPr lang="zh-CN" altLang="zh-CN" sz="2000" dirty="0"/>
              <a:t>模板给出了</a:t>
            </a:r>
            <a:r>
              <a:rPr lang="en-US" altLang="zh-CN" sz="2000" dirty="0"/>
              <a:t>DHCP</a:t>
            </a:r>
            <a:r>
              <a:rPr lang="zh-CN" altLang="zh-CN" sz="2000" dirty="0"/>
              <a:t>主配置文件中可配置的内容以及配置示例，</a:t>
            </a:r>
            <a:r>
              <a:rPr lang="en-US" altLang="zh-CN" sz="2000" dirty="0"/>
              <a:t>DHCP</a:t>
            </a:r>
            <a:r>
              <a:rPr lang="zh-CN" altLang="zh-CN" sz="2000" dirty="0"/>
              <a:t>需要配置的内容主要包括</a:t>
            </a:r>
            <a:r>
              <a:rPr lang="en-US" altLang="zh-CN" sz="2000" dirty="0"/>
              <a:t>3</a:t>
            </a:r>
            <a:r>
              <a:rPr lang="zh-CN" altLang="zh-CN" sz="2000" dirty="0"/>
              <a:t>个部分，分别为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服务的</a:t>
            </a:r>
            <a:r>
              <a:rPr lang="zh-CN" altLang="zh-CN" sz="2000" dirty="0">
                <a:solidFill>
                  <a:srgbClr val="FF0000"/>
                </a:solidFill>
              </a:rPr>
              <a:t>参数</a:t>
            </a:r>
            <a:r>
              <a:rPr lang="zh-CN" altLang="zh-CN" sz="2000" dirty="0"/>
              <a:t>、</a:t>
            </a:r>
            <a:r>
              <a:rPr lang="zh-CN" altLang="zh-CN" sz="2000" dirty="0">
                <a:solidFill>
                  <a:srgbClr val="FF0000"/>
                </a:solidFill>
              </a:rPr>
              <a:t>声明</a:t>
            </a:r>
            <a:r>
              <a:rPr lang="zh-CN" altLang="zh-CN" sz="2000" dirty="0"/>
              <a:t>和</a:t>
            </a:r>
            <a:r>
              <a:rPr lang="zh-CN" altLang="zh-CN" sz="2000" dirty="0">
                <a:solidFill>
                  <a:srgbClr val="FF0000"/>
                </a:solidFill>
              </a:rPr>
              <a:t>选项</a:t>
            </a:r>
            <a:r>
              <a:rPr lang="zh-CN" altLang="zh-CN" sz="2000" dirty="0"/>
              <a:t>。</a:t>
            </a: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DHCP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配置文件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/>
          <p:cNvSpPr/>
          <p:nvPr/>
        </p:nvSpPr>
        <p:spPr>
          <a:xfrm>
            <a:off x="551144" y="3182430"/>
            <a:ext cx="286846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服务声明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配置文件中的声明用于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描述网络布局、客户端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地址等信息，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服务声明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如表所示。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521550"/>
              </p:ext>
            </p:extLst>
          </p:nvPr>
        </p:nvGraphicFramePr>
        <p:xfrm>
          <a:off x="3419605" y="3174120"/>
          <a:ext cx="7752568" cy="302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6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734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声明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/>
                </a:tc>
                <a:tc>
                  <a:txBody>
                    <a:bodyPr/>
                    <a:lstStyle/>
                    <a:p>
                      <a:pPr indent="19050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说明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subnet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指定子网作用域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range 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指定子网作用域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66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allows </a:t>
                      </a:r>
                      <a:r>
                        <a:rPr lang="en-US" sz="1600" kern="100" dirty="0" err="1">
                          <a:effectLst/>
                        </a:rPr>
                        <a:t>bootp</a:t>
                      </a:r>
                      <a:r>
                        <a:rPr lang="en-US" sz="1600" kern="100" dirty="0">
                          <a:effectLst/>
                        </a:rPr>
                        <a:t>/deny </a:t>
                      </a:r>
                      <a:r>
                        <a:rPr lang="en-US" sz="1600" kern="100" dirty="0" err="1">
                          <a:effectLst/>
                        </a:rPr>
                        <a:t>bootp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响应激活查询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拒绝响应激活查询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66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allow booting/deny booting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响应使用者查询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拒绝使用者查询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0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host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指定保留主机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0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filename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指定启动文件，应用于无盘工作站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0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netx-server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设置引导文件所在服务器地址，应用于无盘工作站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91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shared-network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指定共享网络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0574" marR="100574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5565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5" y="2293623"/>
            <a:ext cx="11035430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dirty="0" err="1"/>
              <a:t>dhcpd.conf.example</a:t>
            </a:r>
            <a:r>
              <a:rPr lang="zh-CN" altLang="zh-CN" sz="2000" dirty="0"/>
              <a:t>模板给出了</a:t>
            </a:r>
            <a:r>
              <a:rPr lang="en-US" altLang="zh-CN" sz="2000" dirty="0"/>
              <a:t>DHCP</a:t>
            </a:r>
            <a:r>
              <a:rPr lang="zh-CN" altLang="zh-CN" sz="2000" dirty="0"/>
              <a:t>主配置文件中可配置的内容以及配置示例，</a:t>
            </a:r>
            <a:r>
              <a:rPr lang="en-US" altLang="zh-CN" sz="2000" dirty="0"/>
              <a:t>DHCP</a:t>
            </a:r>
            <a:r>
              <a:rPr lang="zh-CN" altLang="zh-CN" sz="2000" dirty="0"/>
              <a:t>需要配置的内容主要包括</a:t>
            </a:r>
            <a:r>
              <a:rPr lang="en-US" altLang="zh-CN" sz="2000" dirty="0"/>
              <a:t>3</a:t>
            </a:r>
            <a:r>
              <a:rPr lang="zh-CN" altLang="zh-CN" sz="2000" dirty="0"/>
              <a:t>个部分，分别为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服务的</a:t>
            </a:r>
            <a:r>
              <a:rPr lang="zh-CN" altLang="zh-CN" sz="2000" dirty="0">
                <a:solidFill>
                  <a:srgbClr val="FF0000"/>
                </a:solidFill>
              </a:rPr>
              <a:t>参数</a:t>
            </a:r>
            <a:r>
              <a:rPr lang="zh-CN" altLang="zh-CN" sz="2000" dirty="0"/>
              <a:t>、</a:t>
            </a:r>
            <a:r>
              <a:rPr lang="zh-CN" altLang="zh-CN" sz="2000" dirty="0">
                <a:solidFill>
                  <a:srgbClr val="FF0000"/>
                </a:solidFill>
              </a:rPr>
              <a:t>声明</a:t>
            </a:r>
            <a:r>
              <a:rPr lang="zh-CN" altLang="zh-CN" sz="2000" dirty="0"/>
              <a:t>和</a:t>
            </a:r>
            <a:r>
              <a:rPr lang="zh-CN" altLang="zh-CN" sz="2000" dirty="0">
                <a:solidFill>
                  <a:srgbClr val="FF0000"/>
                </a:solidFill>
              </a:rPr>
              <a:t>选项</a:t>
            </a:r>
            <a:r>
              <a:rPr lang="zh-CN" altLang="zh-CN" sz="2000" dirty="0"/>
              <a:t>。</a:t>
            </a: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5"/>
          <p:cNvGrpSpPr/>
          <p:nvPr/>
        </p:nvGrpSpPr>
        <p:grpSpPr>
          <a:xfrm>
            <a:off x="840784" y="1196752"/>
            <a:ext cx="10510431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0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DHCP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配置文件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/>
          <p:cNvSpPr/>
          <p:nvPr/>
        </p:nvSpPr>
        <p:spPr>
          <a:xfrm>
            <a:off x="551144" y="3182430"/>
            <a:ext cx="2868461" cy="2957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服务选项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服务的选项用来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的可选参数，选项总在关键字“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options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之后，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服务的常用选项如表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5-3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所示。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83998"/>
              </p:ext>
            </p:extLst>
          </p:nvPr>
        </p:nvGraphicFramePr>
        <p:xfrm>
          <a:off x="3427486" y="3608699"/>
          <a:ext cx="7852147" cy="2105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5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6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64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选项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说明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9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domain-name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设置客户端的</a:t>
                      </a: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DNS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</a:rPr>
                        <a:t>域名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9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domain-name-servers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设置</a:t>
                      </a:r>
                      <a:r>
                        <a:rPr lang="en-US" sz="1600" kern="100" dirty="0">
                          <a:effectLst/>
                        </a:rPr>
                        <a:t>DNS</a:t>
                      </a:r>
                      <a:r>
                        <a:rPr lang="zh-CN" sz="1600" kern="100" dirty="0">
                          <a:effectLst/>
                        </a:rPr>
                        <a:t>服务器的</a:t>
                      </a: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IP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</a:rPr>
                        <a:t>地址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9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host-name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设置客户端的主机名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9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subnet-mask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设置客户端的子网掩码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9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routers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设置客户端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</a:rPr>
                        <a:t>网关</a:t>
                      </a:r>
                      <a:r>
                        <a:rPr lang="en-US" sz="1600" kern="100" dirty="0">
                          <a:solidFill>
                            <a:srgbClr val="C00000"/>
                          </a:solidFill>
                          <a:effectLst/>
                        </a:rPr>
                        <a:t>IP</a:t>
                      </a: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</a:rPr>
                        <a:t>地址</a:t>
                      </a:r>
                      <a:endParaRPr lang="zh-CN" sz="1600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11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broadcast-address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设置客户端的广播地址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1968" marR="10196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5654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4" y="1086476"/>
            <a:ext cx="11035430" cy="46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dirty="0"/>
              <a:t>DHCP</a:t>
            </a:r>
            <a:r>
              <a:rPr lang="zh-CN" altLang="zh-CN" sz="2000" dirty="0"/>
              <a:t>服务的配置文件示例如下：</a:t>
            </a: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1144" y="1514716"/>
            <a:ext cx="11185744" cy="457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allow booting;						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允许引导时获取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分配子网，网段为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192.168.255.0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，子网掩码为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255.255.255.0 </a:t>
            </a:r>
            <a:endParaRPr lang="zh-CN" altLang="zh-CN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subnet 192.168.255.0 netmask 255.255.255.0 {</a:t>
            </a:r>
            <a:endParaRPr lang="zh-CN" altLang="zh-CN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range 192.168.255.100 192.168.255.199;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子网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地址取值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范围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option domain-name-servers 192.168.255.2; 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设置为客户端分配的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option domain-name "internal.example.org"; 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设置客户端的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域名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	  	option routers 192.168.255.2; 		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网关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  	default-lease-time 600; 			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最短租约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时长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max-lease-time 7200; 			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最大租约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时长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	  	next-server 192.168.255.133; 		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文件共享服务器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		filename "pxelinux.0"; 				#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设置文件服务器上共享的</a:t>
            </a:r>
            <a:r>
              <a:rPr lang="zh-CN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启动文件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名称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zh-CN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737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4" y="1138412"/>
            <a:ext cx="11035430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 dirty="0">
                <a:solidFill>
                  <a:srgbClr val="1353A2"/>
                </a:solidFill>
              </a:rPr>
              <a:t>1.</a:t>
            </a:r>
            <a:r>
              <a:rPr lang="zh-CN" altLang="en-US" sz="2400" dirty="0">
                <a:solidFill>
                  <a:srgbClr val="1353A2"/>
                </a:solidFill>
              </a:rPr>
              <a:t>准备两个虚拟机，一个作为服务器，一个作为客户端</a:t>
            </a:r>
            <a:endParaRPr lang="en-US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2.</a:t>
            </a:r>
            <a:r>
              <a:rPr lang="zh-CN" altLang="en-US" sz="2400" dirty="0">
                <a:solidFill>
                  <a:srgbClr val="1353A2"/>
                </a:solidFill>
              </a:rPr>
              <a:t>将两个虚拟机的网络模式设置为</a:t>
            </a:r>
            <a:r>
              <a:rPr lang="zh-CN" altLang="en-US" sz="2400" dirty="0">
                <a:solidFill>
                  <a:srgbClr val="FF0000"/>
                </a:solidFill>
              </a:rPr>
              <a:t>仅主机</a:t>
            </a:r>
            <a:r>
              <a:rPr lang="zh-CN" altLang="en-US" sz="2400" dirty="0">
                <a:solidFill>
                  <a:srgbClr val="1353A2"/>
                </a:solidFill>
              </a:rPr>
              <a:t>，以免获取外部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地址</a:t>
            </a:r>
            <a:endParaRPr lang="en-US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3.</a:t>
            </a:r>
            <a:r>
              <a:rPr lang="zh-CN" altLang="en-US" sz="2400" dirty="0">
                <a:solidFill>
                  <a:srgbClr val="1353A2"/>
                </a:solidFill>
              </a:rPr>
              <a:t>服务器设置静态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地址，并配置</a:t>
            </a:r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服务并启动</a:t>
            </a:r>
            <a:endParaRPr lang="en-US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4.</a:t>
            </a:r>
            <a:r>
              <a:rPr lang="zh-CN" altLang="en-US" sz="2400" dirty="0">
                <a:solidFill>
                  <a:srgbClr val="1353A2"/>
                </a:solidFill>
              </a:rPr>
              <a:t>客户端连接网络，设置为动态获取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地址，查看所得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是否在地址池中</a:t>
            </a:r>
            <a:endParaRPr lang="en-US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5.</a:t>
            </a:r>
            <a:r>
              <a:rPr lang="zh-CN" altLang="en-US" sz="2400" dirty="0">
                <a:solidFill>
                  <a:srgbClr val="1353A2"/>
                </a:solidFill>
              </a:rPr>
              <a:t>修改服务器中地址池，重启客户端网络，查看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是否变更</a:t>
            </a:r>
            <a:endParaRPr lang="en-US" altLang="zh-CN" sz="2400" dirty="0">
              <a:solidFill>
                <a:srgbClr val="1353A2"/>
              </a:solidFill>
            </a:endParaRPr>
          </a:p>
          <a:p>
            <a:endParaRPr lang="en-US" altLang="zh-CN" sz="2400" dirty="0">
              <a:solidFill>
                <a:srgbClr val="1353A2"/>
              </a:solidFill>
            </a:endParaRPr>
          </a:p>
          <a:p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616E84D-AC57-8F9A-A3E1-855BA633B573}"/>
              </a:ext>
            </a:extLst>
          </p:cNvPr>
          <p:cNvGrpSpPr/>
          <p:nvPr/>
        </p:nvGrpSpPr>
        <p:grpSpPr>
          <a:xfrm>
            <a:off x="2652258" y="3723184"/>
            <a:ext cx="6833201" cy="2633116"/>
            <a:chOff x="2604713" y="1930720"/>
            <a:chExt cx="5708943" cy="212298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9220E33-6432-C24F-89FE-EA43ABC4D0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79669"/>
            <a:stretch/>
          </p:blipFill>
          <p:spPr>
            <a:xfrm>
              <a:off x="2604713" y="1930720"/>
              <a:ext cx="5708943" cy="1057409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08244C8-D620-34F3-5803-E0A4BA92CB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9669"/>
            <a:stretch/>
          </p:blipFill>
          <p:spPr>
            <a:xfrm>
              <a:off x="2604713" y="2996293"/>
              <a:ext cx="5708943" cy="105740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7886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6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4" y="1138412"/>
            <a:ext cx="11035430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2400" dirty="0">
                <a:solidFill>
                  <a:srgbClr val="1353A2"/>
                </a:solidFill>
              </a:rPr>
              <a:t>设置服务器静态</a:t>
            </a:r>
            <a:r>
              <a:rPr lang="en-US" altLang="zh-CN" sz="2400" dirty="0">
                <a:solidFill>
                  <a:srgbClr val="1353A2"/>
                </a:solidFill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</a:rPr>
              <a:t>地址：</a:t>
            </a:r>
            <a:r>
              <a:rPr lang="en-US" altLang="zh-CN" sz="2400" dirty="0" err="1">
                <a:solidFill>
                  <a:srgbClr val="C00000"/>
                </a:solidFill>
              </a:rPr>
              <a:t>systemctl</a:t>
            </a:r>
            <a:r>
              <a:rPr lang="en-US" altLang="zh-CN" sz="2400" dirty="0">
                <a:solidFill>
                  <a:srgbClr val="C00000"/>
                </a:solidFill>
              </a:rPr>
              <a:t> restart network </a:t>
            </a:r>
            <a:r>
              <a:rPr lang="zh-CN" altLang="en-US" sz="2400" dirty="0">
                <a:solidFill>
                  <a:srgbClr val="C00000"/>
                </a:solidFill>
              </a:rPr>
              <a:t>重启网络服务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9C7734-40AD-B5D3-E498-E0E7936D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637" y="1729855"/>
            <a:ext cx="7160698" cy="4710616"/>
          </a:xfrm>
          <a:prstGeom prst="rect">
            <a:avLst/>
          </a:prstGeom>
        </p:spPr>
      </p:pic>
      <p:sp>
        <p:nvSpPr>
          <p:cNvPr id="4" name="Text Box 44">
            <a:extLst>
              <a:ext uri="{FF2B5EF4-FFF2-40B4-BE49-F238E27FC236}">
                <a16:creationId xmlns:a16="http://schemas.microsoft.com/office/drawing/2014/main" id="{EB55B161-9F4A-5FB6-8C92-9AF10342E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15" y="2070316"/>
            <a:ext cx="3122785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</a:rPr>
              <a:t>参见教材</a:t>
            </a:r>
            <a:r>
              <a:rPr lang="en-US" altLang="zh-CN" sz="2400" dirty="0">
                <a:solidFill>
                  <a:srgbClr val="FF0000"/>
                </a:solidFill>
              </a:rPr>
              <a:t>P29</a:t>
            </a:r>
          </a:p>
          <a:p>
            <a:endParaRPr lang="en-US" altLang="zh-CN" sz="2400" dirty="0">
              <a:solidFill>
                <a:srgbClr val="1353A2"/>
              </a:solidFill>
            </a:endParaRPr>
          </a:p>
          <a:p>
            <a:r>
              <a:rPr lang="zh-CN" altLang="en-US" sz="2400" dirty="0">
                <a:solidFill>
                  <a:srgbClr val="1353A2"/>
                </a:solidFill>
              </a:rPr>
              <a:t>注意以下几个值：</a:t>
            </a:r>
            <a:endParaRPr lang="en-US" altLang="zh-CN" sz="2400" dirty="0">
              <a:solidFill>
                <a:srgbClr val="1353A2"/>
              </a:solidFill>
            </a:endParaRPr>
          </a:p>
          <a:p>
            <a:r>
              <a:rPr lang="en-US" altLang="zh-CN" sz="2400" dirty="0">
                <a:solidFill>
                  <a:srgbClr val="1353A2"/>
                </a:solidFill>
              </a:rPr>
              <a:t>	BOOTPROTO</a:t>
            </a:r>
          </a:p>
          <a:p>
            <a:r>
              <a:rPr lang="en-US" altLang="zh-CN" sz="2400" dirty="0">
                <a:solidFill>
                  <a:srgbClr val="1353A2"/>
                </a:solidFill>
              </a:rPr>
              <a:t>	IPADDR</a:t>
            </a:r>
          </a:p>
          <a:p>
            <a:r>
              <a:rPr lang="en-US" altLang="zh-CN" sz="2400" dirty="0">
                <a:solidFill>
                  <a:srgbClr val="1353A2"/>
                </a:solidFill>
              </a:rPr>
              <a:t>	NETMASK</a:t>
            </a:r>
          </a:p>
          <a:p>
            <a:r>
              <a:rPr lang="en-US" altLang="zh-CN" sz="2400" dirty="0">
                <a:solidFill>
                  <a:srgbClr val="1353A2"/>
                </a:solidFill>
              </a:rPr>
              <a:t>	GATEWAY</a:t>
            </a:r>
          </a:p>
          <a:p>
            <a:r>
              <a:rPr lang="en-US" altLang="zh-CN" sz="2400" dirty="0">
                <a:solidFill>
                  <a:srgbClr val="1353A2"/>
                </a:solidFill>
              </a:rPr>
              <a:t>	DNS1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381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4" y="1138412"/>
            <a:ext cx="11035430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服务配置：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</a:p>
          <a:p>
            <a:r>
              <a:rPr lang="en-US" altLang="zh-CN" sz="2400" dirty="0">
                <a:solidFill>
                  <a:srgbClr val="C00000"/>
                </a:solidFill>
              </a:rPr>
              <a:t>		</a:t>
            </a:r>
            <a:r>
              <a:rPr lang="nb-NO" altLang="zh-CN" sz="2400" dirty="0">
                <a:solidFill>
                  <a:srgbClr val="C00000"/>
                </a:solidFill>
              </a:rPr>
              <a:t>vi /etc/dhcp/dhcpd.conf</a:t>
            </a:r>
            <a:endParaRPr lang="zh-CN" altLang="zh-CN" sz="2400" dirty="0">
              <a:solidFill>
                <a:srgbClr val="1353A2"/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75CC0E-8DC1-F6BC-77AB-7D90AA8DF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611" y="2318117"/>
            <a:ext cx="8788778" cy="3715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430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4" y="1138412"/>
            <a:ext cx="11035430" cy="15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 dirty="0">
                <a:solidFill>
                  <a:srgbClr val="1353A2"/>
                </a:solidFill>
              </a:rPr>
              <a:t>DHCP</a:t>
            </a:r>
            <a:r>
              <a:rPr lang="zh-CN" altLang="en-US" sz="2400" dirty="0">
                <a:solidFill>
                  <a:srgbClr val="1353A2"/>
                </a:solidFill>
              </a:rPr>
              <a:t>服务配置：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</a:p>
          <a:p>
            <a:r>
              <a:rPr lang="en-US" altLang="zh-CN" sz="2400" dirty="0">
                <a:solidFill>
                  <a:srgbClr val="C00000"/>
                </a:solidFill>
              </a:rPr>
              <a:t>		</a:t>
            </a:r>
            <a:r>
              <a:rPr lang="nb-NO" altLang="zh-CN" sz="2400" dirty="0">
                <a:solidFill>
                  <a:srgbClr val="C00000"/>
                </a:solidFill>
              </a:rPr>
              <a:t>systemctl restart dhcpd </a:t>
            </a:r>
            <a:r>
              <a:rPr lang="zh-CN" altLang="en-US" sz="2400" dirty="0">
                <a:solidFill>
                  <a:srgbClr val="C00000"/>
                </a:solidFill>
              </a:rPr>
              <a:t>重启</a:t>
            </a:r>
            <a:r>
              <a:rPr lang="nb-NO" altLang="zh-CN" sz="2400" dirty="0">
                <a:solidFill>
                  <a:srgbClr val="C00000"/>
                </a:solidFill>
              </a:rPr>
              <a:t>dhcp</a:t>
            </a:r>
            <a:r>
              <a:rPr lang="zh-CN" altLang="en-US" sz="2400" dirty="0">
                <a:solidFill>
                  <a:srgbClr val="C00000"/>
                </a:solidFill>
              </a:rPr>
              <a:t>服务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nb-NO" altLang="zh-CN" sz="2400" dirty="0">
                <a:solidFill>
                  <a:srgbClr val="C00000"/>
                </a:solidFill>
              </a:rPr>
              <a:t>		systemctl </a:t>
            </a:r>
            <a:r>
              <a:rPr lang="en-US" altLang="zh-CN" sz="2400" dirty="0">
                <a:solidFill>
                  <a:srgbClr val="C00000"/>
                </a:solidFill>
              </a:rPr>
              <a:t>status</a:t>
            </a:r>
            <a:r>
              <a:rPr lang="nb-NO" altLang="zh-CN" sz="2400" dirty="0">
                <a:solidFill>
                  <a:srgbClr val="C00000"/>
                </a:solidFill>
              </a:rPr>
              <a:t> dhcpd </a:t>
            </a:r>
            <a:r>
              <a:rPr lang="zh-CN" altLang="en-US" sz="2400" dirty="0">
                <a:solidFill>
                  <a:srgbClr val="C00000"/>
                </a:solidFill>
              </a:rPr>
              <a:t>查看</a:t>
            </a:r>
            <a:r>
              <a:rPr lang="nb-NO" altLang="zh-CN" sz="2400" dirty="0">
                <a:solidFill>
                  <a:srgbClr val="C00000"/>
                </a:solidFill>
              </a:rPr>
              <a:t>dhcp</a:t>
            </a:r>
            <a:r>
              <a:rPr lang="zh-CN" altLang="en-US" sz="2400" dirty="0">
                <a:solidFill>
                  <a:srgbClr val="C00000"/>
                </a:solidFill>
              </a:rPr>
              <a:t>服务状态</a:t>
            </a:r>
            <a:endParaRPr lang="zh-CN" altLang="zh-CN" sz="2400" dirty="0">
              <a:solidFill>
                <a:srgbClr val="1353A2"/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9415EB-A558-0869-7422-BFDC738E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804" y="2620209"/>
            <a:ext cx="8931931" cy="37360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026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4" y="1086476"/>
            <a:ext cx="1103543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zh-CN" sz="2000" dirty="0"/>
              <a:t>除主配置文件</a:t>
            </a:r>
            <a:r>
              <a:rPr lang="en-US" altLang="zh-CN" sz="2000" dirty="0" err="1"/>
              <a:t>dhcpd.conf</a:t>
            </a:r>
            <a:r>
              <a:rPr lang="zh-CN" altLang="zh-CN" sz="2000" dirty="0"/>
              <a:t>外，</a:t>
            </a:r>
            <a:r>
              <a:rPr lang="en-US" altLang="zh-CN" sz="2000" dirty="0"/>
              <a:t>DHCP</a:t>
            </a:r>
            <a:r>
              <a:rPr lang="zh-CN" altLang="zh-CN" sz="2000" dirty="0"/>
              <a:t>服务的配置文件还有</a:t>
            </a:r>
            <a:r>
              <a:rPr lang="zh-CN" altLang="zh-CN" sz="2000" dirty="0">
                <a:solidFill>
                  <a:srgbClr val="FF0000"/>
                </a:solidFill>
              </a:rPr>
              <a:t>服务器端租约文件</a:t>
            </a:r>
            <a:r>
              <a:rPr lang="en-US" altLang="zh-CN" sz="2000" dirty="0" err="1">
                <a:solidFill>
                  <a:srgbClr val="FF0000"/>
                </a:solidFill>
              </a:rPr>
              <a:t>dhcpd.leases</a:t>
            </a:r>
            <a:r>
              <a:rPr lang="zh-CN" altLang="zh-CN" sz="2000" dirty="0"/>
              <a:t>。</a:t>
            </a:r>
            <a:r>
              <a:rPr lang="zh-CN" altLang="en-US" sz="2000" dirty="0"/>
              <a:t>该文件内容格式固定，具体如下：</a:t>
            </a:r>
            <a:endParaRPr lang="en-US" altLang="zh-CN" sz="2000" dirty="0"/>
          </a:p>
          <a:p>
            <a:r>
              <a:rPr lang="en-US" altLang="zh-CN" sz="2000" dirty="0"/>
              <a:t>leases IP</a:t>
            </a:r>
            <a:r>
              <a:rPr lang="zh-CN" altLang="zh-CN" sz="2000" dirty="0"/>
              <a:t>地址</a:t>
            </a:r>
            <a:r>
              <a:rPr lang="en-US" altLang="zh-CN" sz="2000" dirty="0"/>
              <a:t>{</a:t>
            </a:r>
            <a:endParaRPr lang="zh-CN" altLang="zh-CN" sz="2000" dirty="0"/>
          </a:p>
          <a:p>
            <a:r>
              <a:rPr lang="en-US" altLang="zh-CN" sz="2000" dirty="0"/>
              <a:t>	 ……</a:t>
            </a:r>
            <a:endParaRPr lang="zh-CN" altLang="zh-CN" sz="2000" dirty="0"/>
          </a:p>
          <a:p>
            <a:r>
              <a:rPr lang="en-US" altLang="zh-CN" sz="2000" dirty="0"/>
              <a:t>}</a:t>
            </a:r>
            <a:endParaRPr lang="zh-CN" altLang="zh-CN" sz="2000" dirty="0"/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2279154" y="2555309"/>
            <a:ext cx="3238907" cy="612648"/>
          </a:xfrm>
          <a:prstGeom prst="wedgeRectCallout">
            <a:avLst>
              <a:gd name="adj1" fmla="val -45142"/>
              <a:gd name="adj2" fmla="val -928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服务器分配给客户端的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4" name="矩形标注 3"/>
          <p:cNvSpPr/>
          <p:nvPr/>
        </p:nvSpPr>
        <p:spPr>
          <a:xfrm>
            <a:off x="858378" y="3256301"/>
            <a:ext cx="2267211" cy="1753644"/>
          </a:xfrm>
          <a:prstGeom prst="wedgeRectCallout">
            <a:avLst>
              <a:gd name="adj1" fmla="val -19318"/>
              <a:gd name="adj2" fmla="val -788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租约起始时间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租约结束时间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绑定状态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客户机</a:t>
            </a:r>
            <a:r>
              <a:rPr lang="en-US" altLang="zh-CN" dirty="0"/>
              <a:t>MAC</a:t>
            </a:r>
            <a:r>
              <a:rPr lang="zh-CN" altLang="en-US" dirty="0"/>
              <a:t>地址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……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88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551144" y="1122084"/>
            <a:ext cx="11035430" cy="46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2000" dirty="0"/>
              <a:t>租约文件</a:t>
            </a:r>
            <a:r>
              <a:rPr lang="en-US" altLang="zh-CN" sz="2000" dirty="0" err="1"/>
              <a:t>dhcpd.leases</a:t>
            </a:r>
            <a:r>
              <a:rPr lang="zh-CN" altLang="en-US" sz="2000" dirty="0"/>
              <a:t>示例：</a:t>
            </a:r>
            <a:endParaRPr lang="zh-CN" altLang="zh-CN" sz="2000" dirty="0"/>
          </a:p>
        </p:txBody>
      </p:sp>
      <p:sp>
        <p:nvSpPr>
          <p:cNvPr id="1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安装配置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144" y="1587858"/>
            <a:ext cx="1103543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leases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192.168.255.127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{				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记录客户端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start 1 2017/01/01 00:00:00;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设置租约开始时间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ends 2027/01/01 00:00:00;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设置租约结束时间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binding state active;			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设置租约的绑定状态为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active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next binding state free;			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设置下一个租约的绑定状态为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free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hardware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ethernet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00:01:a5:b9:32:21;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记录客户机网卡的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用于验证客户机的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UID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标识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uid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"%content%32%content%21%content%02\420\31%\89";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client-hostname "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";			#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客户机名称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81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2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1414550" y="2436366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23" name="Picture 5" descr="C:\Users\user\Desktop\沟通-0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225" y="3301256"/>
            <a:ext cx="1639966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矩形 21"/>
          <p:cNvSpPr>
            <a:spLocks noChangeArrowheads="1"/>
          </p:cNvSpPr>
          <p:nvPr/>
        </p:nvSpPr>
        <p:spPr bwMode="auto">
          <a:xfrm>
            <a:off x="3315838" y="2436366"/>
            <a:ext cx="1888803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203257" y="2436366"/>
            <a:ext cx="1892565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8"/>
          <p:cNvSpPr>
            <a:spLocks noChangeArrowheads="1"/>
          </p:cNvSpPr>
          <p:nvPr/>
        </p:nvSpPr>
        <p:spPr bwMode="auto">
          <a:xfrm>
            <a:off x="3264160" y="2562165"/>
            <a:ext cx="188084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sp>
        <p:nvSpPr>
          <p:cNvPr id="27" name="矩形 29"/>
          <p:cNvSpPr>
            <a:spLocks noChangeArrowheads="1"/>
          </p:cNvSpPr>
          <p:nvPr/>
        </p:nvSpPr>
        <p:spPr bwMode="auto">
          <a:xfrm>
            <a:off x="5243922" y="2603701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28" name="直接连接符 7167"/>
          <p:cNvCxnSpPr>
            <a:cxnSpLocks noChangeShapeType="1"/>
          </p:cNvCxnSpPr>
          <p:nvPr/>
        </p:nvCxnSpPr>
        <p:spPr bwMode="auto">
          <a:xfrm>
            <a:off x="1390445" y="2355670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7172"/>
          <p:cNvCxnSpPr>
            <a:cxnSpLocks noChangeShapeType="1"/>
          </p:cNvCxnSpPr>
          <p:nvPr/>
        </p:nvCxnSpPr>
        <p:spPr bwMode="auto">
          <a:xfrm>
            <a:off x="1390445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50"/>
          <p:cNvCxnSpPr>
            <a:cxnSpLocks noChangeShapeType="1"/>
          </p:cNvCxnSpPr>
          <p:nvPr/>
        </p:nvCxnSpPr>
        <p:spPr bwMode="auto">
          <a:xfrm>
            <a:off x="3280914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连接符 51"/>
          <p:cNvCxnSpPr>
            <a:cxnSpLocks noChangeShapeType="1"/>
          </p:cNvCxnSpPr>
          <p:nvPr/>
        </p:nvCxnSpPr>
        <p:spPr bwMode="auto">
          <a:xfrm>
            <a:off x="5161758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52"/>
          <p:cNvCxnSpPr>
            <a:cxnSpLocks noChangeShapeType="1"/>
          </p:cNvCxnSpPr>
          <p:nvPr/>
        </p:nvCxnSpPr>
        <p:spPr bwMode="auto">
          <a:xfrm flipH="1">
            <a:off x="7108427" y="1976682"/>
            <a:ext cx="1" cy="42744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7177"/>
          <p:cNvSpPr txBox="1">
            <a:spLocks noChangeArrowheads="1"/>
          </p:cNvSpPr>
          <p:nvPr/>
        </p:nvSpPr>
        <p:spPr bwMode="auto">
          <a:xfrm>
            <a:off x="1390445" y="1716288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4" name="TextBox 7177"/>
          <p:cNvSpPr txBox="1">
            <a:spLocks noChangeArrowheads="1"/>
          </p:cNvSpPr>
          <p:nvPr/>
        </p:nvSpPr>
        <p:spPr bwMode="auto">
          <a:xfrm>
            <a:off x="3293099" y="1716289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5" name="TextBox 7177"/>
          <p:cNvSpPr txBox="1">
            <a:spLocks noChangeArrowheads="1"/>
          </p:cNvSpPr>
          <p:nvPr/>
        </p:nvSpPr>
        <p:spPr bwMode="auto">
          <a:xfrm>
            <a:off x="5111398" y="1716288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1414550" y="2345682"/>
            <a:ext cx="18663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endParaRPr lang="en-US" altLang="zh-CN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基础</a:t>
            </a: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3280914" y="2355670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5141809" y="2355670"/>
            <a:ext cx="1954013" cy="695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9" name="Picture 4" descr="C:\Users\user\Desktop\45455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533" y="3301257"/>
            <a:ext cx="1640889" cy="10925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C:\Users\user\Desktop\xpic708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55190" y="3301256"/>
            <a:ext cx="1639965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7108347" y="2423840"/>
            <a:ext cx="184272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7130" y="3254358"/>
            <a:ext cx="1675422" cy="113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7142294" y="1677363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矩形 28"/>
          <p:cNvSpPr>
            <a:spLocks noChangeArrowheads="1"/>
          </p:cNvSpPr>
          <p:nvPr/>
        </p:nvSpPr>
        <p:spPr bwMode="auto">
          <a:xfrm>
            <a:off x="7082462" y="2562165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电子邮件服务</a:t>
            </a: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7124591" y="2354478"/>
            <a:ext cx="1812284" cy="1192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矩形 22"/>
          <p:cNvSpPr>
            <a:spLocks noChangeArrowheads="1"/>
          </p:cNvSpPr>
          <p:nvPr/>
        </p:nvSpPr>
        <p:spPr bwMode="auto">
          <a:xfrm>
            <a:off x="8957227" y="2419208"/>
            <a:ext cx="1632802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7" name="矩形 29"/>
          <p:cNvSpPr>
            <a:spLocks noChangeArrowheads="1"/>
          </p:cNvSpPr>
          <p:nvPr/>
        </p:nvSpPr>
        <p:spPr bwMode="auto">
          <a:xfrm>
            <a:off x="8936876" y="2562165"/>
            <a:ext cx="1653154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48" name="直接连接符 51"/>
          <p:cNvCxnSpPr>
            <a:cxnSpLocks noChangeShapeType="1"/>
          </p:cNvCxnSpPr>
          <p:nvPr/>
        </p:nvCxnSpPr>
        <p:spPr bwMode="auto">
          <a:xfrm>
            <a:off x="8915727" y="2018163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7177"/>
          <p:cNvSpPr txBox="1">
            <a:spLocks noChangeArrowheads="1"/>
          </p:cNvSpPr>
          <p:nvPr/>
        </p:nvSpPr>
        <p:spPr bwMode="auto">
          <a:xfrm>
            <a:off x="8865367" y="1699130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121" y="3291322"/>
            <a:ext cx="1467517" cy="107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3" name="直接连接符 52"/>
          <p:cNvCxnSpPr/>
          <p:nvPr/>
        </p:nvCxnSpPr>
        <p:spPr bwMode="auto">
          <a:xfrm flipV="1">
            <a:off x="8915727" y="2355074"/>
            <a:ext cx="1674303" cy="1199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332115623"/>
      </p:ext>
    </p:extLst>
  </p:cSld>
  <p:clrMapOvr>
    <a:masterClrMapping/>
  </p:clrMapOvr>
  <p:transition spd="slow">
    <p:randomBar dir="vert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9033" y="1714370"/>
            <a:ext cx="25908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32237" y="2273747"/>
            <a:ext cx="7997413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人们难以记住大量用于访问网站服务器的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地址，往往以域名形式（如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www.baidu.com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）发起请求，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但实际上网络中的计算机只能识别形如“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192.168.43.127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地址，而无法识别域名，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那么浏览器是如何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根据域名调取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相应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页面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的呢？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这一切都离不开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17277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7949" y="1187213"/>
            <a:ext cx="10968626" cy="452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Domain Name System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，即域名系统）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是一个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分布式数据库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，存储了域名和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地址之间的映射关系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主要功能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域名解析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，即通过域名获取对应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域名服务器（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DNS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服务器）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提供域名解析功能的主机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一个域名只能对应一个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地址，但一个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地址可以对应多个域名，也可以没有相应域名。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59167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0466" y="2238091"/>
            <a:ext cx="1096862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域名系统采用类似目录树的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等级结构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，域名分为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根域、顶级域、二级域、三级域和主机名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五类，这五类域名的说明与示例分别如表所示。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041755"/>
              </p:ext>
            </p:extLst>
          </p:nvPr>
        </p:nvGraphicFramePr>
        <p:xfrm>
          <a:off x="1581441" y="3447247"/>
          <a:ext cx="9029115" cy="24984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2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6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317">
                <a:tc>
                  <a:txBody>
                    <a:bodyPr/>
                    <a:lstStyle/>
                    <a:p>
                      <a:pPr indent="26035" algn="ctr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类型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indent="270510" algn="ctr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说明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indent="270510" algn="just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示例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96"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根域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DNS</a:t>
                      </a:r>
                      <a:r>
                        <a:rPr lang="zh-CN" sz="1800" kern="100" dirty="0">
                          <a:effectLst/>
                        </a:rPr>
                        <a:t>域名规则中规定，由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尾部句点（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.</a:t>
                      </a:r>
                      <a:r>
                        <a:rPr 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）</a:t>
                      </a:r>
                      <a:r>
                        <a:rPr lang="zh-CN" sz="1800" kern="100" dirty="0">
                          <a:effectLst/>
                        </a:rPr>
                        <a:t>来指定名称位于根或更高级别的域层次结构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单个句点（</a:t>
                      </a:r>
                      <a:r>
                        <a:rPr lang="en-US" sz="1800" kern="100">
                          <a:effectLst/>
                        </a:rPr>
                        <a:t>.</a:t>
                      </a:r>
                      <a:r>
                        <a:rPr lang="zh-CN" sz="1800" kern="100">
                          <a:effectLst/>
                        </a:rPr>
                        <a:t>）或由句点结尾的名称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07"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顶级域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某个国家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地区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组织使用的域名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.</a:t>
                      </a:r>
                      <a:r>
                        <a:rPr lang="en-US" sz="1800" kern="100" dirty="0" err="1">
                          <a:effectLst/>
                        </a:rPr>
                        <a:t>cn</a:t>
                      </a:r>
                      <a:r>
                        <a:rPr lang="zh-CN" sz="1800" kern="100" dirty="0">
                          <a:effectLst/>
                        </a:rPr>
                        <a:t>、</a:t>
                      </a:r>
                      <a:r>
                        <a:rPr lang="en-US" sz="1800" kern="100" dirty="0">
                          <a:effectLst/>
                        </a:rPr>
                        <a:t>.com</a:t>
                      </a:r>
                      <a:r>
                        <a:rPr lang="zh-CN" sz="1800" kern="100" dirty="0">
                          <a:effectLst/>
                        </a:rPr>
                        <a:t>、</a:t>
                      </a:r>
                      <a:r>
                        <a:rPr lang="en-US" sz="1800" kern="100" dirty="0">
                          <a:effectLst/>
                        </a:rPr>
                        <a:t>.</a:t>
                      </a:r>
                      <a:r>
                        <a:rPr lang="en-US" sz="1800" kern="100" dirty="0" err="1">
                          <a:effectLst/>
                        </a:rPr>
                        <a:t>edu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07"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二级域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个人或组织在</a:t>
                      </a:r>
                      <a:r>
                        <a:rPr lang="en-US" sz="1800" kern="100">
                          <a:effectLst/>
                        </a:rPr>
                        <a:t>Internet</a:t>
                      </a:r>
                      <a:r>
                        <a:rPr lang="zh-CN" sz="1800" kern="100">
                          <a:effectLst/>
                        </a:rPr>
                        <a:t>上使用的注册名称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baidu.com</a:t>
                      </a:r>
                      <a:r>
                        <a:rPr lang="zh-CN" sz="1800" kern="100">
                          <a:effectLst/>
                        </a:rPr>
                        <a:t>、</a:t>
                      </a:r>
                      <a:r>
                        <a:rPr lang="en-US" sz="1800" kern="100">
                          <a:effectLst/>
                        </a:rPr>
                        <a:t>qq.com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96"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三级域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由二级域派生的域，常用于网站名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www.baidu.com</a:t>
                      </a:r>
                      <a:r>
                        <a:rPr lang="zh-CN" sz="1800" kern="100">
                          <a:effectLst/>
                        </a:rPr>
                        <a:t>、</a:t>
                      </a:r>
                      <a:r>
                        <a:rPr lang="en-US" sz="1800" kern="100">
                          <a:effectLst/>
                        </a:rPr>
                        <a:t>tieba.baidu.com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15">
                <a:tc>
                  <a:txBody>
                    <a:bodyPr/>
                    <a:lstStyle/>
                    <a:p>
                      <a:pPr indent="9525"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主机名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网络上特定计算机的标识</a:t>
                      </a:r>
                      <a:endParaRPr lang="zh-CN" sz="18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h1.www.baidu.com</a:t>
                      </a:r>
                      <a:endParaRPr lang="zh-CN" sz="18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17985" marR="11798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、域名系统的结构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1923193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7949" y="2360921"/>
            <a:ext cx="3841317" cy="337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、域名系统的结构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域名的格式一般为“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主机名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三级域名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二级域名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顶级域名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，该格式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在末尾使用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.”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zh-CN" altLang="en-US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根域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，符合这种格式的域名称为</a:t>
            </a:r>
            <a:r>
              <a:rPr lang="zh-CN" altLang="en-US" sz="20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全称域名</a:t>
            </a: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Fully Qualified Domain Name</a:t>
            </a: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，简称</a:t>
            </a:r>
            <a:r>
              <a:rPr lang="en-US" altLang="zh-CN" sz="20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FQDN</a:t>
            </a: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，也称为完全合格域名）。</a:t>
            </a: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679630" y="2360921"/>
            <a:ext cx="6408397" cy="3622336"/>
          </a:xfrm>
          <a:prstGeom prst="rect">
            <a:avLst/>
          </a:prstGeom>
        </p:spPr>
      </p:pic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、域名系统的结构</a:t>
              </a:r>
              <a:endParaRPr lang="en-US" altLang="zh-CN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3009580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7948" y="2219554"/>
            <a:ext cx="10982647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域名服务器（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Domain Name Server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实质上就是一台配置了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服务，可实现域名解析功能的主机。根据工作方式，域名服务器可分为如下几种：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主域名服务器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辅助域名服务器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缓存域名服务器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转发域名服务器</a:t>
            </a:r>
          </a:p>
        </p:txBody>
      </p:sp>
      <p:grpSp>
        <p:nvGrpSpPr>
          <p:cNvPr id="5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、域名服务器的分类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49303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7948" y="2219554"/>
            <a:ext cx="10982647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域名服务器（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Domain Name Server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实质上就是一台配置了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服务，可实现域名解析功能的主机。根据工作方式，域名服务器可分为如下几种：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域名服务器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维护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域中所有的域名信息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客户端请求，查询并返回响应的记录信息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是所有其他类型服务器的</a:t>
            </a:r>
            <a:r>
              <a:rPr lang="zh-CN" altLang="en-US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权威</a:t>
            </a: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信息源</a:t>
            </a:r>
            <a:endParaRPr lang="en-US" altLang="zh-CN" sz="24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数据（包括域名与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地址的对应关系、刷新间隔、过期时间等）存储在相应的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区域数据文件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</a:t>
            </a:r>
          </a:p>
        </p:txBody>
      </p:sp>
      <p:grpSp>
        <p:nvGrpSpPr>
          <p:cNvPr id="5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、域名服务器的分类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71932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7948" y="2219554"/>
            <a:ext cx="10982647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域名服务器（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Domain Name Server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实质上就是一台配置了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服务，可实现域名解析功能的主机。根据工作方式，域名服务器可分为如下几种：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辅助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域名服务器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域名服务器的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备份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代替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主域名服务器提供域名解析服务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区域数据文件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随主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域名服务器中文件的更改而改变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、域名服务器的分类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85765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7948" y="2219554"/>
            <a:ext cx="10982647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域名服务器（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Domain Name Server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实质上就是一台配置了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服务，可实现域名解析功能的主机。根据工作方式，域名服务器可分为如下几种：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缓存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域名服务器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存储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从某个远程服务器取得的域名服务器的查询结果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可从高速缓存中迅速获取查询结果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非权威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的域名服务器，提供的是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间接信息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、域名服务器的分类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9612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7948" y="2219554"/>
            <a:ext cx="10982647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域名服务器（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Domain Name Server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实质上就是一台配置了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服务，可实现域名解析功能的主机。根据工作方式，域名服务器可分为如下几种：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转发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域名服务器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负责所有非本地域名的本地查询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转发请求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7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、域名服务器的分类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62918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1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2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、域名查询机制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2520B26-250C-C7C6-7FA5-38D3F8AEB43C}"/>
              </a:ext>
            </a:extLst>
          </p:cNvPr>
          <p:cNvSpPr/>
          <p:nvPr/>
        </p:nvSpPr>
        <p:spPr>
          <a:xfrm>
            <a:off x="617948" y="2219554"/>
            <a:ext cx="10982647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域名查询分为递归查询和迭代查询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递归查询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本机域名服务器会将查询的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最终结果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返回给客户机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客户机只需发出请求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其余都交由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服务器完成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243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1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2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、域名查询机制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2520B26-250C-C7C6-7FA5-38D3F8AEB43C}"/>
              </a:ext>
            </a:extLst>
          </p:cNvPr>
          <p:cNvSpPr/>
          <p:nvPr/>
        </p:nvSpPr>
        <p:spPr>
          <a:xfrm>
            <a:off x="617948" y="2219554"/>
            <a:ext cx="10982647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域名查询分为递归查询和迭代查询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迭代查询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无法获取最终结果时返回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自己能获取的、最最终结果最为相近的内容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由客户机根据获取到的内容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再次发起查询请求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493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0498" y="2332754"/>
            <a:ext cx="2129613" cy="605979"/>
            <a:chOff x="618370" y="1271480"/>
            <a:chExt cx="2129613" cy="1052736"/>
          </a:xfrm>
        </p:grpSpPr>
        <p:sp>
          <p:nvSpPr>
            <p:cNvPr id="34" name="矩形 33"/>
            <p:cNvSpPr/>
            <p:nvPr/>
          </p:nvSpPr>
          <p:spPr>
            <a:xfrm>
              <a:off x="618370" y="1271480"/>
              <a:ext cx="2129613" cy="1052736"/>
            </a:xfrm>
            <a:prstGeom prst="rect">
              <a:avLst/>
            </a:prstGeom>
            <a:solidFill>
              <a:srgbClr val="1353A2"/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文本框 14"/>
            <p:cNvSpPr txBox="1"/>
            <p:nvPr/>
          </p:nvSpPr>
          <p:spPr>
            <a:xfrm>
              <a:off x="667513" y="1289129"/>
              <a:ext cx="2031325" cy="646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3600" dirty="0">
                  <a:solidFill>
                    <a:schemeClr val="bg1"/>
                  </a:solidFill>
                  <a:latin typeface="微软雅黑"/>
                  <a:ea typeface="微软雅黑"/>
                  <a:cs typeface="微软雅黑"/>
                </a:rPr>
                <a:t>递归查询</a:t>
              </a:r>
              <a:endParaRPr kumimoji="1" lang="en-US" altLang="zh-CN" sz="36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3989633" y="2332754"/>
            <a:ext cx="7009981" cy="3902146"/>
          </a:xfrm>
          <a:prstGeom prst="rect">
            <a:avLst/>
          </a:prstGeom>
        </p:spPr>
      </p:pic>
      <p:grpSp>
        <p:nvGrpSpPr>
          <p:cNvPr id="20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21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2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、域名查询机制</a:t>
              </a: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0C2EAD8-9EF0-1DC8-0FBB-6AFC79E0DF89}"/>
              </a:ext>
            </a:extLst>
          </p:cNvPr>
          <p:cNvSpPr/>
          <p:nvPr/>
        </p:nvSpPr>
        <p:spPr>
          <a:xfrm>
            <a:off x="439354" y="3191104"/>
            <a:ext cx="3339689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本地域名服务器无法应答请求时，它将代替客户端主机向上一级进行查询，直到获得最终结果为止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02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0498" y="2332754"/>
            <a:ext cx="2129613" cy="656490"/>
            <a:chOff x="618370" y="1271480"/>
            <a:chExt cx="2129613" cy="1140486"/>
          </a:xfrm>
        </p:grpSpPr>
        <p:sp>
          <p:nvSpPr>
            <p:cNvPr id="34" name="矩形 33"/>
            <p:cNvSpPr/>
            <p:nvPr/>
          </p:nvSpPr>
          <p:spPr>
            <a:xfrm>
              <a:off x="618370" y="1271480"/>
              <a:ext cx="2129613" cy="1052736"/>
            </a:xfrm>
            <a:prstGeom prst="rect">
              <a:avLst/>
            </a:prstGeom>
            <a:solidFill>
              <a:srgbClr val="1353A2"/>
            </a:solidFill>
            <a:ln>
              <a:noFill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文本框 14"/>
            <p:cNvSpPr txBox="1"/>
            <p:nvPr/>
          </p:nvSpPr>
          <p:spPr>
            <a:xfrm>
              <a:off x="667513" y="1289129"/>
              <a:ext cx="2031325" cy="1122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3600" dirty="0">
                  <a:solidFill>
                    <a:schemeClr val="bg1"/>
                  </a:solidFill>
                  <a:latin typeface="微软雅黑"/>
                  <a:ea typeface="微软雅黑"/>
                  <a:cs typeface="微软雅黑"/>
                </a:rPr>
                <a:t>迭代查询</a:t>
              </a:r>
              <a:endParaRPr kumimoji="1" lang="en-US" altLang="zh-CN" sz="36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4751994" y="2249916"/>
            <a:ext cx="6074150" cy="4106384"/>
          </a:xfrm>
          <a:prstGeom prst="rect">
            <a:avLst/>
          </a:prstGeom>
        </p:spPr>
      </p:pic>
      <p:grpSp>
        <p:nvGrpSpPr>
          <p:cNvPr id="20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21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22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、域名查询机制</a:t>
              </a: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4A6A2192-75A1-C29F-83A9-66B73E4218F7}"/>
              </a:ext>
            </a:extLst>
          </p:cNvPr>
          <p:cNvSpPr/>
          <p:nvPr/>
        </p:nvSpPr>
        <p:spPr>
          <a:xfrm>
            <a:off x="439354" y="3191104"/>
            <a:ext cx="4232659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对于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能够回答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的请求，它能够提供正确的响应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对于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不能回答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的请求，只返回它所推荐的可能知道正确响应的其他权威服务器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1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3816" y="2273674"/>
            <a:ext cx="11068835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资源记录（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，简称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RR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添加到区域数据文件中的记录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，记录（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）有许多类型，每种类型的功能各不相同。</a:t>
            </a:r>
          </a:p>
        </p:txBody>
      </p:sp>
      <p:sp>
        <p:nvSpPr>
          <p:cNvPr id="6" name="矩形 5"/>
          <p:cNvSpPr/>
          <p:nvPr/>
        </p:nvSpPr>
        <p:spPr>
          <a:xfrm>
            <a:off x="617948" y="3104607"/>
            <a:ext cx="11068835" cy="3788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Address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</a:t>
            </a: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地址记录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，是域名到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的映射信息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AAAA</a:t>
            </a:r>
            <a:r>
              <a:rPr lang="zh-CN" altLang="en-US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同样是</a:t>
            </a: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地址记录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，域名到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的映射信息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PTR</a:t>
            </a:r>
            <a:r>
              <a:rPr lang="zh-CN" altLang="en-US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地址到域名的映射信息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常用于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反向解析数据文件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8773484" y="4053914"/>
            <a:ext cx="2606510" cy="559558"/>
          </a:xfrm>
          <a:prstGeom prst="wedgeRectCallout">
            <a:avLst>
              <a:gd name="adj1" fmla="val -98795"/>
              <a:gd name="adj2" fmla="val -393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FQDN IN A IP</a:t>
            </a:r>
            <a:r>
              <a:rPr lang="zh-CN" altLang="zh-CN" sz="2000" b="1" dirty="0">
                <a:solidFill>
                  <a:schemeClr val="bg1"/>
                </a:solidFill>
              </a:rPr>
              <a:t>地址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、资源记录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4" name="矩形标注 2">
            <a:extLst>
              <a:ext uri="{FF2B5EF4-FFF2-40B4-BE49-F238E27FC236}">
                <a16:creationId xmlns:a16="http://schemas.microsoft.com/office/drawing/2014/main" id="{88B2530A-7627-2A51-50C7-0E4BD591C702}"/>
              </a:ext>
            </a:extLst>
          </p:cNvPr>
          <p:cNvSpPr/>
          <p:nvPr/>
        </p:nvSpPr>
        <p:spPr>
          <a:xfrm>
            <a:off x="5513479" y="5379341"/>
            <a:ext cx="2909002" cy="559558"/>
          </a:xfrm>
          <a:prstGeom prst="wedgeRectCallout">
            <a:avLst>
              <a:gd name="adj1" fmla="val -85365"/>
              <a:gd name="adj2" fmla="val -240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IP</a:t>
            </a:r>
            <a:r>
              <a:rPr lang="zh-CN" altLang="zh-CN" sz="2000" b="1" dirty="0"/>
              <a:t>地址</a:t>
            </a:r>
            <a:r>
              <a:rPr lang="en-US" altLang="zh-CN" sz="2000" b="1" dirty="0"/>
              <a:t> IN PTR FQDN</a:t>
            </a:r>
            <a:endParaRPr lang="zh-CN" altLang="zh-CN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923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3" grpId="0" animBg="1"/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3816" y="2273674"/>
            <a:ext cx="11068835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资源记录（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，简称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RR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即添加到区域数据文件中的记录，记录（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）有许多类型，每种类型的功能各不相同。</a:t>
            </a:r>
          </a:p>
        </p:txBody>
      </p:sp>
      <p:sp>
        <p:nvSpPr>
          <p:cNvPr id="6" name="矩形 5"/>
          <p:cNvSpPr/>
          <p:nvPr/>
        </p:nvSpPr>
        <p:spPr>
          <a:xfrm>
            <a:off x="617948" y="3104607"/>
            <a:ext cx="11068835" cy="2542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SOA</a:t>
            </a:r>
            <a:r>
              <a:rPr lang="zh-CN" altLang="en-US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起始授权记录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声明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服务器是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域中数据表的信息来源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是主机名的管理者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创建新区域时，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SOA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记录会自动创建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一个区域数据文件只允许存在唯一的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SOA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、资源记录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2" name="矩形标注 7">
            <a:extLst>
              <a:ext uri="{FF2B5EF4-FFF2-40B4-BE49-F238E27FC236}">
                <a16:creationId xmlns:a16="http://schemas.microsoft.com/office/drawing/2014/main" id="{A645CFB1-31EE-0E39-D36B-587762D883C1}"/>
              </a:ext>
            </a:extLst>
          </p:cNvPr>
          <p:cNvSpPr/>
          <p:nvPr/>
        </p:nvSpPr>
        <p:spPr>
          <a:xfrm>
            <a:off x="7015163" y="3448183"/>
            <a:ext cx="4585433" cy="2210937"/>
          </a:xfrm>
          <a:prstGeom prst="wedgeRectCallout">
            <a:avLst>
              <a:gd name="adj1" fmla="val -49737"/>
              <a:gd name="adj2" fmla="val -260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/>
              <a:t>域名 记录类型</a:t>
            </a:r>
            <a:r>
              <a:rPr lang="en-US" altLang="zh-CN" dirty="0"/>
              <a:t> SOA </a:t>
            </a:r>
            <a:r>
              <a:rPr lang="zh-CN" altLang="zh-CN" dirty="0"/>
              <a:t>主域名服务器的</a:t>
            </a:r>
            <a:r>
              <a:rPr lang="en-US" altLang="zh-CN" dirty="0"/>
              <a:t>FQDN </a:t>
            </a:r>
            <a:r>
              <a:rPr lang="zh-CN" altLang="zh-CN" dirty="0"/>
              <a:t>管理员邮件地址</a:t>
            </a:r>
            <a:r>
              <a:rPr lang="en-US" altLang="zh-CN" dirty="0"/>
              <a:t> (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zh-CN" altLang="zh-CN" dirty="0"/>
              <a:t>序列号</a:t>
            </a:r>
          </a:p>
          <a:p>
            <a:r>
              <a:rPr lang="en-US" altLang="zh-CN" dirty="0"/>
              <a:t>		</a:t>
            </a:r>
            <a:r>
              <a:rPr lang="zh-CN" altLang="zh-CN" dirty="0"/>
              <a:t>刷新间隔</a:t>
            </a:r>
          </a:p>
          <a:p>
            <a:r>
              <a:rPr lang="en-US" altLang="zh-CN" dirty="0"/>
              <a:t>		</a:t>
            </a:r>
            <a:r>
              <a:rPr lang="zh-CN" altLang="zh-CN" dirty="0"/>
              <a:t>重试间隔</a:t>
            </a:r>
          </a:p>
          <a:p>
            <a:r>
              <a:rPr lang="en-US" altLang="zh-CN" dirty="0"/>
              <a:t>		</a:t>
            </a:r>
            <a:r>
              <a:rPr lang="zh-CN" altLang="zh-CN" dirty="0"/>
              <a:t>过期间隔</a:t>
            </a:r>
          </a:p>
          <a:p>
            <a:r>
              <a:rPr lang="en-US" altLang="zh-CN" dirty="0"/>
              <a:t>		TTL)</a:t>
            </a:r>
            <a:endParaRPr lang="zh-CN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674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3816" y="2273674"/>
            <a:ext cx="11068835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资源记录（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，简称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RR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即添加到区域数据文件中的记录，记录（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）有许多类型，每种类型的功能各不相同。</a:t>
            </a:r>
          </a:p>
        </p:txBody>
      </p:sp>
      <p:sp>
        <p:nvSpPr>
          <p:cNvPr id="6" name="矩形 5"/>
          <p:cNvSpPr/>
          <p:nvPr/>
        </p:nvSpPr>
        <p:spPr>
          <a:xfrm>
            <a:off x="617948" y="3104607"/>
            <a:ext cx="11068835" cy="2542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NS</a:t>
            </a:r>
            <a:r>
              <a:rPr lang="zh-CN" altLang="en-US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 Service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，名称服务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权威服务器记录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用于表明区域的权威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记录中指定的服务器会被其他服务器当做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权威的来源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7205311" y="3441696"/>
            <a:ext cx="2824513" cy="559558"/>
          </a:xfrm>
          <a:prstGeom prst="wedgeRectCallout">
            <a:avLst>
              <a:gd name="adj1" fmla="val -112496"/>
              <a:gd name="adj2" fmla="val -278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/>
              <a:t>区域名</a:t>
            </a:r>
            <a:r>
              <a:rPr lang="en-US" altLang="zh-CN" sz="2000" b="1" dirty="0"/>
              <a:t> IN NS FQDN</a:t>
            </a:r>
            <a:endParaRPr lang="zh-CN" altLang="zh-CN" sz="2000" b="1" dirty="0"/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、资源记录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32067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5.3.1DNS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3816" y="2273674"/>
            <a:ext cx="11068835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资源记录（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，简称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RR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即添加到区域数据文件中的记录，记录（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Resource Records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）有许多类型，每种类型的功能各不相同。</a:t>
            </a:r>
          </a:p>
        </p:txBody>
      </p:sp>
      <p:sp>
        <p:nvSpPr>
          <p:cNvPr id="6" name="矩形 5"/>
          <p:cNvSpPr/>
          <p:nvPr/>
        </p:nvSpPr>
        <p:spPr>
          <a:xfrm>
            <a:off x="617948" y="3104607"/>
            <a:ext cx="11068835" cy="337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CNAME</a:t>
            </a:r>
            <a:r>
              <a:rPr lang="zh-CN" altLang="en-US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特定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FQDN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创建别名，即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FQDN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别名记录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用于隐藏用户网络的实现细节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常用于在同一个区域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记录中的主机名需要重命名，或为多台主机提供相同的别名时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MX</a:t>
            </a:r>
            <a:r>
              <a:rPr lang="zh-CN" altLang="en-US" sz="20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邮件服务器记录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指向一个邮件服务器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用于指定一个邮件交换服务器，为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域名处理或转发邮件的主机</a:t>
            </a:r>
          </a:p>
        </p:txBody>
      </p:sp>
      <p:sp>
        <p:nvSpPr>
          <p:cNvPr id="11" name="矩形标注 10"/>
          <p:cNvSpPr/>
          <p:nvPr/>
        </p:nvSpPr>
        <p:spPr>
          <a:xfrm>
            <a:off x="7091260" y="3402061"/>
            <a:ext cx="3181453" cy="559558"/>
          </a:xfrm>
          <a:prstGeom prst="wedgeRectCallout">
            <a:avLst>
              <a:gd name="adj1" fmla="val -101104"/>
              <a:gd name="adj2" fmla="val -433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 dirty="0"/>
              <a:t>别名</a:t>
            </a:r>
            <a:r>
              <a:rPr lang="en-US" altLang="zh-CN" sz="2000" b="1" dirty="0"/>
              <a:t> IN CNAME </a:t>
            </a:r>
            <a:r>
              <a:rPr lang="zh-CN" altLang="zh-CN" sz="2000" b="1" dirty="0"/>
              <a:t>主机名</a:t>
            </a:r>
          </a:p>
        </p:txBody>
      </p:sp>
      <p:sp>
        <p:nvSpPr>
          <p:cNvPr id="12" name="矩形标注 11"/>
          <p:cNvSpPr/>
          <p:nvPr/>
        </p:nvSpPr>
        <p:spPr>
          <a:xfrm>
            <a:off x="6152365" y="5292568"/>
            <a:ext cx="4650866" cy="559558"/>
          </a:xfrm>
          <a:prstGeom prst="wedgeRectCallout">
            <a:avLst>
              <a:gd name="adj1" fmla="val -102569"/>
              <a:gd name="adj2" fmla="val -656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/>
              <a:t>区域名</a:t>
            </a:r>
            <a:r>
              <a:rPr lang="en-US" altLang="zh-CN" sz="2000" b="1" dirty="0"/>
              <a:t> IN MX </a:t>
            </a:r>
            <a:r>
              <a:rPr lang="zh-CN" altLang="zh-CN" sz="2000" b="1" dirty="0"/>
              <a:t>优先级 邮件服务器名称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、资源记录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48838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11" grpId="0" animBg="1"/>
      <p:bldP spid="1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949" y="2284353"/>
            <a:ext cx="7106684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系统中，人们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常用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软件包来配置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Berkeley Internet Name Domain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是一个可以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服务的软件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，该软件由伯克利加州大学研发，是目前应用最广泛的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服务系统。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支持各种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平台，同时也支持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UNIX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Windows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平台。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349" y="1223679"/>
            <a:ext cx="3631087" cy="4662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865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699D71-A2DA-F85B-69F0-715CE414E6D9}"/>
              </a:ext>
            </a:extLst>
          </p:cNvPr>
          <p:cNvSpPr/>
          <p:nvPr/>
        </p:nvSpPr>
        <p:spPr>
          <a:xfrm>
            <a:off x="617948" y="1282940"/>
            <a:ext cx="11068835" cy="3788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两个重要的软件包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主程序运行在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模式</a:t>
            </a:r>
            <a:endParaRPr lang="en-US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该模式下主程序会从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限定路径（非根目录）启动</a:t>
            </a:r>
            <a:endParaRPr lang="en-US" altLang="zh-CN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模式默认的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限定路径为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/var/named/chroot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该模式提升了了系统安全性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utils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提供了一组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工具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，包括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dig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host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nslookup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usupdate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等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使用上述工具可进行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域名解析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调试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工作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354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699D71-A2DA-F85B-69F0-715CE414E6D9}"/>
              </a:ext>
            </a:extLst>
          </p:cNvPr>
          <p:cNvSpPr/>
          <p:nvPr/>
        </p:nvSpPr>
        <p:spPr>
          <a:xfrm>
            <a:off x="617948" y="1282940"/>
            <a:ext cx="11068835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主要包含的软件包有：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：主程序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bind-chroot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：限定主程序启动路径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bind-utils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工具集合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218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948" y="1159655"/>
            <a:ext cx="10941705" cy="502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检测系统已安装的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软件包：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rpm –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qa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| grep bind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bind-utils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软件包已安装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需安装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bind-chroot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959B78-6BC9-CAF1-038F-602822FC7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258" y="2387551"/>
            <a:ext cx="5597484" cy="24142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753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948" y="1159655"/>
            <a:ext cx="10941705" cy="15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bind-chroot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yum –y install bind bind-chroot</a:t>
            </a:r>
          </a:p>
          <a:p>
            <a:pPr lvl="1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520F89-DBCF-C757-59D5-5C4FD1838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920" y="2447070"/>
            <a:ext cx="6500160" cy="2796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500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948" y="1159655"/>
            <a:ext cx="10941705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服务：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start named</a:t>
            </a:r>
          </a:p>
          <a:p>
            <a:pPr lvl="1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开机自启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enable named</a:t>
            </a:r>
          </a:p>
          <a:p>
            <a:pPr lvl="1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CB244E-02E6-FE69-AE35-E2615702E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246" y="1668652"/>
            <a:ext cx="10073507" cy="248465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E292DE-85A8-D22D-0306-81AA3D08F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246" y="4662305"/>
            <a:ext cx="10073507" cy="12025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189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948" y="1159655"/>
            <a:ext cx="10941705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若要使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运行在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需以限定目录为根目录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创建并配置相关文件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再使用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命令启用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模式下开启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start named-chroot  	#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enable named-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cheoot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#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开机自启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499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31878" y="1618053"/>
            <a:ext cx="7529765" cy="4287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实质上是一个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分布式数据库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，其中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存储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着各级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域名与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地址的映射关系、更新周期等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信息，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为了保证程序的执行效率，也为了方便日后数据的修改与维护，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多个配置文件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保存与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服务相关的信息。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endParaRPr lang="en-US" altLang="zh-CN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区域配置文件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/named.rfc1912.zones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区域数据文件 </a:t>
            </a:r>
            <a:r>
              <a:rPr lang="en-US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/var/named/xxx</a:t>
            </a:r>
            <a:endParaRPr lang="zh-CN" altLang="en-US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57" y="1485972"/>
            <a:ext cx="2933700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64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3816" y="2273674"/>
            <a:ext cx="1106883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的基本配置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不包含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任何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的区域数据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。当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服务进程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启动时，该进程首先会读取主配置文件。主配置文件默认存储于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下，其中的原始有效配置如下：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、主配置文件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0501" y="3569579"/>
            <a:ext cx="10982149" cy="2709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全局配置信息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options {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listen-on port 53 { 127.0.0.1; };				//named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监听的端口号、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listen-on-v6 port 53 { ::1; };				//named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监听的端口号、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directory 	"/</a:t>
            </a:r>
            <a:r>
              <a:rPr lang="en-US" altLang="zh-CN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/named";				//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区域数据文件的默认存放位置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dump-file 	"/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/named/data/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cache_dump.db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	//</a:t>
            </a:r>
            <a:r>
              <a:rPr lang="zh-CN" altLang="en-US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域名缓存数据库文件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位置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statistics-file "/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/named/data/named_stats.txt";	//</a:t>
            </a:r>
            <a:r>
              <a:rPr lang="zh-CN" altLang="en-US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状态统计文件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位置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374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3816" y="2273674"/>
            <a:ext cx="1106883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的基本配置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不包含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任何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的区域数据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。当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服务进程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启动时，该进程首先会读取主配置文件。主配置文件默认存储于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下，其中的原始有效配置如下：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、主配置文件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0501" y="3569579"/>
            <a:ext cx="10982149" cy="233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服务器输出内存使用统计文件的位置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memstatistics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-file "/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/named/data/named_mem_stats.txt";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	allow-query     { localhost; };				//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客户端查询范围，可设置为网段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recursion yes;						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是否允许</a:t>
            </a:r>
            <a:r>
              <a:rPr lang="zh-CN" altLang="en-US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递归查询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dnssec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-enable yes;						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开启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DNSSEC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安全扩展）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dnssec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-validation yes;					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开启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DNSSEC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确认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868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3816" y="2273674"/>
            <a:ext cx="1106883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的基本配置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不包含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任何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的区域数据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。当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服务进程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启动时，该进程首先会读取主配置文件。主配置文件默认存储于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下，其中的原始有效配置如下：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、主配置文件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0501" y="3569579"/>
            <a:ext cx="10982149" cy="233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配置相关文件路径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bindkeys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-file "/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named.iscdlv.key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managed-keys-directory "/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/named/dynamic";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pid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-file "/run/named/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named.pid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session-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keyfile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"/run/named/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session.key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70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3816" y="2273674"/>
            <a:ext cx="1106883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的基本配置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不包含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任何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的区域数据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。当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服务进程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启动时，该进程首先会读取主配置文件。主配置文件默认存储于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下，其中的原始有效配置如下：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、主配置文件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0501" y="3569579"/>
            <a:ext cx="10982149" cy="233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logging {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		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	//</a:t>
            </a:r>
            <a:r>
              <a:rPr lang="zh-CN" altLang="en-US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日志配置文件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channel 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default_debug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{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        file "data/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named.run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        severity dynamic;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};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631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3816" y="2273674"/>
            <a:ext cx="1106883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中只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的基本配置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不包含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任何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的区域数据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。当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服务进程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启动时，该进程首先会读取主配置文件。主配置文件默认存储于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下，其中的原始有效配置如下：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、主配置文件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0501" y="3569579"/>
            <a:ext cx="10982149" cy="233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zone 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"." IN {						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区域配置信息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type hint;                                                 //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域类型</a:t>
            </a:r>
            <a:endParaRPr lang="en-US" altLang="zh-CN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file "named.ca";                                       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全球的根域名服务器信息</a:t>
            </a:r>
            <a:endParaRPr lang="en-US" altLang="zh-CN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include "/</a:t>
            </a:r>
            <a:r>
              <a:rPr lang="en-US" altLang="zh-CN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/named.rfc1912.zones";		//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引入区域配置信息文件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include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"/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named.root.key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			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引入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资源机集的公共密钥文件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455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3816" y="2273674"/>
            <a:ext cx="11068835" cy="337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中的内容主要分为如下三项：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）以“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options {… }”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形式定义的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全局配置信息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）以“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logging { … }”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形式定义的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日志配置信息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）以“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zone { … }”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形式定义的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区域配置信息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全局配置信息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中定义的内容对</a:t>
            </a:r>
            <a:r>
              <a:rPr lang="zh-CN" altLang="en-US" sz="20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全局生效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区域配置信息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中的内容只对</a:t>
            </a:r>
            <a:r>
              <a:rPr lang="zh-CN" altLang="en-US" sz="20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指定</a:t>
            </a:r>
            <a:r>
              <a:rPr lang="en-US" altLang="zh-CN" sz="20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生效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此外，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文件中可使用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include”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引入其它文件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、主配置文件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856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13816" y="2217698"/>
            <a:ext cx="11068835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区域配置文件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named.rfc1912.zones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服务域的相关信息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，该文件默认存在于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下，文件中的原始信息如下：</a:t>
            </a: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0500" y="3117705"/>
            <a:ext cx="10982149" cy="3457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localhost.localdomain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 IN {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sz="16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type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master;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en-US" altLang="zh-CN" sz="16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file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"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named.localhost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allow-update { none; };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"localhost" IN {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type master;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file "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named.localhost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allow-update { none; };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039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0501" y="3005602"/>
            <a:ext cx="10982149" cy="3457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"1.0.0.0.0.0.0.0.0.0.0.0.0.0.0.0.0.0.0.0.0.0.0.0.0.0.0.0.0.0.0.0.ip6.arpa" IN {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type master;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file "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named.loopback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allow-update { none; };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"1.0.0.127.in-addr.arpa" IN {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type master;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file "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named.loopback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allow-update { none; };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86E77E-5E36-5B2D-AEA0-078914C8249D}"/>
              </a:ext>
            </a:extLst>
          </p:cNvPr>
          <p:cNvSpPr/>
          <p:nvPr/>
        </p:nvSpPr>
        <p:spPr>
          <a:xfrm>
            <a:off x="513816" y="2217698"/>
            <a:ext cx="11068835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区域配置文件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named.rfc1912.zones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服务域的相关信息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，该文件默认存在于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下，文件中的原始信息如下：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136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0501" y="3262779"/>
            <a:ext cx="10982149" cy="1720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"0.in-addr.arpa" IN {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type master;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file "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named.empty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allow-update { none; };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</a:p>
        </p:txBody>
      </p:sp>
      <p:sp>
        <p:nvSpPr>
          <p:cNvPr id="3" name="矩形 2"/>
          <p:cNvSpPr/>
          <p:nvPr/>
        </p:nvSpPr>
        <p:spPr>
          <a:xfrm>
            <a:off x="600502" y="4942975"/>
            <a:ext cx="110000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区域配置文件中包含多个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若在某个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语句中配置了相应的域名信息，则说明希望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服务能维护该域名的解析过程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4406224" y="3262779"/>
            <a:ext cx="1544200" cy="423080"/>
          </a:xfrm>
          <a:prstGeom prst="wedgeRectCallout">
            <a:avLst>
              <a:gd name="adj1" fmla="val -178151"/>
              <a:gd name="adj2" fmla="val 689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设置</a:t>
            </a:r>
            <a:r>
              <a:rPr lang="zh-CN" altLang="en-US" b="1" dirty="0">
                <a:solidFill>
                  <a:schemeClr val="bg1"/>
                </a:solidFill>
              </a:rPr>
              <a:t>域类型</a:t>
            </a:r>
          </a:p>
        </p:txBody>
      </p:sp>
      <p:sp>
        <p:nvSpPr>
          <p:cNvPr id="11" name="矩形标注 10"/>
          <p:cNvSpPr/>
          <p:nvPr/>
        </p:nvSpPr>
        <p:spPr>
          <a:xfrm>
            <a:off x="4558624" y="4365153"/>
            <a:ext cx="1544200" cy="577822"/>
          </a:xfrm>
          <a:prstGeom prst="wedgeRectCallout">
            <a:avLst>
              <a:gd name="adj1" fmla="val -190524"/>
              <a:gd name="adj2" fmla="val -803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定义区域数据文件</a:t>
            </a:r>
          </a:p>
        </p:txBody>
      </p:sp>
      <p:sp>
        <p:nvSpPr>
          <p:cNvPr id="12" name="矩形 11"/>
          <p:cNvSpPr/>
          <p:nvPr/>
        </p:nvSpPr>
        <p:spPr>
          <a:xfrm>
            <a:off x="7001302" y="2994331"/>
            <a:ext cx="4394578" cy="233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域类型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可以有如下几种取值：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hint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：若本地找不到相关解析，可查询根域名服务器；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：定义权威域名服务器；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slave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：定义辅助域名服务器；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forward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：定义转发域名服务器。</a:t>
            </a:r>
          </a:p>
        </p:txBody>
      </p:sp>
      <p:sp>
        <p:nvSpPr>
          <p:cNvPr id="6" name="右箭头 5"/>
          <p:cNvSpPr/>
          <p:nvPr/>
        </p:nvSpPr>
        <p:spPr>
          <a:xfrm>
            <a:off x="6100549" y="3368549"/>
            <a:ext cx="559558" cy="2115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86F853-A44A-BD54-DE23-F8B25AAB24AA}"/>
              </a:ext>
            </a:extLst>
          </p:cNvPr>
          <p:cNvSpPr/>
          <p:nvPr/>
        </p:nvSpPr>
        <p:spPr>
          <a:xfrm>
            <a:off x="513816" y="2217698"/>
            <a:ext cx="11068835" cy="880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区域配置文件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named.rfc1912.zones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en-US" altLang="zh-CN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服务域的相关信息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，该文件默认存在于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下，文件中的原始信息如下：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08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1" grpId="0" animBg="1"/>
      <p:bldP spid="12" grpId="0" build="p"/>
      <p:bldP spid="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0503" y="2220139"/>
            <a:ext cx="11000094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除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type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file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之外，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语句中常用的选项如表所示。</a:t>
            </a:r>
            <a:endParaRPr lang="zh-CN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647246"/>
              </p:ext>
            </p:extLst>
          </p:nvPr>
        </p:nvGraphicFramePr>
        <p:xfrm>
          <a:off x="1017832" y="2759646"/>
          <a:ext cx="10165436" cy="1948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1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450">
                <a:tc>
                  <a:txBody>
                    <a:bodyPr/>
                    <a:lstStyle/>
                    <a:p>
                      <a:pPr indent="26035" algn="ctr">
                        <a:spcAft>
                          <a:spcPts val="0"/>
                        </a:spcAft>
                      </a:pPr>
                      <a:r>
                        <a:rPr lang="zh-CN" sz="2300" kern="100">
                          <a:effectLst/>
                        </a:rPr>
                        <a:t>选项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/>
                </a:tc>
                <a:tc>
                  <a:txBody>
                    <a:bodyPr/>
                    <a:lstStyle/>
                    <a:p>
                      <a:pPr indent="270510" algn="ctr">
                        <a:spcAft>
                          <a:spcPts val="0"/>
                        </a:spcAft>
                      </a:pPr>
                      <a:r>
                        <a:rPr lang="zh-CN" sz="23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indent="269240"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7030A0"/>
                          </a:solidFill>
                          <a:effectLst/>
                        </a:rPr>
                        <a:t>allow-update</a:t>
                      </a:r>
                      <a:endParaRPr lang="zh-CN" sz="2000" b="1" kern="100" dirty="0">
                        <a:solidFill>
                          <a:srgbClr val="7030A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 anchor="ctr"/>
                </a:tc>
                <a:tc>
                  <a:txBody>
                    <a:bodyPr/>
                    <a:lstStyle/>
                    <a:p>
                      <a:pPr indent="2159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7030A0"/>
                          </a:solidFill>
                          <a:effectLst/>
                        </a:rPr>
                        <a:t>允许哪些主机动态更新域数据信息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indent="269240"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7030A0"/>
                          </a:solidFill>
                          <a:effectLst/>
                        </a:rPr>
                        <a:t>allow-</a:t>
                      </a:r>
                      <a:r>
                        <a:rPr lang="en-US" sz="2000" b="1" kern="100" dirty="0" err="1">
                          <a:solidFill>
                            <a:srgbClr val="7030A0"/>
                          </a:solidFill>
                          <a:effectLst/>
                        </a:rPr>
                        <a:t>trandfer</a:t>
                      </a:r>
                      <a:endParaRPr lang="zh-CN" sz="2000" b="1" kern="100" dirty="0">
                        <a:solidFill>
                          <a:srgbClr val="7030A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 anchor="ctr"/>
                </a:tc>
                <a:tc>
                  <a:txBody>
                    <a:bodyPr/>
                    <a:lstStyle/>
                    <a:p>
                      <a:pPr indent="2159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7030A0"/>
                          </a:solidFill>
                          <a:effectLst/>
                        </a:rPr>
                        <a:t>哪些从服务器可从主服务器下载数据文件</a:t>
                      </a:r>
                      <a:endParaRPr lang="zh-CN" sz="2000" kern="100" dirty="0">
                        <a:solidFill>
                          <a:srgbClr val="7030A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indent="26924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notify</a:t>
                      </a:r>
                      <a:endParaRPr lang="zh-CN" sz="2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 anchor="ctr"/>
                </a:tc>
                <a:tc>
                  <a:txBody>
                    <a:bodyPr/>
                    <a:lstStyle/>
                    <a:p>
                      <a:pPr indent="2159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当域数据资料更新后是否主动通知其它域名服务器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42">
                <a:tc>
                  <a:txBody>
                    <a:bodyPr/>
                    <a:lstStyle/>
                    <a:p>
                      <a:pPr indent="269240"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masters</a:t>
                      </a:r>
                      <a:endParaRPr lang="zh-CN" sz="2000" b="1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 anchor="ctr"/>
                </a:tc>
                <a:tc>
                  <a:txBody>
                    <a:bodyPr/>
                    <a:lstStyle/>
                    <a:p>
                      <a:pPr indent="2159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定义主域名服务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</a:rPr>
                        <a:t>IP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地址，仅当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type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取值为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effectLst/>
                        </a:rPr>
                        <a:t>slave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</a:rPr>
                        <a:t>时此选项生效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1876" marR="13187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7709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0503" y="2220139"/>
            <a:ext cx="11000094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解析方式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分为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正向解析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反向解析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管理员可在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/named.rfc1912.zones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文件中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zone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语句配置域名的解析方式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语句首行指定的域名符合格式“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逆向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.in-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addr.apra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，说明此语句定义的是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反向解析域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374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、区域配置文件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242BB8-613A-B38F-21E3-C50250E1426C}"/>
              </a:ext>
            </a:extLst>
          </p:cNvPr>
          <p:cNvSpPr/>
          <p:nvPr/>
        </p:nvSpPr>
        <p:spPr>
          <a:xfrm>
            <a:off x="600503" y="2220139"/>
            <a:ext cx="11000094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全球的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根域名服务器信息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保存在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named.ca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软件安装成功后，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/var/named/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目录下会自动生成该文件。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若定义了类型为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hint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的根域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，那么本地域名服务器查询不属于自己维护的域名时，可以根据根服务器进行迭代查询，获取正确的结果。</a:t>
            </a: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705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31761" y="2220139"/>
            <a:ext cx="11068835" cy="358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区域数据文件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区域配置信息的数据库文件</a:t>
            </a:r>
            <a:endParaRPr lang="en-US" altLang="zh-CN" sz="2400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用于存储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域的相关数据</a:t>
            </a:r>
            <a:endParaRPr lang="en-US" altLang="zh-CN" sz="2400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存储位置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由主配置文件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options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语句的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directory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选项指定</a:t>
            </a:r>
            <a:endParaRPr lang="en-US" altLang="zh-CN" sz="2400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默认存放在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/named/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一台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服务器中可以存放多个区域数据文件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同一个区域数据文件也可以存放在多台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服务器中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区域数据文件分为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正向解析数据文件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反向解析数据文件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、区域数据文件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52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31761" y="2220139"/>
            <a:ext cx="11068835" cy="46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（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）正向解析数据文件</a:t>
            </a:r>
            <a:endParaRPr lang="zh-CN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、区域数据文件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35069" y="2712434"/>
            <a:ext cx="747897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$TTL 1D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@	IN SOA	@ 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rname.invalid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. (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0	; serial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1D	; refresh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1H	; retry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1W	; expire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3H )	; minimum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NS	@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	127.0.0.1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20725">
              <a:lnSpc>
                <a:spcPct val="135000"/>
              </a:lnSpc>
            </a:pP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AAAA	::1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7983988" y="3068995"/>
            <a:ext cx="1419367" cy="21426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473645" y="3771854"/>
            <a:ext cx="1407723" cy="600501"/>
            <a:chOff x="6810233" y="4278572"/>
            <a:chExt cx="1407723" cy="600501"/>
          </a:xfrm>
        </p:grpSpPr>
        <p:sp>
          <p:nvSpPr>
            <p:cNvPr id="4" name="矩形 3"/>
            <p:cNvSpPr/>
            <p:nvPr/>
          </p:nvSpPr>
          <p:spPr>
            <a:xfrm>
              <a:off x="7399090" y="4278572"/>
              <a:ext cx="818866" cy="6005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注释</a:t>
              </a:r>
            </a:p>
          </p:txBody>
        </p:sp>
        <p:sp>
          <p:nvSpPr>
            <p:cNvPr id="6" name="左箭头 5"/>
            <p:cNvSpPr/>
            <p:nvPr/>
          </p:nvSpPr>
          <p:spPr>
            <a:xfrm>
              <a:off x="6810233" y="4450922"/>
              <a:ext cx="450376" cy="30025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4077097" y="3068995"/>
            <a:ext cx="2941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标注 10"/>
          <p:cNvSpPr/>
          <p:nvPr/>
        </p:nvSpPr>
        <p:spPr>
          <a:xfrm>
            <a:off x="5374128" y="2232160"/>
            <a:ext cx="1170075" cy="465776"/>
          </a:xfrm>
          <a:prstGeom prst="wedgeRectCallout">
            <a:avLst>
              <a:gd name="adj1" fmla="val -141570"/>
              <a:gd name="adj2" fmla="val 771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生命周期</a:t>
            </a:r>
          </a:p>
        </p:txBody>
      </p:sp>
      <p:sp>
        <p:nvSpPr>
          <p:cNvPr id="19" name="矩形 18"/>
          <p:cNvSpPr/>
          <p:nvPr/>
        </p:nvSpPr>
        <p:spPr>
          <a:xfrm>
            <a:off x="4887949" y="3068995"/>
            <a:ext cx="3043451" cy="200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标注 19"/>
          <p:cNvSpPr/>
          <p:nvPr/>
        </p:nvSpPr>
        <p:spPr>
          <a:xfrm>
            <a:off x="7112480" y="2283181"/>
            <a:ext cx="2067239" cy="518614"/>
          </a:xfrm>
          <a:prstGeom prst="wedgeRectCallout">
            <a:avLst>
              <a:gd name="adj1" fmla="val -42341"/>
              <a:gd name="adj2" fmla="val 101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SOA</a:t>
            </a:r>
            <a:r>
              <a:rPr lang="zh-CN" altLang="en-US" dirty="0"/>
              <a:t>记录（</a:t>
            </a:r>
            <a:r>
              <a:rPr lang="en-US" altLang="zh-CN" dirty="0"/>
              <a:t>P187</a:t>
            </a:r>
            <a:r>
              <a:rPr lang="zh-CN" altLang="en-US" dirty="0"/>
              <a:t>）</a:t>
            </a:r>
          </a:p>
        </p:txBody>
      </p:sp>
      <p:sp>
        <p:nvSpPr>
          <p:cNvPr id="21" name="矩形标注 20"/>
          <p:cNvSpPr/>
          <p:nvPr/>
        </p:nvSpPr>
        <p:spPr>
          <a:xfrm>
            <a:off x="3210324" y="5363570"/>
            <a:ext cx="1395997" cy="1023582"/>
          </a:xfrm>
          <a:prstGeom prst="wedgeRectCallout">
            <a:avLst>
              <a:gd name="adj1" fmla="val 91596"/>
              <a:gd name="adj2" fmla="val -26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NS</a:t>
            </a:r>
            <a:r>
              <a:rPr lang="zh-CN" altLang="en-US" dirty="0"/>
              <a:t>记录</a:t>
            </a:r>
            <a:endParaRPr lang="en-US" altLang="zh-CN" dirty="0"/>
          </a:p>
          <a:p>
            <a:pPr algn="ctr"/>
            <a:r>
              <a:rPr lang="en-US" altLang="zh-CN" dirty="0"/>
              <a:t>A</a:t>
            </a:r>
            <a:r>
              <a:rPr lang="zh-CN" altLang="en-US" dirty="0"/>
              <a:t>记录</a:t>
            </a:r>
            <a:endParaRPr lang="en-US" altLang="zh-CN" dirty="0"/>
          </a:p>
          <a:p>
            <a:pPr algn="ctr"/>
            <a:r>
              <a:rPr lang="en-US" altLang="zh-CN" dirty="0"/>
              <a:t>AAAA</a:t>
            </a:r>
            <a:r>
              <a:rPr lang="zh-CN" altLang="en-US" dirty="0"/>
              <a:t>记录</a:t>
            </a:r>
          </a:p>
        </p:txBody>
      </p:sp>
      <p:sp>
        <p:nvSpPr>
          <p:cNvPr id="8" name="矩形 7"/>
          <p:cNvSpPr/>
          <p:nvPr/>
        </p:nvSpPr>
        <p:spPr>
          <a:xfrm>
            <a:off x="531761" y="2674422"/>
            <a:ext cx="2811940" cy="337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区域配置文件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named.rfc1912.zones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中指定区域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localhost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的正向解析数据文件为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named.localhost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，使用“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cat 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named.localhost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”命令打印文件中的内容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433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  <p:bldP spid="3" grpId="0" animBg="1"/>
      <p:bldP spid="11" grpId="0" animBg="1"/>
      <p:bldP spid="19" grpId="0" animBg="1"/>
      <p:bldP spid="20" grpId="0" animBg="1"/>
      <p:bldP spid="21" grpId="0" animBg="1"/>
      <p:bldP spid="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31761" y="2220139"/>
            <a:ext cx="11068835" cy="46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3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（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）反向解析数据文件</a:t>
            </a:r>
            <a:endParaRPr lang="zh-CN" altLang="zh-CN" sz="20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14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、区域数据文件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7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5.3.3BIND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配置文件详解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35069" y="2712434"/>
            <a:ext cx="7478973" cy="3714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$TTL 1D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@	IN SOA	@ rname.invalid. (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0	; serial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1D	; refresh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1H	; retry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1W	; expire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3H )	; minimum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NS	@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	127.0.0.1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AAAA	::1</a:t>
            </a:r>
          </a:p>
          <a:p>
            <a:pPr defTabSz="720725">
              <a:lnSpc>
                <a:spcPct val="135000"/>
              </a:lnSpc>
            </a:pPr>
            <a:r>
              <a:rPr lang="pt-BR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PTR	localhost.</a:t>
            </a:r>
          </a:p>
        </p:txBody>
      </p:sp>
      <p:sp>
        <p:nvSpPr>
          <p:cNvPr id="3" name="椭圆 2"/>
          <p:cNvSpPr/>
          <p:nvPr/>
        </p:nvSpPr>
        <p:spPr>
          <a:xfrm>
            <a:off x="7983988" y="3068995"/>
            <a:ext cx="1419367" cy="21426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473645" y="3771854"/>
            <a:ext cx="1407723" cy="600501"/>
            <a:chOff x="6810233" y="4278572"/>
            <a:chExt cx="1407723" cy="600501"/>
          </a:xfrm>
        </p:grpSpPr>
        <p:sp>
          <p:nvSpPr>
            <p:cNvPr id="4" name="矩形 3"/>
            <p:cNvSpPr/>
            <p:nvPr/>
          </p:nvSpPr>
          <p:spPr>
            <a:xfrm>
              <a:off x="7399090" y="4278572"/>
              <a:ext cx="818866" cy="6005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注释</a:t>
              </a:r>
            </a:p>
          </p:txBody>
        </p:sp>
        <p:sp>
          <p:nvSpPr>
            <p:cNvPr id="6" name="左箭头 5"/>
            <p:cNvSpPr/>
            <p:nvPr/>
          </p:nvSpPr>
          <p:spPr>
            <a:xfrm>
              <a:off x="6810233" y="4450922"/>
              <a:ext cx="450376" cy="30025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4077097" y="3068995"/>
            <a:ext cx="2941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标注 10"/>
          <p:cNvSpPr/>
          <p:nvPr/>
        </p:nvSpPr>
        <p:spPr>
          <a:xfrm>
            <a:off x="5374128" y="2232160"/>
            <a:ext cx="1170075" cy="465776"/>
          </a:xfrm>
          <a:prstGeom prst="wedgeRectCallout">
            <a:avLst>
              <a:gd name="adj1" fmla="val -141570"/>
              <a:gd name="adj2" fmla="val 771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生命周期</a:t>
            </a:r>
          </a:p>
        </p:txBody>
      </p:sp>
      <p:sp>
        <p:nvSpPr>
          <p:cNvPr id="19" name="矩形 18"/>
          <p:cNvSpPr/>
          <p:nvPr/>
        </p:nvSpPr>
        <p:spPr>
          <a:xfrm>
            <a:off x="4887949" y="3068995"/>
            <a:ext cx="3043451" cy="200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标注 20"/>
          <p:cNvSpPr/>
          <p:nvPr/>
        </p:nvSpPr>
        <p:spPr>
          <a:xfrm>
            <a:off x="3210324" y="5363570"/>
            <a:ext cx="1395997" cy="1023582"/>
          </a:xfrm>
          <a:prstGeom prst="wedgeRectCallout">
            <a:avLst>
              <a:gd name="adj1" fmla="val 91596"/>
              <a:gd name="adj2" fmla="val -26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NS</a:t>
            </a:r>
            <a:r>
              <a:rPr lang="zh-CN" altLang="en-US" dirty="0"/>
              <a:t>记录</a:t>
            </a:r>
            <a:endParaRPr lang="en-US" altLang="zh-CN" dirty="0"/>
          </a:p>
          <a:p>
            <a:pPr algn="ctr"/>
            <a:r>
              <a:rPr lang="en-US" altLang="zh-CN" dirty="0"/>
              <a:t>A</a:t>
            </a:r>
            <a:r>
              <a:rPr lang="zh-CN" altLang="en-US" dirty="0"/>
              <a:t>记录</a:t>
            </a:r>
            <a:endParaRPr lang="en-US" altLang="zh-CN" dirty="0"/>
          </a:p>
          <a:p>
            <a:pPr algn="ctr"/>
            <a:r>
              <a:rPr lang="en-US" altLang="zh-CN" dirty="0"/>
              <a:t>AAAA</a:t>
            </a:r>
            <a:r>
              <a:rPr lang="zh-CN" altLang="en-US" dirty="0"/>
              <a:t>记录</a:t>
            </a:r>
          </a:p>
        </p:txBody>
      </p:sp>
      <p:sp>
        <p:nvSpPr>
          <p:cNvPr id="8" name="矩形 7"/>
          <p:cNvSpPr/>
          <p:nvPr/>
        </p:nvSpPr>
        <p:spPr>
          <a:xfrm>
            <a:off x="531761" y="2674422"/>
            <a:ext cx="28119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区域配置文件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named.rfc1912.zones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中指定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127.0.0.1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的反向解析数据文件为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named.loopback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，使用“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cat 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named.loopback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命令打印文件中的内容：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8352430" y="5704764"/>
            <a:ext cx="1121215" cy="385978"/>
          </a:xfrm>
          <a:prstGeom prst="wedgeRectCallout">
            <a:avLst>
              <a:gd name="adj1" fmla="val -162032"/>
              <a:gd name="adj2" fmla="val 660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PTR</a:t>
            </a:r>
            <a:r>
              <a:rPr lang="zh-CN" altLang="en-US" dirty="0"/>
              <a:t>记录</a:t>
            </a:r>
          </a:p>
        </p:txBody>
      </p:sp>
      <p:sp>
        <p:nvSpPr>
          <p:cNvPr id="12" name="矩形标注 19">
            <a:extLst>
              <a:ext uri="{FF2B5EF4-FFF2-40B4-BE49-F238E27FC236}">
                <a16:creationId xmlns:a16="http://schemas.microsoft.com/office/drawing/2014/main" id="{1AFA04F3-B28C-5F3B-A9D4-70A339882A82}"/>
              </a:ext>
            </a:extLst>
          </p:cNvPr>
          <p:cNvSpPr/>
          <p:nvPr/>
        </p:nvSpPr>
        <p:spPr>
          <a:xfrm>
            <a:off x="7112480" y="2283181"/>
            <a:ext cx="2067239" cy="518614"/>
          </a:xfrm>
          <a:prstGeom prst="wedgeRectCallout">
            <a:avLst>
              <a:gd name="adj1" fmla="val -42341"/>
              <a:gd name="adj2" fmla="val 101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SOA</a:t>
            </a:r>
            <a:r>
              <a:rPr lang="zh-CN" altLang="en-US" dirty="0"/>
              <a:t>记录（</a:t>
            </a:r>
            <a:r>
              <a:rPr lang="en-US" altLang="zh-CN" dirty="0"/>
              <a:t>P187</a:t>
            </a:r>
            <a:r>
              <a:rPr lang="zh-CN" altLang="en-US" dirty="0"/>
              <a:t>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48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  <p:bldP spid="3" grpId="0" animBg="1"/>
      <p:bldP spid="11" grpId="0" animBg="1"/>
      <p:bldP spid="19" grpId="0" animBg="1"/>
      <p:bldP spid="21" grpId="0" animBg="1"/>
      <p:bldP spid="8" grpId="0"/>
      <p:bldP spid="1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29888" y="2516041"/>
            <a:ext cx="7529765" cy="253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为了保障网络中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服务的可靠性，搭建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服务时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至少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要搭建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两台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服务器，其中一台作为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负责域名数据存储、域名解析等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工作，另外一台作为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服务器，该服务器可从主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服务器中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复制数据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，并在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主服务器故障时实现域名解析等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工作。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0" y="1474551"/>
            <a:ext cx="3488028" cy="461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4858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1595" y="1155928"/>
            <a:ext cx="10969002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假设现已向全球统一管理域名的机构申请并注册了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域名“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itcast.com”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，网络地址为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192.168.255.0/16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主、从服务器的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地址与域名如表所示。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45655"/>
              </p:ext>
            </p:extLst>
          </p:nvPr>
        </p:nvGraphicFramePr>
        <p:xfrm>
          <a:off x="984944" y="2218161"/>
          <a:ext cx="10398783" cy="15192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2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743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kern="100" dirty="0">
                          <a:effectLst/>
                        </a:rPr>
                        <a:t>IP</a:t>
                      </a:r>
                      <a:r>
                        <a:rPr lang="zh-CN" sz="2100" kern="100" dirty="0">
                          <a:effectLst/>
                        </a:rPr>
                        <a:t>地址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域名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功能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32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2100" kern="100" dirty="0">
                          <a:effectLst/>
                        </a:rPr>
                        <a:t>192.168.255.254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100" kern="100" dirty="0">
                          <a:effectLst/>
                        </a:rPr>
                        <a:t>dns.</a:t>
                      </a:r>
                      <a:r>
                        <a:rPr lang="en-US" sz="2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itcast.com</a:t>
                      </a:r>
                      <a:endParaRPr lang="zh-CN" altLang="en-US" sz="21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3938" marR="13393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solidFill>
                            <a:srgbClr val="FF0000"/>
                          </a:solidFill>
                          <a:effectLst/>
                        </a:rPr>
                        <a:t>主</a:t>
                      </a:r>
                      <a:r>
                        <a:rPr lang="zh-CN" sz="2100" kern="100" dirty="0">
                          <a:effectLst/>
                        </a:rPr>
                        <a:t>域名服务器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6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192.168.255.253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100" kern="100" dirty="0">
                          <a:effectLst/>
                        </a:rPr>
                        <a:t>dnsc.itcast.com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solidFill>
                            <a:srgbClr val="7030A0"/>
                          </a:solidFill>
                          <a:effectLst/>
                        </a:rPr>
                        <a:t>从</a:t>
                      </a:r>
                      <a:r>
                        <a:rPr lang="zh-CN" sz="2100" kern="100" dirty="0">
                          <a:effectLst/>
                        </a:rPr>
                        <a:t>域名服务器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63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192.168.255.254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100" u="none" strike="noStrike" kern="100" dirty="0">
                          <a:effectLst/>
                          <a:hlinkClick r:id="rId3"/>
                        </a:rPr>
                        <a:t>www.itcast.com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solidFill>
                            <a:srgbClr val="00B0F0"/>
                          </a:solidFill>
                          <a:effectLst/>
                        </a:rPr>
                        <a:t>文件</a:t>
                      </a:r>
                      <a:r>
                        <a:rPr lang="zh-CN" sz="2100" kern="100" dirty="0">
                          <a:effectLst/>
                        </a:rPr>
                        <a:t>传输服务器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938" marR="13393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31595" y="3823101"/>
            <a:ext cx="1096900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配置服务器以及配置过程中使用的软件包如下：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：提供主程序；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bind-libs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：提供库文件；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utils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：提供常用命令工具包；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：更换服务器根路径到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63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、配置主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DNS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服务器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EA6B6E4-1114-DA83-E3C6-05B793C4F689}"/>
              </a:ext>
            </a:extLst>
          </p:cNvPr>
          <p:cNvSpPr/>
          <p:nvPr/>
        </p:nvSpPr>
        <p:spPr>
          <a:xfrm>
            <a:off x="600503" y="2220139"/>
            <a:ext cx="11000094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服务器时需要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修改</a:t>
            </a: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区域配置文件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区域数据文件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下面分别对这些配置文件的修改方法进行讲解。</a:t>
            </a: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755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10123" y="5045807"/>
            <a:ext cx="10969002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rgbClr val="00B050"/>
                  </a:solidFill>
                </a:rPr>
                <a:t>1-(1)</a:t>
              </a:r>
              <a:r>
                <a:rPr lang="zh-CN" altLang="en-US" sz="3200" b="1" dirty="0">
                  <a:solidFill>
                    <a:srgbClr val="00B050"/>
                  </a:solidFill>
                </a:rPr>
                <a:t>修改主配置文件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矩形 10"/>
          <p:cNvSpPr/>
          <p:nvPr/>
        </p:nvSpPr>
        <p:spPr>
          <a:xfrm>
            <a:off x="600502" y="4343215"/>
            <a:ext cx="10969002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116D37-9396-D995-25C8-D95CD9D66568}"/>
              </a:ext>
            </a:extLst>
          </p:cNvPr>
          <p:cNvSpPr/>
          <p:nvPr/>
        </p:nvSpPr>
        <p:spPr>
          <a:xfrm>
            <a:off x="600503" y="2220139"/>
            <a:ext cx="11000094" cy="452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bind-chroot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软件包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更换服务器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根路径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先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复制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主配置文件到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/var/named/chroot/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路径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下：</a:t>
            </a: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# cp /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/var/named/chroot/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endParaRPr lang="en-US" altLang="zh-CN" sz="2400" b="1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之后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vi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命令打开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，对其进行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修改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，具体如下：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①设置监听对象</a:t>
            </a: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listen - on port 53 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{ any;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	//named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监听所有主机的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listen - on - v6 port 53 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{ any;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	//named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监听所有主机的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104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10123" y="5045807"/>
            <a:ext cx="10969002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rgbClr val="00B050"/>
                  </a:solidFill>
                </a:rPr>
                <a:t>1-(1)</a:t>
              </a:r>
              <a:r>
                <a:rPr lang="zh-CN" altLang="en-US" sz="3200" b="1" dirty="0">
                  <a:solidFill>
                    <a:srgbClr val="00B050"/>
                  </a:solidFill>
                </a:rPr>
                <a:t>修改主配置文件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27116D37-9396-D995-25C8-D95CD9D66568}"/>
              </a:ext>
            </a:extLst>
          </p:cNvPr>
          <p:cNvSpPr/>
          <p:nvPr/>
        </p:nvSpPr>
        <p:spPr>
          <a:xfrm>
            <a:off x="600503" y="2220139"/>
            <a:ext cx="11000094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bind-chroot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软件包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更换服务器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根路径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之后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vi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命令打开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，对其进行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修改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，具体如下：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②设置客户端查询范围</a:t>
            </a: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allow-query     { 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any;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}; 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客户端查询范围，可设置为网段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③引用区域配置文件</a:t>
            </a: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include "/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/named.rfc1912.zones";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引入区域配置信息文件</a:t>
            </a:r>
          </a:p>
          <a:p>
            <a:pPr marL="1257300" lvl="2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906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0652" y="2669818"/>
            <a:ext cx="10969002" cy="3917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"itcast.com" IN {			//</a:t>
            </a:r>
            <a:r>
              <a:rPr lang="zh-CN" altLang="en-US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正向区域解析文件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type master;    			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服务器类型为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，即主服务器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 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file "</a:t>
            </a:r>
            <a:r>
              <a:rPr lang="en-US" altLang="zh-CN" b="1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itcast.com.zone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   	          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文件名为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itcast.com.zone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                     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allow-transfer { 192.168.255.253; };//</a:t>
            </a: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en-US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服务器地址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"255.168.192.in-addr.apra" IN {	//</a:t>
            </a:r>
            <a:r>
              <a:rPr lang="zh-CN" altLang="en-US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反向区域解析文件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en-US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        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type master;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        file "</a:t>
            </a:r>
            <a:r>
              <a:rPr lang="en-US" altLang="zh-CN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255.168.192.zone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          allow-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tranfer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{ 192.168.255.253; };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rgbClr val="FFC000"/>
                  </a:solidFill>
                </a:rPr>
                <a:t>1-(2)</a:t>
              </a:r>
              <a:r>
                <a:rPr lang="zh-CN" altLang="en-US" sz="3200" b="1" dirty="0">
                  <a:solidFill>
                    <a:srgbClr val="FFC000"/>
                  </a:solidFill>
                </a:rPr>
                <a:t>编辑区域配置文件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/>
          <p:cNvSpPr/>
          <p:nvPr/>
        </p:nvSpPr>
        <p:spPr>
          <a:xfrm>
            <a:off x="431804" y="2221127"/>
            <a:ext cx="11286698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Vi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打开区域配置文件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/named.rfc1912.zones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，在其中添加如下内容：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31860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rgbClr val="FFFF00"/>
                  </a:solidFill>
                </a:rPr>
                <a:t>1-(3)</a:t>
              </a:r>
              <a:r>
                <a:rPr lang="zh-CN" altLang="en-US" sz="3200" b="1" dirty="0">
                  <a:solidFill>
                    <a:srgbClr val="FFFF00"/>
                  </a:solidFill>
                </a:rPr>
                <a:t>编辑区域数据文件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/>
          <p:cNvSpPr/>
          <p:nvPr/>
        </p:nvSpPr>
        <p:spPr>
          <a:xfrm>
            <a:off x="431804" y="2221127"/>
            <a:ext cx="3498751" cy="415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保存区域配置文件，在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/named/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路径下分别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正向解析数据文件</a:t>
            </a:r>
            <a:r>
              <a:rPr lang="en-US" altLang="zh-CN" sz="2400" b="1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itcast.com.zone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反向解析数据文件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255.168.192.zone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，并依次打开，在其中添加区域配置信息。</a:t>
            </a:r>
          </a:p>
        </p:txBody>
      </p:sp>
      <p:sp>
        <p:nvSpPr>
          <p:cNvPr id="11" name="矩形 10"/>
          <p:cNvSpPr/>
          <p:nvPr/>
        </p:nvSpPr>
        <p:spPr>
          <a:xfrm>
            <a:off x="3753132" y="2754364"/>
            <a:ext cx="784746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$TTL 1D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@	IN SOA	dns.itcast.com admin.itcast.com. (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1.0	; </a:t>
            </a:r>
            <a:r>
              <a:rPr lang="zh-CN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版本号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1D	; </a:t>
            </a:r>
            <a:r>
              <a:rPr lang="zh-CN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更新时间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1H	; </a:t>
            </a:r>
            <a:r>
              <a:rPr lang="zh-CN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重试时间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1W	; </a:t>
            </a:r>
            <a:r>
              <a:rPr lang="zh-CN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超时时间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2H   ; </a:t>
            </a:r>
            <a:r>
              <a:rPr lang="zh-CN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否定回答缓存时间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)	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IN	NS	dns1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IN	NS 	</a:t>
            </a:r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dnsc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IN	MX	5	mail	;</a:t>
            </a:r>
            <a:r>
              <a:rPr lang="zh-CN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邮件服务器名称</a:t>
            </a:r>
          </a:p>
          <a:p>
            <a:pPr indent="457200" defTabSz="720725"/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IN	A	192.168.0.254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dnsc</a:t>
            </a:r>
            <a:r>
              <a:rPr lang="en-US" altLang="zh-CN" sz="160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IN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A	192.168.0.253	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www		IN	A	192.168.0.254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		IN	CNAME	www</a:t>
            </a:r>
            <a:endParaRPr lang="zh-CN" altLang="zh-CN" sz="16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53131" y="2201873"/>
            <a:ext cx="6105244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①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正向解析数据文件 </a:t>
            </a:r>
            <a:r>
              <a:rPr lang="en-US" altLang="zh-CN" sz="2400" b="1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itcast.com.zone</a:t>
            </a:r>
            <a:endParaRPr lang="en-US" altLang="zh-CN" sz="24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94053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rgbClr val="FFFF00"/>
                  </a:solidFill>
                </a:rPr>
                <a:t>1-(3)</a:t>
              </a:r>
              <a:r>
                <a:rPr lang="zh-CN" altLang="en-US" sz="3200" b="1" dirty="0">
                  <a:solidFill>
                    <a:srgbClr val="FFFF00"/>
                  </a:solidFill>
                </a:rPr>
                <a:t>编辑区域数据文件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11" name="矩形 10"/>
          <p:cNvSpPr/>
          <p:nvPr/>
        </p:nvSpPr>
        <p:spPr>
          <a:xfrm>
            <a:off x="3753132" y="2754364"/>
            <a:ext cx="784746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$TTL 1D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@	IN SOA	dns.itcast.com admin.itcast.com. (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1.0	; </a:t>
            </a:r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版本号</a:t>
            </a:r>
          </a:p>
          <a:p>
            <a:pPr indent="457200" defTabSz="720725"/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1D	; </a:t>
            </a:r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更新时间</a:t>
            </a:r>
          </a:p>
          <a:p>
            <a:pPr indent="457200" defTabSz="720725"/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1H	; </a:t>
            </a:r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重试时间</a:t>
            </a:r>
          </a:p>
          <a:p>
            <a:pPr indent="457200" defTabSz="720725"/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1W	; </a:t>
            </a:r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超时时间</a:t>
            </a:r>
          </a:p>
          <a:p>
            <a:pPr indent="457200" defTabSz="720725"/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</a:t>
            </a:r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2H   ; </a:t>
            </a:r>
            <a:r>
              <a:rPr lang="zh-CN" altLang="en-US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否定回答缓存时间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)	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IN	NS	dns.itcast.com.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IN	NS 	dnsc.itcast.com.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254		IN	PTR	dns.itcast.com.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253		IN	PTR	dnsc.itcast.com.	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254		IN	PTR	www.itcast.com.</a:t>
            </a:r>
          </a:p>
          <a:p>
            <a:pPr indent="457200" defTabSz="720725"/>
            <a:r>
              <a:rPr lang="en-US" altLang="zh-CN" sz="16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254		IN	PTR	ftp.itcast.com.</a:t>
            </a:r>
          </a:p>
        </p:txBody>
      </p:sp>
      <p:sp>
        <p:nvSpPr>
          <p:cNvPr id="4" name="矩形 3"/>
          <p:cNvSpPr/>
          <p:nvPr/>
        </p:nvSpPr>
        <p:spPr>
          <a:xfrm>
            <a:off x="3753131" y="2201873"/>
            <a:ext cx="5948081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反向解析数据文 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255.168.192.zone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ED874F-E8A0-1F2D-B0D9-9C3C49D98790}"/>
              </a:ext>
            </a:extLst>
          </p:cNvPr>
          <p:cNvSpPr/>
          <p:nvPr/>
        </p:nvSpPr>
        <p:spPr>
          <a:xfrm>
            <a:off x="431804" y="2221127"/>
            <a:ext cx="3498751" cy="415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保存区域配置文件，在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/named/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路径下分别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正向解析数据文件</a:t>
            </a:r>
            <a:r>
              <a:rPr lang="en-US" altLang="zh-CN" sz="2400" b="1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itcast.com.zone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反向解析数据文件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255.168.192.zone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，并依次打开，在其中添加区域配置信息。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81582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1595" y="2245457"/>
            <a:ext cx="10969002" cy="253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到此，主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服务器配置完毕，管理员可通过如下命令启动主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服务器中的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服务：</a:t>
            </a:r>
          </a:p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start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named.service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以上命令中的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服务即由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提供的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服务。若配置正确，使用以上命令后，终端不打印任何信息，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服务正常启动；否则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服务启动失败。</a:t>
            </a: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、配置主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DNS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服务器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74799157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、配置主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DNS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服务器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76CF31D3-B22D-F32D-32E1-45C441BF84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285"/>
          <a:stretch/>
        </p:blipFill>
        <p:spPr>
          <a:xfrm>
            <a:off x="801263" y="3327243"/>
            <a:ext cx="10589474" cy="265178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01E266D-F810-AE73-50B3-D4A2D12AF70C}"/>
              </a:ext>
            </a:extLst>
          </p:cNvPr>
          <p:cNvSpPr/>
          <p:nvPr/>
        </p:nvSpPr>
        <p:spPr>
          <a:xfrm>
            <a:off x="631595" y="2245457"/>
            <a:ext cx="10969002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查看服务状态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#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start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named.service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097382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1595" y="2245457"/>
            <a:ext cx="3976124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目录下复制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named.conf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文件到虚拟文件目录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/var/named/chroot/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之后对从服务器主机中的区域配置文件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/named.rfc1912.zones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进行修改，在其中添加右侧内容：</a:t>
            </a: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、配置从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DNS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服务器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3" name="矩形 2"/>
          <p:cNvSpPr/>
          <p:nvPr/>
        </p:nvSpPr>
        <p:spPr>
          <a:xfrm>
            <a:off x="4135272" y="2247520"/>
            <a:ext cx="7465324" cy="4205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"itcast.com" IN {		//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正向区域解析文件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    type slave;    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//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服务器类型为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slave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，即从服务器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 file "/slaves/</a:t>
            </a:r>
            <a:r>
              <a:rPr lang="en-US" altLang="zh-CN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itcast.com.zone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";   	//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文件存储路径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allow-transfer { none; };			</a:t>
            </a:r>
            <a:endParaRPr lang="zh-CN" altLang="zh-CN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 </a:t>
            </a:r>
            <a:endParaRPr lang="zh-CN" altLang="zh-CN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zone "255.168.192.in-addr.apra" IN {//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反向区域解析文件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type slave;</a:t>
            </a:r>
            <a:endParaRPr lang="zh-CN" altLang="zh-CN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file "slaves/255.168.192.zone";</a:t>
            </a:r>
            <a:endParaRPr lang="zh-CN" altLang="zh-CN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masters { 192.168.255.254; };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//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指定主服务器的</a:t>
            </a: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  allow-transfer { none; };	</a:t>
            </a:r>
            <a:endParaRPr lang="zh-CN" altLang="zh-CN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};</a:t>
            </a:r>
            <a:endParaRPr lang="zh-CN" altLang="zh-CN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980482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1595" y="2245457"/>
            <a:ext cx="10969001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在配置反向区域数据时，可以通过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masters</a:t>
            </a:r>
            <a:r>
              <a:rPr lang="zh-CN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选项指定主服务器的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，此处可设置多个主服务器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，但每个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需用“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”分开。为保障服务器安全，</a:t>
            </a:r>
            <a:r>
              <a:rPr lang="zh-CN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allow-transfer</a:t>
            </a:r>
            <a:r>
              <a:rPr lang="zh-CN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选项值设置为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none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，不允许其它主机查看当前主机。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到此，从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服务器配置完毕。同样</a:t>
            </a:r>
            <a:r>
              <a:rPr lang="zh-CN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使用“</a:t>
            </a:r>
            <a:r>
              <a:rPr lang="en-US" altLang="zh-CN" sz="2400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 start </a:t>
            </a:r>
            <a:r>
              <a:rPr lang="en-US" altLang="zh-CN" sz="2400" dirty="0" err="1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named.service</a:t>
            </a:r>
            <a:r>
              <a:rPr lang="zh-CN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”命令启动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服务器应能复制主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服务器的内容，但此操作可能并不会立刻执行，管理员可使用如下命令分别对主、从服务器进行同步。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rndc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reload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、配置从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DNS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服务器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20240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15"/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8" name="Text Box 44"/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、配置从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DNS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服务器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E3DE6FE-EAC1-152B-6390-78A35E65E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268" y="2266690"/>
            <a:ext cx="9017463" cy="40896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818750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24220F-13F3-A9DC-CBD5-87137BA58A9E}"/>
              </a:ext>
            </a:extLst>
          </p:cNvPr>
          <p:cNvSpPr/>
          <p:nvPr/>
        </p:nvSpPr>
        <p:spPr>
          <a:xfrm>
            <a:off x="617948" y="1282940"/>
            <a:ext cx="11068835" cy="5450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部署主从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步骤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准备两台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Centos 7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，一台作为主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服务器，一台作为从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-BIND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软件包（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bind-chroot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将两台服务器配置为静态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地址，注意在同一网段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配置主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主配置文件、区域配置文件、区域数据文件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启动主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服务，查看服务状态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主配置文件、区域配置文件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启动从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服务，查看服务状态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对主从服务器进行同步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879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1414550" y="2436366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23" name="Picture 5" descr="C:\Users\user\Desktop\沟通-0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225" y="3301256"/>
            <a:ext cx="1639966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矩形 21"/>
          <p:cNvSpPr>
            <a:spLocks noChangeArrowheads="1"/>
          </p:cNvSpPr>
          <p:nvPr/>
        </p:nvSpPr>
        <p:spPr bwMode="auto">
          <a:xfrm>
            <a:off x="3315838" y="2436366"/>
            <a:ext cx="1888803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203257" y="2436366"/>
            <a:ext cx="1892565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8"/>
          <p:cNvSpPr>
            <a:spLocks noChangeArrowheads="1"/>
          </p:cNvSpPr>
          <p:nvPr/>
        </p:nvSpPr>
        <p:spPr bwMode="auto">
          <a:xfrm>
            <a:off x="3264160" y="2562165"/>
            <a:ext cx="188084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sp>
        <p:nvSpPr>
          <p:cNvPr id="27" name="矩形 29"/>
          <p:cNvSpPr>
            <a:spLocks noChangeArrowheads="1"/>
          </p:cNvSpPr>
          <p:nvPr/>
        </p:nvSpPr>
        <p:spPr bwMode="auto">
          <a:xfrm>
            <a:off x="5243922" y="2603701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28" name="直接连接符 7167"/>
          <p:cNvCxnSpPr>
            <a:cxnSpLocks noChangeShapeType="1"/>
          </p:cNvCxnSpPr>
          <p:nvPr/>
        </p:nvCxnSpPr>
        <p:spPr bwMode="auto">
          <a:xfrm>
            <a:off x="1390445" y="2355670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7172"/>
          <p:cNvCxnSpPr>
            <a:cxnSpLocks noChangeShapeType="1"/>
          </p:cNvCxnSpPr>
          <p:nvPr/>
        </p:nvCxnSpPr>
        <p:spPr bwMode="auto">
          <a:xfrm>
            <a:off x="1390445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50"/>
          <p:cNvCxnSpPr>
            <a:cxnSpLocks noChangeShapeType="1"/>
          </p:cNvCxnSpPr>
          <p:nvPr/>
        </p:nvCxnSpPr>
        <p:spPr bwMode="auto">
          <a:xfrm>
            <a:off x="3280914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连接符 51"/>
          <p:cNvCxnSpPr>
            <a:cxnSpLocks noChangeShapeType="1"/>
          </p:cNvCxnSpPr>
          <p:nvPr/>
        </p:nvCxnSpPr>
        <p:spPr bwMode="auto">
          <a:xfrm>
            <a:off x="5161758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52"/>
          <p:cNvCxnSpPr>
            <a:cxnSpLocks noChangeShapeType="1"/>
          </p:cNvCxnSpPr>
          <p:nvPr/>
        </p:nvCxnSpPr>
        <p:spPr bwMode="auto">
          <a:xfrm flipH="1">
            <a:off x="7108427" y="1976682"/>
            <a:ext cx="1" cy="42744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7177"/>
          <p:cNvSpPr txBox="1">
            <a:spLocks noChangeArrowheads="1"/>
          </p:cNvSpPr>
          <p:nvPr/>
        </p:nvSpPr>
        <p:spPr bwMode="auto">
          <a:xfrm>
            <a:off x="1390445" y="1716288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4" name="TextBox 7177"/>
          <p:cNvSpPr txBox="1">
            <a:spLocks noChangeArrowheads="1"/>
          </p:cNvSpPr>
          <p:nvPr/>
        </p:nvSpPr>
        <p:spPr bwMode="auto">
          <a:xfrm>
            <a:off x="3293099" y="1716289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5" name="TextBox 7177"/>
          <p:cNvSpPr txBox="1">
            <a:spLocks noChangeArrowheads="1"/>
          </p:cNvSpPr>
          <p:nvPr/>
        </p:nvSpPr>
        <p:spPr bwMode="auto">
          <a:xfrm>
            <a:off x="5111398" y="1716288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1414550" y="2345682"/>
            <a:ext cx="18663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endParaRPr lang="en-US" altLang="zh-CN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基础</a:t>
            </a: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3280914" y="2355670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5141809" y="2355670"/>
            <a:ext cx="1954013" cy="695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9" name="Picture 4" descr="C:\Users\user\Desktop\45455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533" y="3301257"/>
            <a:ext cx="1640889" cy="10925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C:\Users\user\Desktop\xpic708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55190" y="3301256"/>
            <a:ext cx="1639965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7108347" y="2423840"/>
            <a:ext cx="1842723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7130" y="3254358"/>
            <a:ext cx="1675422" cy="113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7142294" y="1677363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矩形 28"/>
          <p:cNvSpPr>
            <a:spLocks noChangeArrowheads="1"/>
          </p:cNvSpPr>
          <p:nvPr/>
        </p:nvSpPr>
        <p:spPr bwMode="auto">
          <a:xfrm>
            <a:off x="7082462" y="2562165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电子邮件服务</a:t>
            </a: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7124591" y="2354478"/>
            <a:ext cx="1812284" cy="1192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矩形 22"/>
          <p:cNvSpPr>
            <a:spLocks noChangeArrowheads="1"/>
          </p:cNvSpPr>
          <p:nvPr/>
        </p:nvSpPr>
        <p:spPr bwMode="auto">
          <a:xfrm>
            <a:off x="8957227" y="2419208"/>
            <a:ext cx="1632802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7" name="矩形 29"/>
          <p:cNvSpPr>
            <a:spLocks noChangeArrowheads="1"/>
          </p:cNvSpPr>
          <p:nvPr/>
        </p:nvSpPr>
        <p:spPr bwMode="auto">
          <a:xfrm>
            <a:off x="8936876" y="2562165"/>
            <a:ext cx="1653154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48" name="直接连接符 51"/>
          <p:cNvCxnSpPr>
            <a:cxnSpLocks noChangeShapeType="1"/>
          </p:cNvCxnSpPr>
          <p:nvPr/>
        </p:nvCxnSpPr>
        <p:spPr bwMode="auto">
          <a:xfrm>
            <a:off x="8915727" y="2018163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7177"/>
          <p:cNvSpPr txBox="1">
            <a:spLocks noChangeArrowheads="1"/>
          </p:cNvSpPr>
          <p:nvPr/>
        </p:nvSpPr>
        <p:spPr bwMode="auto">
          <a:xfrm>
            <a:off x="8865367" y="1699130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121" y="3291322"/>
            <a:ext cx="1467517" cy="107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3" name="直接连接符 52"/>
          <p:cNvCxnSpPr/>
          <p:nvPr/>
        </p:nvCxnSpPr>
        <p:spPr bwMode="auto">
          <a:xfrm flipV="1">
            <a:off x="8915727" y="2355074"/>
            <a:ext cx="1674303" cy="1199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81333414"/>
      </p:ext>
    </p:extLst>
  </p:cSld>
  <p:clrMapOvr>
    <a:masterClrMapping/>
  </p:clrMapOvr>
  <p:transition spd="slow">
    <p:randomBar dir="vert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20" y="1259714"/>
            <a:ext cx="3117165" cy="403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5F42E04-D8FB-CD63-20D0-0B4ACF0551F8}"/>
              </a:ext>
            </a:extLst>
          </p:cNvPr>
          <p:cNvSpPr/>
          <p:nvPr/>
        </p:nvSpPr>
        <p:spPr>
          <a:xfrm>
            <a:off x="3538486" y="2534229"/>
            <a:ext cx="791227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电子邮件服务（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Email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是网络服务之一，一般用于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实现网络间电子数据（如信件、单据、资料等）的传递与交换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，虽然它根据传统的邮政服务模型建立，但与其相比，无论是传输速度、内容和形式，还是性价比与安全性都有很大程度的提升。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19375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72457" y="2196928"/>
            <a:ext cx="4554636" cy="4067453"/>
            <a:chOff x="672457" y="2196928"/>
            <a:chExt cx="4554636" cy="4067453"/>
          </a:xfrm>
        </p:grpSpPr>
        <p:sp>
          <p:nvSpPr>
            <p:cNvPr id="2" name="矩形 1"/>
            <p:cNvSpPr/>
            <p:nvPr/>
          </p:nvSpPr>
          <p:spPr>
            <a:xfrm>
              <a:off x="672457" y="2196928"/>
              <a:ext cx="4554636" cy="539507"/>
            </a:xfrm>
            <a:prstGeom prst="rect">
              <a:avLst/>
            </a:prstGeom>
            <a:solidFill>
              <a:srgbClr val="1353A2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indent="457200" defTabSz="720725">
                <a:lnSpc>
                  <a:spcPct val="13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寄件方投递信件到本地邮局</a:t>
              </a:r>
              <a:endParaRPr lang="en-US" altLang="zh-CN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72457" y="4692867"/>
              <a:ext cx="4554636" cy="539507"/>
            </a:xfrm>
            <a:prstGeom prst="rect">
              <a:avLst/>
            </a:prstGeom>
            <a:solidFill>
              <a:srgbClr val="1353A2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indent="457200" defTabSz="720725">
                <a:lnSpc>
                  <a:spcPct val="13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收件方所在地邮局接收信件</a:t>
              </a:r>
              <a:endParaRPr lang="en-US" altLang="zh-CN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72457" y="3182810"/>
              <a:ext cx="4554636" cy="1038105"/>
            </a:xfrm>
            <a:prstGeom prst="rect">
              <a:avLst/>
            </a:prstGeom>
            <a:solidFill>
              <a:srgbClr val="1353A2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indent="457200" defTabSz="720725">
                <a:lnSpc>
                  <a:spcPct val="13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信件从本地邮局转到达收件方所在地邮局</a:t>
              </a:r>
              <a:endParaRPr lang="en-US" altLang="zh-CN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72457" y="5724874"/>
              <a:ext cx="4554636" cy="539507"/>
            </a:xfrm>
            <a:prstGeom prst="rect">
              <a:avLst/>
            </a:prstGeom>
            <a:solidFill>
              <a:srgbClr val="1353A2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indent="457200" defTabSz="720725">
                <a:lnSpc>
                  <a:spcPct val="135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再将信件派送给收件方</a:t>
              </a:r>
            </a:p>
          </p:txBody>
        </p:sp>
        <p:sp>
          <p:nvSpPr>
            <p:cNvPr id="3" name="下箭头 2"/>
            <p:cNvSpPr/>
            <p:nvPr/>
          </p:nvSpPr>
          <p:spPr>
            <a:xfrm>
              <a:off x="2593076" y="2838752"/>
              <a:ext cx="259307" cy="24565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下箭头 10"/>
            <p:cNvSpPr/>
            <p:nvPr/>
          </p:nvSpPr>
          <p:spPr>
            <a:xfrm>
              <a:off x="2593075" y="4340298"/>
              <a:ext cx="259307" cy="24565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下箭头 11"/>
            <p:cNvSpPr/>
            <p:nvPr/>
          </p:nvSpPr>
          <p:spPr>
            <a:xfrm>
              <a:off x="2593074" y="5366155"/>
              <a:ext cx="259307" cy="24565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564089" y="1273367"/>
            <a:ext cx="4772185" cy="516843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 algn="ctr">
              <a:lnSpc>
                <a:spcPct val="150000"/>
              </a:lnSpc>
            </a:pPr>
            <a:r>
              <a:rPr lang="zh-CN" altLang="en-US" sz="3200" dirty="0">
                <a:solidFill>
                  <a:srgbClr val="1353A2"/>
                </a:solidFill>
                <a:latin typeface="微软雅黑"/>
                <a:ea typeface="微软雅黑"/>
                <a:cs typeface="微软雅黑"/>
              </a:rPr>
              <a:t>传统邮政服务流程</a:t>
            </a:r>
            <a:endParaRPr lang="en-US" altLang="zh-CN" sz="32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  <a:p>
            <a:pPr indent="457200" algn="ctr">
              <a:lnSpc>
                <a:spcPct val="150000"/>
              </a:lnSpc>
            </a:pPr>
            <a:endParaRPr lang="en-US" altLang="zh-CN" sz="32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  <a:p>
            <a:pPr indent="457200" algn="ctr">
              <a:lnSpc>
                <a:spcPct val="150000"/>
              </a:lnSpc>
            </a:pPr>
            <a:endParaRPr lang="en-US" altLang="zh-CN" sz="32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  <a:p>
            <a:pPr indent="457200" algn="ctr">
              <a:lnSpc>
                <a:spcPct val="150000"/>
              </a:lnSpc>
            </a:pPr>
            <a:endParaRPr lang="en-US" altLang="zh-CN" sz="32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  <a:p>
            <a:pPr indent="457200" algn="ctr">
              <a:lnSpc>
                <a:spcPct val="150000"/>
              </a:lnSpc>
            </a:pPr>
            <a:endParaRPr lang="en-US" altLang="zh-CN" sz="32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  <a:p>
            <a:pPr indent="457200" algn="ctr">
              <a:lnSpc>
                <a:spcPct val="150000"/>
              </a:lnSpc>
            </a:pPr>
            <a:endParaRPr lang="en-US" altLang="zh-CN" sz="32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  <a:p>
            <a:pPr indent="457200" algn="ctr">
              <a:lnSpc>
                <a:spcPct val="150000"/>
              </a:lnSpc>
            </a:pPr>
            <a:endParaRPr lang="zh-CN" altLang="en-US" sz="3200" dirty="0">
              <a:solidFill>
                <a:srgbClr val="1353A2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410681" y="1231485"/>
            <a:ext cx="4963730" cy="5080416"/>
            <a:chOff x="6410681" y="1231485"/>
            <a:chExt cx="4963730" cy="5080416"/>
          </a:xfrm>
        </p:grpSpPr>
        <p:pic>
          <p:nvPicPr>
            <p:cNvPr id="2355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1836" y="1231485"/>
              <a:ext cx="1552575" cy="150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5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956" y="2229778"/>
              <a:ext cx="1457325" cy="151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56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7036" y="3705181"/>
              <a:ext cx="1857375" cy="159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57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0681" y="4911726"/>
              <a:ext cx="1352550" cy="140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任意多边形 14"/>
            <p:cNvSpPr/>
            <p:nvPr/>
          </p:nvSpPr>
          <p:spPr>
            <a:xfrm>
              <a:off x="8188657" y="1703496"/>
              <a:ext cx="1487606" cy="807692"/>
            </a:xfrm>
            <a:custGeom>
              <a:avLst/>
              <a:gdLst>
                <a:gd name="connsiteX0" fmla="*/ 1487606 w 1487606"/>
                <a:gd name="connsiteY0" fmla="*/ 43417 h 807692"/>
                <a:gd name="connsiteX1" fmla="*/ 1392071 w 1487606"/>
                <a:gd name="connsiteY1" fmla="*/ 2474 h 807692"/>
                <a:gd name="connsiteX2" fmla="*/ 1064525 w 1487606"/>
                <a:gd name="connsiteY2" fmla="*/ 16122 h 807692"/>
                <a:gd name="connsiteX3" fmla="*/ 1009934 w 1487606"/>
                <a:gd name="connsiteY3" fmla="*/ 43417 h 807692"/>
                <a:gd name="connsiteX4" fmla="*/ 887104 w 1487606"/>
                <a:gd name="connsiteY4" fmla="*/ 70713 h 807692"/>
                <a:gd name="connsiteX5" fmla="*/ 846161 w 1487606"/>
                <a:gd name="connsiteY5" fmla="*/ 84361 h 807692"/>
                <a:gd name="connsiteX6" fmla="*/ 750627 w 1487606"/>
                <a:gd name="connsiteY6" fmla="*/ 111656 h 807692"/>
                <a:gd name="connsiteX7" fmla="*/ 627797 w 1487606"/>
                <a:gd name="connsiteY7" fmla="*/ 234486 h 807692"/>
                <a:gd name="connsiteX8" fmla="*/ 586853 w 1487606"/>
                <a:gd name="connsiteY8" fmla="*/ 275429 h 807692"/>
                <a:gd name="connsiteX9" fmla="*/ 532262 w 1487606"/>
                <a:gd name="connsiteY9" fmla="*/ 370964 h 807692"/>
                <a:gd name="connsiteX10" fmla="*/ 504967 w 1487606"/>
                <a:gd name="connsiteY10" fmla="*/ 411907 h 807692"/>
                <a:gd name="connsiteX11" fmla="*/ 464024 w 1487606"/>
                <a:gd name="connsiteY11" fmla="*/ 548385 h 807692"/>
                <a:gd name="connsiteX12" fmla="*/ 341194 w 1487606"/>
                <a:gd name="connsiteY12" fmla="*/ 684862 h 807692"/>
                <a:gd name="connsiteX13" fmla="*/ 286603 w 1487606"/>
                <a:gd name="connsiteY13" fmla="*/ 712158 h 807692"/>
                <a:gd name="connsiteX14" fmla="*/ 245659 w 1487606"/>
                <a:gd name="connsiteY14" fmla="*/ 739453 h 807692"/>
                <a:gd name="connsiteX15" fmla="*/ 191068 w 1487606"/>
                <a:gd name="connsiteY15" fmla="*/ 753101 h 807692"/>
                <a:gd name="connsiteX16" fmla="*/ 109182 w 1487606"/>
                <a:gd name="connsiteY16" fmla="*/ 780397 h 807692"/>
                <a:gd name="connsiteX17" fmla="*/ 0 w 1487606"/>
                <a:gd name="connsiteY17" fmla="*/ 807692 h 807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7606" h="807692">
                  <a:moveTo>
                    <a:pt x="1487606" y="43417"/>
                  </a:moveTo>
                  <a:cubicBezTo>
                    <a:pt x="1455761" y="29769"/>
                    <a:pt x="1426645" y="4705"/>
                    <a:pt x="1392071" y="2474"/>
                  </a:cubicBezTo>
                  <a:cubicBezTo>
                    <a:pt x="1283021" y="-4561"/>
                    <a:pt x="1173180" y="4480"/>
                    <a:pt x="1064525" y="16122"/>
                  </a:cubicBezTo>
                  <a:cubicBezTo>
                    <a:pt x="1044296" y="18289"/>
                    <a:pt x="1028983" y="36274"/>
                    <a:pt x="1009934" y="43417"/>
                  </a:cubicBezTo>
                  <a:cubicBezTo>
                    <a:pt x="981911" y="53925"/>
                    <a:pt x="913048" y="64227"/>
                    <a:pt x="887104" y="70713"/>
                  </a:cubicBezTo>
                  <a:cubicBezTo>
                    <a:pt x="873148" y="74202"/>
                    <a:pt x="859993" y="80409"/>
                    <a:pt x="846161" y="84361"/>
                  </a:cubicBezTo>
                  <a:cubicBezTo>
                    <a:pt x="726203" y="118634"/>
                    <a:pt x="848794" y="78933"/>
                    <a:pt x="750627" y="111656"/>
                  </a:cubicBezTo>
                  <a:lnTo>
                    <a:pt x="627797" y="234486"/>
                  </a:lnTo>
                  <a:cubicBezTo>
                    <a:pt x="614149" y="248134"/>
                    <a:pt x="597559" y="259369"/>
                    <a:pt x="586853" y="275429"/>
                  </a:cubicBezTo>
                  <a:cubicBezTo>
                    <a:pt x="520349" y="375189"/>
                    <a:pt x="601529" y="249747"/>
                    <a:pt x="532262" y="370964"/>
                  </a:cubicBezTo>
                  <a:cubicBezTo>
                    <a:pt x="524124" y="385205"/>
                    <a:pt x="514065" y="398259"/>
                    <a:pt x="504967" y="411907"/>
                  </a:cubicBezTo>
                  <a:cubicBezTo>
                    <a:pt x="497338" y="442421"/>
                    <a:pt x="477313" y="528452"/>
                    <a:pt x="464024" y="548385"/>
                  </a:cubicBezTo>
                  <a:cubicBezTo>
                    <a:pt x="431257" y="597535"/>
                    <a:pt x="394759" y="658079"/>
                    <a:pt x="341194" y="684862"/>
                  </a:cubicBezTo>
                  <a:cubicBezTo>
                    <a:pt x="322997" y="693961"/>
                    <a:pt x="304267" y="702064"/>
                    <a:pt x="286603" y="712158"/>
                  </a:cubicBezTo>
                  <a:cubicBezTo>
                    <a:pt x="272361" y="720296"/>
                    <a:pt x="260735" y="732992"/>
                    <a:pt x="245659" y="739453"/>
                  </a:cubicBezTo>
                  <a:cubicBezTo>
                    <a:pt x="228419" y="746842"/>
                    <a:pt x="209034" y="747711"/>
                    <a:pt x="191068" y="753101"/>
                  </a:cubicBezTo>
                  <a:cubicBezTo>
                    <a:pt x="163510" y="761369"/>
                    <a:pt x="137562" y="775667"/>
                    <a:pt x="109182" y="780397"/>
                  </a:cubicBezTo>
                  <a:cubicBezTo>
                    <a:pt x="17261" y="795716"/>
                    <a:pt x="52046" y="781668"/>
                    <a:pt x="0" y="807692"/>
                  </a:cubicBezTo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7942098" y="3712191"/>
              <a:ext cx="1720517" cy="668740"/>
            </a:xfrm>
            <a:custGeom>
              <a:avLst/>
              <a:gdLst>
                <a:gd name="connsiteX0" fmla="*/ 28195 w 1720517"/>
                <a:gd name="connsiteY0" fmla="*/ 0 h 668740"/>
                <a:gd name="connsiteX1" fmla="*/ 899 w 1720517"/>
                <a:gd name="connsiteY1" fmla="*/ 68239 h 668740"/>
                <a:gd name="connsiteX2" fmla="*/ 14547 w 1720517"/>
                <a:gd name="connsiteY2" fmla="*/ 245660 h 668740"/>
                <a:gd name="connsiteX3" fmla="*/ 110081 w 1720517"/>
                <a:gd name="connsiteY3" fmla="*/ 341194 h 668740"/>
                <a:gd name="connsiteX4" fmla="*/ 246559 w 1720517"/>
                <a:gd name="connsiteY4" fmla="*/ 395785 h 668740"/>
                <a:gd name="connsiteX5" fmla="*/ 355741 w 1720517"/>
                <a:gd name="connsiteY5" fmla="*/ 423081 h 668740"/>
                <a:gd name="connsiteX6" fmla="*/ 396684 w 1720517"/>
                <a:gd name="connsiteY6" fmla="*/ 450376 h 668740"/>
                <a:gd name="connsiteX7" fmla="*/ 546809 w 1720517"/>
                <a:gd name="connsiteY7" fmla="*/ 477672 h 668740"/>
                <a:gd name="connsiteX8" fmla="*/ 601401 w 1720517"/>
                <a:gd name="connsiteY8" fmla="*/ 504967 h 668740"/>
                <a:gd name="connsiteX9" fmla="*/ 669639 w 1720517"/>
                <a:gd name="connsiteY9" fmla="*/ 518615 h 668740"/>
                <a:gd name="connsiteX10" fmla="*/ 792469 w 1720517"/>
                <a:gd name="connsiteY10" fmla="*/ 545910 h 668740"/>
                <a:gd name="connsiteX11" fmla="*/ 833412 w 1720517"/>
                <a:gd name="connsiteY11" fmla="*/ 573206 h 668740"/>
                <a:gd name="connsiteX12" fmla="*/ 983538 w 1720517"/>
                <a:gd name="connsiteY12" fmla="*/ 586854 h 668740"/>
                <a:gd name="connsiteX13" fmla="*/ 1488505 w 1720517"/>
                <a:gd name="connsiteY13" fmla="*/ 600502 h 668740"/>
                <a:gd name="connsiteX14" fmla="*/ 1584039 w 1720517"/>
                <a:gd name="connsiteY14" fmla="*/ 614149 h 668740"/>
                <a:gd name="connsiteX15" fmla="*/ 1624983 w 1720517"/>
                <a:gd name="connsiteY15" fmla="*/ 627797 h 668740"/>
                <a:gd name="connsiteX16" fmla="*/ 1679574 w 1720517"/>
                <a:gd name="connsiteY16" fmla="*/ 641445 h 668740"/>
                <a:gd name="connsiteX17" fmla="*/ 1720517 w 1720517"/>
                <a:gd name="connsiteY17" fmla="*/ 668740 h 668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0517" h="668740">
                  <a:moveTo>
                    <a:pt x="28195" y="0"/>
                  </a:moveTo>
                  <a:cubicBezTo>
                    <a:pt x="19096" y="22746"/>
                    <a:pt x="2258" y="43778"/>
                    <a:pt x="899" y="68239"/>
                  </a:cubicBezTo>
                  <a:cubicBezTo>
                    <a:pt x="-2391" y="127463"/>
                    <a:pt x="3616" y="187361"/>
                    <a:pt x="14547" y="245660"/>
                  </a:cubicBezTo>
                  <a:cubicBezTo>
                    <a:pt x="20763" y="278811"/>
                    <a:pt x="95165" y="333239"/>
                    <a:pt x="110081" y="341194"/>
                  </a:cubicBezTo>
                  <a:cubicBezTo>
                    <a:pt x="153314" y="364251"/>
                    <a:pt x="199025" y="383901"/>
                    <a:pt x="246559" y="395785"/>
                  </a:cubicBezTo>
                  <a:lnTo>
                    <a:pt x="355741" y="423081"/>
                  </a:lnTo>
                  <a:cubicBezTo>
                    <a:pt x="369389" y="432179"/>
                    <a:pt x="381326" y="444617"/>
                    <a:pt x="396684" y="450376"/>
                  </a:cubicBezTo>
                  <a:cubicBezTo>
                    <a:pt x="411944" y="456098"/>
                    <a:pt x="537611" y="476139"/>
                    <a:pt x="546809" y="477672"/>
                  </a:cubicBezTo>
                  <a:cubicBezTo>
                    <a:pt x="565006" y="486770"/>
                    <a:pt x="582100" y="498533"/>
                    <a:pt x="601401" y="504967"/>
                  </a:cubicBezTo>
                  <a:cubicBezTo>
                    <a:pt x="623407" y="512302"/>
                    <a:pt x="646995" y="513583"/>
                    <a:pt x="669639" y="518615"/>
                  </a:cubicBezTo>
                  <a:cubicBezTo>
                    <a:pt x="843026" y="557146"/>
                    <a:pt x="586754" y="504769"/>
                    <a:pt x="792469" y="545910"/>
                  </a:cubicBezTo>
                  <a:cubicBezTo>
                    <a:pt x="806117" y="555009"/>
                    <a:pt x="817374" y="569769"/>
                    <a:pt x="833412" y="573206"/>
                  </a:cubicBezTo>
                  <a:cubicBezTo>
                    <a:pt x="882545" y="583735"/>
                    <a:pt x="933333" y="584762"/>
                    <a:pt x="983538" y="586854"/>
                  </a:cubicBezTo>
                  <a:cubicBezTo>
                    <a:pt x="1151776" y="593864"/>
                    <a:pt x="1320183" y="595953"/>
                    <a:pt x="1488505" y="600502"/>
                  </a:cubicBezTo>
                  <a:cubicBezTo>
                    <a:pt x="1520350" y="605051"/>
                    <a:pt x="1552496" y="607840"/>
                    <a:pt x="1584039" y="614149"/>
                  </a:cubicBezTo>
                  <a:cubicBezTo>
                    <a:pt x="1598146" y="616970"/>
                    <a:pt x="1611150" y="623845"/>
                    <a:pt x="1624983" y="627797"/>
                  </a:cubicBezTo>
                  <a:cubicBezTo>
                    <a:pt x="1643018" y="632950"/>
                    <a:pt x="1661377" y="636896"/>
                    <a:pt x="1679574" y="641445"/>
                  </a:cubicBezTo>
                  <a:lnTo>
                    <a:pt x="1720517" y="668740"/>
                  </a:lnTo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7683690" y="5268036"/>
              <a:ext cx="2047164" cy="655092"/>
            </a:xfrm>
            <a:custGeom>
              <a:avLst/>
              <a:gdLst>
                <a:gd name="connsiteX0" fmla="*/ 2047164 w 2047164"/>
                <a:gd name="connsiteY0" fmla="*/ 0 h 655092"/>
                <a:gd name="connsiteX1" fmla="*/ 2033516 w 2047164"/>
                <a:gd name="connsiteY1" fmla="*/ 95534 h 655092"/>
                <a:gd name="connsiteX2" fmla="*/ 1951629 w 2047164"/>
                <a:gd name="connsiteY2" fmla="*/ 191068 h 655092"/>
                <a:gd name="connsiteX3" fmla="*/ 1801504 w 2047164"/>
                <a:gd name="connsiteY3" fmla="*/ 300251 h 655092"/>
                <a:gd name="connsiteX4" fmla="*/ 1760561 w 2047164"/>
                <a:gd name="connsiteY4" fmla="*/ 327546 h 655092"/>
                <a:gd name="connsiteX5" fmla="*/ 1692322 w 2047164"/>
                <a:gd name="connsiteY5" fmla="*/ 368489 h 655092"/>
                <a:gd name="connsiteX6" fmla="*/ 1651379 w 2047164"/>
                <a:gd name="connsiteY6" fmla="*/ 395785 h 655092"/>
                <a:gd name="connsiteX7" fmla="*/ 1542197 w 2047164"/>
                <a:gd name="connsiteY7" fmla="*/ 423080 h 655092"/>
                <a:gd name="connsiteX8" fmla="*/ 1473958 w 2047164"/>
                <a:gd name="connsiteY8" fmla="*/ 464024 h 655092"/>
                <a:gd name="connsiteX9" fmla="*/ 1392071 w 2047164"/>
                <a:gd name="connsiteY9" fmla="*/ 477671 h 655092"/>
                <a:gd name="connsiteX10" fmla="*/ 1337480 w 2047164"/>
                <a:gd name="connsiteY10" fmla="*/ 491319 h 655092"/>
                <a:gd name="connsiteX11" fmla="*/ 1228298 w 2047164"/>
                <a:gd name="connsiteY11" fmla="*/ 532263 h 655092"/>
                <a:gd name="connsiteX12" fmla="*/ 1132764 w 2047164"/>
                <a:gd name="connsiteY12" fmla="*/ 545910 h 655092"/>
                <a:gd name="connsiteX13" fmla="*/ 818865 w 2047164"/>
                <a:gd name="connsiteY13" fmla="*/ 586854 h 655092"/>
                <a:gd name="connsiteX14" fmla="*/ 696035 w 2047164"/>
                <a:gd name="connsiteY14" fmla="*/ 600501 h 655092"/>
                <a:gd name="connsiteX15" fmla="*/ 545910 w 2047164"/>
                <a:gd name="connsiteY15" fmla="*/ 614149 h 655092"/>
                <a:gd name="connsiteX16" fmla="*/ 286603 w 2047164"/>
                <a:gd name="connsiteY16" fmla="*/ 655092 h 655092"/>
                <a:gd name="connsiteX17" fmla="*/ 0 w 2047164"/>
                <a:gd name="connsiteY17" fmla="*/ 641445 h 655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47164" h="655092">
                  <a:moveTo>
                    <a:pt x="2047164" y="0"/>
                  </a:moveTo>
                  <a:cubicBezTo>
                    <a:pt x="2042615" y="31845"/>
                    <a:pt x="2042760" y="64723"/>
                    <a:pt x="2033516" y="95534"/>
                  </a:cubicBezTo>
                  <a:cubicBezTo>
                    <a:pt x="2025041" y="123783"/>
                    <a:pt x="1965893" y="178389"/>
                    <a:pt x="1951629" y="191068"/>
                  </a:cubicBezTo>
                  <a:cubicBezTo>
                    <a:pt x="1895310" y="241130"/>
                    <a:pt x="1865357" y="257683"/>
                    <a:pt x="1801504" y="300251"/>
                  </a:cubicBezTo>
                  <a:cubicBezTo>
                    <a:pt x="1787856" y="309349"/>
                    <a:pt x="1774470" y="318853"/>
                    <a:pt x="1760561" y="327546"/>
                  </a:cubicBezTo>
                  <a:cubicBezTo>
                    <a:pt x="1738067" y="341605"/>
                    <a:pt x="1714393" y="353775"/>
                    <a:pt x="1692322" y="368489"/>
                  </a:cubicBezTo>
                  <a:cubicBezTo>
                    <a:pt x="1678674" y="377588"/>
                    <a:pt x="1666794" y="390180"/>
                    <a:pt x="1651379" y="395785"/>
                  </a:cubicBezTo>
                  <a:cubicBezTo>
                    <a:pt x="1616124" y="408605"/>
                    <a:pt x="1542197" y="423080"/>
                    <a:pt x="1542197" y="423080"/>
                  </a:cubicBezTo>
                  <a:cubicBezTo>
                    <a:pt x="1519451" y="436728"/>
                    <a:pt x="1498888" y="454959"/>
                    <a:pt x="1473958" y="464024"/>
                  </a:cubicBezTo>
                  <a:cubicBezTo>
                    <a:pt x="1447952" y="473481"/>
                    <a:pt x="1419206" y="472244"/>
                    <a:pt x="1392071" y="477671"/>
                  </a:cubicBezTo>
                  <a:cubicBezTo>
                    <a:pt x="1373678" y="481349"/>
                    <a:pt x="1355274" y="485387"/>
                    <a:pt x="1337480" y="491319"/>
                  </a:cubicBezTo>
                  <a:cubicBezTo>
                    <a:pt x="1300606" y="503611"/>
                    <a:pt x="1265854" y="522248"/>
                    <a:pt x="1228298" y="532263"/>
                  </a:cubicBezTo>
                  <a:cubicBezTo>
                    <a:pt x="1197216" y="540551"/>
                    <a:pt x="1164650" y="541659"/>
                    <a:pt x="1132764" y="545910"/>
                  </a:cubicBezTo>
                  <a:lnTo>
                    <a:pt x="818865" y="586854"/>
                  </a:lnTo>
                  <a:lnTo>
                    <a:pt x="696035" y="600501"/>
                  </a:lnTo>
                  <a:cubicBezTo>
                    <a:pt x="646036" y="605501"/>
                    <a:pt x="595851" y="608600"/>
                    <a:pt x="545910" y="614149"/>
                  </a:cubicBezTo>
                  <a:cubicBezTo>
                    <a:pt x="481497" y="621306"/>
                    <a:pt x="334304" y="647142"/>
                    <a:pt x="286603" y="655092"/>
                  </a:cubicBezTo>
                  <a:lnTo>
                    <a:pt x="0" y="641445"/>
                  </a:lnTo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9534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42DDF4-202E-3074-6978-850119099C7D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D801F4-C73D-AE13-0013-5786998A3B3F}"/>
              </a:ext>
            </a:extLst>
          </p:cNvPr>
          <p:cNvSpPr/>
          <p:nvPr/>
        </p:nvSpPr>
        <p:spPr>
          <a:xfrm>
            <a:off x="631595" y="1207352"/>
            <a:ext cx="10969002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电子邮件服务模型的工作流程与上述流程大致相同，但实现服务器功能的代理分为两种，第一种为客户提供“送信”功能，第二种为客户提供“收信”功能。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D5C688-1801-3293-792A-194C068181BE}"/>
              </a:ext>
            </a:extLst>
          </p:cNvPr>
          <p:cNvSpPr/>
          <p:nvPr/>
        </p:nvSpPr>
        <p:spPr>
          <a:xfrm>
            <a:off x="631595" y="2190931"/>
            <a:ext cx="10969002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邮件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代理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MUA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Mail User Agent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），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电子邮件服务模型中的</a:t>
            </a:r>
            <a:r>
              <a:rPr lang="zh-CN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客户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主要用于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编辑</a:t>
            </a:r>
            <a:r>
              <a:rPr lang="zh-CN" altLang="zh-CN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发送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邮件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，以及从</a:t>
            </a:r>
            <a:r>
              <a:rPr lang="zh-CN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服务器中下载、管理、阅读邮件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等；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A4B6C6-D46A-367D-0151-2B48840CF82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03888" y="3429000"/>
            <a:ext cx="7024415" cy="23474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9333AD8-2575-9932-7601-4E5BD5A8B6FD}"/>
              </a:ext>
            </a:extLst>
          </p:cNvPr>
          <p:cNvSpPr txBox="1"/>
          <p:nvPr/>
        </p:nvSpPr>
        <p:spPr>
          <a:xfrm>
            <a:off x="2975263" y="5976433"/>
            <a:ext cx="624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MUA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MDA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在电子邮件传输过程中的关系如图所示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790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5B937-4747-32BD-96C9-88398EAB181A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6583C6-B6EA-9194-3B44-69892C28408A}"/>
              </a:ext>
            </a:extLst>
          </p:cNvPr>
          <p:cNvSpPr/>
          <p:nvPr/>
        </p:nvSpPr>
        <p:spPr>
          <a:xfrm>
            <a:off x="631595" y="1207352"/>
            <a:ext cx="10969002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电子邮件服务模型的工作流程与上述流程大致相同，但实现服务器功能的代理分为两种，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第一种为客户提供“送信”功能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，第二种为客户提供“收信”功能。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CEB85B-B8EE-0A99-4CD5-7AF4B0D05E6D}"/>
              </a:ext>
            </a:extLst>
          </p:cNvPr>
          <p:cNvSpPr/>
          <p:nvPr/>
        </p:nvSpPr>
        <p:spPr>
          <a:xfrm>
            <a:off x="631595" y="2190931"/>
            <a:ext cx="10969002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邮件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传输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代理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Mail Transfer Agent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），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提供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送信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功能的</a:t>
            </a:r>
            <a:r>
              <a:rPr lang="zh-CN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一般也提供</a:t>
            </a:r>
            <a:r>
              <a:rPr lang="zh-CN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邮件存储功能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26858A-1F44-0E59-36E4-24B1F506258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03888" y="3429000"/>
            <a:ext cx="7024415" cy="23474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04646A-107B-0A88-E7FD-B2839DE4E857}"/>
              </a:ext>
            </a:extLst>
          </p:cNvPr>
          <p:cNvSpPr txBox="1"/>
          <p:nvPr/>
        </p:nvSpPr>
        <p:spPr>
          <a:xfrm>
            <a:off x="2975263" y="5976433"/>
            <a:ext cx="624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MUA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MDA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在电子邮件传输过程中的关系如图所示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889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D4E23-3FD0-64A3-3472-660C5CCA5834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CF9496-6AEF-3BA5-D56A-C89053AAACC9}"/>
              </a:ext>
            </a:extLst>
          </p:cNvPr>
          <p:cNvSpPr/>
          <p:nvPr/>
        </p:nvSpPr>
        <p:spPr>
          <a:xfrm>
            <a:off x="631595" y="1207352"/>
            <a:ext cx="10969002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电子邮件服务模型的工作流程与上述流程大致相同，但实现服务器功能的代理分为两种，第一种为客户提供“送信”功能，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第二种为客户提供“收信”功能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38755B-09EF-55E1-03E8-D1720522D456}"/>
              </a:ext>
            </a:extLst>
          </p:cNvPr>
          <p:cNvSpPr/>
          <p:nvPr/>
        </p:nvSpPr>
        <p:spPr>
          <a:xfrm>
            <a:off x="631595" y="2190931"/>
            <a:ext cx="10969002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邮件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投递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代理（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MDA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Mail Delivery Agent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，提供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收信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功能的</a:t>
            </a:r>
            <a:r>
              <a:rPr lang="zh-CN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主要负责将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接收的邮件投递到收件人的邮箱中。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73C1C1-02C9-5327-5583-84BC56DBD2B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03888" y="3429000"/>
            <a:ext cx="7024415" cy="234746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ECFCC9A-9EFA-9149-5A42-3A0976E03B49}"/>
              </a:ext>
            </a:extLst>
          </p:cNvPr>
          <p:cNvSpPr txBox="1"/>
          <p:nvPr/>
        </p:nvSpPr>
        <p:spPr>
          <a:xfrm>
            <a:off x="2975263" y="5976433"/>
            <a:ext cx="624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MUA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MDA</a:t>
            </a:r>
            <a:r>
              <a:rPr lang="zh-CN" altLang="en-US" sz="1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在电子邮件传输过程中的关系如图所示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497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E4E17A-91B4-FFBC-00FE-F63BD37046A3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5.4.1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电子邮件服务概述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23C046-7ABF-C555-0D76-492640387FE2}"/>
              </a:ext>
            </a:extLst>
          </p:cNvPr>
          <p:cNvSpPr/>
          <p:nvPr/>
        </p:nvSpPr>
        <p:spPr>
          <a:xfrm>
            <a:off x="631595" y="1207352"/>
            <a:ext cx="10969002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电子邮件服务器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实际上是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MDA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的组合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，他们在传递信件的过程中主要有以下几项行为：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）接收用户投递的邮件；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）将用户投递的邮件转发给其它邮件服务器；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）接收其他邮件服务器转投的信件，并将邮件存储到自身管理的用户邮箱中；</a:t>
            </a:r>
          </a:p>
          <a:p>
            <a:pPr indent="457200" defTabSz="720725">
              <a:lnSpc>
                <a:spcPct val="135000"/>
              </a:lnSpc>
            </a:pP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）为发起读信请求的用户提供读取服务。</a:t>
            </a:r>
          </a:p>
          <a:p>
            <a:pPr indent="457200" defTabSz="720725">
              <a:lnSpc>
                <a:spcPct val="135000"/>
              </a:lnSpc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611790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31595" y="1207352"/>
            <a:ext cx="10969002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常用的电子邮件协议：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IMAP4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96287" y="1733266"/>
            <a:ext cx="2442949" cy="517448"/>
            <a:chOff x="996287" y="1733266"/>
            <a:chExt cx="2442949" cy="517448"/>
          </a:xfrm>
        </p:grpSpPr>
        <p:sp>
          <p:nvSpPr>
            <p:cNvPr id="2" name="椭圆 1"/>
            <p:cNvSpPr/>
            <p:nvPr/>
          </p:nvSpPr>
          <p:spPr>
            <a:xfrm>
              <a:off x="996287" y="1733266"/>
              <a:ext cx="1315111" cy="5174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620370" y="1733266"/>
              <a:ext cx="818866" cy="4509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发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96287" y="2250713"/>
            <a:ext cx="2442949" cy="1043364"/>
            <a:chOff x="996287" y="1733266"/>
            <a:chExt cx="2442949" cy="517448"/>
          </a:xfrm>
        </p:grpSpPr>
        <p:sp>
          <p:nvSpPr>
            <p:cNvPr id="12" name="椭圆 11"/>
            <p:cNvSpPr/>
            <p:nvPr/>
          </p:nvSpPr>
          <p:spPr>
            <a:xfrm>
              <a:off x="996287" y="1733266"/>
              <a:ext cx="1315111" cy="5174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620370" y="1733266"/>
              <a:ext cx="818866" cy="4509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收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4609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A0E336-67F6-C5DB-9482-25202DFAC63F}"/>
              </a:ext>
            </a:extLst>
          </p:cNvPr>
          <p:cNvSpPr/>
          <p:nvPr/>
        </p:nvSpPr>
        <p:spPr>
          <a:xfrm>
            <a:off x="631595" y="2218161"/>
            <a:ext cx="10969001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Simple Mail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Transer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Protocol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简单邮件传输协议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，是一组用于从源地址到目的地址传输邮件的规范，通过它可以控制邮件的中转方式。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7D5A84C2-6BF4-A6F5-2E23-FDA8EF831914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24502D5-C656-345C-4905-B18B5FA33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5A652E16-97B6-3CE9-FF81-D37CC4B42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SMTP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87A4ECD-2D91-D380-6845-CE86C1588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8CE3B4DC-FDE3-B0B7-B3D2-AF120F678B04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F3A72C-62AA-7AF8-8845-1A2D036506AE}"/>
              </a:ext>
            </a:extLst>
          </p:cNvPr>
          <p:cNvSpPr/>
          <p:nvPr/>
        </p:nvSpPr>
        <p:spPr>
          <a:xfrm>
            <a:off x="600502" y="3331364"/>
            <a:ext cx="4053385" cy="2126993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属于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TCP/IP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协议簇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，该协议提供基于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连接、高效、可靠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的邮件传输，可帮助每台计算机在发送或转送信件时找到下一个目的地。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默认使用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25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号端口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5DB4E98-1D43-A691-FAE2-99360A07627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196811" y="3430309"/>
            <a:ext cx="5550377" cy="25474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779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CAD9A4-A57F-D5E9-9BC5-F021F47EA490}"/>
              </a:ext>
            </a:extLst>
          </p:cNvPr>
          <p:cNvSpPr/>
          <p:nvPr/>
        </p:nvSpPr>
        <p:spPr>
          <a:xfrm>
            <a:off x="631595" y="2218161"/>
            <a:ext cx="10969001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Simple Mail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Transer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Protocol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简单邮件传输协议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，是一组用于从源地址到目的地址传输邮件的规范，通过它可以控制邮件的中转方式。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1C1C8C6A-1F5C-A045-FB87-767E0A775FB2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1389960-A605-826B-53F2-1CACE8556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6122E744-F1F7-E52D-C3DC-E00069556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SMTP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5FE48B9-5900-74DC-2115-0FEF4183F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DBC7E00A-7434-A029-E492-28D06AC3DF78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1465AF-6228-05E8-4AD5-B99173255E71}"/>
              </a:ext>
            </a:extLst>
          </p:cNvPr>
          <p:cNvSpPr/>
          <p:nvPr/>
        </p:nvSpPr>
        <p:spPr>
          <a:xfrm>
            <a:off x="600501" y="3331364"/>
            <a:ext cx="4816625" cy="2957989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主要特点之一为能实现“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邮件中继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，这一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特点体现在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的工作模式中，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zh-CN" sz="2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两种工作模式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一种为</a:t>
            </a:r>
            <a:r>
              <a:rPr lang="zh-CN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电子邮件从客户端传到服务器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另一种为</a:t>
            </a:r>
            <a:r>
              <a:rPr lang="zh-CN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电子邮件在两台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服务器之间传递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具体如图所示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7E91E9B-4B73-7BF8-8BBE-1148C24AE97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60939" y="3429000"/>
            <a:ext cx="5550377" cy="25474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678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8886D78-045F-0A86-C666-366CC61A4260}"/>
              </a:ext>
            </a:extLst>
          </p:cNvPr>
          <p:cNvSpPr/>
          <p:nvPr/>
        </p:nvSpPr>
        <p:spPr>
          <a:xfrm>
            <a:off x="631595" y="2218161"/>
            <a:ext cx="10969001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Simple Mail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Transer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Protocol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简单邮件传输协议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，是一组用于从源地址到目的地址传输邮件的规范，通过它可以控制邮件的中转方式。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D9F5B0C7-01F9-5C60-5962-DFCEB752F2F6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1E9FF14-6C05-ABB8-11F6-3A618B6CE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70FC9E95-8F49-8D69-3807-1F7893AA6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SMTP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6BB075D-B2DA-EF22-2D8A-9806C86F1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246E2DDB-D5D4-5E46-7115-C32C2B8E38F8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EEDEFD-3CAD-41D8-D1F4-0BC067EBEA56}"/>
              </a:ext>
            </a:extLst>
          </p:cNvPr>
          <p:cNvSpPr/>
          <p:nvPr/>
        </p:nvSpPr>
        <p:spPr>
          <a:xfrm>
            <a:off x="600501" y="3331364"/>
            <a:ext cx="5060438" cy="2957989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服务器接收到用户邮件后，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a.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先根据邮件地址中的后缀判断该邮件是否为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本地邮件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b.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若是，则直接投送到本地用户邮箱；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c.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否则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服务器将通过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服务查询邮件服务器中的</a:t>
            </a:r>
            <a:r>
              <a:rPr lang="en-US" altLang="zh-CN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MX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记录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，获取远端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服务器地址，与之建立连接并</a:t>
            </a:r>
            <a:r>
              <a:rPr lang="zh-CN" altLang="en-US" sz="2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转发邮件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D11F668-E907-DF29-CE10-9788C5AC6BF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60939" y="3429000"/>
            <a:ext cx="5550377" cy="25474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456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DF06FB-034E-23CB-557E-B2BBEBAA07EA}"/>
              </a:ext>
            </a:extLst>
          </p:cNvPr>
          <p:cNvSpPr/>
          <p:nvPr/>
        </p:nvSpPr>
        <p:spPr>
          <a:xfrm>
            <a:off x="631595" y="2218161"/>
            <a:ext cx="10969001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例如，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mail.test.com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收到一封要发送到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chan@163.com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的邮件，则其工作流程如下：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30A4A0B3-AAFA-0948-DCBC-28C9293347A1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B399092-23E0-0DEB-CC27-D3191907D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F6AEC9BD-B54A-BD5E-4725-ABFEBE057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SMTP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08B1816-E86C-0050-42D9-22CBAD49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B217562B-4073-158A-BDDB-B32EB727DF84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E3DA61-125E-4BBE-51F6-F06332223F14}"/>
              </a:ext>
            </a:extLst>
          </p:cNvPr>
          <p:cNvSpPr/>
          <p:nvPr/>
        </p:nvSpPr>
        <p:spPr>
          <a:xfrm>
            <a:off x="600503" y="3331364"/>
            <a:ext cx="11000094" cy="2533899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服务器获取收件方域名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163.com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，与自身的域名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mail.test.com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进行比较，发现域名与自身的域名不一致。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请求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服务器查找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163.com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记录并获取相应的远端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服务器根据获取到的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地址将邮件转发给远端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543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40F6A0-D780-4ABA-B97B-2E710FC82AEB}"/>
              </a:ext>
            </a:extLst>
          </p:cNvPr>
          <p:cNvSpPr/>
          <p:nvPr/>
        </p:nvSpPr>
        <p:spPr>
          <a:xfrm>
            <a:off x="631595" y="2218161"/>
            <a:ext cx="10969001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将一次邮件发送或转发过程中的发送方视为客户端，接收端视为服务器，则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客户端向服务器发送邮件的过程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如下：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1A9EA2BA-2DB2-3236-89AF-1227B6340312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E0F58F2-E445-9459-58B8-6BBAA6832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28022563-5E08-B7E9-E2EE-B4237C1EF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SMTP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102D6DE-5905-5FCB-0BC3-7383B02C2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19284E08-9552-4190-C666-E93189DAE987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C709B2-AE12-E5FE-4C9E-98192D57568F}"/>
              </a:ext>
            </a:extLst>
          </p:cNvPr>
          <p:cNvSpPr/>
          <p:nvPr/>
        </p:nvSpPr>
        <p:spPr>
          <a:xfrm>
            <a:off x="600503" y="3331364"/>
            <a:ext cx="11000094" cy="2542491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）客户端向服务器发起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连接请求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，建立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TCP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连接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）客户端发送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helo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ehlo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命令表明自己的身份。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）客户端发送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mail from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命令设置发件人邮箱地址。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）客户端发送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rcpt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to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命令声明收件人地址。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）客户端使用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命令，并输入正文内容，输入完毕后以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表示输入结束。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）结束此次发送，用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quit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命令退出。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121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83D889-0D7F-DCB7-0775-1AB6544D4FA2}"/>
              </a:ext>
            </a:extLst>
          </p:cNvPr>
          <p:cNvSpPr/>
          <p:nvPr/>
        </p:nvSpPr>
        <p:spPr>
          <a:xfrm>
            <a:off x="631595" y="2218161"/>
            <a:ext cx="10969001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的基础命令的具体用法与其他常用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如表所示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8C172C88-40A7-280B-4211-689B00C6193B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D1E541E-71CD-EF46-9BB6-260EC35BF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F47016F4-B017-ABBF-01A0-8DD6CE3D7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SMTP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6807C47-3AF8-48AE-D17A-54AD9A58C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7C39E9A8-46DD-3387-10AC-09AE180BDE95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635468C-D338-772C-60FA-943EF1468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08866"/>
              </p:ext>
            </p:extLst>
          </p:nvPr>
        </p:nvGraphicFramePr>
        <p:xfrm>
          <a:off x="1361145" y="2862874"/>
          <a:ext cx="9707803" cy="3415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6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45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1900" kern="100" dirty="0">
                          <a:effectLst/>
                        </a:rPr>
                        <a:t>命令</a:t>
                      </a:r>
                      <a:endParaRPr lang="zh-CN" sz="19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说明</a:t>
                      </a:r>
                      <a:endParaRPr lang="zh-CN" sz="19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654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solidFill>
                            <a:srgbClr val="FF0000"/>
                          </a:solidFill>
                          <a:effectLst/>
                        </a:rPr>
                        <a:t>helo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/</a:t>
                      </a:r>
                      <a:r>
                        <a:rPr lang="en-US" sz="1900" kern="100" dirty="0" err="1">
                          <a:solidFill>
                            <a:srgbClr val="FF0000"/>
                          </a:solidFill>
                          <a:effectLst/>
                        </a:rPr>
                        <a:t>ehlo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客户端主机名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向服务器表明自己的身份</a:t>
                      </a:r>
                      <a:endParaRPr lang="zh-CN" sz="19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654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mail from: 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发件人邮箱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设置发件人身份</a:t>
                      </a:r>
                      <a:endParaRPr lang="zh-CN" sz="19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172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solidFill>
                            <a:srgbClr val="FF0000"/>
                          </a:solidFill>
                          <a:effectLst/>
                        </a:rPr>
                        <a:t>rcpt</a:t>
                      </a: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 to: </a:t>
                      </a:r>
                      <a:r>
                        <a:rPr lang="zh-CN" sz="1900" kern="100" dirty="0">
                          <a:solidFill>
                            <a:srgbClr val="FF0000"/>
                          </a:solidFill>
                          <a:effectLst/>
                        </a:rPr>
                        <a:t>收件人邮箱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设置收件人邮箱地址，若需将邮件发送给多人，可重复使用此命令，设置多个收件地址</a:t>
                      </a:r>
                      <a:endParaRPr lang="zh-CN" sz="19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654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solidFill>
                            <a:srgbClr val="FF0000"/>
                          </a:solidFill>
                          <a:effectLst/>
                        </a:rPr>
                        <a:t>data </a:t>
                      </a:r>
                      <a:endParaRPr lang="zh-CN" sz="19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kern="100">
                          <a:effectLst/>
                        </a:rPr>
                        <a:t>使用此命令，开始输入邮件正文，以</a:t>
                      </a:r>
                      <a:r>
                        <a:rPr lang="en-US" sz="1900" kern="100">
                          <a:effectLst/>
                        </a:rPr>
                        <a:t>.</a:t>
                      </a:r>
                      <a:r>
                        <a:rPr lang="zh-CN" sz="1900" kern="100">
                          <a:effectLst/>
                        </a:rPr>
                        <a:t>结束正文输入</a:t>
                      </a:r>
                      <a:endParaRPr lang="zh-CN" sz="19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172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vrfy </a:t>
                      </a:r>
                      <a:r>
                        <a:rPr lang="zh-CN" sz="1900" kern="100">
                          <a:effectLst/>
                        </a:rPr>
                        <a:t>邮箱地址</a:t>
                      </a:r>
                      <a:endParaRPr lang="zh-CN" sz="19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b="0" kern="100" dirty="0">
                          <a:effectLst/>
                        </a:rPr>
                        <a:t>验证指定邮箱是否存在，考虑到安全问题，此命令一般被</a:t>
                      </a:r>
                      <a:r>
                        <a:rPr lang="zh-CN" sz="1900" b="0" kern="100" dirty="0">
                          <a:solidFill>
                            <a:srgbClr val="FF0000"/>
                          </a:solidFill>
                          <a:effectLst/>
                        </a:rPr>
                        <a:t>禁用</a:t>
                      </a:r>
                      <a:endParaRPr lang="zh-CN" sz="1900" b="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654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noop</a:t>
                      </a:r>
                      <a:endParaRPr lang="zh-CN" sz="19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b="0" kern="100" dirty="0">
                          <a:effectLst/>
                        </a:rPr>
                        <a:t>空操作，要求服务器返回</a:t>
                      </a:r>
                      <a:r>
                        <a:rPr lang="en-US" sz="1900" b="0" kern="100" dirty="0">
                          <a:effectLst/>
                        </a:rPr>
                        <a:t>OK</a:t>
                      </a:r>
                      <a:r>
                        <a:rPr lang="zh-CN" sz="1900" b="0" kern="100" dirty="0">
                          <a:effectLst/>
                        </a:rPr>
                        <a:t>应答，一般用作</a:t>
                      </a:r>
                      <a:r>
                        <a:rPr lang="zh-CN" sz="1900" b="0" kern="100" dirty="0">
                          <a:solidFill>
                            <a:srgbClr val="FF0000"/>
                          </a:solidFill>
                          <a:effectLst/>
                        </a:rPr>
                        <a:t>测试</a:t>
                      </a:r>
                      <a:endParaRPr lang="zh-CN" sz="1900" b="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685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900" kern="100" dirty="0" err="1">
                          <a:effectLst/>
                        </a:rPr>
                        <a:t>rset</a:t>
                      </a:r>
                      <a:endParaRPr lang="zh-CN" sz="19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900" b="0" kern="100" dirty="0">
                          <a:solidFill>
                            <a:srgbClr val="FF0000"/>
                          </a:solidFill>
                          <a:effectLst/>
                        </a:rPr>
                        <a:t>重置</a:t>
                      </a:r>
                      <a:r>
                        <a:rPr lang="zh-CN" sz="1900" b="0" kern="100" dirty="0">
                          <a:effectLst/>
                        </a:rPr>
                        <a:t>会话，取消当前传输</a:t>
                      </a:r>
                      <a:endParaRPr lang="zh-CN" sz="1900" b="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25939" marR="125939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5813369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79C319-9271-B799-FE0A-143F587483E6}"/>
              </a:ext>
            </a:extLst>
          </p:cNvPr>
          <p:cNvSpPr/>
          <p:nvPr/>
        </p:nvSpPr>
        <p:spPr>
          <a:xfrm>
            <a:off x="631595" y="2218161"/>
            <a:ext cx="10969001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常见的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响应码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与其含义如表所示。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AEFEA576-518B-29CF-631E-E42B69E08FE0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AF2E67B-7AD9-28BC-8D05-2DA42A1B1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4DFDA27B-8DCD-0C42-D69A-C25A781C1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SMTP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3715DDA-C673-F928-15B1-947012099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6122E10E-8513-5CD8-94C1-892B6605DC30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BC44F0E-511E-B8B5-7B04-296990D82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377296"/>
              </p:ext>
            </p:extLst>
          </p:nvPr>
        </p:nvGraphicFramePr>
        <p:xfrm>
          <a:off x="1139341" y="2821933"/>
          <a:ext cx="10270250" cy="3142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9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1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259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响应码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说明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7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solidFill>
                            <a:srgbClr val="00B050"/>
                          </a:solidFill>
                          <a:effectLst/>
                        </a:rPr>
                        <a:t>220</a:t>
                      </a:r>
                      <a:endParaRPr lang="zh-CN" sz="2100" b="1" kern="100" dirty="0">
                        <a:solidFill>
                          <a:srgbClr val="00B05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服务器就绪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7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solidFill>
                            <a:srgbClr val="00B050"/>
                          </a:solidFill>
                          <a:effectLst/>
                        </a:rPr>
                        <a:t>250</a:t>
                      </a:r>
                      <a:endParaRPr lang="zh-CN" sz="2100" b="1" kern="100" dirty="0">
                        <a:solidFill>
                          <a:srgbClr val="00B05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要求的邮箱操作完成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07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solidFill>
                            <a:srgbClr val="7030A0"/>
                          </a:solidFill>
                          <a:effectLst/>
                        </a:rPr>
                        <a:t>354</a:t>
                      </a:r>
                      <a:endParaRPr lang="zh-CN" sz="2100" b="1" kern="100" dirty="0">
                        <a:solidFill>
                          <a:srgbClr val="7030A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开始邮件输入，以“</a:t>
                      </a:r>
                      <a:r>
                        <a:rPr lang="en-US" sz="2100" kern="100" dirty="0">
                          <a:effectLst/>
                        </a:rPr>
                        <a:t>.</a:t>
                      </a:r>
                      <a:r>
                        <a:rPr lang="zh-CN" sz="2100" kern="100" dirty="0">
                          <a:effectLst/>
                        </a:rPr>
                        <a:t>”结束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07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solidFill>
                            <a:srgbClr val="FF0000"/>
                          </a:solidFill>
                          <a:effectLst/>
                        </a:rPr>
                        <a:t>450</a:t>
                      </a:r>
                      <a:endParaRPr lang="zh-CN" sz="2100" b="1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要求的邮件操作未完成，邮箱不可用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07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solidFill>
                            <a:srgbClr val="FF0000"/>
                          </a:solidFill>
                          <a:effectLst/>
                        </a:rPr>
                        <a:t>452</a:t>
                      </a:r>
                      <a:endParaRPr lang="zh-CN" sz="2100" b="1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系统存储不足，要求的操作未执行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071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solidFill>
                            <a:srgbClr val="FF0000"/>
                          </a:solidFill>
                          <a:effectLst/>
                        </a:rPr>
                        <a:t>454</a:t>
                      </a:r>
                      <a:endParaRPr lang="zh-CN" sz="2100" b="1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kern="100">
                          <a:effectLst/>
                        </a:rPr>
                        <a:t>临时认证失败，可能账号被临时冻结</a:t>
                      </a:r>
                      <a:endParaRPr lang="zh-CN" sz="21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455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solidFill>
                            <a:srgbClr val="FF0000"/>
                          </a:solidFill>
                          <a:effectLst/>
                        </a:rPr>
                        <a:t>550</a:t>
                      </a:r>
                      <a:endParaRPr lang="zh-CN" sz="2100" b="1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100" kern="100" dirty="0">
                          <a:effectLst/>
                        </a:rPr>
                        <a:t>要求的邮件操作未完成，邮箱不可用</a:t>
                      </a:r>
                      <a:endParaRPr lang="zh-CN" sz="21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33235" marR="13323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715585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E51392-6050-A4DE-45F2-B59BC0EDA84D}"/>
              </a:ext>
            </a:extLst>
          </p:cNvPr>
          <p:cNvSpPr/>
          <p:nvPr/>
        </p:nvSpPr>
        <p:spPr>
          <a:xfrm>
            <a:off x="631595" y="2218161"/>
            <a:ext cx="10969001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Post Office Protocol – Version3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“邮局协议”第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，该协议属于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TCP/IP 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协议簇，主要用于支持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客户端远程管理服务器上的电子邮件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查收邮件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默认使用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号端口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E67338AF-93D6-C651-1CB4-411D9D9DE14C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BDA67F5-C4B7-2D41-24A8-A6404438D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1B942C6E-2C81-51F9-DDFE-40563FC07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POP3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4D195FE-49F2-9A38-46E1-830A8D472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DF4DF095-F0B5-1CD5-A5E3-CBC1F6F9CF12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66064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6F22F4-0B94-8B98-D14F-49A6A4E27EEC}"/>
              </a:ext>
            </a:extLst>
          </p:cNvPr>
          <p:cNvSpPr/>
          <p:nvPr/>
        </p:nvSpPr>
        <p:spPr>
          <a:xfrm>
            <a:off x="631595" y="2218161"/>
            <a:ext cx="10969001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相比，其工作流程更加简单，具体如下：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）客户端向服务器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发起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请求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，连接到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110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端口；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）连接成功后客户端使用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表明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收件人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身份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命令进行用户认证；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）认证成功后客户端使用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服务器中的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邮件列表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，再使用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rert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邮件内容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）查看完毕，使用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quit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退出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客户端，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关闭连接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76F00AD7-E3E3-0116-ED27-C0CEE0E71041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C6B6BD3-A9A1-CCA0-A748-0C4E751D7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57A7D326-F4FA-D368-0B8E-A407DDB74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POP3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2E5DFBA-02DE-D9CE-70E5-861FF258A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87038AC9-A2EB-37B7-DE20-721BFE9F1C19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645097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78211B-7BB7-1658-17EB-52B3E53A1847}"/>
              </a:ext>
            </a:extLst>
          </p:cNvPr>
          <p:cNvSpPr/>
          <p:nvPr/>
        </p:nvSpPr>
        <p:spPr>
          <a:xfrm>
            <a:off x="532264" y="2218162"/>
            <a:ext cx="3558267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用户若想通过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服务器收取信件，必须先通过身份认证，只有认证成功的用户才可使用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服务器提供的功能。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支持客户端通过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命令执行相应操作，常用的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POP3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如表所示。</a:t>
            </a:r>
          </a:p>
        </p:txBody>
      </p:sp>
      <p:grpSp>
        <p:nvGrpSpPr>
          <p:cNvPr id="3" name="组合 15">
            <a:extLst>
              <a:ext uri="{FF2B5EF4-FFF2-40B4-BE49-F238E27FC236}">
                <a16:creationId xmlns:a16="http://schemas.microsoft.com/office/drawing/2014/main" id="{FCF5D081-83EC-5F6B-4174-DA8092DA3982}"/>
              </a:ext>
            </a:extLst>
          </p:cNvPr>
          <p:cNvGrpSpPr/>
          <p:nvPr/>
        </p:nvGrpSpPr>
        <p:grpSpPr>
          <a:xfrm>
            <a:off x="600502" y="1196752"/>
            <a:ext cx="11000094" cy="1008112"/>
            <a:chOff x="395441" y="968316"/>
            <a:chExt cx="10072179" cy="1008112"/>
          </a:xfrm>
          <a:solidFill>
            <a:srgbClr val="39A2FE"/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E0F6549-423B-1EE0-D52A-66173AE31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41" y="968316"/>
              <a:ext cx="10072179" cy="1008112"/>
            </a:xfrm>
            <a:prstGeom prst="rect">
              <a:avLst/>
            </a:prstGeom>
            <a:solidFill>
              <a:srgbClr val="1353A2"/>
            </a:solidFill>
            <a:ln w="19050">
              <a:solidFill>
                <a:srgbClr val="1353A2"/>
              </a:solidFill>
            </a:ln>
          </p:spPr>
          <p:txBody>
            <a:bodyPr anchor="ctr"/>
            <a:lstStyle/>
            <a:p>
              <a:pPr defTabSz="122118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latin typeface="+mn-lt"/>
              </a:endParaRPr>
            </a:p>
          </p:txBody>
        </p:sp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04DC6F41-64A8-B4EA-651A-D5977828D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266" y="970444"/>
              <a:ext cx="8637023" cy="743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indent="457200" defTabSz="720725">
                <a:lnSpc>
                  <a:spcPct val="135000"/>
                </a:lnSpc>
                <a:defRPr sz="160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2pPr>
              <a:lvl3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3pPr>
              <a:lvl4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4pPr>
              <a:lvl5pPr defTabSz="720725" eaLnBrk="0" hangingPunct="0">
                <a:defRPr sz="1600">
                  <a:latin typeface="Arial" pitchFamily="34" charset="0"/>
                  <a:ea typeface="宋体" pitchFamily="2" charset="-122"/>
                </a:defRPr>
              </a:lvl5pPr>
              <a:lvl6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6pPr>
              <a:lvl7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7pPr>
              <a:lvl8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8pPr>
              <a:lvl9pPr defTabSz="720725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latin typeface="Arial" pitchFamily="34" charset="0"/>
                  <a:ea typeface="宋体" pitchFamily="2" charset="-122"/>
                </a:defRPr>
              </a:lvl9pPr>
            </a:lstStyle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、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POP3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协议</a:t>
              </a: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1B4FE18-0B00-D90E-53B6-E35B000F2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98" y="1078698"/>
              <a:ext cx="814644" cy="814644"/>
            </a:xfrm>
            <a:prstGeom prst="rect">
              <a:avLst/>
            </a:prstGeom>
            <a:solidFill>
              <a:srgbClr val="1353A2"/>
            </a:solidFill>
            <a:ln>
              <a:solidFill>
                <a:srgbClr val="1353A2"/>
              </a:solidFill>
            </a:ln>
          </p:spPr>
        </p:pic>
      </p:grpSp>
      <p:sp>
        <p:nvSpPr>
          <p:cNvPr id="7" name="TextBox 1">
            <a:extLst>
              <a:ext uri="{FF2B5EF4-FFF2-40B4-BE49-F238E27FC236}">
                <a16:creationId xmlns:a16="http://schemas.microsoft.com/office/drawing/2014/main" id="{5F486D8F-CAEF-1027-3C54-D455B014A627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5.4.2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电子邮件协议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EFC1736-642C-8C13-A8FB-5AD07B4D9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220976"/>
              </p:ext>
            </p:extLst>
          </p:nvPr>
        </p:nvGraphicFramePr>
        <p:xfrm>
          <a:off x="4071962" y="2504984"/>
          <a:ext cx="7596878" cy="3507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588">
                <a:tc>
                  <a:txBody>
                    <a:bodyPr/>
                    <a:lstStyle/>
                    <a:p>
                      <a:pPr indent="22860"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命令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tc>
                  <a:txBody>
                    <a:bodyPr/>
                    <a:lstStyle/>
                    <a:p>
                      <a:pPr indent="236855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说明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C00000"/>
                          </a:solidFill>
                          <a:effectLst/>
                        </a:rPr>
                        <a:t>user </a:t>
                      </a:r>
                      <a:r>
                        <a:rPr lang="zh-CN" sz="1600" b="1" kern="100">
                          <a:solidFill>
                            <a:srgbClr val="C00000"/>
                          </a:solidFill>
                          <a:effectLst/>
                        </a:rPr>
                        <a:t>用户名</a:t>
                      </a:r>
                      <a:endParaRPr lang="zh-CN" sz="1600" b="1" kern="10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表明收件人的身份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C00000"/>
                          </a:solidFill>
                          <a:effectLst/>
                        </a:rPr>
                        <a:t>pass </a:t>
                      </a:r>
                      <a:r>
                        <a:rPr lang="zh-CN" sz="1600" b="1" kern="100" dirty="0">
                          <a:solidFill>
                            <a:srgbClr val="C00000"/>
                          </a:solidFill>
                          <a:effectLst/>
                        </a:rPr>
                        <a:t>密码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验证收件人身份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stat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查看邮件服务器的邮件状态，包括邮件的数量与大小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C00000"/>
                          </a:solidFill>
                          <a:effectLst/>
                        </a:rPr>
                        <a:t>list 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显示邮件服务器中的邮件列表，包括邮件的数量与每封邮件的大小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uidl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查看邮件服务器中的邮件数量与邮件的唯一标识符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solidFill>
                            <a:srgbClr val="C00000"/>
                          </a:solidFill>
                          <a:effectLst/>
                        </a:rPr>
                        <a:t>retr</a:t>
                      </a:r>
                      <a:r>
                        <a:rPr lang="en-US" sz="1600" b="1" kern="100" dirty="0">
                          <a:solidFill>
                            <a:srgbClr val="C00000"/>
                          </a:solidFill>
                          <a:effectLst/>
                        </a:rPr>
                        <a:t> [msg#]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显示指定邮件的内容，其中</a:t>
                      </a:r>
                      <a:r>
                        <a:rPr lang="en-US" sz="1600" kern="100">
                          <a:effectLst/>
                        </a:rPr>
                        <a:t>[msg#]</a:t>
                      </a:r>
                      <a:r>
                        <a:rPr lang="zh-CN" sz="1600" kern="100">
                          <a:effectLst/>
                        </a:rPr>
                        <a:t>表示邮件编号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dele [msg#]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标记邮件为已删除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rset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重置所有标记为删除的邮件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646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noop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空操作，一般用于检测服务器连接状态</a:t>
                      </a:r>
                      <a:endParaRPr lang="zh-CN" sz="16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70">
                <a:tc>
                  <a:txBody>
                    <a:bodyPr/>
                    <a:lstStyle/>
                    <a:p>
                      <a:pPr indent="22860"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C00000"/>
                          </a:solidFill>
                          <a:effectLst/>
                        </a:rPr>
                        <a:t>quit</a:t>
                      </a:r>
                      <a:endParaRPr lang="zh-CN" sz="1600" b="1" kern="100" dirty="0">
                        <a:solidFill>
                          <a:srgbClr val="C0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退出</a:t>
                      </a:r>
                      <a:endParaRPr lang="zh-CN" sz="16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105154" marR="105154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11203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BFDDA4-0D96-03E5-6B30-FFD694A6C750}"/>
              </a:ext>
            </a:extLst>
          </p:cNvPr>
          <p:cNvSpPr/>
          <p:nvPr/>
        </p:nvSpPr>
        <p:spPr>
          <a:xfrm>
            <a:off x="532264" y="1208228"/>
            <a:ext cx="11081981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常见的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软件有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Sendmail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Qmail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等。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Sendmail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功能最为强大，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Qmail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体积比较小巧，但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兼顾效率与功能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，且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CentOS7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中默认安装的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MTA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，因此本教材将选用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演示电子邮件服务器的发信功能。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71EBBC2-606B-5C8C-E644-DA97DCC0EDF1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的邮件发送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715BF8-5B94-4E15-2BD8-3161BDC1A4C8}"/>
              </a:ext>
            </a:extLst>
          </p:cNvPr>
          <p:cNvSpPr/>
          <p:nvPr/>
        </p:nvSpPr>
        <p:spPr>
          <a:xfrm>
            <a:off x="532263" y="2766069"/>
            <a:ext cx="11081981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、安装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yum –y install telnet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start postfix</a:t>
            </a:r>
            <a:endParaRPr lang="zh-CN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enable postfix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netstat -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tnlp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| grep :25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注：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netstat 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显示网络连接、路由表、接口状态等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869518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DF83EC-AAAF-E754-E87F-DB2EEE85C063}"/>
              </a:ext>
            </a:extLst>
          </p:cNvPr>
          <p:cNvSpPr/>
          <p:nvPr/>
        </p:nvSpPr>
        <p:spPr>
          <a:xfrm>
            <a:off x="532264" y="1208228"/>
            <a:ext cx="11081981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、更改主机名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CentOS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主机默认名为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localhost.localdomain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，此处将其更改为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test.com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，具体操作为：使用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vi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命令打开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sysconfig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/network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文件，配置其中的</a:t>
            </a:r>
            <a:r>
              <a:rPr lang="en-US" altLang="zh-CN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HOSTNAME=test.com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，保存退出。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74ED8EA-3424-8F9A-9F89-A9074A506DD9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的邮件发送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E713BA-8632-E315-4869-BFDF2B8ED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391" y="3758286"/>
            <a:ext cx="5573217" cy="142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2321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C5172EE-96BC-BBE3-07AE-9BC242902BA7}"/>
              </a:ext>
            </a:extLst>
          </p:cNvPr>
          <p:cNvSpPr/>
          <p:nvPr/>
        </p:nvSpPr>
        <p:spPr>
          <a:xfrm>
            <a:off x="532264" y="1208228"/>
            <a:ext cx="11081981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通过修改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主配置文件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/postfix/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main.conf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可更改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 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的主要配置，按照右侧内容对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的主配置文件进行更改。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C04767D3-65C6-E146-F500-D4C50527A05B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的邮件发送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7B1426-461A-6433-E76B-CD421D057F53}"/>
              </a:ext>
            </a:extLst>
          </p:cNvPr>
          <p:cNvSpPr/>
          <p:nvPr/>
        </p:nvSpPr>
        <p:spPr>
          <a:xfrm>
            <a:off x="532261" y="2894268"/>
            <a:ext cx="11500411" cy="2957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myhostname=mail.test.com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mydomain=test.com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myorigin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=$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mydomain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mydestination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= $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myhostname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, localhost.$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mydomain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, localhost ,$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mydomain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inet_interfaces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= all			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home_mailbox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Maildir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000" b="1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local_recipient_maps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 </a:t>
            </a:r>
          </a:p>
        </p:txBody>
      </p:sp>
    </p:spTree>
    <p:extLst>
      <p:ext uri="{BB962C8B-B14F-4D97-AF65-F5344CB8AC3E}">
        <p14:creationId xmlns:p14="http://schemas.microsoft.com/office/powerpoint/2010/main" val="246805947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899E3C-EFB2-0207-5888-2DAF308F6DE9}"/>
              </a:ext>
            </a:extLst>
          </p:cNvPr>
          <p:cNvSpPr/>
          <p:nvPr/>
        </p:nvSpPr>
        <p:spPr>
          <a:xfrm>
            <a:off x="532264" y="1727775"/>
            <a:ext cx="11081981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发送信件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# telnet 0 25                                             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向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SMTP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服务器发起连接请求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helo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mail.test.com					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向服务器表明身份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from:chan@test.com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				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设置寄件人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rcpt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to:test@test.com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设置收件人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data								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编辑文本内容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quit										//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退出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F3DD1F3-8198-893C-26A6-55BF4527433E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的邮件发送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326504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D9BEE7-7415-4FB4-6124-D94D4BDB06E4}"/>
              </a:ext>
            </a:extLst>
          </p:cNvPr>
          <p:cNvSpPr/>
          <p:nvPr/>
        </p:nvSpPr>
        <p:spPr>
          <a:xfrm>
            <a:off x="532264" y="1208228"/>
            <a:ext cx="11081981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MDA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的一种，用于搭建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POP3/IMAP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服务器，以实现电子邮件服务器的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“收信”功能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常与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Postfix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组合使用，共同搭建电子邮件服务器，因此本教材将选用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演示电子邮件服务器的收信功能。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41FB602-0083-BF74-1FB6-1E8EE7ADF5BE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C20670-7D2F-1A45-A8BE-A080482F6594}"/>
              </a:ext>
            </a:extLst>
          </p:cNvPr>
          <p:cNvSpPr/>
          <p:nvPr/>
        </p:nvSpPr>
        <p:spPr>
          <a:xfrm>
            <a:off x="532263" y="2766069"/>
            <a:ext cx="11081982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、安装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yum -y install dovecot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start dovecot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enable dovecot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netstat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-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tnlp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| grep :110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# telnet 0 110</a:t>
            </a:r>
            <a:endParaRPr lang="zh-CN" altLang="en-US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422277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089BAB-E625-3DAE-DDB3-B83136036314}"/>
              </a:ext>
            </a:extLst>
          </p:cNvPr>
          <p:cNvSpPr/>
          <p:nvPr/>
        </p:nvSpPr>
        <p:spPr>
          <a:xfrm>
            <a:off x="532264" y="1208228"/>
            <a:ext cx="11081981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、配置用户认证方式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的认证方式通过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/dovecot/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conf.d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/10-auth.conf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进行设置，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打开该文件，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注释系统认证，启用文件认证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，修改后的相应内容如下所示。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#!include auth-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system.conf.ext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!include auth-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passwdfile.conf.ext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9F5637D-165F-1B85-F79E-B4F9ED897C56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131641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C674C8-2524-AE4F-953B-F24121602FFC}"/>
              </a:ext>
            </a:extLst>
          </p:cNvPr>
          <p:cNvSpPr/>
          <p:nvPr/>
        </p:nvSpPr>
        <p:spPr>
          <a:xfrm>
            <a:off x="532264" y="1208228"/>
            <a:ext cx="11081981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、配置用户认证方式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使用文件方式认证时，需要先为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用户配置认证文件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。用户认证文件的路径由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/dovecot/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conf.d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/auth-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passwdfile.conf.ext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passwd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项指定，打开该文件，查看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passwd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项，可观察到如下内容。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passdb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{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driver = passwd-file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args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= scheme=CRYPT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username_format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=%u 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/dovecot/users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}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C34F29C-97AB-2186-8D16-CC31375DC11A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049D82-0CD6-C3D9-A815-6FA4B59881D2}"/>
              </a:ext>
            </a:extLst>
          </p:cNvPr>
          <p:cNvGrpSpPr/>
          <p:nvPr/>
        </p:nvGrpSpPr>
        <p:grpSpPr>
          <a:xfrm>
            <a:off x="7936070" y="3450299"/>
            <a:ext cx="2988860" cy="1555844"/>
            <a:chOff x="7942997" y="4995081"/>
            <a:chExt cx="2988860" cy="1555844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0E41166D-9045-B4E7-87A8-411676A82F91}"/>
                </a:ext>
              </a:extLst>
            </p:cNvPr>
            <p:cNvSpPr/>
            <p:nvPr/>
          </p:nvSpPr>
          <p:spPr>
            <a:xfrm>
              <a:off x="7942997" y="5527343"/>
              <a:ext cx="2988860" cy="102358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圆角矩形 4">
              <a:extLst>
                <a:ext uri="{FF2B5EF4-FFF2-40B4-BE49-F238E27FC236}">
                  <a16:creationId xmlns:a16="http://schemas.microsoft.com/office/drawing/2014/main" id="{59D81080-D494-6F22-15CE-8C63754CEEDB}"/>
                </a:ext>
              </a:extLst>
            </p:cNvPr>
            <p:cNvSpPr/>
            <p:nvPr/>
          </p:nvSpPr>
          <p:spPr>
            <a:xfrm>
              <a:off x="8468436" y="4995081"/>
              <a:ext cx="1937982" cy="4572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用户认证文件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8275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499BD7-55A9-77C0-590A-C3C321A1AAC5}"/>
              </a:ext>
            </a:extLst>
          </p:cNvPr>
          <p:cNvSpPr/>
          <p:nvPr/>
        </p:nvSpPr>
        <p:spPr>
          <a:xfrm>
            <a:off x="532264" y="1208228"/>
            <a:ext cx="11081981" cy="253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、配置用户认证方式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用户认证文件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/dovecot/users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，该文件需要由用户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自行创建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vi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命令创建并打开该文件，向其中写入用户认证信息，以用户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test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（密码为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test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1001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）为例，写入的内容如下所示。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test:{plain}test:1001:1001::/home/test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F5C4ACE-6314-5EA6-4219-CC8A7511C0D1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标注 6">
            <a:extLst>
              <a:ext uri="{FF2B5EF4-FFF2-40B4-BE49-F238E27FC236}">
                <a16:creationId xmlns:a16="http://schemas.microsoft.com/office/drawing/2014/main" id="{0BF6071A-938D-97D7-8EE6-99A45F6CB134}"/>
              </a:ext>
            </a:extLst>
          </p:cNvPr>
          <p:cNvSpPr/>
          <p:nvPr/>
        </p:nvSpPr>
        <p:spPr>
          <a:xfrm>
            <a:off x="682388" y="4324377"/>
            <a:ext cx="1037230" cy="491319"/>
          </a:xfrm>
          <a:prstGeom prst="wedgeRectCallout">
            <a:avLst>
              <a:gd name="adj1" fmla="val 5483"/>
              <a:gd name="adj2" fmla="val -1819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用户名</a:t>
            </a:r>
          </a:p>
        </p:txBody>
      </p:sp>
      <p:sp>
        <p:nvSpPr>
          <p:cNvPr id="5" name="矩形标注 8">
            <a:extLst>
              <a:ext uri="{FF2B5EF4-FFF2-40B4-BE49-F238E27FC236}">
                <a16:creationId xmlns:a16="http://schemas.microsoft.com/office/drawing/2014/main" id="{B733A0FA-CE44-6DB6-5E9A-DC71E2074965}"/>
              </a:ext>
            </a:extLst>
          </p:cNvPr>
          <p:cNvSpPr/>
          <p:nvPr/>
        </p:nvSpPr>
        <p:spPr>
          <a:xfrm>
            <a:off x="1872017" y="4324376"/>
            <a:ext cx="1144137" cy="491319"/>
          </a:xfrm>
          <a:prstGeom prst="wedgeRectCallout">
            <a:avLst>
              <a:gd name="adj1" fmla="val -13602"/>
              <a:gd name="adj2" fmla="val -1680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加密方式与口令</a:t>
            </a:r>
          </a:p>
        </p:txBody>
      </p:sp>
      <p:sp>
        <p:nvSpPr>
          <p:cNvPr id="6" name="矩形标注 9">
            <a:extLst>
              <a:ext uri="{FF2B5EF4-FFF2-40B4-BE49-F238E27FC236}">
                <a16:creationId xmlns:a16="http://schemas.microsoft.com/office/drawing/2014/main" id="{8C993E2B-9308-65FF-2DE9-81CDFB925802}"/>
              </a:ext>
            </a:extLst>
          </p:cNvPr>
          <p:cNvSpPr/>
          <p:nvPr/>
        </p:nvSpPr>
        <p:spPr>
          <a:xfrm>
            <a:off x="3168554" y="4324375"/>
            <a:ext cx="1144137" cy="491319"/>
          </a:xfrm>
          <a:prstGeom prst="wedgeRectCallout">
            <a:avLst>
              <a:gd name="adj1" fmla="val -24338"/>
              <a:gd name="adj2" fmla="val -1847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代收用户</a:t>
            </a:r>
            <a:r>
              <a:rPr lang="en-US" altLang="zh-CN" dirty="0"/>
              <a:t>id</a:t>
            </a:r>
            <a:endParaRPr lang="zh-CN" altLang="en-US" dirty="0"/>
          </a:p>
        </p:txBody>
      </p:sp>
      <p:sp>
        <p:nvSpPr>
          <p:cNvPr id="7" name="矩形标注 11">
            <a:extLst>
              <a:ext uri="{FF2B5EF4-FFF2-40B4-BE49-F238E27FC236}">
                <a16:creationId xmlns:a16="http://schemas.microsoft.com/office/drawing/2014/main" id="{032E76E5-9CD3-50ED-DFA1-DD2AE00E10EE}"/>
              </a:ext>
            </a:extLst>
          </p:cNvPr>
          <p:cNvSpPr/>
          <p:nvPr/>
        </p:nvSpPr>
        <p:spPr>
          <a:xfrm>
            <a:off x="4465091" y="4326648"/>
            <a:ext cx="1144137" cy="491319"/>
          </a:xfrm>
          <a:prstGeom prst="wedgeRectCallout">
            <a:avLst>
              <a:gd name="adj1" fmla="val -61316"/>
              <a:gd name="adj2" fmla="val -1763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代收用户的组</a:t>
            </a:r>
            <a:r>
              <a:rPr lang="en-US" altLang="zh-CN" dirty="0"/>
              <a:t>id</a:t>
            </a:r>
            <a:endParaRPr lang="zh-CN" altLang="en-US" dirty="0"/>
          </a:p>
        </p:txBody>
      </p:sp>
      <p:sp>
        <p:nvSpPr>
          <p:cNvPr id="8" name="矩形标注 12">
            <a:extLst>
              <a:ext uri="{FF2B5EF4-FFF2-40B4-BE49-F238E27FC236}">
                <a16:creationId xmlns:a16="http://schemas.microsoft.com/office/drawing/2014/main" id="{36DF83A4-837E-FD97-6C17-4CC878682B1D}"/>
              </a:ext>
            </a:extLst>
          </p:cNvPr>
          <p:cNvSpPr/>
          <p:nvPr/>
        </p:nvSpPr>
        <p:spPr>
          <a:xfrm>
            <a:off x="6073254" y="4324377"/>
            <a:ext cx="1144137" cy="491319"/>
          </a:xfrm>
          <a:prstGeom prst="wedgeRectCallout">
            <a:avLst>
              <a:gd name="adj1" fmla="val -61316"/>
              <a:gd name="adj2" fmla="val -1763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邮件存储位置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43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4BD99E1-DA8B-C413-864A-02C75CA10F51}"/>
              </a:ext>
            </a:extLst>
          </p:cNvPr>
          <p:cNvSpPr/>
          <p:nvPr/>
        </p:nvSpPr>
        <p:spPr>
          <a:xfrm>
            <a:off x="532264" y="1208228"/>
            <a:ext cx="11081981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用户认证文件配置完成后，还需在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/dovecot/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conf.d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/10-mail.conf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文件中对选项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进行配置，该选项的值遵从如下格式：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mailbox-fomat:path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[:key=value...]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D7913A5-63C6-2A9C-3783-C562A3D815D1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标注 2">
            <a:extLst>
              <a:ext uri="{FF2B5EF4-FFF2-40B4-BE49-F238E27FC236}">
                <a16:creationId xmlns:a16="http://schemas.microsoft.com/office/drawing/2014/main" id="{F577047D-1DB0-ECF1-92CD-F85E85D2B313}"/>
              </a:ext>
            </a:extLst>
          </p:cNvPr>
          <p:cNvSpPr/>
          <p:nvPr/>
        </p:nvSpPr>
        <p:spPr>
          <a:xfrm>
            <a:off x="4517409" y="4043665"/>
            <a:ext cx="1815152" cy="545910"/>
          </a:xfrm>
          <a:prstGeom prst="wedgeRectCallout">
            <a:avLst>
              <a:gd name="adj1" fmla="val -39304"/>
              <a:gd name="adj2" fmla="val -21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邮件格式</a:t>
            </a:r>
          </a:p>
        </p:txBody>
      </p:sp>
      <p:sp>
        <p:nvSpPr>
          <p:cNvPr id="5" name="矩形标注 13">
            <a:extLst>
              <a:ext uri="{FF2B5EF4-FFF2-40B4-BE49-F238E27FC236}">
                <a16:creationId xmlns:a16="http://schemas.microsoft.com/office/drawing/2014/main" id="{790DB813-0B0B-CCA7-F0E4-B673302B1966}"/>
              </a:ext>
            </a:extLst>
          </p:cNvPr>
          <p:cNvSpPr/>
          <p:nvPr/>
        </p:nvSpPr>
        <p:spPr>
          <a:xfrm>
            <a:off x="6484961" y="4043665"/>
            <a:ext cx="1815152" cy="545910"/>
          </a:xfrm>
          <a:prstGeom prst="wedgeRectCallout">
            <a:avLst>
              <a:gd name="adj1" fmla="val -76898"/>
              <a:gd name="adj2" fmla="val -22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邮件存放路径</a:t>
            </a:r>
          </a:p>
        </p:txBody>
      </p:sp>
      <p:sp>
        <p:nvSpPr>
          <p:cNvPr id="6" name="矩形标注 14">
            <a:extLst>
              <a:ext uri="{FF2B5EF4-FFF2-40B4-BE49-F238E27FC236}">
                <a16:creationId xmlns:a16="http://schemas.microsoft.com/office/drawing/2014/main" id="{EB23E8D7-DBC1-8237-7D2B-946A0E609D80}"/>
              </a:ext>
            </a:extLst>
          </p:cNvPr>
          <p:cNvSpPr/>
          <p:nvPr/>
        </p:nvSpPr>
        <p:spPr>
          <a:xfrm>
            <a:off x="8452513" y="4043665"/>
            <a:ext cx="1815152" cy="545910"/>
          </a:xfrm>
          <a:prstGeom prst="wedgeRectCallout">
            <a:avLst>
              <a:gd name="adj1" fmla="val -76898"/>
              <a:gd name="adj2" fmla="val -22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可选参数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35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709F72-3A57-6768-1044-A6AAD59A02B4}"/>
              </a:ext>
            </a:extLst>
          </p:cNvPr>
          <p:cNvSpPr/>
          <p:nvPr/>
        </p:nvSpPr>
        <p:spPr>
          <a:xfrm>
            <a:off x="532264" y="1208228"/>
            <a:ext cx="11081981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、配置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支持的</a:t>
            </a:r>
            <a:r>
              <a:rPr lang="zh-CN" altLang="en-US" sz="2400" i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邮件格式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有如下几种：</a:t>
            </a: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mbox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：传统的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Unix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邮件格式；</a:t>
            </a: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maildir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：一个文件包含一条邮件信息的格式；</a:t>
            </a: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dbox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专用的高效邮件文件格式，可再细分为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sdbox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mdbox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dbox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三类；</a:t>
            </a:r>
          </a:p>
          <a:p>
            <a:pPr marL="342900" indent="-342900" defTabSz="720725" latinLnBrk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cydir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专用的类似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Cyrus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格式的邮件格式。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A97946E-3E96-AAAF-27EB-EE3D2E9942E0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155303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496674-FACA-17DF-7B96-5B408D22AA66}"/>
              </a:ext>
            </a:extLst>
          </p:cNvPr>
          <p:cNvSpPr/>
          <p:nvPr/>
        </p:nvSpPr>
        <p:spPr>
          <a:xfrm>
            <a:off x="532264" y="1208228"/>
            <a:ext cx="11081981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、配置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/dovecot/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conf.d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/10-mail.conf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中给出了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选项的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三种示例取值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，此处启用第二种取值，具体如下：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maildir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:~/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Maildir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mbox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:~/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mail:INBOX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=/var/mail/%u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=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mbox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:/var/mail/%d/%1n/%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n:INDEX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=/var/indexes/%d/%1n/%n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1413732-01DF-519B-F828-AA360BA5EC14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58218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889DAF-6710-D38D-3664-0E638EDCAF72}"/>
              </a:ext>
            </a:extLst>
          </p:cNvPr>
          <p:cNvSpPr/>
          <p:nvPr/>
        </p:nvSpPr>
        <p:spPr>
          <a:xfrm>
            <a:off x="532264" y="1208228"/>
            <a:ext cx="11081981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、配置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mail_location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下面创建以上配置文件指定的用于存放邮件的目录，并将其的所有者和所属组都更改为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test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，具体命令如下：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mkdir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-p /home/test/mail/.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imap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/INBOX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chown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-R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test:test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/home/test/mail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restart dovecot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BBBD207-0D43-7649-FEE4-3F4B37BD51ED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24776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3A1B8A-98E7-3B1C-CE77-9EE6869E4F96}"/>
              </a:ext>
            </a:extLst>
          </p:cNvPr>
          <p:cNvSpPr/>
          <p:nvPr/>
        </p:nvSpPr>
        <p:spPr>
          <a:xfrm>
            <a:off x="532264" y="1208228"/>
            <a:ext cx="11081981" cy="35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管理邮箱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telnet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命令登录邮箱后，需先使用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命令完成用户认证，此处通过配置用户认证方式时使用的用户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test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进行认证，具体操作如下：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user test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+OK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pass test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+OK Logged in.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9A0C6B4-FA75-A47B-6033-DE9619F396A0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384690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ED9F48-3E3D-B693-B960-E7B02B0726B0}"/>
              </a:ext>
            </a:extLst>
          </p:cNvPr>
          <p:cNvSpPr/>
          <p:nvPr/>
        </p:nvSpPr>
        <p:spPr>
          <a:xfrm>
            <a:off x="532264" y="1208228"/>
            <a:ext cx="11081981" cy="411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35000"/>
              </a:lnSpc>
            </a:pPr>
            <a:r>
              <a:rPr lang="en-US" altLang="zh-CN" sz="2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、使用</a:t>
            </a:r>
            <a:r>
              <a:rPr lang="en-US" altLang="zh-CN" sz="2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28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管理邮箱</a:t>
            </a: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stat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命令查看邮件状态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命令查看邮件列表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uidl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命令查看邮件列表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retr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命令查看邮件内容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dele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命令删除邮件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rset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命令重置邮件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35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quit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命令退出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5926693-E50F-BCE2-F66D-F6BF0EB1EC49}"/>
              </a:ext>
            </a:extLst>
          </p:cNvPr>
          <p:cNvSpPr txBox="1"/>
          <p:nvPr/>
        </p:nvSpPr>
        <p:spPr>
          <a:xfrm>
            <a:off x="2311397" y="501700"/>
            <a:ext cx="583631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Dovecot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的邮件收取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302864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1414550" y="2436366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23" name="Picture 5" descr="C:\Users\user\Desktop\沟通-0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225" y="3301256"/>
            <a:ext cx="1639966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矩形 21"/>
          <p:cNvSpPr>
            <a:spLocks noChangeArrowheads="1"/>
          </p:cNvSpPr>
          <p:nvPr/>
        </p:nvSpPr>
        <p:spPr bwMode="auto">
          <a:xfrm>
            <a:off x="3315838" y="2436366"/>
            <a:ext cx="1888803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5" name="矩形 22"/>
          <p:cNvSpPr>
            <a:spLocks noChangeArrowheads="1"/>
          </p:cNvSpPr>
          <p:nvPr/>
        </p:nvSpPr>
        <p:spPr bwMode="auto">
          <a:xfrm>
            <a:off x="5203257" y="2436366"/>
            <a:ext cx="1892565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26" name="矩形 28"/>
          <p:cNvSpPr>
            <a:spLocks noChangeArrowheads="1"/>
          </p:cNvSpPr>
          <p:nvPr/>
        </p:nvSpPr>
        <p:spPr bwMode="auto">
          <a:xfrm>
            <a:off x="3264160" y="2562165"/>
            <a:ext cx="188084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sp>
        <p:nvSpPr>
          <p:cNvPr id="27" name="矩形 29"/>
          <p:cNvSpPr>
            <a:spLocks noChangeArrowheads="1"/>
          </p:cNvSpPr>
          <p:nvPr/>
        </p:nvSpPr>
        <p:spPr bwMode="auto">
          <a:xfrm>
            <a:off x="5243922" y="2603701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28" name="直接连接符 7167"/>
          <p:cNvCxnSpPr>
            <a:cxnSpLocks noChangeShapeType="1"/>
          </p:cNvCxnSpPr>
          <p:nvPr/>
        </p:nvCxnSpPr>
        <p:spPr bwMode="auto">
          <a:xfrm>
            <a:off x="1390445" y="2355670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7172"/>
          <p:cNvCxnSpPr>
            <a:cxnSpLocks noChangeShapeType="1"/>
          </p:cNvCxnSpPr>
          <p:nvPr/>
        </p:nvCxnSpPr>
        <p:spPr bwMode="auto">
          <a:xfrm>
            <a:off x="1390445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50"/>
          <p:cNvCxnSpPr>
            <a:cxnSpLocks noChangeShapeType="1"/>
          </p:cNvCxnSpPr>
          <p:nvPr/>
        </p:nvCxnSpPr>
        <p:spPr bwMode="auto">
          <a:xfrm>
            <a:off x="3280914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连接符 51"/>
          <p:cNvCxnSpPr>
            <a:cxnSpLocks noChangeShapeType="1"/>
          </p:cNvCxnSpPr>
          <p:nvPr/>
        </p:nvCxnSpPr>
        <p:spPr bwMode="auto">
          <a:xfrm>
            <a:off x="5161758" y="2035321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52"/>
          <p:cNvCxnSpPr>
            <a:cxnSpLocks noChangeShapeType="1"/>
          </p:cNvCxnSpPr>
          <p:nvPr/>
        </p:nvCxnSpPr>
        <p:spPr bwMode="auto">
          <a:xfrm flipH="1">
            <a:off x="7108427" y="1976682"/>
            <a:ext cx="1" cy="42744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Box 7177"/>
          <p:cNvSpPr txBox="1">
            <a:spLocks noChangeArrowheads="1"/>
          </p:cNvSpPr>
          <p:nvPr/>
        </p:nvSpPr>
        <p:spPr bwMode="auto">
          <a:xfrm>
            <a:off x="1390445" y="1716288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4" name="TextBox 7177"/>
          <p:cNvSpPr txBox="1">
            <a:spLocks noChangeArrowheads="1"/>
          </p:cNvSpPr>
          <p:nvPr/>
        </p:nvSpPr>
        <p:spPr bwMode="auto">
          <a:xfrm>
            <a:off x="3293099" y="1716289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5" name="TextBox 7177"/>
          <p:cNvSpPr txBox="1">
            <a:spLocks noChangeArrowheads="1"/>
          </p:cNvSpPr>
          <p:nvPr/>
        </p:nvSpPr>
        <p:spPr bwMode="auto">
          <a:xfrm>
            <a:off x="5111398" y="1716288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1414550" y="2345682"/>
            <a:ext cx="18663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计算机网络</a:t>
            </a:r>
            <a:endParaRPr lang="en-US" altLang="zh-CN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基础</a:t>
            </a: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3280914" y="2355670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5141809" y="2355670"/>
            <a:ext cx="1954013" cy="695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9" name="Picture 4" descr="C:\Users\user\Desktop\45455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533" y="3301257"/>
            <a:ext cx="1640889" cy="10925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C:\Users\user\Desktop\xpic7085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55190" y="3301256"/>
            <a:ext cx="1639965" cy="1092502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1"/>
          <p:cNvSpPr>
            <a:spLocks noChangeArrowheads="1"/>
          </p:cNvSpPr>
          <p:nvPr/>
        </p:nvSpPr>
        <p:spPr bwMode="auto">
          <a:xfrm>
            <a:off x="7108347" y="2423840"/>
            <a:ext cx="184272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7130" y="3254358"/>
            <a:ext cx="1675422" cy="113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7142294" y="1677363"/>
            <a:ext cx="979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zh-CN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4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矩形 28"/>
          <p:cNvSpPr>
            <a:spLocks noChangeArrowheads="1"/>
          </p:cNvSpPr>
          <p:nvPr/>
        </p:nvSpPr>
        <p:spPr bwMode="auto">
          <a:xfrm>
            <a:off x="7082462" y="2562165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电子邮件服务</a:t>
            </a: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7124591" y="2354478"/>
            <a:ext cx="1812284" cy="1192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矩形 22"/>
          <p:cNvSpPr>
            <a:spLocks noChangeArrowheads="1"/>
          </p:cNvSpPr>
          <p:nvPr/>
        </p:nvSpPr>
        <p:spPr bwMode="auto">
          <a:xfrm>
            <a:off x="8957227" y="2419208"/>
            <a:ext cx="1632802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47" name="矩形 29"/>
          <p:cNvSpPr>
            <a:spLocks noChangeArrowheads="1"/>
          </p:cNvSpPr>
          <p:nvPr/>
        </p:nvSpPr>
        <p:spPr bwMode="auto">
          <a:xfrm>
            <a:off x="8936876" y="2562165"/>
            <a:ext cx="1653154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</p:txBody>
      </p:sp>
      <p:cxnSp>
        <p:nvCxnSpPr>
          <p:cNvPr id="48" name="直接连接符 51"/>
          <p:cNvCxnSpPr>
            <a:cxnSpLocks noChangeShapeType="1"/>
          </p:cNvCxnSpPr>
          <p:nvPr/>
        </p:nvCxnSpPr>
        <p:spPr bwMode="auto">
          <a:xfrm>
            <a:off x="8915727" y="2018163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7177"/>
          <p:cNvSpPr txBox="1">
            <a:spLocks noChangeArrowheads="1"/>
          </p:cNvSpPr>
          <p:nvPr/>
        </p:nvSpPr>
        <p:spPr bwMode="auto">
          <a:xfrm>
            <a:off x="8865367" y="1699130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121" y="3291322"/>
            <a:ext cx="1467517" cy="107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3" name="直接连接符 52"/>
          <p:cNvCxnSpPr/>
          <p:nvPr/>
        </p:nvCxnSpPr>
        <p:spPr bwMode="auto">
          <a:xfrm flipV="1">
            <a:off x="8915727" y="2355074"/>
            <a:ext cx="1674303" cy="1199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81333414"/>
      </p:ext>
    </p:extLst>
  </p:cSld>
  <p:clrMapOvr>
    <a:masterClrMapping/>
  </p:clrMapOvr>
  <p:transition spd="slow">
    <p:randomBar dir="vert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4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15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3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4" grpId="0" animBg="1"/>
          <p:bldP spid="25" grpId="0" animBg="1"/>
          <p:bldP spid="26" grpId="0"/>
          <p:bldP spid="27" grpId="0"/>
          <p:bldP spid="33" grpId="0"/>
          <p:bldP spid="34" grpId="0"/>
          <p:bldP spid="35" grpId="0"/>
          <p:bldP spid="36" grpId="0"/>
          <p:bldP spid="41" grpId="0" animBg="1"/>
          <p:bldP spid="43" grpId="0"/>
          <p:bldP spid="44" grpId="0"/>
          <p:bldP spid="46" grpId="0" animBg="1"/>
          <p:bldP spid="47" grpId="0"/>
          <p:bldP spid="51" grpId="0"/>
        </p:bldLst>
      </p:timing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11964" y="2889071"/>
            <a:ext cx="7752156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35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File Transfer Protocol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TCP/IP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协议簇中的协议之一，也称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文件传输协议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，其主要功能是借助网络实现远距离主机间的文件传输。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" y="1677642"/>
            <a:ext cx="3019496" cy="4298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162803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“客户机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服务器”模式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服务器主要用于在网络上提供文件传输服务，一般会提供上传和下载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两项基本功能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上传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即用户可将客户机中的文件拷贝到远程服务器中；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下载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则是用户可从远程服务器中拷贝文件到客户机。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46178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452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服务器文件传输方式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文件传输模式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分为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传输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二进制传输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两种：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当用户拷贝的文件中只包含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简单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文本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，且客户机和服务器的操作类型不同时，一般使用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传输模式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，此时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服务器通常会自动调整文件内容，以便将文件解释为客户端主机可存储的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文本格式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若用户拷贝的文件为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代码段、数据库、压缩文件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等时，为保证保存文件时，原始文件和拷贝到的文件能完全一致，通常在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二进制传输模式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下传输文件。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955203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452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服务器的工作模式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服务在对外提供服务时需要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维护两个连接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一是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，用于传输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，该连接监听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TCP 21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号端口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二是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，用于传输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，该连接在主动传输模式下监听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TCP 20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两种工作模式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主动模式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被动模式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148719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4528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工作在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主动模式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下时，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客户机首先发起连接请求，与服务器的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号端口建立连接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连接成功后，客户端方借此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发送命令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若客户端需要传输数据，客户端会通过已建立的连接通道向服务器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发送信息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，告知服务器客户端中接收数据的端口，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之后服务器则通过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号端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口连接到客户端指定的端口并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传送数据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简而言之，在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主动模式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控制连接的发起方是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客户机，而数据连接的发起方为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服务器。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421017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工作在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被动模式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下时，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客户端首先发起连接请求，与服务器的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号端口建立控制连接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之后仍由客户端发送信息，请求与服务器建立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服务器接收到此请求后，会随机打开一个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高端端口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（端口号一般大于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1024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），并将该端口号告知客户端，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此时客户端与服务器的该端口再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建立数据连接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，通过该通道进行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数据传递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综上所述，在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被动模式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控制连接和数据连接的发起方都为客户机。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38336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502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原意为“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Very Security FTP”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，即“非常安全的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系统下最常用的一种免费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服务器软件。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优点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安全、高速、稳定、小巧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单机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上可支持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4000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以上的用户同时连接，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最多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可支持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1500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并发用户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74277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的用户类型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为了提高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服务器的安全性，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将用户分为：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匿名用户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系统默认支持匿名用户登录与访问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默认的匿名用户有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anonymous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，密码为空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服务器中的工作目录为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/var/ftp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本地用户（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/passwd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文件中的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用户）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虚拟用户（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服务器的专用用户）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729292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的用户类型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为了提高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服务器的安全性，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将用户分为：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匿名用户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本地用户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passswd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文件中存储的、使用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操作系统的用户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对应的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服务器根目录为该用户的宿主目录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默认情况下，可访问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服务器中除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目录下的所有资料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虚拟用户（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服务器的专用用户）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145790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5.5.1FTP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D0B31C-E789-1899-461F-C817E890C3E1}"/>
              </a:ext>
            </a:extLst>
          </p:cNvPr>
          <p:cNvSpPr/>
          <p:nvPr/>
        </p:nvSpPr>
        <p:spPr>
          <a:xfrm>
            <a:off x="617949" y="1187213"/>
            <a:ext cx="10968626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的用户类型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为了提高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服务器的安全性，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将用户分为：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匿名用户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本地用户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虚拟用户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服务器的专有用户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只能访问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服务器提供的资源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用户名和口令保存在数据库文件或数据库服务器中</a:t>
            </a:r>
            <a:endParaRPr lang="zh-CN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172734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23A5FE-A5DF-12C1-1F58-0AF8C37A92A3}"/>
              </a:ext>
            </a:extLst>
          </p:cNvPr>
          <p:cNvSpPr/>
          <p:nvPr/>
        </p:nvSpPr>
        <p:spPr>
          <a:xfrm>
            <a:off x="617949" y="1187213"/>
            <a:ext cx="10968626" cy="15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、安装并启动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yum -y install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start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vsftpd.service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603924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253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的配置文件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服务的配置文件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主要为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主配置文件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vsftpd.conf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用户控制配置文件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用户列表配置文件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user_list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603630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vsftpd.conf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原始配置如下所示：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B57631-440E-3E51-865E-022DB174F85E}"/>
              </a:ext>
            </a:extLst>
          </p:cNvPr>
          <p:cNvSpPr/>
          <p:nvPr/>
        </p:nvSpPr>
        <p:spPr>
          <a:xfrm>
            <a:off x="850110" y="2254615"/>
            <a:ext cx="1048702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anonymous_enable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开启匿名登录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local_enable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	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开启本地用户登录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write_enable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	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开启写入功能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local_umask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=022		#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设置本地用户创建文件的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umask</a:t>
            </a:r>
            <a:r>
              <a:rPr lang="zh-CN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值为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022</a:t>
            </a:r>
            <a:endParaRPr lang="zh-CN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dirmessage_enable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激活目录消息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xferlog_enable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	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激活上传、下载功能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connect_from_port_20=YES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服务器的数据连接端口为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xferlog_std_format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将日志文件格式设置为标准的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服务器日志格式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listen=NO		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该选项与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listen_ipv6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不可并存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listen_ipv6=YES	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接受来自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IPv4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IPv6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客户端的连接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pam_service_name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指定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将使用的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PAM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服务的名称为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endParaRPr lang="zh-CN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userlist_enable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	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加载用户名列表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tcp_wrappers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=YES		#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tcp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wrapper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结合使用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170533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）用户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文件内容是一个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用户列表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，该文件的功能是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限制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用户名单中的用户登录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服务器需要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拒绝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某个用户访问，直接将该用户的用户名写在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文件的末尾即可。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482674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303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）用户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user_list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保存一个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用户名单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，该配置文件有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两个功能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一是只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允许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此文件列表中的用户登录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服务器，但若用户名同时存在于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user_list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中，则此用户无法登录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服务器；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二是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拒绝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user_list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文件中的用户登录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服务器，该功能为默认功能。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576416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40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）限制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排除名单文件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chroot_list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chroot_list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中存储的也是用户名单，其路径由主配置文件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vsftpd.conf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中的选项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chroot_list_file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指定。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chroot_list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文件的有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两个功能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一是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限制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，即用户名单中的用户只能在其主目录中活动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二是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排除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，即用户名单中的用户不只能访问自己的主目录，还能跳出主目录，浏览服务器上的其它目录。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893057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客户端安装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采用“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客户机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服务器”模式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，若想使用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服务器提供的功能，还需在系统中安装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客户端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。具体的安装命令如下：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yum -y install ftp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937819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5.5.2VSFTP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简介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、匿名登录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主配置文件中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anonymous_enable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的初始值为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YES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，即可以使用匿名用户登录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服务器，此处我们先使用匿名用户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服务器，具体命令如下：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7440C3-3C25-04C6-508C-4AEB79382F0C}"/>
              </a:ext>
            </a:extLst>
          </p:cNvPr>
          <p:cNvSpPr/>
          <p:nvPr/>
        </p:nvSpPr>
        <p:spPr>
          <a:xfrm>
            <a:off x="2553515" y="2947606"/>
            <a:ext cx="708497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s-E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 192.168.255.157</a:t>
            </a:r>
          </a:p>
          <a:p>
            <a:pPr indent="457200" defTabSz="720725" latinLnBrk="1"/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验证匿名用户身份，具体如下所示：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Connected to 192.168.255.157 (192.168.255.157).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220 (vsFTPd 3.0.2)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 (192.168.255.157:root): </a:t>
            </a:r>
            <a:r>
              <a:rPr lang="es-E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331 Please specify the password.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Password: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230 Login successful.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Remote system type is UNIX.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Using binary mode to transfer files.</a:t>
            </a:r>
          </a:p>
          <a:p>
            <a:pPr indent="457200" defTabSz="720725" latinLnBrk="1"/>
            <a:r>
              <a:rPr lang="es-E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395725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153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、创建本地用户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useradd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Tom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passwd Tom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930150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103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、编辑主配置文件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 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vsftpd.conf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vf.bak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12D0CD-B570-9EF9-7C1C-6741A4428F6E}"/>
              </a:ext>
            </a:extLst>
          </p:cNvPr>
          <p:cNvSpPr/>
          <p:nvPr/>
        </p:nvSpPr>
        <p:spPr>
          <a:xfrm>
            <a:off x="425355" y="2436646"/>
            <a:ext cx="11341289" cy="3731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anonymous_enable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=YES 		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允许匿名用户访问 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write_enable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=YES 			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允许登录用户有写权限（全局设置）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anon_root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=/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/ftp 			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指定匿名用户登录的目录 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anon_upload_enable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=YES 		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打开匿名用户有上传文件的权限 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anon_other_write_enable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=YES	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打开匿名用户删除和重命名的权限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anon_mkdir_write_enable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=YES 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打开匿名用户新增目录的权限 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chown_uploads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=YES 			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设置是否改变匿名用户上传文件的属主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chown_username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=Tom		#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设置匿名用户上传文件的属主名</a:t>
            </a:r>
          </a:p>
        </p:txBody>
      </p:sp>
      <p:sp>
        <p:nvSpPr>
          <p:cNvPr id="4" name="矩形标注 1">
            <a:extLst>
              <a:ext uri="{FF2B5EF4-FFF2-40B4-BE49-F238E27FC236}">
                <a16:creationId xmlns:a16="http://schemas.microsoft.com/office/drawing/2014/main" id="{BCC7169C-80C7-66B6-4076-092E213A33CD}"/>
              </a:ext>
            </a:extLst>
          </p:cNvPr>
          <p:cNvSpPr/>
          <p:nvPr/>
        </p:nvSpPr>
        <p:spPr>
          <a:xfrm>
            <a:off x="9116704" y="1255594"/>
            <a:ext cx="2265529" cy="723331"/>
          </a:xfrm>
          <a:prstGeom prst="wedgeRectCallout">
            <a:avLst>
              <a:gd name="adj1" fmla="val -72038"/>
              <a:gd name="adj2" fmla="val 1096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修改主配置文件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623055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、创建匿名上传目录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527A43-271E-F2FF-28E5-0CDC30ECE7F0}"/>
              </a:ext>
            </a:extLst>
          </p:cNvPr>
          <p:cNvSpPr/>
          <p:nvPr/>
        </p:nvSpPr>
        <p:spPr>
          <a:xfrm>
            <a:off x="532262" y="2065174"/>
            <a:ext cx="11341289" cy="142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mkdir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/var/ftp/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	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创建一个目录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chown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ftp.ftp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/var/ftp/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更改其所属组和所有者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chmod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777 /var/ftp/</a:t>
            </a:r>
            <a:r>
              <a:rPr lang="en-US" altLang="zh-CN" sz="20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	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修改其权限为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777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424724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5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、配置防火墙和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的两种方法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方法分别如下：</a:t>
            </a: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①关闭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防火墙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root@localhost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~]# 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stop 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firewalld.service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②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开启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21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号端口的访问权限</a:t>
            </a:r>
          </a:p>
          <a:p>
            <a:pPr marL="1714500" lvl="3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root@localhost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~]# 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firewall-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cmd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--add-port=21/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tcp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–permanent</a:t>
            </a:r>
          </a:p>
          <a:p>
            <a:pPr marL="800100" lvl="1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关闭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SELinux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打开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的配置文件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selinux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/config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，将其中的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SELINUX=enforcing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改为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SELINUX=disabled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，之后重启计算机。</a:t>
            </a:r>
          </a:p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666559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、测试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204154-20D3-906C-BAA9-F45EAE7C8CE9}"/>
              </a:ext>
            </a:extLst>
          </p:cNvPr>
          <p:cNvSpPr/>
          <p:nvPr/>
        </p:nvSpPr>
        <p:spPr>
          <a:xfrm>
            <a:off x="532262" y="1667793"/>
            <a:ext cx="11341289" cy="465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）登录测试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从物理机的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盘打开命令行窗口（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shift+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鼠标左键，选择“在此处打开命令窗口”），使用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命令连接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服务器，并通过匿名用户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登录。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E:\&gt;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 192.168.255.157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连接到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192.168.255.157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220 (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3.0.2)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(192.168.255.157:(none)):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匿名登录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331 Please specify the password.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密码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230 Login successful.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登录成功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865073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、测试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4AEF64-4FE4-9D45-A162-B26BD5DC49E2}"/>
              </a:ext>
            </a:extLst>
          </p:cNvPr>
          <p:cNvSpPr/>
          <p:nvPr/>
        </p:nvSpPr>
        <p:spPr>
          <a:xfrm>
            <a:off x="532262" y="1767802"/>
            <a:ext cx="1134128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/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）下载功能测试</a:t>
            </a:r>
          </a:p>
          <a:p>
            <a:pPr indent="457200" defTabSz="720725" latinLnBrk="1"/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服务器下载文件的命令为“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get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文件名”，此处先使用“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ls -l”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命令查看登入目录中的文件列表，再使用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get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命令下载文件，具体操作如下：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ls –l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查看登入目录中文件列表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200 PORT command successful. Consider using PASV.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150 Here comes the directory listing.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rw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-r--r--    1 0        0               0 Nov 17 02:01 aa.txt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drwxr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--r--    3 0        1003           26 Nov 17 07:21 pub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drwxrwxrwx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   2 0        50             20 Nov 17 07:34 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226 Directory send OK.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ftp: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收到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190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字节，用时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0.00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190000.00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千字节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秒。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get aa.txt	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下载文件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200 PORT command successful. Consider using PASV.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150 Opening BINARY mode data connection for aa.txt (0 bytes).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226 Transfer complete.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078095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、测试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D912E7-0513-55BE-DA7A-925B075203B6}"/>
              </a:ext>
            </a:extLst>
          </p:cNvPr>
          <p:cNvSpPr/>
          <p:nvPr/>
        </p:nvSpPr>
        <p:spPr>
          <a:xfrm>
            <a:off x="425103" y="1889246"/>
            <a:ext cx="11341289" cy="419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）上传功能测试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客户端可通过“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put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文件名”命令上传文件到服务器，前文已在服务器端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的主配置文件中配置了匿名用户的登入目录为“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/ftp”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，默认情况下使用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put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命令后文件将被上传到“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var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/ftp”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目录，但匿名用户对该目录并不具有写入权限，因此无法向该目录中上传文件，对此进行验证，具体操作如下：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put test.jpg	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向登入目录上传文件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200 PORT command successful. Consider using PASV.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553 Could not create file.</a:t>
            </a:r>
          </a:p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由以上命令执行结果可知，本次上传失败。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115473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、测试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E01B75-824F-38D1-F618-1F01CCCFFCDB}"/>
              </a:ext>
            </a:extLst>
          </p:cNvPr>
          <p:cNvSpPr/>
          <p:nvPr/>
        </p:nvSpPr>
        <p:spPr>
          <a:xfrm>
            <a:off x="425102" y="1817812"/>
            <a:ext cx="1134128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）上传功能测试</a:t>
            </a:r>
          </a:p>
          <a:p>
            <a:pPr indent="457200" defTabSz="720725" latinLnBrk="1"/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cd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命令进入匿名用户具有全部权限的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目录，再次尝试上传文件，具体操作如下：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cd 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切换到权限为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777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250 Directory successfully changed.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ls –l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打印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文件列表，列表为空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200 PORT command successful. Consider using PASV.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150 Here comes the directory listing.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226 Directory send OK.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put test.jpg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再次尝试上传文件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200 PORT command successful. Consider using PASV.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上传成功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150 Ok to send data.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226 Transfer complete.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ftp: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发送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19234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字节，用时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0.00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6411.33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千字节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16401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、测试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B2BCB0-09F2-0AD8-3B57-094E9BD57609}"/>
              </a:ext>
            </a:extLst>
          </p:cNvPr>
          <p:cNvSpPr/>
          <p:nvPr/>
        </p:nvSpPr>
        <p:spPr>
          <a:xfrm>
            <a:off x="425102" y="2639346"/>
            <a:ext cx="11341289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）上传功能测试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ls –l	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中的文件列表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200 PORT command successful. Consider using PASV.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150 Here comes the directory listing.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rw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-------    1 1005     50          19234 Nov 17 08:12 test.jpg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226 Directory send OK.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ftp: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收到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64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字节，用时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0.00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64.00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千字节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345884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539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、测试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660EED-0A3D-31F7-C377-965F399FF928}"/>
              </a:ext>
            </a:extLst>
          </p:cNvPr>
          <p:cNvSpPr/>
          <p:nvPr/>
        </p:nvSpPr>
        <p:spPr>
          <a:xfrm>
            <a:off x="425103" y="1924969"/>
            <a:ext cx="1134128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/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）目录创建功能测试</a:t>
            </a:r>
          </a:p>
          <a:p>
            <a:pPr indent="457200" defTabSz="720725" latinLnBrk="1"/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目录创建功能同样需要写入权限，在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目录中使用“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mkdir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命令，创建目录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dir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，具体操作如下：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mkdir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dir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创建目录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257 "/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userdir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dir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" created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创建成功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ls –l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					#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查看文件列表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200 PORT command successful. Consider using PASV.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150 Here comes the directory listing.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rw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-------    1 1005     50          19234 Nov 17 08:12 test.jpg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drwx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------    2 14       50              6 Nov 17 08:43 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dir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226 Directory send OK.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ftp: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收到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125 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字节，用时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0.00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 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125000.00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千字节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秒。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115640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5.5.3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配置匿名服务器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73717-334F-1913-5158-39B1A3C256C0}"/>
              </a:ext>
            </a:extLst>
          </p:cNvPr>
          <p:cNvSpPr/>
          <p:nvPr/>
        </p:nvSpPr>
        <p:spPr>
          <a:xfrm>
            <a:off x="617949" y="1187213"/>
            <a:ext cx="10968626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defTabSz="720725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服务器中的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普通本地用户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一般都拥有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登录、上传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文件的权限，但在某些情况下，我们要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限制部分用户的功能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，禁止其登录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服务器，又需在系统中保留该用户时，可将这部分用户添加到用户控制配置文件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中，如此当这些用户视图登录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服务器时，便会收到来自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服务器的警告。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5612514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禁止指定用户登录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2262" y="1182012"/>
            <a:ext cx="1134128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>
              <a:lnSpc>
                <a:spcPct val="150000"/>
              </a:lnSpc>
            </a:pP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先来查看</a:t>
            </a:r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文件中已经存在的用户，使用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cat</a:t>
            </a:r>
            <a:r>
              <a:rPr lang="zh-CN" altLang="en-US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命令查看其中内容，具体内容如下：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# Users that are not allowed to login via ftp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root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bin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daemon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adm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lp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sync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shutdown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halt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mail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news</a:t>
            </a:r>
          </a:p>
          <a:p>
            <a:pPr indent="457200" defTabSz="720725" latinLnBrk="1"/>
            <a:r>
              <a:rPr lang="en-US" altLang="zh-CN" sz="20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uucp</a:t>
            </a:r>
            <a:endParaRPr lang="en-US" altLang="zh-CN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operator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games</a:t>
            </a:r>
          </a:p>
          <a:p>
            <a:pPr indent="457200" defTabSz="720725" latinLnBrk="1"/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nobody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-947073" y="1774984"/>
            <a:ext cx="7907431" cy="7465952"/>
            <a:chOff x="-947073" y="1774984"/>
            <a:chExt cx="7907431" cy="7465952"/>
          </a:xfrm>
        </p:grpSpPr>
        <p:sp>
          <p:nvSpPr>
            <p:cNvPr id="2" name="弧形 1"/>
            <p:cNvSpPr/>
            <p:nvPr/>
          </p:nvSpPr>
          <p:spPr>
            <a:xfrm rot="1418321">
              <a:off x="-947073" y="1774984"/>
              <a:ext cx="3812660" cy="7465952"/>
            </a:xfrm>
            <a:prstGeom prst="arc">
              <a:avLst>
                <a:gd name="adj1" fmla="val 16205744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3562066" y="3289940"/>
              <a:ext cx="3398292" cy="9547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zh-CN" dirty="0">
                  <a:solidFill>
                    <a:srgbClr val="FF0000"/>
                  </a:solidFill>
                </a:rPr>
                <a:t>用户</a:t>
              </a:r>
              <a:r>
                <a:rPr lang="en-US" altLang="zh-CN" dirty="0" err="1">
                  <a:solidFill>
                    <a:srgbClr val="FF0000"/>
                  </a:solidFill>
                </a:rPr>
                <a:t>itheima</a:t>
              </a:r>
              <a:r>
                <a:rPr lang="zh-CN" altLang="zh-CN" dirty="0">
                  <a:solidFill>
                    <a:srgbClr val="FF0000"/>
                  </a:solidFill>
                </a:rPr>
                <a:t>并不在禁止登录名单中，因此此处以</a:t>
              </a:r>
              <a:r>
                <a:rPr lang="en-US" altLang="zh-CN" dirty="0" err="1">
                  <a:solidFill>
                    <a:srgbClr val="FF0000"/>
                  </a:solidFill>
                </a:rPr>
                <a:t>itheima</a:t>
              </a:r>
              <a:r>
                <a:rPr lang="zh-CN" altLang="zh-CN" dirty="0">
                  <a:solidFill>
                    <a:srgbClr val="FF0000"/>
                  </a:solidFill>
                </a:rPr>
                <a:t>作为实验对象进行演示。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9519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禁止指定用户登录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2262" y="1163021"/>
            <a:ext cx="1134128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</a:p>
          <a:p>
            <a:pPr indent="457200" defTabSz="720725" latinLnBrk="1"/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初始时用户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应能正常登录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服务器，使用该账户登录，过程及结果如下所示：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root@localhost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~]#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 localhost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Trying ::1...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Connected to localhost (::1).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220 (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3.0.2)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 (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localhost:root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):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331 Please specify the password.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Password: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230 Login successful.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Remote system type is UNIX.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Using binary mode to transfer files.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7301552" y="4285397"/>
            <a:ext cx="2251881" cy="573206"/>
          </a:xfrm>
          <a:prstGeom prst="wedgeRectCallout">
            <a:avLst>
              <a:gd name="adj1" fmla="val -187500"/>
              <a:gd name="adj2" fmla="val 910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</a:t>
            </a:r>
            <a:r>
              <a:rPr lang="en-US" altLang="zh-CN" dirty="0" err="1"/>
              <a:t>itheima</a:t>
            </a:r>
            <a:r>
              <a:rPr lang="zh-CN" altLang="en-US" dirty="0"/>
              <a:t>可正常登陆</a:t>
            </a:r>
            <a:r>
              <a:rPr lang="en-US" altLang="zh-CN" dirty="0"/>
              <a:t>FTP</a:t>
            </a:r>
            <a:r>
              <a:rPr lang="zh-CN" altLang="en-US" dirty="0"/>
              <a:t>服务器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642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禁止指定用户登录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2262" y="1163021"/>
            <a:ext cx="1134128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、修改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</a:p>
          <a:p>
            <a:pPr indent="457200" defTabSz="720725" latinLnBrk="1"/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编辑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文件，将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追加到其中，如下所示：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pPr indent="457200" defTabSz="720725" latinLnBrk="1"/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uucp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operator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games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nobody</a:t>
            </a:r>
          </a:p>
          <a:p>
            <a:pPr indent="457200" defTabSz="720725" latinLnBrk="1"/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5418161" y="3125337"/>
            <a:ext cx="2251881" cy="573206"/>
          </a:xfrm>
          <a:prstGeom prst="wedgeRectCallout">
            <a:avLst>
              <a:gd name="adj1" fmla="val -187500"/>
              <a:gd name="adj2" fmla="val 910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将用户</a:t>
            </a:r>
            <a:r>
              <a:rPr lang="en-US" altLang="zh-CN" dirty="0" err="1"/>
              <a:t>itheima</a:t>
            </a:r>
            <a:r>
              <a:rPr lang="zh-CN" altLang="en-US" dirty="0"/>
              <a:t>写入</a:t>
            </a:r>
            <a:r>
              <a:rPr lang="en-US" altLang="zh-CN" dirty="0" err="1"/>
              <a:t>ftpusers</a:t>
            </a:r>
            <a:r>
              <a:rPr lang="zh-CN" altLang="en-US" dirty="0"/>
              <a:t>文件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871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5.5.4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禁止指定用户登录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2262" y="1163021"/>
            <a:ext cx="1134128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、修改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ftpusers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</a:p>
          <a:p>
            <a:pPr indent="457200" defTabSz="720725" latinLnBrk="1"/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保存修改，使用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systemctl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命令重启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服务器，再次使用用户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登录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服务器，过程及结果如下：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root@localhost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~]# ftp localhost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Trying ::1...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Connected to localhost (::1).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220 (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vsFTPd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3.0.2)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Name (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localhost:root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): 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itheima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331 Please specify the password.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Password: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530 Login incorrect.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Login failed.</a:t>
            </a:r>
          </a:p>
          <a:p>
            <a:pPr indent="457200" defTabSz="720725" latinLnBrk="1"/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ftp&gt;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7028596" y="4162567"/>
            <a:ext cx="2251881" cy="573206"/>
          </a:xfrm>
          <a:prstGeom prst="wedgeRectCallout">
            <a:avLst>
              <a:gd name="adj1" fmla="val -187500"/>
              <a:gd name="adj2" fmla="val 910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</a:t>
            </a:r>
            <a:r>
              <a:rPr lang="en-US" altLang="zh-CN" dirty="0" err="1"/>
              <a:t>itheima</a:t>
            </a:r>
            <a:r>
              <a:rPr lang="zh-CN" altLang="en-US" dirty="0"/>
              <a:t>登陆</a:t>
            </a:r>
            <a:r>
              <a:rPr lang="en-US" altLang="zh-CN" dirty="0"/>
              <a:t>FTP</a:t>
            </a:r>
            <a:r>
              <a:rPr lang="zh-CN" altLang="en-US" dirty="0"/>
              <a:t>服务器失败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535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8"/>
          <p:cNvGrpSpPr/>
          <p:nvPr/>
        </p:nvGrpSpPr>
        <p:grpSpPr>
          <a:xfrm rot="18087484">
            <a:off x="2739771" y="2546690"/>
            <a:ext cx="313548" cy="626933"/>
            <a:chOff x="6660232" y="483518"/>
            <a:chExt cx="432048" cy="864096"/>
          </a:xfrm>
        </p:grpSpPr>
        <p:sp>
          <p:nvSpPr>
            <p:cNvPr id="16" name="等腰三角形 15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7" name="等腰三角形 16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18" name="组合 21"/>
          <p:cNvGrpSpPr/>
          <p:nvPr/>
        </p:nvGrpSpPr>
        <p:grpSpPr>
          <a:xfrm rot="12676450">
            <a:off x="5028875" y="5248224"/>
            <a:ext cx="188576" cy="377250"/>
            <a:chOff x="6660232" y="483518"/>
            <a:chExt cx="432048" cy="864096"/>
          </a:xfrm>
        </p:grpSpPr>
        <p:sp>
          <p:nvSpPr>
            <p:cNvPr id="19" name="等腰三角形 1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4" name="组合 27"/>
          <p:cNvGrpSpPr/>
          <p:nvPr/>
        </p:nvGrpSpPr>
        <p:grpSpPr>
          <a:xfrm rot="20465634">
            <a:off x="5427304" y="1591546"/>
            <a:ext cx="99851" cy="199754"/>
            <a:chOff x="6660232" y="483518"/>
            <a:chExt cx="432048" cy="864096"/>
          </a:xfrm>
        </p:grpSpPr>
        <p:sp>
          <p:nvSpPr>
            <p:cNvPr id="25" name="等腰三角形 2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7" name="组合 30"/>
          <p:cNvGrpSpPr/>
          <p:nvPr/>
        </p:nvGrpSpPr>
        <p:grpSpPr>
          <a:xfrm rot="16914716">
            <a:off x="3478357" y="3392275"/>
            <a:ext cx="194279" cy="388456"/>
            <a:chOff x="6660232" y="483518"/>
            <a:chExt cx="432048" cy="864096"/>
          </a:xfrm>
        </p:grpSpPr>
        <p:sp>
          <p:nvSpPr>
            <p:cNvPr id="28" name="等腰三角形 27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0" name="组合 33"/>
          <p:cNvGrpSpPr/>
          <p:nvPr/>
        </p:nvGrpSpPr>
        <p:grpSpPr>
          <a:xfrm rot="13948803">
            <a:off x="906343" y="4633954"/>
            <a:ext cx="287684" cy="575217"/>
            <a:chOff x="6660232" y="483518"/>
            <a:chExt cx="432048" cy="864096"/>
          </a:xfrm>
        </p:grpSpPr>
        <p:sp>
          <p:nvSpPr>
            <p:cNvPr id="31" name="等腰三角形 30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2" name="等腰三角形 31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3" name="组合 36"/>
          <p:cNvGrpSpPr/>
          <p:nvPr/>
        </p:nvGrpSpPr>
        <p:grpSpPr>
          <a:xfrm rot="13953194">
            <a:off x="2464585" y="4392860"/>
            <a:ext cx="274805" cy="549466"/>
            <a:chOff x="6660232" y="483518"/>
            <a:chExt cx="432048" cy="864096"/>
          </a:xfrm>
        </p:grpSpPr>
        <p:sp>
          <p:nvSpPr>
            <p:cNvPr id="34" name="等腰三角形 33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5" name="等腰三角形 34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6" name="组合 39"/>
          <p:cNvGrpSpPr/>
          <p:nvPr/>
        </p:nvGrpSpPr>
        <p:grpSpPr>
          <a:xfrm rot="19166967">
            <a:off x="3295492" y="1914864"/>
            <a:ext cx="139828" cy="279727"/>
            <a:chOff x="6660232" y="483518"/>
            <a:chExt cx="432048" cy="864096"/>
          </a:xfrm>
        </p:grpSpPr>
        <p:sp>
          <p:nvSpPr>
            <p:cNvPr id="37" name="等腰三角形 36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8" name="等腰三角形 37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51" name="等腰三角形 50"/>
          <p:cNvSpPr/>
          <p:nvPr/>
        </p:nvSpPr>
        <p:spPr>
          <a:xfrm rot="6229131">
            <a:off x="3474683" y="2475896"/>
            <a:ext cx="111867" cy="173792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2" name="等腰三角形 51"/>
          <p:cNvSpPr/>
          <p:nvPr/>
        </p:nvSpPr>
        <p:spPr>
          <a:xfrm rot="7496882">
            <a:off x="3731670" y="1699838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3" name="等腰三角形 52"/>
          <p:cNvSpPr/>
          <p:nvPr/>
        </p:nvSpPr>
        <p:spPr>
          <a:xfrm rot="7278906">
            <a:off x="2592230" y="1885474"/>
            <a:ext cx="198348" cy="308146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4" name="等腰三角形 53"/>
          <p:cNvSpPr/>
          <p:nvPr/>
        </p:nvSpPr>
        <p:spPr>
          <a:xfrm rot="1068765">
            <a:off x="2948935" y="3869120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5" name="等腰三角形 54"/>
          <p:cNvSpPr/>
          <p:nvPr/>
        </p:nvSpPr>
        <p:spPr>
          <a:xfrm rot="17959049">
            <a:off x="4422158" y="4602010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6" name="等腰三角形 55"/>
          <p:cNvSpPr/>
          <p:nvPr/>
        </p:nvSpPr>
        <p:spPr>
          <a:xfrm rot="4382759">
            <a:off x="3095593" y="5009675"/>
            <a:ext cx="146369" cy="227393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7" name="等腰三角形 56"/>
          <p:cNvSpPr/>
          <p:nvPr/>
        </p:nvSpPr>
        <p:spPr>
          <a:xfrm rot="2697357">
            <a:off x="3950026" y="5441071"/>
            <a:ext cx="121153" cy="188317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8" name="等腰三角形 57"/>
          <p:cNvSpPr/>
          <p:nvPr/>
        </p:nvSpPr>
        <p:spPr>
          <a:xfrm rot="3556479">
            <a:off x="3959493" y="4040850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61" name="直接连接符 68"/>
          <p:cNvCxnSpPr/>
          <p:nvPr/>
        </p:nvCxnSpPr>
        <p:spPr>
          <a:xfrm flipH="1">
            <a:off x="1525190" y="1070746"/>
            <a:ext cx="1223817" cy="1224136"/>
          </a:xfrm>
          <a:prstGeom prst="line">
            <a:avLst/>
          </a:prstGeom>
          <a:ln>
            <a:solidFill>
              <a:srgbClr val="EF5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9"/>
          <p:cNvCxnSpPr/>
          <p:nvPr/>
        </p:nvCxnSpPr>
        <p:spPr>
          <a:xfrm flipH="1">
            <a:off x="7852899" y="1023764"/>
            <a:ext cx="1474501" cy="1463953"/>
          </a:xfrm>
          <a:prstGeom prst="line">
            <a:avLst/>
          </a:prstGeom>
          <a:ln>
            <a:solidFill>
              <a:srgbClr val="B86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72"/>
          <p:cNvCxnSpPr/>
          <p:nvPr/>
        </p:nvCxnSpPr>
        <p:spPr>
          <a:xfrm flipH="1">
            <a:off x="1722905" y="4773360"/>
            <a:ext cx="1474501" cy="1463953"/>
          </a:xfrm>
          <a:prstGeom prst="line">
            <a:avLst/>
          </a:prstGeom>
          <a:ln>
            <a:solidFill>
              <a:srgbClr val="45D4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1"/>
          <p:cNvSpPr txBox="1"/>
          <p:nvPr/>
        </p:nvSpPr>
        <p:spPr>
          <a:xfrm>
            <a:off x="2294286" y="424987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</a:p>
        </p:txBody>
      </p:sp>
      <p:sp>
        <p:nvSpPr>
          <p:cNvPr id="67" name="矩形 66"/>
          <p:cNvSpPr/>
          <p:nvPr/>
        </p:nvSpPr>
        <p:spPr>
          <a:xfrm>
            <a:off x="5165309" y="1493879"/>
            <a:ext cx="6492356" cy="445904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本章主要对计算机网络基础知识与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系统中常用的网络服务进行了讲解，通过对本章的学习，读者应对与计算机网络相关的基础知识，包括协议与体系结构、网络数据传输流程、网络寻址方式等有所了解，掌握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系统中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服务、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DNS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服务、电子邮件服务、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FTP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的工作原理，并能在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环境下实现各种服务软件的安装与基础配置。</a:t>
            </a:r>
          </a:p>
        </p:txBody>
      </p:sp>
      <p:grpSp>
        <p:nvGrpSpPr>
          <p:cNvPr id="68" name="组合 5"/>
          <p:cNvGrpSpPr/>
          <p:nvPr/>
        </p:nvGrpSpPr>
        <p:grpSpPr>
          <a:xfrm rot="1223044">
            <a:off x="4619962" y="1671811"/>
            <a:ext cx="194228" cy="388557"/>
            <a:chOff x="6660232" y="483518"/>
            <a:chExt cx="432048" cy="864096"/>
          </a:xfrm>
        </p:grpSpPr>
        <p:sp>
          <p:nvSpPr>
            <p:cNvPr id="69" name="等腰三角形 6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0" name="等腰三角形 6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1" name="组合 9"/>
          <p:cNvGrpSpPr/>
          <p:nvPr/>
        </p:nvGrpSpPr>
        <p:grpSpPr>
          <a:xfrm rot="6407950">
            <a:off x="8821748" y="5205250"/>
            <a:ext cx="349232" cy="698282"/>
            <a:chOff x="6660232" y="483518"/>
            <a:chExt cx="432048" cy="864096"/>
          </a:xfrm>
        </p:grpSpPr>
        <p:sp>
          <p:nvSpPr>
            <p:cNvPr id="72" name="等腰三角形 71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3" name="等腰三角形 72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4" name="组合 12"/>
          <p:cNvGrpSpPr/>
          <p:nvPr/>
        </p:nvGrpSpPr>
        <p:grpSpPr>
          <a:xfrm rot="6226596">
            <a:off x="10509660" y="5333370"/>
            <a:ext cx="377870" cy="755543"/>
            <a:chOff x="6660232" y="483518"/>
            <a:chExt cx="432048" cy="864096"/>
          </a:xfrm>
        </p:grpSpPr>
        <p:sp>
          <p:nvSpPr>
            <p:cNvPr id="75" name="等腰三角形 7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6" name="等腰三角形 7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77" name="等腰三角形 76"/>
          <p:cNvSpPr/>
          <p:nvPr/>
        </p:nvSpPr>
        <p:spPr>
          <a:xfrm rot="12209274">
            <a:off x="3340616" y="1481684"/>
            <a:ext cx="224553" cy="336917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等腰三角形 77"/>
          <p:cNvSpPr/>
          <p:nvPr/>
        </p:nvSpPr>
        <p:spPr>
          <a:xfrm rot="1409274">
            <a:off x="4462529" y="2918608"/>
            <a:ext cx="224553" cy="112306"/>
          </a:xfrm>
          <a:prstGeom prst="triangle">
            <a:avLst>
              <a:gd name="adj" fmla="val 63228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grpSp>
        <p:nvGrpSpPr>
          <p:cNvPr id="79" name="组合 24"/>
          <p:cNvGrpSpPr/>
          <p:nvPr/>
        </p:nvGrpSpPr>
        <p:grpSpPr>
          <a:xfrm rot="7346403">
            <a:off x="11657117" y="3693748"/>
            <a:ext cx="154658" cy="309235"/>
            <a:chOff x="6660232" y="483518"/>
            <a:chExt cx="432048" cy="864096"/>
          </a:xfrm>
        </p:grpSpPr>
        <p:sp>
          <p:nvSpPr>
            <p:cNvPr id="80" name="等腰三角形 79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81" name="等腰三角形 80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82" name="等腰三角形 81"/>
          <p:cNvSpPr/>
          <p:nvPr/>
        </p:nvSpPr>
        <p:spPr>
          <a:xfrm rot="17675433">
            <a:off x="1343179" y="3421504"/>
            <a:ext cx="155723" cy="241925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3" name="等腰三角形 82"/>
          <p:cNvSpPr/>
          <p:nvPr/>
        </p:nvSpPr>
        <p:spPr>
          <a:xfrm rot="18842669">
            <a:off x="6062702" y="3897352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4" name="等腰三角形 83"/>
          <p:cNvSpPr/>
          <p:nvPr/>
        </p:nvSpPr>
        <p:spPr>
          <a:xfrm rot="14558547">
            <a:off x="5505625" y="2129781"/>
            <a:ext cx="155723" cy="241925"/>
          </a:xfrm>
          <a:prstGeom prst="triangle">
            <a:avLst/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5" name="等腰三角形 84"/>
          <p:cNvSpPr/>
          <p:nvPr/>
        </p:nvSpPr>
        <p:spPr>
          <a:xfrm rot="12105279">
            <a:off x="4187620" y="1175288"/>
            <a:ext cx="111838" cy="173837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6" name="等腰三角形 85"/>
          <p:cNvSpPr/>
          <p:nvPr/>
        </p:nvSpPr>
        <p:spPr>
          <a:xfrm rot="14668738">
            <a:off x="4929800" y="2224024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7" name="等腰三角形 86"/>
          <p:cNvSpPr/>
          <p:nvPr/>
        </p:nvSpPr>
        <p:spPr>
          <a:xfrm rot="17171880">
            <a:off x="9704124" y="5213536"/>
            <a:ext cx="107837" cy="167531"/>
          </a:xfrm>
          <a:prstGeom prst="triangle">
            <a:avLst>
              <a:gd name="adj" fmla="val 77077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8" name="等腰三角形 87"/>
          <p:cNvSpPr/>
          <p:nvPr/>
        </p:nvSpPr>
        <p:spPr>
          <a:xfrm rot="11654353">
            <a:off x="5276649" y="1246690"/>
            <a:ext cx="107809" cy="167575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9" name="等腰三角形 88"/>
          <p:cNvSpPr/>
          <p:nvPr/>
        </p:nvSpPr>
        <p:spPr>
          <a:xfrm rot="19005263">
            <a:off x="5227066" y="3819557"/>
            <a:ext cx="155682" cy="241988"/>
          </a:xfrm>
          <a:prstGeom prst="triangle">
            <a:avLst>
              <a:gd name="adj" fmla="val 100000"/>
            </a:avLst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0" name="等腰三角形 89"/>
          <p:cNvSpPr/>
          <p:nvPr/>
        </p:nvSpPr>
        <p:spPr>
          <a:xfrm rot="20250676">
            <a:off x="10500484" y="3433487"/>
            <a:ext cx="107809" cy="167575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1" name="等腰三角形 90"/>
          <p:cNvSpPr/>
          <p:nvPr/>
        </p:nvSpPr>
        <p:spPr>
          <a:xfrm rot="17959049">
            <a:off x="10208234" y="3008665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2" name="等腰三角形 91"/>
          <p:cNvSpPr/>
          <p:nvPr/>
        </p:nvSpPr>
        <p:spPr>
          <a:xfrm rot="1068765">
            <a:off x="936441" y="4248182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3" name="等腰三角形 92"/>
          <p:cNvSpPr/>
          <p:nvPr/>
        </p:nvSpPr>
        <p:spPr>
          <a:xfrm rot="17007495">
            <a:off x="7995445" y="5211691"/>
            <a:ext cx="155723" cy="241925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59" y="1450893"/>
            <a:ext cx="4143375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281886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474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213f57d2f34b977925c6c3f1171d95ff34084c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计算机网络概述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10.1.1协议与体系结构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1概述"/>
  <p:tag name="GENSWF_ADVANCE_TIME" val="0.00"/>
  <p:tag name="ISPRING_SLIDE_INDENT_LEVEL" val="0"/>
  <p:tag name="ISPRING_CUSTOM_TIMING_USED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用户和用户组管理"/>
  <p:tag name="GENSWF_ADVANCE_TIME" val="0.00"/>
  <p:tag name="ISPRING_SLIDE_INDENT_LEVEL" val="0"/>
  <p:tag name="ISPRING_CUSTOM_TIMING_USED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用户和用户组管理"/>
  <p:tag name="GENSWF_ADVANCE_TIME" val="0.00"/>
  <p:tag name="ISPRING_SLIDE_INDENT_LEVEL" val="0"/>
  <p:tag name="ISPRING_CUSTOM_TIMING_USED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GENSWF_SLIDE_TITLE" val="1.4远程终端访问"/>
  <p:tag name="ISPRING_SLIDE_INDENT_LEVEL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GENSWF_SLIDE_TITLE" val="1.4远程终端访问"/>
  <p:tag name="ISPRING_SLIDE_INDENT_LEVEL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页"/>
  <p:tag name="GENSWF_ADVANCE_TIME" val="0.00"/>
  <p:tag name="ISPRING_SLIDE_INDENT_LEVEL" val="0"/>
  <p:tag name="ISPRING_CUSTOM_TIMING_USED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3.2.1用户管理"/>
  <p:tag name="GENSWF_ADVANCE_TIME" val="0.00"/>
  <p:tag name="ISPRING_SLIDE_INDENT_LEVEL" val="0"/>
  <p:tag name="ISPRING_CUSTOM_TIMING_USED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3138</TotalTime>
  <Words>15599</Words>
  <Application>Microsoft Office PowerPoint</Application>
  <PresentationFormat>宽屏</PresentationFormat>
  <Paragraphs>1758</Paragraphs>
  <Slides>181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181</vt:i4>
      </vt:variant>
    </vt:vector>
  </HeadingPairs>
  <TitlesOfParts>
    <vt:vector size="192" baseType="lpstr">
      <vt:lpstr>等线</vt:lpstr>
      <vt:lpstr>等线 Light</vt:lpstr>
      <vt:lpstr>方正细倩简体</vt:lpstr>
      <vt:lpstr>微软雅黑</vt:lpstr>
      <vt:lpstr>Arial</vt:lpstr>
      <vt:lpstr>Broadway</vt:lpstr>
      <vt:lpstr>Calibri</vt:lpstr>
      <vt:lpstr>Franklin Gothic Medium</vt:lpstr>
      <vt:lpstr>Times New Roman</vt:lpstr>
      <vt:lpstr>Wingdings</vt:lpstr>
      <vt:lpstr>Office 主题​​</vt:lpstr>
      <vt:lpstr>第5章 网络服务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lucius</dc:creator>
  <cp:lastModifiedBy>Bruce Fang_cn</cp:lastModifiedBy>
  <cp:revision>240</cp:revision>
  <dcterms:created xsi:type="dcterms:W3CDTF">2016-08-25T05:35:30Z</dcterms:created>
  <dcterms:modified xsi:type="dcterms:W3CDTF">2023-03-30T10:51:13Z</dcterms:modified>
</cp:coreProperties>
</file>