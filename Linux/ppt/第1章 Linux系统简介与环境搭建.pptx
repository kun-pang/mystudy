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0" r:id="rId5"/>
    <p:sldId id="357" r:id="rId6"/>
    <p:sldId id="359" r:id="rId7"/>
    <p:sldId id="358" r:id="rId8"/>
    <p:sldId id="336" r:id="rId9"/>
    <p:sldId id="337" r:id="rId10"/>
    <p:sldId id="309" r:id="rId11"/>
    <p:sldId id="264" r:id="rId12"/>
    <p:sldId id="338" r:id="rId13"/>
    <p:sldId id="289" r:id="rId14"/>
    <p:sldId id="310" r:id="rId15"/>
    <p:sldId id="311" r:id="rId16"/>
    <p:sldId id="312" r:id="rId17"/>
    <p:sldId id="344" r:id="rId18"/>
    <p:sldId id="270" r:id="rId19"/>
    <p:sldId id="290" r:id="rId20"/>
    <p:sldId id="269" r:id="rId21"/>
    <p:sldId id="272" r:id="rId22"/>
    <p:sldId id="271" r:id="rId23"/>
    <p:sldId id="291" r:id="rId24"/>
    <p:sldId id="345" r:id="rId25"/>
    <p:sldId id="340" r:id="rId26"/>
    <p:sldId id="346" r:id="rId27"/>
    <p:sldId id="342" r:id="rId28"/>
    <p:sldId id="348" r:id="rId29"/>
    <p:sldId id="350" r:id="rId30"/>
    <p:sldId id="315" r:id="rId31"/>
    <p:sldId id="293" r:id="rId32"/>
    <p:sldId id="352" r:id="rId33"/>
    <p:sldId id="294" r:id="rId34"/>
    <p:sldId id="351" r:id="rId35"/>
    <p:sldId id="274" r:id="rId36"/>
    <p:sldId id="275" r:id="rId37"/>
    <p:sldId id="276" r:id="rId38"/>
    <p:sldId id="421" r:id="rId39"/>
    <p:sldId id="354" r:id="rId40"/>
    <p:sldId id="355" r:id="rId41"/>
    <p:sldId id="356" r:id="rId42"/>
    <p:sldId id="296" r:id="rId43"/>
    <p:sldId id="317" r:id="rId44"/>
    <p:sldId id="316" r:id="rId45"/>
    <p:sldId id="322" r:id="rId46"/>
    <p:sldId id="325" r:id="rId47"/>
    <p:sldId id="326" r:id="rId48"/>
    <p:sldId id="327" r:id="rId49"/>
    <p:sldId id="328" r:id="rId50"/>
    <p:sldId id="323" r:id="rId51"/>
    <p:sldId id="324" r:id="rId52"/>
    <p:sldId id="330" r:id="rId53"/>
    <p:sldId id="329" r:id="rId54"/>
    <p:sldId id="360" r:id="rId55"/>
    <p:sldId id="331" r:id="rId56"/>
    <p:sldId id="333" r:id="rId57"/>
    <p:sldId id="332" r:id="rId58"/>
    <p:sldId id="318" r:id="rId59"/>
    <p:sldId id="299" r:id="rId60"/>
    <p:sldId id="278" r:id="rId61"/>
    <p:sldId id="306" r:id="rId62"/>
    <p:sldId id="353" r:id="rId63"/>
    <p:sldId id="320" r:id="rId64"/>
    <p:sldId id="321" r:id="rId65"/>
    <p:sldId id="319" r:id="rId66"/>
    <p:sldId id="334" r:id="rId67"/>
    <p:sldId id="335" r:id="rId68"/>
    <p:sldId id="283" r:id="rId69"/>
  </p:sldIdLst>
  <p:sldSz cx="12192000" cy="6858000"/>
  <p:notesSz cx="6858000" cy="9144000"/>
  <p:custDataLst>
    <p:tags r:id="rId7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53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0" autoAdjust="0"/>
    <p:restoredTop sz="93321" autoAdjust="0"/>
  </p:normalViewPr>
  <p:slideViewPr>
    <p:cSldViewPr snapToGrid="0" showGuides="1">
      <p:cViewPr varScale="1">
        <p:scale>
          <a:sx n="77" d="100"/>
          <a:sy n="77" d="100"/>
        </p:scale>
        <p:origin x="80" y="536"/>
      </p:cViewPr>
      <p:guideLst>
        <p:guide orient="horz" pos="2160"/>
        <p:guide pos="3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tags" Target="tags/tag3.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74AA3-8BAA-416F-A8D3-D530C74FA47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23376C-038D-4756-9A81-5E15553BC54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3376C-038D-4756-9A81-5E15553BC54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3376C-038D-4756-9A81-5E15553BC54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3376C-038D-4756-9A81-5E15553BC54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1.jpe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596979"/>
            <a:ext cx="9144000" cy="1912983"/>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FCEA79B1-94F2-44A5-8271-BE7A17D6686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fld>
            <a:endParaRPr lang="zh-CN" altLang="en-US"/>
          </a:p>
        </p:txBody>
      </p:sp>
      <p:grpSp>
        <p:nvGrpSpPr>
          <p:cNvPr id="13" name="组合 12"/>
          <p:cNvGrpSpPr/>
          <p:nvPr userDrawn="1"/>
        </p:nvGrpSpPr>
        <p:grpSpPr>
          <a:xfrm>
            <a:off x="0" y="-1"/>
            <a:ext cx="12192000" cy="6858001"/>
            <a:chOff x="0" y="-1"/>
            <a:chExt cx="12192000" cy="6858001"/>
          </a:xfrm>
        </p:grpSpPr>
        <p:grpSp>
          <p:nvGrpSpPr>
            <p:cNvPr id="10" name="组合 9"/>
            <p:cNvGrpSpPr/>
            <p:nvPr userDrawn="1"/>
          </p:nvGrpSpPr>
          <p:grpSpPr>
            <a:xfrm>
              <a:off x="0" y="-1"/>
              <a:ext cx="12192000" cy="6858001"/>
              <a:chOff x="0" y="-1"/>
              <a:chExt cx="12192000" cy="6858001"/>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b="89495"/>
              <a:stretch>
                <a:fillRect/>
              </a:stretch>
            </p:blipFill>
            <p:spPr>
              <a:xfrm>
                <a:off x="0" y="-1"/>
                <a:ext cx="12192000" cy="720437"/>
              </a:xfrm>
              <a:prstGeom prst="rect">
                <a:avLst/>
              </a:prstGeom>
            </p:spPr>
          </p:pic>
          <p:pic>
            <p:nvPicPr>
              <p:cNvPr id="8" name="图片 7"/>
              <p:cNvPicPr>
                <a:picLocks noChangeAspect="1"/>
              </p:cNvPicPr>
              <p:nvPr userDrawn="1"/>
            </p:nvPicPr>
            <p:blipFill rotWithShape="1">
              <a:blip r:embed="rId2">
                <a:extLst>
                  <a:ext uri="{28A0092B-C50C-407E-A947-70E740481C1C}">
                    <a14:useLocalDpi xmlns:a14="http://schemas.microsoft.com/office/drawing/2010/main" val="0"/>
                  </a:ext>
                </a:extLst>
              </a:blip>
              <a:srcRect t="26173"/>
              <a:stretch>
                <a:fillRect/>
              </a:stretch>
            </p:blipFill>
            <p:spPr>
              <a:xfrm>
                <a:off x="0" y="1794933"/>
                <a:ext cx="12192000" cy="5063067"/>
              </a:xfrm>
              <a:prstGeom prst="rect">
                <a:avLst/>
              </a:prstGeom>
            </p:spPr>
          </p:pic>
          <p:pic>
            <p:nvPicPr>
              <p:cNvPr id="9" name="图片 8"/>
              <p:cNvPicPr>
                <a:picLocks noChangeAspect="1"/>
              </p:cNvPicPr>
              <p:nvPr userDrawn="1"/>
            </p:nvPicPr>
            <p:blipFill rotWithShape="1">
              <a:blip r:embed="rId2">
                <a:extLst>
                  <a:ext uri="{28A0092B-C50C-407E-A947-70E740481C1C}">
                    <a14:useLocalDpi xmlns:a14="http://schemas.microsoft.com/office/drawing/2010/main" val="0"/>
                  </a:ext>
                </a:extLst>
              </a:blip>
              <a:srcRect t="24691" b="59260"/>
              <a:stretch>
                <a:fillRect/>
              </a:stretch>
            </p:blipFill>
            <p:spPr>
              <a:xfrm>
                <a:off x="0" y="719378"/>
                <a:ext cx="12192000" cy="1100667"/>
              </a:xfrm>
              <a:prstGeom prst="rect">
                <a:avLst/>
              </a:prstGeom>
            </p:spPr>
          </p:pic>
        </p:grpSp>
        <p:pic>
          <p:nvPicPr>
            <p:cNvPr id="12" name="图片 11"/>
            <p:cNvPicPr>
              <a:picLocks noChangeAspect="1"/>
            </p:cNvPicPr>
            <p:nvPr userDrawn="1"/>
          </p:nvPicPr>
          <p:blipFill rotWithShape="1">
            <a:blip r:embed="rId3">
              <a:extLst>
                <a:ext uri="{28A0092B-C50C-407E-A947-70E740481C1C}">
                  <a14:useLocalDpi xmlns:a14="http://schemas.microsoft.com/office/drawing/2010/main" val="0"/>
                </a:ext>
              </a:extLst>
            </a:blip>
            <a:srcRect l="29194" r="-1"/>
            <a:stretch>
              <a:fillRect/>
            </a:stretch>
          </p:blipFill>
          <p:spPr>
            <a:xfrm>
              <a:off x="4552950" y="812512"/>
              <a:ext cx="3095622" cy="1238250"/>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00329" y="313611"/>
            <a:ext cx="6510271" cy="652306"/>
          </a:xfrm>
        </p:spPr>
        <p:txBody>
          <a:bodyPr>
            <a:normAutofit/>
          </a:bodyPr>
          <a:lstStyle>
            <a:lvl1pPr>
              <a:defRPr sz="3200">
                <a:solidFill>
                  <a:srgbClr val="1353A2"/>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CEA79B1-94F2-44A5-8271-BE7A17D6686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FCEA79B1-94F2-44A5-8271-BE7A17D6686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CEA79B1-94F2-44A5-8271-BE7A17D6686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8"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CEA79B1-94F2-44A5-8271-BE7A17D6686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10"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FCEA79B1-94F2-44A5-8271-BE7A17D6686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6"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EA79B1-94F2-44A5-8271-BE7A17D6686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14" name="图片 13"/>
          <p:cNvPicPr>
            <a:picLocks noChangeAspect="1"/>
          </p:cNvPicPr>
          <p:nvPr userDrawn="1"/>
        </p:nvPicPr>
        <p:blipFill>
          <a:blip r:embed="rId2"/>
          <a:stretch>
            <a:fillRect/>
          </a:stretch>
        </p:blipFill>
        <p:spPr>
          <a:xfrm>
            <a:off x="3539052" y="1515523"/>
            <a:ext cx="5071548" cy="738409"/>
          </a:xfrm>
          <a:prstGeom prst="rect">
            <a:avLst/>
          </a:prstGeom>
        </p:spPr>
      </p:pic>
      <p:grpSp>
        <p:nvGrpSpPr>
          <p:cNvPr id="9" name="组合 8"/>
          <p:cNvGrpSpPr/>
          <p:nvPr userDrawn="1"/>
        </p:nvGrpSpPr>
        <p:grpSpPr>
          <a:xfrm>
            <a:off x="0" y="0"/>
            <a:ext cx="12192000" cy="6914408"/>
            <a:chOff x="0" y="0"/>
            <a:chExt cx="12192000" cy="6914408"/>
          </a:xfrm>
        </p:grpSpPr>
        <p:pic>
          <p:nvPicPr>
            <p:cNvPr id="10" name="图片 9"/>
            <p:cNvPicPr>
              <a:picLocks noChangeAspect="1"/>
            </p:cNvPicPr>
            <p:nvPr userDrawn="1"/>
          </p:nvPicPr>
          <p:blipFill rotWithShape="1">
            <a:blip r:embed="rId3">
              <a:extLst>
                <a:ext uri="{28A0092B-C50C-407E-A947-70E740481C1C}">
                  <a14:useLocalDpi xmlns:a14="http://schemas.microsoft.com/office/drawing/2010/main" val="0"/>
                </a:ext>
              </a:extLst>
            </a:blip>
            <a:srcRect t="68602"/>
            <a:stretch>
              <a:fillRect/>
            </a:stretch>
          </p:blipFill>
          <p:spPr>
            <a:xfrm>
              <a:off x="0" y="4743450"/>
              <a:ext cx="12192000" cy="2170958"/>
            </a:xfrm>
            <a:prstGeom prst="rect">
              <a:avLst/>
            </a:prstGeom>
          </p:spPr>
        </p:pic>
        <p:grpSp>
          <p:nvGrpSpPr>
            <p:cNvPr id="11" name="组合 10"/>
            <p:cNvGrpSpPr/>
            <p:nvPr userDrawn="1"/>
          </p:nvGrpSpPr>
          <p:grpSpPr>
            <a:xfrm>
              <a:off x="0" y="0"/>
              <a:ext cx="12192000" cy="4571999"/>
              <a:chOff x="0" y="0"/>
              <a:chExt cx="12192000" cy="4571999"/>
            </a:xfrm>
          </p:grpSpPr>
          <p:pic>
            <p:nvPicPr>
              <p:cNvPr id="12" name="图片 11"/>
              <p:cNvPicPr>
                <a:picLocks noChangeAspect="1"/>
              </p:cNvPicPr>
              <p:nvPr userDrawn="1"/>
            </p:nvPicPr>
            <p:blipFill rotWithShape="1">
              <a:blip r:embed="rId3">
                <a:extLst>
                  <a:ext uri="{28A0092B-C50C-407E-A947-70E740481C1C}">
                    <a14:useLocalDpi xmlns:a14="http://schemas.microsoft.com/office/drawing/2010/main" val="0"/>
                  </a:ext>
                </a:extLst>
              </a:blip>
              <a:srcRect r="25486" b="80872"/>
              <a:stretch>
                <a:fillRect/>
              </a:stretch>
            </p:blipFill>
            <p:spPr>
              <a:xfrm>
                <a:off x="0" y="0"/>
                <a:ext cx="9084733" cy="1322589"/>
              </a:xfrm>
              <a:prstGeom prst="rect">
                <a:avLst/>
              </a:prstGeom>
            </p:spPr>
          </p:pic>
          <p:pic>
            <p:nvPicPr>
              <p:cNvPr id="13" name="图片 12"/>
              <p:cNvPicPr>
                <a:picLocks noChangeAspect="1"/>
              </p:cNvPicPr>
              <p:nvPr userDrawn="1"/>
            </p:nvPicPr>
            <p:blipFill rotWithShape="1">
              <a:blip r:embed="rId4">
                <a:extLst>
                  <a:ext uri="{28A0092B-C50C-407E-A947-70E740481C1C}">
                    <a14:useLocalDpi xmlns:a14="http://schemas.microsoft.com/office/drawing/2010/main" val="0"/>
                  </a:ext>
                </a:extLst>
              </a:blip>
              <a:srcRect t="24691" b="59260"/>
              <a:stretch>
                <a:fillRect/>
              </a:stretch>
            </p:blipFill>
            <p:spPr>
              <a:xfrm>
                <a:off x="0" y="2446866"/>
                <a:ext cx="12192000" cy="2125133"/>
              </a:xfrm>
              <a:prstGeom prst="rect">
                <a:avLst/>
              </a:prstGeom>
            </p:spPr>
          </p:pic>
          <p:pic>
            <p:nvPicPr>
              <p:cNvPr id="16" name="图片 15"/>
              <p:cNvPicPr>
                <a:picLocks noChangeAspect="1"/>
              </p:cNvPicPr>
              <p:nvPr userDrawn="1"/>
            </p:nvPicPr>
            <p:blipFill rotWithShape="1">
              <a:blip r:embed="rId3">
                <a:extLst>
                  <a:ext uri="{28A0092B-C50C-407E-A947-70E740481C1C}">
                    <a14:useLocalDpi xmlns:a14="http://schemas.microsoft.com/office/drawing/2010/main" val="0"/>
                  </a:ext>
                </a:extLst>
              </a:blip>
              <a:srcRect l="31388" t="36654" r="32430" b="47892"/>
              <a:stretch>
                <a:fillRect/>
              </a:stretch>
            </p:blipFill>
            <p:spPr>
              <a:xfrm>
                <a:off x="3894670" y="2890463"/>
                <a:ext cx="4411134" cy="1068598"/>
              </a:xfrm>
              <a:prstGeom prst="rect">
                <a:avLst/>
              </a:prstGeom>
            </p:spPr>
          </p:pic>
          <p:pic>
            <p:nvPicPr>
              <p:cNvPr id="17" name="图片 16"/>
              <p:cNvPicPr>
                <a:picLocks noChangeAspect="1"/>
              </p:cNvPicPr>
              <p:nvPr userDrawn="1"/>
            </p:nvPicPr>
            <p:blipFill rotWithShape="1">
              <a:blip r:embed="rId3">
                <a:extLst>
                  <a:ext uri="{28A0092B-C50C-407E-A947-70E740481C1C}">
                    <a14:useLocalDpi xmlns:a14="http://schemas.microsoft.com/office/drawing/2010/main" val="0"/>
                  </a:ext>
                </a:extLst>
              </a:blip>
              <a:srcRect l="73889" b="69265"/>
              <a:stretch>
                <a:fillRect/>
              </a:stretch>
            </p:blipFill>
            <p:spPr>
              <a:xfrm>
                <a:off x="9008533" y="0"/>
                <a:ext cx="3183467" cy="2125133"/>
              </a:xfrm>
              <a:prstGeom prst="rect">
                <a:avLst/>
              </a:prstGeom>
            </p:spPr>
          </p:pic>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两栏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EA79B1-94F2-44A5-8271-BE7A17D6686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893D6-510C-4F6F-9867-0DA6859ED432}" type="slidenum">
              <a:rPr lang="zh-CN" altLang="en-US" smtClean="0"/>
            </a:fld>
            <a:endParaRPr lang="zh-CN" altLang="en-US"/>
          </a:p>
        </p:txBody>
      </p:sp>
      <p:sp>
        <p:nvSpPr>
          <p:cNvPr id="8" name="矩形 1"/>
          <p:cNvSpPr>
            <a:spLocks noChangeArrowheads="1"/>
          </p:cNvSpPr>
          <p:nvPr userDrawn="1"/>
        </p:nvSpPr>
        <p:spPr bwMode="auto">
          <a:xfrm>
            <a:off x="871382" y="363024"/>
            <a:ext cx="893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grpSp>
        <p:nvGrpSpPr>
          <p:cNvPr id="9" name="组合 8"/>
          <p:cNvGrpSpPr/>
          <p:nvPr userDrawn="1"/>
        </p:nvGrpSpPr>
        <p:grpSpPr>
          <a:xfrm>
            <a:off x="0" y="0"/>
            <a:ext cx="12192000" cy="6851904"/>
            <a:chOff x="0" y="0"/>
            <a:chExt cx="12192000" cy="6851904"/>
          </a:xfrm>
        </p:grpSpPr>
        <p:pic>
          <p:nvPicPr>
            <p:cNvPr id="7" name="图片 6"/>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6851904"/>
            </a:xfrm>
            <a:prstGeom prst="rect">
              <a:avLst/>
            </a:prstGeom>
          </p:spPr>
        </p:pic>
        <p:pic>
          <p:nvPicPr>
            <p:cNvPr id="11" name="图片 10"/>
            <p:cNvPicPr>
              <a:picLocks noChangeAspect="1"/>
            </p:cNvPicPr>
            <p:nvPr userDrawn="1"/>
          </p:nvPicPr>
          <p:blipFill>
            <a:blip r:embed="rId13"/>
            <a:stretch>
              <a:fillRect/>
            </a:stretch>
          </p:blipFill>
          <p:spPr>
            <a:xfrm>
              <a:off x="8610600" y="395272"/>
              <a:ext cx="2985655" cy="614083"/>
            </a:xfrm>
            <a:prstGeom prst="rect">
              <a:avLst/>
            </a:prstGeom>
          </p:spPr>
        </p:pic>
        <p:pic>
          <p:nvPicPr>
            <p:cNvPr id="13" name="图片 12"/>
            <p:cNvPicPr>
              <a:picLocks noChangeAspect="1"/>
            </p:cNvPicPr>
            <p:nvPr userDrawn="1"/>
          </p:nvPicPr>
          <p:blipFill>
            <a:blip r:embed="rId14"/>
            <a:stretch>
              <a:fillRect/>
            </a:stretch>
          </p:blipFill>
          <p:spPr>
            <a:xfrm>
              <a:off x="514333" y="6561226"/>
              <a:ext cx="1709322" cy="227501"/>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image" Target="../media/image14.jpe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9.xml"/><Relationship Id="rId2" Type="http://schemas.openxmlformats.org/officeDocument/2006/relationships/image" Target="../media/image23.png"/><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image" Target="../media/image14.jpe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5.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0.xml"/><Relationship Id="rId2" Type="http://schemas.openxmlformats.org/officeDocument/2006/relationships/image" Target="../media/image28.png"/><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hyperlink" Target="https://www.centos.org/" TargetMode="External"/><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9.png"/><Relationship Id="rId1" Type="http://schemas.openxmlformats.org/officeDocument/2006/relationships/image" Target="../media/image27.pn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0.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3.png"/><Relationship Id="rId1" Type="http://schemas.openxmlformats.org/officeDocument/2006/relationships/image" Target="../media/image42.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image" Target="../media/image48.png"/><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image" Target="../media/image14.jpe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1.png"/></Relationships>
</file>

<file path=ppt/slides/_rels/slide30.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0.xml"/><Relationship Id="rId3" Type="http://schemas.openxmlformats.org/officeDocument/2006/relationships/image" Target="../media/image62.emf"/><Relationship Id="rId2" Type="http://schemas.openxmlformats.org/officeDocument/2006/relationships/oleObject" Target="../embeddings/oleObject1.bin"/><Relationship Id="rId1" Type="http://schemas.openxmlformats.org/officeDocument/2006/relationships/image" Target="../media/image27.png"/></Relationships>
</file>

<file path=ppt/slides/_rels/slide31.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10.xml"/><Relationship Id="rId3" Type="http://schemas.openxmlformats.org/officeDocument/2006/relationships/image" Target="../media/image63.emf"/><Relationship Id="rId2" Type="http://schemas.openxmlformats.org/officeDocument/2006/relationships/oleObject" Target="../embeddings/oleObject2.bin"/><Relationship Id="rId1" Type="http://schemas.openxmlformats.org/officeDocument/2006/relationships/image" Target="../media/image27.png"/></Relationships>
</file>

<file path=ppt/slides/_rels/slide32.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0.xml"/><Relationship Id="rId3" Type="http://schemas.openxmlformats.org/officeDocument/2006/relationships/image" Target="../media/image64.emf"/><Relationship Id="rId2" Type="http://schemas.openxmlformats.org/officeDocument/2006/relationships/oleObject" Target="../embeddings/oleObject3.bin"/><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6.pn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71.png"/><Relationship Id="rId2" Type="http://schemas.openxmlformats.org/officeDocument/2006/relationships/tags" Target="../tags/tag1.xml"/><Relationship Id="rId1" Type="http://schemas.openxmlformats.org/officeDocument/2006/relationships/image" Target="../media/image67.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72.png"/><Relationship Id="rId1" Type="http://schemas.openxmlformats.org/officeDocument/2006/relationships/image" Target="../media/image68.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77.png"/><Relationship Id="rId1" Type="http://schemas.openxmlformats.org/officeDocument/2006/relationships/image" Target="../media/image76.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78.png"/><Relationship Id="rId2" Type="http://schemas.openxmlformats.org/officeDocument/2006/relationships/image" Target="../media/image80.png"/><Relationship Id="rId1" Type="http://schemas.openxmlformats.org/officeDocument/2006/relationships/image" Target="../media/image27.png"/></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image" Target="../media/image14.jpe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image" Target="../media/image9.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1.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83.png"/><Relationship Id="rId2" Type="http://schemas.openxmlformats.org/officeDocument/2006/relationships/image" Target="../media/image27.png"/><Relationship Id="rId1" Type="http://schemas.openxmlformats.org/officeDocument/2006/relationships/image" Target="../media/image82.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84.png"/><Relationship Id="rId1" Type="http://schemas.openxmlformats.org/officeDocument/2006/relationships/image" Target="../media/image27.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image" Target="../media/image14.jpe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5.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56.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image" Target="../media/image14.jpe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image" Target="../media/image9.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6.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88.png"/><Relationship Id="rId1" Type="http://schemas.openxmlformats.org/officeDocument/2006/relationships/image" Target="../media/image87.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0.png"/><Relationship Id="rId1" Type="http://schemas.openxmlformats.org/officeDocument/2006/relationships/image" Target="../media/image89.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2.png"/><Relationship Id="rId1" Type="http://schemas.openxmlformats.org/officeDocument/2006/relationships/image" Target="../media/image91.png"/></Relationships>
</file>

<file path=ppt/slides/_rels/slide61.xml.rels><?xml version="1.0" encoding="UTF-8" standalone="yes"?>
<Relationships xmlns="http://schemas.openxmlformats.org/package/2006/relationships"><Relationship Id="rId8" Type="http://schemas.openxmlformats.org/officeDocument/2006/relationships/slideLayout" Target="../slideLayouts/slideLayout8.xml"/><Relationship Id="rId7" Type="http://schemas.openxmlformats.org/officeDocument/2006/relationships/image" Target="../media/image14.jpe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image" Target="../media/image9.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6.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4.png"/><Relationship Id="rId1" Type="http://schemas.openxmlformats.org/officeDocument/2006/relationships/image" Target="../media/image93.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6.png"/><Relationship Id="rId1" Type="http://schemas.openxmlformats.org/officeDocument/2006/relationships/image" Target="../media/image95.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xml"/><Relationship Id="rId1" Type="http://schemas.openxmlformats.org/officeDocument/2006/relationships/image" Target="../media/image9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ctrTitle"/>
          </p:nvPr>
        </p:nvSpPr>
        <p:spPr>
          <a:xfrm>
            <a:off x="1524000" y="1596979"/>
            <a:ext cx="9473852" cy="1912983"/>
          </a:xfrm>
        </p:spPr>
        <p:txBody>
          <a:bodyPr/>
          <a:lstStyle/>
          <a:p>
            <a:r>
              <a:rPr lang="zh-CN" altLang="en-US" b="1" dirty="0">
                <a:latin typeface="方正细倩简体"/>
                <a:ea typeface="方正细倩简体"/>
                <a:cs typeface="方正细倩简体"/>
              </a:rPr>
              <a:t>第</a:t>
            </a:r>
            <a:r>
              <a:rPr lang="zh-CN" altLang="zh-CN" b="1" dirty="0">
                <a:latin typeface="方正细倩简体"/>
                <a:ea typeface="方正细倩简体"/>
                <a:cs typeface="方正细倩简体"/>
              </a:rPr>
              <a:t>1</a:t>
            </a:r>
            <a:r>
              <a:rPr lang="zh-CN" altLang="en-US" b="1" dirty="0">
                <a:latin typeface="方正细倩简体"/>
                <a:ea typeface="方正细倩简体"/>
                <a:cs typeface="方正细倩简体"/>
              </a:rPr>
              <a:t>章 </a:t>
            </a:r>
            <a:r>
              <a:rPr lang="en-US" altLang="zh-CN" b="1" dirty="0"/>
              <a:t>Linux</a:t>
            </a:r>
            <a:r>
              <a:rPr lang="zh-CN" altLang="zh-CN" b="1" dirty="0"/>
              <a:t>系统简介与环境搭建</a:t>
            </a:r>
            <a:endParaRPr lang="zh-CN" altLang="zh-CN" b="1" dirty="0"/>
          </a:p>
        </p:txBody>
      </p:sp>
      <p:sp>
        <p:nvSpPr>
          <p:cNvPr id="11" name="矩形 10"/>
          <p:cNvSpPr/>
          <p:nvPr/>
        </p:nvSpPr>
        <p:spPr>
          <a:xfrm>
            <a:off x="4414157" y="5091096"/>
            <a:ext cx="2099377" cy="1338828"/>
          </a:xfrm>
          <a:prstGeom prst="rect">
            <a:avLst/>
          </a:prstGeom>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Linux</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概述</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安装</a:t>
            </a:r>
            <a:r>
              <a:rPr lang="en-US" altLang="zh-CN"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Linux</a:t>
            </a:r>
            <a:endParaRPr lang="en-US" altLang="zh-CN"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网络模式更改</a:t>
            </a:r>
            <a:endParaRPr lang="en-US" altLang="zh-CN"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3375" y="4977312"/>
            <a:ext cx="2143125"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p:cNvSpPr/>
          <p:nvPr/>
        </p:nvSpPr>
        <p:spPr>
          <a:xfrm>
            <a:off x="7622908" y="5065902"/>
            <a:ext cx="2886429" cy="1338828"/>
          </a:xfrm>
          <a:prstGeom prst="rect">
            <a:avLst/>
          </a:prstGeom>
        </p:spPr>
        <p:txBody>
          <a:bodyPr wrap="square">
            <a:spAutoFit/>
          </a:bodyPr>
          <a:lstStyle/>
          <a:p>
            <a:pPr>
              <a:lnSpc>
                <a:spcPct val="150000"/>
              </a:lnSpc>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网络配置</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系统启动流程</a:t>
            </a:r>
            <a:endPar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远程终端访问</a:t>
            </a:r>
            <a:endParaRPr lang="en-US" altLang="zh-CN"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5132" y="447215"/>
            <a:ext cx="3167527" cy="646331"/>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600" kern="1200" dirty="0">
                <a:solidFill>
                  <a:srgbClr val="1353A2"/>
                </a:solidFill>
                <a:latin typeface="微软雅黑" panose="020B0503020204020204" pitchFamily="34" charset="-122"/>
                <a:ea typeface="微软雅黑" panose="020B0503020204020204" pitchFamily="34" charset="-122"/>
                <a:cs typeface="+mn-cs"/>
              </a:rPr>
              <a:t>目录页</a:t>
            </a:r>
            <a:endParaRPr lang="zh-CN" altLang="en-US" sz="3600" kern="1200" dirty="0">
              <a:solidFill>
                <a:srgbClr val="1353A2"/>
              </a:solidFill>
              <a:latin typeface="微软雅黑" panose="020B0503020204020204" pitchFamily="34" charset="-122"/>
              <a:ea typeface="微软雅黑" panose="020B0503020204020204" pitchFamily="34" charset="-122"/>
              <a:cs typeface="+mn-cs"/>
            </a:endParaRPr>
          </a:p>
        </p:txBody>
      </p:sp>
      <p:cxnSp>
        <p:nvCxnSpPr>
          <p:cNvPr id="50"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29"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31" name="矩形 1"/>
          <p:cNvSpPr>
            <a:spLocks noChangeArrowheads="1"/>
          </p:cNvSpPr>
          <p:nvPr/>
        </p:nvSpPr>
        <p:spPr bwMode="auto">
          <a:xfrm>
            <a:off x="264393" y="1769173"/>
            <a:ext cx="1888804" cy="2038712"/>
          </a:xfrm>
          <a:prstGeom prst="rect">
            <a:avLst/>
          </a:prstGeom>
          <a:solidFill>
            <a:srgbClr val="1353A2"/>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4" name="矩形 21"/>
          <p:cNvSpPr>
            <a:spLocks noChangeArrowheads="1"/>
          </p:cNvSpPr>
          <p:nvPr/>
        </p:nvSpPr>
        <p:spPr bwMode="auto">
          <a:xfrm>
            <a:off x="2165681" y="1769173"/>
            <a:ext cx="1888803" cy="2038712"/>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5" name="矩形 22"/>
          <p:cNvSpPr>
            <a:spLocks noChangeArrowheads="1"/>
          </p:cNvSpPr>
          <p:nvPr/>
        </p:nvSpPr>
        <p:spPr bwMode="auto">
          <a:xfrm>
            <a:off x="4053100" y="1769173"/>
            <a:ext cx="1892565" cy="2038712"/>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6" name="矩形 28"/>
          <p:cNvSpPr>
            <a:spLocks noChangeArrowheads="1"/>
          </p:cNvSpPr>
          <p:nvPr/>
        </p:nvSpPr>
        <p:spPr bwMode="auto">
          <a:xfrm>
            <a:off x="2099550" y="1841570"/>
            <a:ext cx="20331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安装</a:t>
            </a: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7" name="矩形 29"/>
          <p:cNvSpPr>
            <a:spLocks noChangeArrowheads="1"/>
          </p:cNvSpPr>
          <p:nvPr/>
        </p:nvSpPr>
        <p:spPr bwMode="auto">
          <a:xfrm>
            <a:off x="4070327" y="1841570"/>
            <a:ext cx="1811231"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网络配置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38" name="直接连接符 7167"/>
          <p:cNvCxnSpPr>
            <a:cxnSpLocks noChangeShapeType="1"/>
          </p:cNvCxnSpPr>
          <p:nvPr/>
        </p:nvCxnSpPr>
        <p:spPr bwMode="auto">
          <a:xfrm>
            <a:off x="240288" y="1688477"/>
            <a:ext cx="190178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39" name="直接连接符 7172"/>
          <p:cNvCxnSpPr>
            <a:cxnSpLocks noChangeShapeType="1"/>
          </p:cNvCxnSpPr>
          <p:nvPr/>
        </p:nvCxnSpPr>
        <p:spPr bwMode="auto">
          <a:xfrm>
            <a:off x="240288"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0" name="直接连接符 50"/>
          <p:cNvCxnSpPr>
            <a:cxnSpLocks noChangeShapeType="1"/>
          </p:cNvCxnSpPr>
          <p:nvPr/>
        </p:nvCxnSpPr>
        <p:spPr bwMode="auto">
          <a:xfrm>
            <a:off x="2130757"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1" name="直接连接符 51"/>
          <p:cNvCxnSpPr>
            <a:cxnSpLocks noChangeShapeType="1"/>
          </p:cNvCxnSpPr>
          <p:nvPr/>
        </p:nvCxnSpPr>
        <p:spPr bwMode="auto">
          <a:xfrm>
            <a:off x="4011601"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2" name="直接连接符 52"/>
          <p:cNvCxnSpPr>
            <a:cxnSpLocks noChangeShapeType="1"/>
          </p:cNvCxnSpPr>
          <p:nvPr/>
        </p:nvCxnSpPr>
        <p:spPr bwMode="auto">
          <a:xfrm>
            <a:off x="5950178" y="1359415"/>
            <a:ext cx="1" cy="24837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43" name="TextBox 7177"/>
          <p:cNvSpPr txBox="1">
            <a:spLocks noChangeArrowheads="1"/>
          </p:cNvSpPr>
          <p:nvPr/>
        </p:nvSpPr>
        <p:spPr bwMode="auto">
          <a:xfrm>
            <a:off x="240288" y="1049095"/>
            <a:ext cx="14722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1</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4" name="TextBox 7177"/>
          <p:cNvSpPr txBox="1">
            <a:spLocks noChangeArrowheads="1"/>
          </p:cNvSpPr>
          <p:nvPr/>
        </p:nvSpPr>
        <p:spPr bwMode="auto">
          <a:xfrm>
            <a:off x="2142942" y="1049096"/>
            <a:ext cx="1397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2</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5" name="TextBox 7177"/>
          <p:cNvSpPr txBox="1">
            <a:spLocks noChangeArrowheads="1"/>
          </p:cNvSpPr>
          <p:nvPr/>
        </p:nvSpPr>
        <p:spPr bwMode="auto">
          <a:xfrm>
            <a:off x="3961241" y="1049095"/>
            <a:ext cx="1724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5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3</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6" name="矩形 28"/>
          <p:cNvSpPr>
            <a:spLocks noChangeArrowheads="1"/>
          </p:cNvSpPr>
          <p:nvPr/>
        </p:nvSpPr>
        <p:spPr bwMode="auto">
          <a:xfrm>
            <a:off x="125260" y="1860344"/>
            <a:ext cx="202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系统简介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47" name="直接连接符 46"/>
          <p:cNvCxnSpPr/>
          <p:nvPr/>
        </p:nvCxnSpPr>
        <p:spPr bwMode="auto">
          <a:xfrm>
            <a:off x="2130757" y="1688477"/>
            <a:ext cx="190178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8" name="直接连接符 47"/>
          <p:cNvCxnSpPr/>
          <p:nvPr/>
        </p:nvCxnSpPr>
        <p:spPr bwMode="auto">
          <a:xfrm>
            <a:off x="3991652" y="1688477"/>
            <a:ext cx="399995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2" name="矩形 1"/>
          <p:cNvSpPr>
            <a:spLocks noChangeArrowheads="1"/>
          </p:cNvSpPr>
          <p:nvPr/>
        </p:nvSpPr>
        <p:spPr bwMode="auto">
          <a:xfrm>
            <a:off x="5981779" y="1785676"/>
            <a:ext cx="1859200" cy="200675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4" name="矩形 21"/>
          <p:cNvSpPr>
            <a:spLocks noChangeArrowheads="1"/>
          </p:cNvSpPr>
          <p:nvPr/>
        </p:nvSpPr>
        <p:spPr bwMode="auto">
          <a:xfrm>
            <a:off x="5997390" y="4479805"/>
            <a:ext cx="1724176"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5" name="矩形 22"/>
          <p:cNvSpPr>
            <a:spLocks noChangeArrowheads="1"/>
          </p:cNvSpPr>
          <p:nvPr/>
        </p:nvSpPr>
        <p:spPr bwMode="auto">
          <a:xfrm>
            <a:off x="7730879" y="4489427"/>
            <a:ext cx="1727610"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6" name="矩形 28"/>
          <p:cNvSpPr>
            <a:spLocks noChangeArrowheads="1"/>
          </p:cNvSpPr>
          <p:nvPr/>
        </p:nvSpPr>
        <p:spPr bwMode="auto">
          <a:xfrm>
            <a:off x="5993887" y="4364312"/>
            <a:ext cx="176966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系统启动流程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7" name="矩形 29"/>
          <p:cNvSpPr>
            <a:spLocks noChangeArrowheads="1"/>
          </p:cNvSpPr>
          <p:nvPr/>
        </p:nvSpPr>
        <p:spPr bwMode="auto">
          <a:xfrm>
            <a:off x="7721566" y="4566723"/>
            <a:ext cx="1713648"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远程终端访问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58" name="直接连接符 51"/>
          <p:cNvCxnSpPr>
            <a:cxnSpLocks noChangeShapeType="1"/>
          </p:cNvCxnSpPr>
          <p:nvPr/>
        </p:nvCxnSpPr>
        <p:spPr bwMode="auto">
          <a:xfrm>
            <a:off x="7677268" y="4159855"/>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9" name="TextBox 7177"/>
          <p:cNvSpPr txBox="1">
            <a:spLocks noChangeArrowheads="1"/>
          </p:cNvSpPr>
          <p:nvPr/>
        </p:nvSpPr>
        <p:spPr bwMode="auto">
          <a:xfrm>
            <a:off x="5984045" y="1060096"/>
            <a:ext cx="979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zh-CN"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4</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0" name="TextBox 7177"/>
          <p:cNvSpPr txBox="1">
            <a:spLocks noChangeArrowheads="1"/>
          </p:cNvSpPr>
          <p:nvPr/>
        </p:nvSpPr>
        <p:spPr bwMode="auto">
          <a:xfrm>
            <a:off x="5943295" y="3783090"/>
            <a:ext cx="9970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5</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1" name="TextBox 7177"/>
          <p:cNvSpPr txBox="1">
            <a:spLocks noChangeArrowheads="1"/>
          </p:cNvSpPr>
          <p:nvPr/>
        </p:nvSpPr>
        <p:spPr bwMode="auto">
          <a:xfrm>
            <a:off x="7725608" y="3803149"/>
            <a:ext cx="15200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6</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2" name="矩形 28"/>
          <p:cNvSpPr>
            <a:spLocks noChangeArrowheads="1"/>
          </p:cNvSpPr>
          <p:nvPr/>
        </p:nvSpPr>
        <p:spPr bwMode="auto">
          <a:xfrm>
            <a:off x="5967195" y="1870892"/>
            <a:ext cx="178290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目录结构</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63" name="直接连接符 19"/>
          <p:cNvCxnSpPr/>
          <p:nvPr/>
        </p:nvCxnSpPr>
        <p:spPr bwMode="auto">
          <a:xfrm>
            <a:off x="6017699" y="4427930"/>
            <a:ext cx="1678967" cy="776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64" name="直接连接符 20"/>
          <p:cNvCxnSpPr/>
          <p:nvPr/>
        </p:nvCxnSpPr>
        <p:spPr bwMode="auto">
          <a:xfrm>
            <a:off x="7698294" y="4428744"/>
            <a:ext cx="183470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pic>
        <p:nvPicPr>
          <p:cNvPr id="66"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6064187" y="5280100"/>
            <a:ext cx="1538977" cy="104646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68" name="直接连接符 52"/>
          <p:cNvCxnSpPr>
            <a:cxnSpLocks noChangeShapeType="1"/>
          </p:cNvCxnSpPr>
          <p:nvPr/>
        </p:nvCxnSpPr>
        <p:spPr bwMode="auto">
          <a:xfrm>
            <a:off x="5993969" y="4173190"/>
            <a:ext cx="1" cy="296447"/>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69" name="矩形 1"/>
          <p:cNvSpPr>
            <a:spLocks noChangeArrowheads="1"/>
          </p:cNvSpPr>
          <p:nvPr/>
        </p:nvSpPr>
        <p:spPr bwMode="auto">
          <a:xfrm>
            <a:off x="9478906" y="4485614"/>
            <a:ext cx="1724177"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pic>
        <p:nvPicPr>
          <p:cNvPr id="70" name="Picture 5"/>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9634247" y="5321637"/>
            <a:ext cx="1457809" cy="99727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71" name="直接连接符 7167"/>
          <p:cNvCxnSpPr>
            <a:cxnSpLocks noChangeShapeType="1"/>
          </p:cNvCxnSpPr>
          <p:nvPr/>
        </p:nvCxnSpPr>
        <p:spPr bwMode="auto">
          <a:xfrm flipV="1">
            <a:off x="9454801" y="4419988"/>
            <a:ext cx="1993988" cy="875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72" name="直接连接符 7172"/>
          <p:cNvCxnSpPr>
            <a:cxnSpLocks noChangeShapeType="1"/>
          </p:cNvCxnSpPr>
          <p:nvPr/>
        </p:nvCxnSpPr>
        <p:spPr bwMode="auto">
          <a:xfrm>
            <a:off x="9453896" y="4074072"/>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73" name="TextBox 7177"/>
          <p:cNvSpPr txBox="1">
            <a:spLocks noChangeArrowheads="1"/>
          </p:cNvSpPr>
          <p:nvPr/>
        </p:nvSpPr>
        <p:spPr bwMode="auto">
          <a:xfrm>
            <a:off x="9497973" y="3751901"/>
            <a:ext cx="1504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7</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74" name="矩形 28"/>
          <p:cNvSpPr>
            <a:spLocks noChangeArrowheads="1"/>
          </p:cNvSpPr>
          <p:nvPr/>
        </p:nvSpPr>
        <p:spPr bwMode="auto">
          <a:xfrm>
            <a:off x="9478906" y="4402629"/>
            <a:ext cx="1699485"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b="1" dirty="0">
                <a:solidFill>
                  <a:srgbClr val="FFFFFF"/>
                </a:solidFill>
                <a:latin typeface="微软雅黑" panose="020B0503020204020204" pitchFamily="34" charset="-122"/>
                <a:ea typeface="微软雅黑" panose="020B0503020204020204" pitchFamily="34" charset="-122"/>
              </a:rPr>
              <a:t>SFTP</a:t>
            </a:r>
            <a:r>
              <a:rPr lang="zh-CN" altLang="en-US" b="1" dirty="0">
                <a:solidFill>
                  <a:srgbClr val="FFFFFF"/>
                </a:solidFill>
                <a:latin typeface="微软雅黑" panose="020B0503020204020204" pitchFamily="34" charset="-122"/>
                <a:ea typeface="微软雅黑" panose="020B0503020204020204" pitchFamily="34" charset="-122"/>
              </a:rPr>
              <a:t>远程文件管理</a:t>
            </a:r>
            <a:endParaRPr lang="zh-CN" altLang="en-US" b="1" dirty="0">
              <a:solidFill>
                <a:srgbClr val="FFFFFF"/>
              </a:solidFill>
              <a:latin typeface="微软雅黑" panose="020B0503020204020204" pitchFamily="34" charset="-122"/>
              <a:ea typeface="微软雅黑" panose="020B0503020204020204" pitchFamily="34" charset="-122"/>
            </a:endParaRPr>
          </a:p>
        </p:txBody>
      </p:sp>
      <p:pic>
        <p:nvPicPr>
          <p:cNvPr id="7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56" y="2597881"/>
            <a:ext cx="1520630" cy="106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0621" y="2594842"/>
            <a:ext cx="1611054" cy="108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1376" y="2624392"/>
            <a:ext cx="1528692" cy="1029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9757" y="5269244"/>
            <a:ext cx="1531780" cy="1012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29150" y="2604066"/>
            <a:ext cx="1364458" cy="104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44000">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14:bounceEnd="44000">
                                          <p:cBhvr additive="base">
                                            <p:cTn id="7" dur="500" fill="hold"/>
                                            <p:tgtEl>
                                              <p:spTgt spid="43"/>
                                            </p:tgtEl>
                                            <p:attrNameLst>
                                              <p:attrName>ppt_x</p:attrName>
                                            </p:attrNameLst>
                                          </p:cBhvr>
                                          <p:tavLst>
                                            <p:tav tm="0">
                                              <p:val>
                                                <p:strVal val="1+#ppt_w/2"/>
                                              </p:val>
                                            </p:tav>
                                            <p:tav tm="100000">
                                              <p:val>
                                                <p:strVal val="#ppt_x"/>
                                              </p:val>
                                            </p:tav>
                                          </p:tavLst>
                                        </p:anim>
                                        <p:anim calcmode="lin" valueType="num" p14:bounceEnd="44000">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44000">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14:bounceEnd="44000">
                                          <p:cBhvr additive="base">
                                            <p:cTn id="11" dur="500" fill="hold"/>
                                            <p:tgtEl>
                                              <p:spTgt spid="44"/>
                                            </p:tgtEl>
                                            <p:attrNameLst>
                                              <p:attrName>ppt_x</p:attrName>
                                            </p:attrNameLst>
                                          </p:cBhvr>
                                          <p:tavLst>
                                            <p:tav tm="0">
                                              <p:val>
                                                <p:strVal val="1+#ppt_w/2"/>
                                              </p:val>
                                            </p:tav>
                                            <p:tav tm="100000">
                                              <p:val>
                                                <p:strVal val="#ppt_x"/>
                                              </p:val>
                                            </p:tav>
                                          </p:tavLst>
                                        </p:anim>
                                        <p:anim calcmode="lin" valueType="num" p14:bounceEnd="44000">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44000">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14:bounceEnd="44000">
                                          <p:cBhvr additive="base">
                                            <p:cTn id="15" dur="500" fill="hold"/>
                                            <p:tgtEl>
                                              <p:spTgt spid="45"/>
                                            </p:tgtEl>
                                            <p:attrNameLst>
                                              <p:attrName>ppt_x</p:attrName>
                                            </p:attrNameLst>
                                          </p:cBhvr>
                                          <p:tavLst>
                                            <p:tav tm="0">
                                              <p:val>
                                                <p:strVal val="1+#ppt_w/2"/>
                                              </p:val>
                                            </p:tav>
                                            <p:tav tm="100000">
                                              <p:val>
                                                <p:strVal val="#ppt_x"/>
                                              </p:val>
                                            </p:tav>
                                          </p:tavLst>
                                        </p:anim>
                                        <p:anim calcmode="lin" valueType="num" p14:bounceEnd="44000">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44000">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14:bounceEnd="44000">
                                          <p:cBhvr additive="base">
                                            <p:cTn id="19" dur="500" fill="hold"/>
                                            <p:tgtEl>
                                              <p:spTgt spid="59"/>
                                            </p:tgtEl>
                                            <p:attrNameLst>
                                              <p:attrName>ppt_x</p:attrName>
                                            </p:attrNameLst>
                                          </p:cBhvr>
                                          <p:tavLst>
                                            <p:tav tm="0">
                                              <p:val>
                                                <p:strVal val="1+#ppt_w/2"/>
                                              </p:val>
                                            </p:tav>
                                            <p:tav tm="100000">
                                              <p:val>
                                                <p:strVal val="#ppt_x"/>
                                              </p:val>
                                            </p:tav>
                                          </p:tavLst>
                                        </p:anim>
                                        <p:anim calcmode="lin" valueType="num" p14:bounceEnd="44000">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44000">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14:bounceEnd="44000">
                                          <p:cBhvr additive="base">
                                            <p:cTn id="23" dur="500" fill="hold"/>
                                            <p:tgtEl>
                                              <p:spTgt spid="60"/>
                                            </p:tgtEl>
                                            <p:attrNameLst>
                                              <p:attrName>ppt_x</p:attrName>
                                            </p:attrNameLst>
                                          </p:cBhvr>
                                          <p:tavLst>
                                            <p:tav tm="0">
                                              <p:val>
                                                <p:strVal val="1+#ppt_w/2"/>
                                              </p:val>
                                            </p:tav>
                                            <p:tav tm="100000">
                                              <p:val>
                                                <p:strVal val="#ppt_x"/>
                                              </p:val>
                                            </p:tav>
                                          </p:tavLst>
                                        </p:anim>
                                        <p:anim calcmode="lin" valueType="num" p14:bounceEnd="44000">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44000">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14:bounceEnd="44000">
                                          <p:cBhvr additive="base">
                                            <p:cTn id="27" dur="500" fill="hold"/>
                                            <p:tgtEl>
                                              <p:spTgt spid="61"/>
                                            </p:tgtEl>
                                            <p:attrNameLst>
                                              <p:attrName>ppt_x</p:attrName>
                                            </p:attrNameLst>
                                          </p:cBhvr>
                                          <p:tavLst>
                                            <p:tav tm="0">
                                              <p:val>
                                                <p:strVal val="1+#ppt_w/2"/>
                                              </p:val>
                                            </p:tav>
                                            <p:tav tm="100000">
                                              <p:val>
                                                <p:strVal val="#ppt_x"/>
                                              </p:val>
                                            </p:tav>
                                          </p:tavLst>
                                        </p:anim>
                                        <p:anim calcmode="lin" valueType="num" p14:bounceEnd="44000">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44000">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14:bounceEnd="44000">
                                          <p:cBhvr additive="base">
                                            <p:cTn id="31" dur="500" fill="hold"/>
                                            <p:tgtEl>
                                              <p:spTgt spid="73"/>
                                            </p:tgtEl>
                                            <p:attrNameLst>
                                              <p:attrName>ppt_x</p:attrName>
                                            </p:attrNameLst>
                                          </p:cBhvr>
                                          <p:tavLst>
                                            <p:tav tm="0">
                                              <p:val>
                                                <p:strVal val="1+#ppt_w/2"/>
                                              </p:val>
                                            </p:tav>
                                            <p:tav tm="100000">
                                              <p:val>
                                                <p:strVal val="#ppt_x"/>
                                              </p:val>
                                            </p:tav>
                                          </p:tavLst>
                                        </p:anim>
                                        <p:anim calcmode="lin" valueType="num" p14:bounceEnd="44000">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1+#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1+#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1+#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1+#ppt_w/2"/>
                                              </p:val>
                                            </p:tav>
                                            <p:tav tm="100000">
                                              <p:val>
                                                <p:strVal val="#ppt_x"/>
                                              </p:val>
                                            </p:tav>
                                          </p:tavLst>
                                        </p:anim>
                                        <p:anim calcmode="lin" valueType="num">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500" fill="hold"/>
                                            <p:tgtEl>
                                              <p:spTgt spid="60"/>
                                            </p:tgtEl>
                                            <p:attrNameLst>
                                              <p:attrName>ppt_x</p:attrName>
                                            </p:attrNameLst>
                                          </p:cBhvr>
                                          <p:tavLst>
                                            <p:tav tm="0">
                                              <p:val>
                                                <p:strVal val="1+#ppt_w/2"/>
                                              </p:val>
                                            </p:tav>
                                            <p:tav tm="100000">
                                              <p:val>
                                                <p:strVal val="#ppt_x"/>
                                              </p:val>
                                            </p:tav>
                                          </p:tavLst>
                                        </p:anim>
                                        <p:anim calcmode="lin" valueType="num">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cBhvr additive="base">
                                            <p:cTn id="27" dur="500" fill="hold"/>
                                            <p:tgtEl>
                                              <p:spTgt spid="61"/>
                                            </p:tgtEl>
                                            <p:attrNameLst>
                                              <p:attrName>ppt_x</p:attrName>
                                            </p:attrNameLst>
                                          </p:cBhvr>
                                          <p:tavLst>
                                            <p:tav tm="0">
                                              <p:val>
                                                <p:strVal val="1+#ppt_w/2"/>
                                              </p:val>
                                            </p:tav>
                                            <p:tav tm="100000">
                                              <p:val>
                                                <p:strVal val="#ppt_x"/>
                                              </p:val>
                                            </p:tav>
                                          </p:tavLst>
                                        </p:anim>
                                        <p:anim calcmode="lin" valueType="num">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cBhvr additive="base">
                                            <p:cTn id="31" dur="500" fill="hold"/>
                                            <p:tgtEl>
                                              <p:spTgt spid="73"/>
                                            </p:tgtEl>
                                            <p:attrNameLst>
                                              <p:attrName>ppt_x</p:attrName>
                                            </p:attrNameLst>
                                          </p:cBhvr>
                                          <p:tavLst>
                                            <p:tav tm="0">
                                              <p:val>
                                                <p:strVal val="1+#ppt_w/2"/>
                                              </p:val>
                                            </p:tav>
                                            <p:tav tm="100000">
                                              <p:val>
                                                <p:strVal val="#ppt_x"/>
                                              </p:val>
                                            </p:tav>
                                          </p:tavLst>
                                        </p:anim>
                                        <p:anim calcmode="lin" valueType="num">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08382" y="389397"/>
            <a:ext cx="7387049"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200" dirty="0">
                <a:solidFill>
                  <a:srgbClr val="1353A2"/>
                </a:solidFill>
                <a:latin typeface="微软雅黑" panose="020B0503020204020204" pitchFamily="34" charset="-122"/>
                <a:ea typeface="微软雅黑" panose="020B0503020204020204" pitchFamily="34" charset="-122"/>
              </a:rPr>
              <a:t>第</a:t>
            </a:r>
            <a:r>
              <a:rPr lang="en-US" altLang="zh-CN" sz="3200" dirty="0">
                <a:solidFill>
                  <a:srgbClr val="1353A2"/>
                </a:solidFill>
                <a:latin typeface="微软雅黑" panose="020B0503020204020204" pitchFamily="34" charset="-122"/>
                <a:ea typeface="微软雅黑" panose="020B0503020204020204" pitchFamily="34" charset="-122"/>
              </a:rPr>
              <a:t>1</a:t>
            </a:r>
            <a:r>
              <a:rPr lang="zh-CN" altLang="en-US" sz="3200" dirty="0">
                <a:solidFill>
                  <a:srgbClr val="1353A2"/>
                </a:solidFill>
                <a:latin typeface="微软雅黑" panose="020B0503020204020204" pitchFamily="34" charset="-122"/>
                <a:ea typeface="微软雅黑" panose="020B0503020204020204" pitchFamily="34" charset="-122"/>
              </a:rPr>
              <a:t>章 </a:t>
            </a:r>
            <a:r>
              <a:rPr lang="en-US" altLang="zh-CN" sz="3200" dirty="0">
                <a:solidFill>
                  <a:srgbClr val="1353A2"/>
                </a:solidFill>
                <a:latin typeface="微软雅黑" panose="020B0503020204020204" pitchFamily="34" charset="-122"/>
                <a:ea typeface="微软雅黑" panose="020B0503020204020204" pitchFamily="34" charset="-122"/>
              </a:rPr>
              <a:t>Linux</a:t>
            </a:r>
            <a:r>
              <a:rPr lang="zh-CN" altLang="en-US" sz="3200" dirty="0">
                <a:solidFill>
                  <a:srgbClr val="1353A2"/>
                </a:solidFill>
                <a:latin typeface="微软雅黑" panose="020B0503020204020204" pitchFamily="34" charset="-122"/>
                <a:ea typeface="微软雅黑" panose="020B0503020204020204" pitchFamily="34" charset="-122"/>
              </a:rPr>
              <a:t>系统简介与环境搭建</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364591" y="4297329"/>
            <a:ext cx="2087688" cy="1077218"/>
          </a:xfrm>
          <a:prstGeom prst="rect">
            <a:avLst/>
          </a:prstGeom>
          <a:noFill/>
        </p:spPr>
        <p:txBody>
          <a:bodyPr wrap="square" rtlCol="0">
            <a:spAutoFit/>
          </a:bodyPr>
          <a:lstStyle/>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完全</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免费</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nvSpPr>
        <p:spPr>
          <a:xfrm>
            <a:off x="3381198" y="1251032"/>
            <a:ext cx="5429603" cy="501303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257300" lvl="2" indent="-342900" defTabSz="720725">
              <a:lnSpc>
                <a:spcPct val="150000"/>
              </a:lnSpc>
              <a:buFont typeface="Wingdings" panose="05000000000000000000" pitchFamily="2" charset="2"/>
              <a:buChar char="Ø"/>
            </a:pP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系统简介</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虚拟机安装和</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CentOS</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下载</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创建虚拟机</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安装</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CentOS</a:t>
            </a: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启动流程</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网络模式</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网络配置</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目录结构</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远程终端访问和文件传输</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 name="TextBox 1"/>
          <p:cNvSpPr txBox="1"/>
          <p:nvPr/>
        </p:nvSpPr>
        <p:spPr>
          <a:xfrm>
            <a:off x="1586414" y="3067340"/>
            <a:ext cx="1443936"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200" dirty="0">
                <a:solidFill>
                  <a:srgbClr val="1353A2"/>
                </a:solidFill>
                <a:latin typeface="微软雅黑" panose="020B0503020204020204" pitchFamily="34" charset="-122"/>
                <a:ea typeface="微软雅黑" panose="020B0503020204020204" pitchFamily="34" charset="-122"/>
              </a:rPr>
              <a:t>知识点</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08382" y="389397"/>
            <a:ext cx="7387049"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200" dirty="0">
                <a:solidFill>
                  <a:srgbClr val="1353A2"/>
                </a:solidFill>
                <a:latin typeface="微软雅黑" panose="020B0503020204020204" pitchFamily="34" charset="-122"/>
                <a:ea typeface="微软雅黑" panose="020B0503020204020204" pitchFamily="34" charset="-122"/>
              </a:rPr>
              <a:t>第</a:t>
            </a:r>
            <a:r>
              <a:rPr lang="en-US" altLang="zh-CN" sz="3200" dirty="0">
                <a:solidFill>
                  <a:srgbClr val="1353A2"/>
                </a:solidFill>
                <a:latin typeface="微软雅黑" panose="020B0503020204020204" pitchFamily="34" charset="-122"/>
                <a:ea typeface="微软雅黑" panose="020B0503020204020204" pitchFamily="34" charset="-122"/>
              </a:rPr>
              <a:t>1</a:t>
            </a:r>
            <a:r>
              <a:rPr lang="zh-CN" altLang="en-US" sz="3200" dirty="0">
                <a:solidFill>
                  <a:srgbClr val="1353A2"/>
                </a:solidFill>
                <a:latin typeface="微软雅黑" panose="020B0503020204020204" pitchFamily="34" charset="-122"/>
                <a:ea typeface="微软雅黑" panose="020B0503020204020204" pitchFamily="34" charset="-122"/>
              </a:rPr>
              <a:t>章 </a:t>
            </a:r>
            <a:r>
              <a:rPr lang="en-US" altLang="zh-CN" sz="3200" dirty="0">
                <a:solidFill>
                  <a:srgbClr val="1353A2"/>
                </a:solidFill>
                <a:latin typeface="微软雅黑" panose="020B0503020204020204" pitchFamily="34" charset="-122"/>
                <a:ea typeface="微软雅黑" panose="020B0503020204020204" pitchFamily="34" charset="-122"/>
              </a:rPr>
              <a:t>Linux</a:t>
            </a:r>
            <a:r>
              <a:rPr lang="zh-CN" altLang="en-US" sz="3200" dirty="0">
                <a:solidFill>
                  <a:srgbClr val="1353A2"/>
                </a:solidFill>
                <a:latin typeface="微软雅黑" panose="020B0503020204020204" pitchFamily="34" charset="-122"/>
                <a:ea typeface="微软雅黑" panose="020B0503020204020204" pitchFamily="34" charset="-122"/>
              </a:rPr>
              <a:t>系统简介与环境搭建</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364591" y="4297329"/>
            <a:ext cx="2087688" cy="1077218"/>
          </a:xfrm>
          <a:prstGeom prst="rect">
            <a:avLst/>
          </a:prstGeom>
          <a:noFill/>
        </p:spPr>
        <p:txBody>
          <a:bodyPr wrap="square" rtlCol="0">
            <a:spAutoFit/>
          </a:bodyPr>
          <a:lstStyle/>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完全</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免费</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TextBox 1"/>
          <p:cNvSpPr txBox="1"/>
          <p:nvPr/>
        </p:nvSpPr>
        <p:spPr>
          <a:xfrm>
            <a:off x="1077353" y="3083924"/>
            <a:ext cx="1083724"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200" dirty="0">
                <a:solidFill>
                  <a:srgbClr val="1353A2"/>
                </a:solidFill>
                <a:latin typeface="微软雅黑" panose="020B0503020204020204" pitchFamily="34" charset="-122"/>
                <a:ea typeface="微软雅黑" panose="020B0503020204020204" pitchFamily="34" charset="-122"/>
              </a:rPr>
              <a:t>重点</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6" name="TextBox 1"/>
          <p:cNvSpPr txBox="1"/>
          <p:nvPr/>
        </p:nvSpPr>
        <p:spPr>
          <a:xfrm>
            <a:off x="6596689" y="3107463"/>
            <a:ext cx="1074498" cy="581057"/>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200" dirty="0">
                <a:solidFill>
                  <a:srgbClr val="1353A2"/>
                </a:solidFill>
                <a:latin typeface="微软雅黑" panose="020B0503020204020204" pitchFamily="34" charset="-122"/>
                <a:ea typeface="微软雅黑" panose="020B0503020204020204" pitchFamily="34" charset="-122"/>
              </a:rPr>
              <a:t>难点</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8" name="矩形 7"/>
          <p:cNvSpPr/>
          <p:nvPr/>
        </p:nvSpPr>
        <p:spPr>
          <a:xfrm>
            <a:off x="2161077" y="2810643"/>
            <a:ext cx="3434235" cy="113505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网络模式</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网络配置</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7543454" y="3087642"/>
            <a:ext cx="3434235" cy="58105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257300" lvl="2" indent="-342900" defTabSz="720725">
              <a:lnSpc>
                <a:spcPct val="150000"/>
              </a:lnSpc>
              <a:buFont typeface="Wingdings" panose="05000000000000000000" pitchFamily="2" charset="2"/>
              <a:buChar char="Ø"/>
            </a:pP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启动流程</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08382" y="389397"/>
            <a:ext cx="7387049"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200" dirty="0">
                <a:solidFill>
                  <a:srgbClr val="1353A2"/>
                </a:solidFill>
                <a:latin typeface="微软雅黑" panose="020B0503020204020204" pitchFamily="34" charset="-122"/>
                <a:ea typeface="微软雅黑" panose="020B0503020204020204" pitchFamily="34" charset="-122"/>
              </a:rPr>
              <a:t>第</a:t>
            </a:r>
            <a:r>
              <a:rPr lang="en-US" altLang="zh-CN" sz="3200" dirty="0">
                <a:solidFill>
                  <a:srgbClr val="1353A2"/>
                </a:solidFill>
                <a:latin typeface="微软雅黑" panose="020B0503020204020204" pitchFamily="34" charset="-122"/>
                <a:ea typeface="微软雅黑" panose="020B0503020204020204" pitchFamily="34" charset="-122"/>
              </a:rPr>
              <a:t>1</a:t>
            </a:r>
            <a:r>
              <a:rPr lang="zh-CN" altLang="en-US" sz="3200" dirty="0">
                <a:solidFill>
                  <a:srgbClr val="1353A2"/>
                </a:solidFill>
                <a:latin typeface="微软雅黑" panose="020B0503020204020204" pitchFamily="34" charset="-122"/>
                <a:ea typeface="微软雅黑" panose="020B0503020204020204" pitchFamily="34" charset="-122"/>
              </a:rPr>
              <a:t>章 </a:t>
            </a:r>
            <a:r>
              <a:rPr lang="en-US" altLang="zh-CN" sz="3200" dirty="0">
                <a:solidFill>
                  <a:srgbClr val="1353A2"/>
                </a:solidFill>
                <a:latin typeface="微软雅黑" panose="020B0503020204020204" pitchFamily="34" charset="-122"/>
                <a:ea typeface="微软雅黑" panose="020B0503020204020204" pitchFamily="34" charset="-122"/>
              </a:rPr>
              <a:t>Linux</a:t>
            </a:r>
            <a:r>
              <a:rPr lang="zh-CN" altLang="en-US" sz="3200" dirty="0">
                <a:solidFill>
                  <a:srgbClr val="1353A2"/>
                </a:solidFill>
                <a:latin typeface="微软雅黑" panose="020B0503020204020204" pitchFamily="34" charset="-122"/>
                <a:ea typeface="微软雅黑" panose="020B0503020204020204" pitchFamily="34" charset="-122"/>
              </a:rPr>
              <a:t>系统简介与环境搭建</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364591" y="4297329"/>
            <a:ext cx="2087688" cy="1077218"/>
          </a:xfrm>
          <a:prstGeom prst="rect">
            <a:avLst/>
          </a:prstGeom>
          <a:noFill/>
        </p:spPr>
        <p:txBody>
          <a:bodyPr wrap="square" rtlCol="0">
            <a:spAutoFit/>
          </a:bodyPr>
          <a:lstStyle/>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完全</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免费</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nvSpPr>
        <p:spPr>
          <a:xfrm>
            <a:off x="3986621" y="1474402"/>
            <a:ext cx="6392864" cy="4459041"/>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熟悉</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的环境搭建流程</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掌握</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系统的网络模式</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掌握配置</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系统网络的方式</a:t>
            </a: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了解</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系统的目录结构</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熟悉远程终端访问和文件传输方式</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独立完成</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环境的搭建</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 name="TextBox 1"/>
          <p:cNvSpPr txBox="1"/>
          <p:nvPr/>
        </p:nvSpPr>
        <p:spPr>
          <a:xfrm>
            <a:off x="1737644" y="2627062"/>
            <a:ext cx="1851030"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200" dirty="0">
                <a:solidFill>
                  <a:srgbClr val="1353A2"/>
                </a:solidFill>
                <a:latin typeface="微软雅黑" panose="020B0503020204020204" pitchFamily="34" charset="-122"/>
                <a:ea typeface="微软雅黑" panose="020B0503020204020204" pitchFamily="34" charset="-122"/>
              </a:rPr>
              <a:t>基本要求</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4" name="TextBox 1"/>
          <p:cNvSpPr txBox="1"/>
          <p:nvPr/>
        </p:nvSpPr>
        <p:spPr>
          <a:xfrm>
            <a:off x="1524606" y="5359451"/>
            <a:ext cx="2277105"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200" dirty="0">
                <a:solidFill>
                  <a:srgbClr val="1353A2"/>
                </a:solidFill>
                <a:latin typeface="微软雅黑" panose="020B0503020204020204" pitchFamily="34" charset="-122"/>
                <a:ea typeface="微软雅黑" panose="020B0503020204020204" pitchFamily="34" charset="-122"/>
              </a:rPr>
              <a:t>实践与练习</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4"/>
          <p:cNvSpPr txBox="1">
            <a:spLocks noChangeArrowheads="1"/>
          </p:cNvSpPr>
          <p:nvPr/>
        </p:nvSpPr>
        <p:spPr bwMode="auto">
          <a:xfrm>
            <a:off x="5451120" y="1640270"/>
            <a:ext cx="6407043" cy="390504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150000"/>
              </a:lnSpc>
            </a:pPr>
            <a:r>
              <a:rPr lang="en-US" altLang="zh-CN" sz="2400" dirty="0"/>
              <a:t>Linux</a:t>
            </a:r>
            <a:r>
              <a:rPr lang="zh-CN" altLang="zh-CN" sz="2400" dirty="0"/>
              <a:t>操作系统是一款</a:t>
            </a:r>
            <a:r>
              <a:rPr lang="zh-CN" altLang="zh-CN" sz="2400" dirty="0">
                <a:solidFill>
                  <a:srgbClr val="FF0000"/>
                </a:solidFill>
              </a:rPr>
              <a:t>免费</a:t>
            </a:r>
            <a:r>
              <a:rPr lang="zh-CN" altLang="zh-CN" sz="2400" dirty="0"/>
              <a:t>使用且</a:t>
            </a:r>
            <a:r>
              <a:rPr lang="zh-CN" altLang="zh-CN" sz="2400" dirty="0">
                <a:solidFill>
                  <a:srgbClr val="FF0000"/>
                </a:solidFill>
              </a:rPr>
              <a:t>开源</a:t>
            </a:r>
            <a:r>
              <a:rPr lang="zh-CN" altLang="zh-CN" sz="2400" dirty="0"/>
              <a:t>的类</a:t>
            </a:r>
            <a:r>
              <a:rPr lang="en-US" altLang="zh-CN" sz="2400" dirty="0"/>
              <a:t>Unix</a:t>
            </a:r>
            <a:r>
              <a:rPr lang="zh-CN" altLang="zh-CN" sz="2400" dirty="0"/>
              <a:t>操作系统，它支持</a:t>
            </a:r>
            <a:r>
              <a:rPr lang="zh-CN" altLang="zh-CN" sz="2400" dirty="0">
                <a:solidFill>
                  <a:srgbClr val="FF0000"/>
                </a:solidFill>
              </a:rPr>
              <a:t>多用户</a:t>
            </a:r>
            <a:r>
              <a:rPr lang="zh-CN" altLang="zh-CN" sz="2400" dirty="0"/>
              <a:t>、</a:t>
            </a:r>
            <a:r>
              <a:rPr lang="zh-CN" altLang="zh-CN" sz="2400" dirty="0">
                <a:solidFill>
                  <a:srgbClr val="FF0000"/>
                </a:solidFill>
              </a:rPr>
              <a:t>多任务</a:t>
            </a:r>
            <a:r>
              <a:rPr lang="zh-CN" altLang="zh-CN" sz="2400" dirty="0"/>
              <a:t>、</a:t>
            </a:r>
            <a:r>
              <a:rPr lang="zh-CN" altLang="zh-CN" sz="2400" dirty="0">
                <a:solidFill>
                  <a:srgbClr val="FF0000"/>
                </a:solidFill>
              </a:rPr>
              <a:t>多线程</a:t>
            </a:r>
            <a:r>
              <a:rPr lang="zh-CN" altLang="zh-CN" sz="2400" dirty="0"/>
              <a:t>及</a:t>
            </a:r>
            <a:r>
              <a:rPr lang="zh-CN" altLang="zh-CN" sz="2400" dirty="0">
                <a:solidFill>
                  <a:srgbClr val="FF0000"/>
                </a:solidFill>
              </a:rPr>
              <a:t>多</a:t>
            </a:r>
            <a:r>
              <a:rPr lang="en-US" altLang="zh-CN" sz="2400" dirty="0">
                <a:solidFill>
                  <a:srgbClr val="FF0000"/>
                </a:solidFill>
              </a:rPr>
              <a:t>CPU</a:t>
            </a:r>
            <a:r>
              <a:rPr lang="zh-CN" altLang="zh-CN" sz="2400" dirty="0"/>
              <a:t>。</a:t>
            </a:r>
            <a:endParaRPr lang="en-US" altLang="zh-CN" sz="2400" dirty="0"/>
          </a:p>
          <a:p>
            <a:pPr>
              <a:lnSpc>
                <a:spcPct val="150000"/>
              </a:lnSpc>
            </a:pPr>
            <a:r>
              <a:rPr lang="en-US" altLang="zh-CN" sz="2400" dirty="0"/>
              <a:t>Linux</a:t>
            </a:r>
            <a:r>
              <a:rPr lang="zh-CN" altLang="zh-CN" sz="2400" dirty="0"/>
              <a:t>自诞生至今，经过世界各地无数计算机爱好者的修改与完善，功能越来越强大，性能越来越稳定，已经成为应用领域最广泛的操作系统。</a:t>
            </a:r>
            <a:endParaRPr lang="zh-CN" altLang="en-US" sz="2400" dirty="0">
              <a:solidFill>
                <a:schemeClr val="tx1">
                  <a:lumMod val="75000"/>
                  <a:lumOff val="25000"/>
                </a:schemeClr>
              </a:solidFill>
            </a:endParaRPr>
          </a:p>
        </p:txBody>
      </p:sp>
      <p:sp>
        <p:nvSpPr>
          <p:cNvPr id="8" name="TextBox 1"/>
          <p:cNvSpPr txBox="1"/>
          <p:nvPr/>
        </p:nvSpPr>
        <p:spPr>
          <a:xfrm>
            <a:off x="2311398" y="501700"/>
            <a:ext cx="5183226"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dirty="0">
                <a:solidFill>
                  <a:srgbClr val="1353A2"/>
                </a:solidFill>
                <a:latin typeface="微软雅黑" panose="020B0503020204020204" pitchFamily="34" charset="-122"/>
                <a:ea typeface="微软雅黑" panose="020B0503020204020204" pitchFamily="34" charset="-122"/>
              </a:rPr>
              <a:t>1.1 Linux</a:t>
            </a:r>
            <a:r>
              <a:rPr lang="zh-CN" altLang="en-US" sz="3200" dirty="0">
                <a:solidFill>
                  <a:srgbClr val="1353A2"/>
                </a:solidFill>
                <a:latin typeface="微软雅黑" panose="020B0503020204020204" pitchFamily="34" charset="-122"/>
                <a:ea typeface="微软雅黑" panose="020B0503020204020204" pitchFamily="34" charset="-122"/>
              </a:rPr>
              <a:t>系统简介</a:t>
            </a:r>
            <a:endParaRPr lang="zh-CN" altLang="en-US" sz="3200" kern="1200" dirty="0">
              <a:solidFill>
                <a:srgbClr val="1353A2"/>
              </a:solidFill>
              <a:latin typeface="微软雅黑" panose="020B0503020204020204" pitchFamily="34" charset="-122"/>
              <a:ea typeface="微软雅黑" panose="020B0503020204020204" pitchFamily="34" charset="-122"/>
            </a:endParaRPr>
          </a:p>
        </p:txBody>
      </p:sp>
      <p:pic>
        <p:nvPicPr>
          <p:cNvPr id="409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3686" y="1947951"/>
            <a:ext cx="4588542" cy="3442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200"/>
                                  </p:stCondLst>
                                  <p:iterate type="lt">
                                    <p:tmPct val="0"/>
                                  </p:iterate>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08383" y="389397"/>
            <a:ext cx="5183226"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dirty="0">
                <a:solidFill>
                  <a:srgbClr val="1353A2"/>
                </a:solidFill>
                <a:latin typeface="微软雅黑" panose="020B0503020204020204" pitchFamily="34" charset="-122"/>
                <a:ea typeface="微软雅黑" panose="020B0503020204020204" pitchFamily="34" charset="-122"/>
                <a:sym typeface="+mn-ea"/>
              </a:rPr>
              <a:t>1.1 Linux</a:t>
            </a:r>
            <a:r>
              <a:rPr lang="zh-CN" altLang="en-US" sz="3200" dirty="0">
                <a:solidFill>
                  <a:srgbClr val="1353A2"/>
                </a:solidFill>
                <a:latin typeface="微软雅黑" panose="020B0503020204020204" pitchFamily="34" charset="-122"/>
                <a:ea typeface="微软雅黑" panose="020B0503020204020204" pitchFamily="34" charset="-122"/>
                <a:sym typeface="+mn-ea"/>
              </a:rPr>
              <a:t>系统简介</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364591" y="4297329"/>
            <a:ext cx="2087688" cy="1077218"/>
          </a:xfrm>
          <a:prstGeom prst="rect">
            <a:avLst/>
          </a:prstGeom>
          <a:noFill/>
        </p:spPr>
        <p:txBody>
          <a:bodyPr wrap="square" rtlCol="0">
            <a:spAutoFit/>
          </a:bodyPr>
          <a:lstStyle/>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完全</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免费</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nvSpPr>
        <p:spPr>
          <a:xfrm>
            <a:off x="601249" y="1153312"/>
            <a:ext cx="10997852" cy="390504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值得注意的是，我们所说的</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是</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系统的简称，实际上</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仅表示</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系统的内核。</a:t>
            </a: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a:p>
            <a:pPr indent="457200" defTabSz="720725">
              <a:lnSpc>
                <a:spcPct val="150000"/>
              </a:lnSpc>
            </a:pPr>
            <a:r>
              <a:rPr lang="en-US" altLang="zh-CN" sz="2400" dirty="0">
                <a:solidFill>
                  <a:srgbClr val="FF0000"/>
                </a:solidFill>
                <a:latin typeface="微软雅黑" panose="020B0503020204020204" pitchFamily="34" charset="-122"/>
                <a:ea typeface="微软雅黑" panose="020B0503020204020204" pitchFamily="34" charset="-122"/>
              </a:rPr>
              <a:t>Linux</a:t>
            </a:r>
            <a:r>
              <a:rPr lang="zh-CN" altLang="en-US" sz="2400" dirty="0">
                <a:solidFill>
                  <a:srgbClr val="FF0000"/>
                </a:solidFill>
                <a:latin typeface="微软雅黑" panose="020B0503020204020204" pitchFamily="34" charset="-122"/>
                <a:ea typeface="微软雅黑" panose="020B0503020204020204" pitchFamily="34" charset="-122"/>
              </a:rPr>
              <a:t>系统</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由</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4</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个部分</a:t>
            </a:r>
            <a:r>
              <a:rPr lang="zh-CN" altLang="en-US" sz="2400" dirty="0">
                <a:solidFill>
                  <a:srgbClr val="FF0000"/>
                </a:solidFill>
                <a:latin typeface="微软雅黑" panose="020B0503020204020204" pitchFamily="34" charset="-122"/>
                <a:ea typeface="微软雅黑" panose="020B0503020204020204" pitchFamily="34" charset="-122"/>
              </a:rPr>
              <a:t>组成</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内核</a:t>
            </a: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en-US" altLang="zh-CN" sz="2400" dirty="0">
                <a:solidFill>
                  <a:schemeClr val="bg1">
                    <a:lumMod val="50000"/>
                  </a:schemeClr>
                </a:solidFill>
                <a:latin typeface="微软雅黑" panose="020B0503020204020204" pitchFamily="34" charset="-122"/>
                <a:ea typeface="微软雅黑" panose="020B0503020204020204" pitchFamily="34" charset="-122"/>
              </a:rPr>
              <a:t>Shell</a:t>
            </a: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文件系统</a:t>
            </a: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a:p>
            <a:pPr marL="1257300" lvl="2" indent="-342900" defTabSz="720725">
              <a:lnSpc>
                <a:spcPct val="150000"/>
              </a:lnSpc>
              <a:buFont typeface="Wingdings" panose="05000000000000000000" pitchFamily="2" charset="2"/>
              <a:buChar char="Ø"/>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应用程序</a:t>
            </a:r>
            <a:endParaRPr lang="en-US" altLang="zh-CN" sz="2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08382" y="502131"/>
            <a:ext cx="5708275"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1.1.1Linux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a:t>
            </a:r>
            <a:r>
              <a:rPr lang="zh-CN" altLang="en-US" sz="3200" dirty="0">
                <a:solidFill>
                  <a:srgbClr val="1353A2"/>
                </a:solidFill>
                <a:latin typeface="微软雅黑" panose="020B0503020204020204" pitchFamily="34" charset="-122"/>
                <a:ea typeface="微软雅黑" panose="020B0503020204020204" pitchFamily="34" charset="-122"/>
              </a:rPr>
              <a:t>的起源与发展</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16" name="组 59"/>
          <p:cNvGrpSpPr/>
          <p:nvPr/>
        </p:nvGrpSpPr>
        <p:grpSpPr>
          <a:xfrm>
            <a:off x="1272719" y="3573016"/>
            <a:ext cx="2231667" cy="360040"/>
            <a:chOff x="1201043" y="3573016"/>
            <a:chExt cx="2232248" cy="360040"/>
          </a:xfrm>
        </p:grpSpPr>
        <p:cxnSp>
          <p:nvCxnSpPr>
            <p:cNvPr id="17" name="直线连接符 5"/>
            <p:cNvCxnSpPr>
              <a:stCxn id="49" idx="6"/>
              <a:endCxn id="24" idx="2"/>
            </p:cNvCxnSpPr>
            <p:nvPr/>
          </p:nvCxnSpPr>
          <p:spPr>
            <a:xfrm>
              <a:off x="1201043" y="3753036"/>
              <a:ext cx="1872208" cy="0"/>
            </a:xfrm>
            <a:prstGeom prst="line">
              <a:avLst/>
            </a:prstGeom>
            <a:ln>
              <a:solidFill>
                <a:srgbClr val="1353A2"/>
              </a:solidFill>
            </a:ln>
          </p:spPr>
          <p:style>
            <a:lnRef idx="2">
              <a:schemeClr val="accent1"/>
            </a:lnRef>
            <a:fillRef idx="0">
              <a:schemeClr val="accent1"/>
            </a:fillRef>
            <a:effectRef idx="1">
              <a:schemeClr val="accent1"/>
            </a:effectRef>
            <a:fontRef idx="minor">
              <a:schemeClr val="tx1"/>
            </a:fontRef>
          </p:style>
        </p:cxnSp>
        <p:grpSp>
          <p:nvGrpSpPr>
            <p:cNvPr id="18" name="组 53"/>
            <p:cNvGrpSpPr/>
            <p:nvPr/>
          </p:nvGrpSpPr>
          <p:grpSpPr>
            <a:xfrm>
              <a:off x="3073251" y="3573016"/>
              <a:ext cx="360040" cy="360040"/>
              <a:chOff x="3073251" y="3573016"/>
              <a:chExt cx="360040" cy="360040"/>
            </a:xfrm>
          </p:grpSpPr>
          <p:sp>
            <p:nvSpPr>
              <p:cNvPr id="24" name="椭圆 23"/>
              <p:cNvSpPr/>
              <p:nvPr/>
            </p:nvSpPr>
            <p:spPr>
              <a:xfrm>
                <a:off x="3073251" y="3573016"/>
                <a:ext cx="360040" cy="360040"/>
              </a:xfrm>
              <a:prstGeom prst="ellipse">
                <a:avLst/>
              </a:prstGeom>
              <a:solidFill>
                <a:schemeClr val="bg1"/>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5" name="椭圆 24"/>
              <p:cNvSpPr/>
              <p:nvPr/>
            </p:nvSpPr>
            <p:spPr>
              <a:xfrm>
                <a:off x="3148883" y="3645024"/>
                <a:ext cx="212400" cy="212400"/>
              </a:xfrm>
              <a:prstGeom prst="ellipse">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grpSp>
      <p:grpSp>
        <p:nvGrpSpPr>
          <p:cNvPr id="27" name="组 60"/>
          <p:cNvGrpSpPr/>
          <p:nvPr/>
        </p:nvGrpSpPr>
        <p:grpSpPr>
          <a:xfrm>
            <a:off x="3576376" y="3573016"/>
            <a:ext cx="1904416" cy="360040"/>
            <a:chOff x="3505299" y="3573016"/>
            <a:chExt cx="1904912" cy="360040"/>
          </a:xfrm>
        </p:grpSpPr>
        <p:grpSp>
          <p:nvGrpSpPr>
            <p:cNvPr id="28" name="组 54"/>
            <p:cNvGrpSpPr/>
            <p:nvPr/>
          </p:nvGrpSpPr>
          <p:grpSpPr>
            <a:xfrm>
              <a:off x="5050171" y="3573016"/>
              <a:ext cx="360040" cy="360040"/>
              <a:chOff x="5050171" y="3573016"/>
              <a:chExt cx="360040" cy="360040"/>
            </a:xfrm>
          </p:grpSpPr>
          <p:sp>
            <p:nvSpPr>
              <p:cNvPr id="30" name="椭圆 29"/>
              <p:cNvSpPr/>
              <p:nvPr/>
            </p:nvSpPr>
            <p:spPr>
              <a:xfrm>
                <a:off x="5050171" y="3573016"/>
                <a:ext cx="360040" cy="360040"/>
              </a:xfrm>
              <a:prstGeom prst="ellipse">
                <a:avLst/>
              </a:prstGeom>
              <a:solidFill>
                <a:schemeClr val="bg1"/>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1" name="椭圆 30"/>
              <p:cNvSpPr/>
              <p:nvPr/>
            </p:nvSpPr>
            <p:spPr>
              <a:xfrm>
                <a:off x="5125803" y="3645024"/>
                <a:ext cx="212400" cy="212400"/>
              </a:xfrm>
              <a:prstGeom prst="ellipse">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cxnSp>
          <p:nvCxnSpPr>
            <p:cNvPr id="29" name="直线连接符 19"/>
            <p:cNvCxnSpPr>
              <a:stCxn id="24" idx="6"/>
              <a:endCxn id="30" idx="2"/>
            </p:cNvCxnSpPr>
            <p:nvPr/>
          </p:nvCxnSpPr>
          <p:spPr>
            <a:xfrm>
              <a:off x="3505299" y="3753036"/>
              <a:ext cx="1544872" cy="0"/>
            </a:xfrm>
            <a:prstGeom prst="line">
              <a:avLst/>
            </a:prstGeom>
            <a:ln>
              <a:solidFill>
                <a:srgbClr val="1353A2"/>
              </a:solidFill>
            </a:ln>
          </p:spPr>
          <p:style>
            <a:lnRef idx="2">
              <a:schemeClr val="accent1"/>
            </a:lnRef>
            <a:fillRef idx="0">
              <a:schemeClr val="accent1"/>
            </a:fillRef>
            <a:effectRef idx="1">
              <a:schemeClr val="accent1"/>
            </a:effectRef>
            <a:fontRef idx="minor">
              <a:schemeClr val="tx1"/>
            </a:fontRef>
          </p:style>
        </p:cxnSp>
      </p:grpSp>
      <p:grpSp>
        <p:nvGrpSpPr>
          <p:cNvPr id="32" name="组 62"/>
          <p:cNvGrpSpPr/>
          <p:nvPr/>
        </p:nvGrpSpPr>
        <p:grpSpPr>
          <a:xfrm>
            <a:off x="7463795" y="3573016"/>
            <a:ext cx="1799731" cy="360040"/>
            <a:chOff x="7393731" y="3573016"/>
            <a:chExt cx="1800200" cy="360040"/>
          </a:xfrm>
        </p:grpSpPr>
        <p:cxnSp>
          <p:nvCxnSpPr>
            <p:cNvPr id="33" name="直线连接符 24"/>
            <p:cNvCxnSpPr>
              <a:stCxn id="44" idx="6"/>
              <a:endCxn id="35" idx="2"/>
            </p:cNvCxnSpPr>
            <p:nvPr/>
          </p:nvCxnSpPr>
          <p:spPr>
            <a:xfrm>
              <a:off x="7393731" y="3753036"/>
              <a:ext cx="1440160" cy="0"/>
            </a:xfrm>
            <a:prstGeom prst="line">
              <a:avLst/>
            </a:prstGeom>
            <a:ln>
              <a:solidFill>
                <a:srgbClr val="1353A2"/>
              </a:solidFill>
            </a:ln>
          </p:spPr>
          <p:style>
            <a:lnRef idx="2">
              <a:schemeClr val="accent1"/>
            </a:lnRef>
            <a:fillRef idx="0">
              <a:schemeClr val="accent1"/>
            </a:fillRef>
            <a:effectRef idx="1">
              <a:schemeClr val="accent1"/>
            </a:effectRef>
            <a:fontRef idx="minor">
              <a:schemeClr val="tx1"/>
            </a:fontRef>
          </p:style>
        </p:cxnSp>
        <p:grpSp>
          <p:nvGrpSpPr>
            <p:cNvPr id="34" name="组 56"/>
            <p:cNvGrpSpPr/>
            <p:nvPr/>
          </p:nvGrpSpPr>
          <p:grpSpPr>
            <a:xfrm>
              <a:off x="8833891" y="3573016"/>
              <a:ext cx="360040" cy="360040"/>
              <a:chOff x="8833891" y="3573016"/>
              <a:chExt cx="360040" cy="360040"/>
            </a:xfrm>
          </p:grpSpPr>
          <p:sp>
            <p:nvSpPr>
              <p:cNvPr id="35" name="椭圆 34"/>
              <p:cNvSpPr/>
              <p:nvPr/>
            </p:nvSpPr>
            <p:spPr>
              <a:xfrm>
                <a:off x="8833891" y="3573016"/>
                <a:ext cx="360040" cy="360040"/>
              </a:xfrm>
              <a:prstGeom prst="ellipse">
                <a:avLst/>
              </a:prstGeom>
              <a:solidFill>
                <a:schemeClr val="bg1"/>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6" name="椭圆 35"/>
              <p:cNvSpPr/>
              <p:nvPr/>
            </p:nvSpPr>
            <p:spPr>
              <a:xfrm>
                <a:off x="8909523" y="3645024"/>
                <a:ext cx="212400" cy="212400"/>
              </a:xfrm>
              <a:prstGeom prst="ellipse">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grpSp>
      <p:grpSp>
        <p:nvGrpSpPr>
          <p:cNvPr id="37" name="组 57"/>
          <p:cNvGrpSpPr/>
          <p:nvPr/>
        </p:nvGrpSpPr>
        <p:grpSpPr>
          <a:xfrm>
            <a:off x="10703312" y="3573016"/>
            <a:ext cx="359946" cy="360040"/>
            <a:chOff x="10634091" y="3573016"/>
            <a:chExt cx="360040" cy="360040"/>
          </a:xfrm>
        </p:grpSpPr>
        <p:sp>
          <p:nvSpPr>
            <p:cNvPr id="38" name="椭圆 37"/>
            <p:cNvSpPr/>
            <p:nvPr/>
          </p:nvSpPr>
          <p:spPr>
            <a:xfrm>
              <a:off x="10634091" y="3573016"/>
              <a:ext cx="360040" cy="360040"/>
            </a:xfrm>
            <a:prstGeom prst="ellipse">
              <a:avLst/>
            </a:prstGeom>
            <a:solidFill>
              <a:schemeClr val="bg1"/>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9" name="椭圆 38"/>
            <p:cNvSpPr/>
            <p:nvPr/>
          </p:nvSpPr>
          <p:spPr>
            <a:xfrm>
              <a:off x="10709723" y="3645024"/>
              <a:ext cx="212400" cy="212400"/>
            </a:xfrm>
            <a:prstGeom prst="ellipse">
              <a:avLst/>
            </a:prstGeom>
            <a:solidFill>
              <a:srgbClr val="1353A2"/>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cxnSp>
        <p:nvCxnSpPr>
          <p:cNvPr id="40" name="直线连接符 29"/>
          <p:cNvCxnSpPr>
            <a:stCxn id="35" idx="6"/>
            <a:endCxn id="38" idx="2"/>
          </p:cNvCxnSpPr>
          <p:nvPr/>
        </p:nvCxnSpPr>
        <p:spPr>
          <a:xfrm>
            <a:off x="9263527" y="3753036"/>
            <a:ext cx="1439785" cy="0"/>
          </a:xfrm>
          <a:prstGeom prst="line">
            <a:avLst/>
          </a:prstGeom>
          <a:ln>
            <a:solidFill>
              <a:srgbClr val="1353A2"/>
            </a:solidFill>
          </a:ln>
        </p:spPr>
        <p:style>
          <a:lnRef idx="2">
            <a:schemeClr val="accent1"/>
          </a:lnRef>
          <a:fillRef idx="0">
            <a:schemeClr val="accent1"/>
          </a:fillRef>
          <a:effectRef idx="1">
            <a:schemeClr val="accent1"/>
          </a:effectRef>
          <a:fontRef idx="minor">
            <a:schemeClr val="tx1"/>
          </a:fontRef>
        </p:style>
      </p:cxnSp>
      <p:grpSp>
        <p:nvGrpSpPr>
          <p:cNvPr id="41" name="组 61"/>
          <p:cNvGrpSpPr/>
          <p:nvPr/>
        </p:nvGrpSpPr>
        <p:grpSpPr>
          <a:xfrm>
            <a:off x="5552781" y="3573016"/>
            <a:ext cx="1911014" cy="360040"/>
            <a:chOff x="5482219" y="3573016"/>
            <a:chExt cx="1911512" cy="360040"/>
          </a:xfrm>
        </p:grpSpPr>
        <p:grpSp>
          <p:nvGrpSpPr>
            <p:cNvPr id="42" name="组 55"/>
            <p:cNvGrpSpPr/>
            <p:nvPr/>
          </p:nvGrpSpPr>
          <p:grpSpPr>
            <a:xfrm>
              <a:off x="7033691" y="3573016"/>
              <a:ext cx="360040" cy="360040"/>
              <a:chOff x="7033691" y="3573016"/>
              <a:chExt cx="360040" cy="360040"/>
            </a:xfrm>
          </p:grpSpPr>
          <p:sp>
            <p:nvSpPr>
              <p:cNvPr id="44" name="椭圆 43"/>
              <p:cNvSpPr/>
              <p:nvPr/>
            </p:nvSpPr>
            <p:spPr>
              <a:xfrm>
                <a:off x="7033691" y="3573016"/>
                <a:ext cx="360040" cy="360040"/>
              </a:xfrm>
              <a:prstGeom prst="ellipse">
                <a:avLst/>
              </a:prstGeom>
              <a:solidFill>
                <a:schemeClr val="bg1"/>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5" name="椭圆 44"/>
              <p:cNvSpPr/>
              <p:nvPr/>
            </p:nvSpPr>
            <p:spPr>
              <a:xfrm>
                <a:off x="7109323" y="3645024"/>
                <a:ext cx="212400" cy="212400"/>
              </a:xfrm>
              <a:prstGeom prst="ellipse">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cxnSp>
          <p:nvCxnSpPr>
            <p:cNvPr id="43" name="直线连接符 30"/>
            <p:cNvCxnSpPr>
              <a:stCxn id="30" idx="6"/>
              <a:endCxn id="44" idx="2"/>
            </p:cNvCxnSpPr>
            <p:nvPr/>
          </p:nvCxnSpPr>
          <p:spPr>
            <a:xfrm>
              <a:off x="5482219" y="3753036"/>
              <a:ext cx="1551472" cy="0"/>
            </a:xfrm>
            <a:prstGeom prst="line">
              <a:avLst/>
            </a:prstGeom>
            <a:ln>
              <a:solidFill>
                <a:srgbClr val="1353A2"/>
              </a:solidFill>
            </a:ln>
          </p:spPr>
          <p:style>
            <a:lnRef idx="2">
              <a:schemeClr val="accent1"/>
            </a:lnRef>
            <a:fillRef idx="0">
              <a:schemeClr val="accent1"/>
            </a:fillRef>
            <a:effectRef idx="1">
              <a:schemeClr val="accent1"/>
            </a:effectRef>
            <a:fontRef idx="minor">
              <a:schemeClr val="tx1"/>
            </a:fontRef>
          </p:style>
        </p:cxnSp>
      </p:grpSp>
      <p:grpSp>
        <p:nvGrpSpPr>
          <p:cNvPr id="46" name="组 58"/>
          <p:cNvGrpSpPr/>
          <p:nvPr/>
        </p:nvGrpSpPr>
        <p:grpSpPr>
          <a:xfrm>
            <a:off x="264870" y="1484784"/>
            <a:ext cx="3239516" cy="2448272"/>
            <a:chOff x="192931" y="1484784"/>
            <a:chExt cx="3240360" cy="2448272"/>
          </a:xfrm>
        </p:grpSpPr>
        <p:grpSp>
          <p:nvGrpSpPr>
            <p:cNvPr id="47" name="组 52"/>
            <p:cNvGrpSpPr/>
            <p:nvPr/>
          </p:nvGrpSpPr>
          <p:grpSpPr>
            <a:xfrm>
              <a:off x="841003" y="3573016"/>
              <a:ext cx="360040" cy="360040"/>
              <a:chOff x="841003" y="3573016"/>
              <a:chExt cx="360040" cy="360040"/>
            </a:xfrm>
          </p:grpSpPr>
          <p:sp>
            <p:nvSpPr>
              <p:cNvPr id="49" name="椭圆 48"/>
              <p:cNvSpPr/>
              <p:nvPr/>
            </p:nvSpPr>
            <p:spPr>
              <a:xfrm>
                <a:off x="841003" y="3573016"/>
                <a:ext cx="360040" cy="360040"/>
              </a:xfrm>
              <a:prstGeom prst="ellipse">
                <a:avLst/>
              </a:prstGeom>
              <a:solidFill>
                <a:schemeClr val="bg1"/>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0" name="椭圆 49"/>
              <p:cNvSpPr/>
              <p:nvPr/>
            </p:nvSpPr>
            <p:spPr>
              <a:xfrm>
                <a:off x="916635" y="3645024"/>
                <a:ext cx="212400" cy="212400"/>
              </a:xfrm>
              <a:prstGeom prst="ellipse">
                <a:avLst/>
              </a:prstGeom>
              <a:solidFill>
                <a:srgbClr val="1353A2"/>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sp>
          <p:nvSpPr>
            <p:cNvPr id="48" name="圆角矩形标注 47"/>
            <p:cNvSpPr/>
            <p:nvPr/>
          </p:nvSpPr>
          <p:spPr>
            <a:xfrm>
              <a:off x="192931" y="1484784"/>
              <a:ext cx="3240360" cy="1800200"/>
            </a:xfrm>
            <a:prstGeom prst="wedgeRoundRectCallout">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endParaRPr lang="zh-CN" altLang="en-US"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1" name="圆角矩形标注 50"/>
          <p:cNvSpPr/>
          <p:nvPr/>
        </p:nvSpPr>
        <p:spPr>
          <a:xfrm>
            <a:off x="840784" y="4233614"/>
            <a:ext cx="3239516" cy="1800200"/>
          </a:xfrm>
          <a:prstGeom prst="wedgeRoundRectCallout">
            <a:avLst>
              <a:gd name="adj1" fmla="val 26194"/>
              <a:gd name="adj2" fmla="val -62605"/>
              <a:gd name="adj3" fmla="val 16667"/>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世纪</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80</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年代，</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AT&amp;T</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UNIX</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商业化，</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UNIX</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不再开放源代码。为了方便教学与研究，赫尔辛基大学的</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Andrew </a:t>
            </a:r>
            <a:r>
              <a:rPr lang="en-US" altLang="zh-CN" sz="16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Tannebaum</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教授开发了</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MINIX</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操作系统，并将其发布在</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Internet</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上，免费供给学生使用。</a:t>
            </a:r>
            <a:endPar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圆角矩形标注 51"/>
          <p:cNvSpPr/>
          <p:nvPr/>
        </p:nvSpPr>
        <p:spPr>
          <a:xfrm>
            <a:off x="3864333" y="1484784"/>
            <a:ext cx="3527473" cy="1800200"/>
          </a:xfrm>
          <a:prstGeom prst="wedgeRoundRectCallout">
            <a:avLst>
              <a:gd name="adj1" fmla="val -5958"/>
              <a:gd name="adj2" fmla="val 60618"/>
              <a:gd name="adj3" fmla="val 16667"/>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为了“重现当年软件界合作互助的团结精神”，</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1983</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27</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日，</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Richard Stallman</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公开发起了</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GNU</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计划，</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GNU</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GNU is Not Unix”</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的递归缩写，该计划的目标是创建一套完全自由的操作系统。</a:t>
            </a:r>
            <a:r>
              <a:rPr lang="zh-TW"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endParaRPr lang="zh-TW"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圆角矩形标注 52"/>
          <p:cNvSpPr/>
          <p:nvPr/>
        </p:nvSpPr>
        <p:spPr>
          <a:xfrm>
            <a:off x="4656214" y="4221088"/>
            <a:ext cx="3599463" cy="1800200"/>
          </a:xfrm>
          <a:prstGeom prst="wedgeRoundRectCallout">
            <a:avLst>
              <a:gd name="adj1" fmla="val 22737"/>
              <a:gd name="adj2" fmla="val -63546"/>
              <a:gd name="adj3" fmla="val 16667"/>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MINIX</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过于简单，</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MINIX</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的作者又拒绝向其中添加其他用户自行编写的代码。与此同时，</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Linus Torvalds</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接触到了</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MINIX</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操作系统，在学习萌生了自主开发操作系统的想法并付诸实践，随之</a:t>
            </a:r>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Linux</a:t>
            </a:r>
            <a:r>
              <a:rPr lang="zh-CN" altLang="en-US"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内核</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诞生。</a:t>
            </a:r>
            <a:endParaRPr lang="zh-TW"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圆角矩形标注 53"/>
          <p:cNvSpPr/>
          <p:nvPr/>
        </p:nvSpPr>
        <p:spPr>
          <a:xfrm>
            <a:off x="7823742" y="1484784"/>
            <a:ext cx="3455484" cy="1800200"/>
          </a:xfrm>
          <a:prstGeom prst="wedgeRoundRectCallout">
            <a:avLst>
              <a:gd name="adj1" fmla="val -12875"/>
              <a:gd name="adj2" fmla="val 57796"/>
              <a:gd name="adj3" fmla="val 16667"/>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TW"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POSIX</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定义了操作系统应该为应用程序提供的标准接口，为了保证之后尽可能获得大量应用软件的支持，</a:t>
            </a:r>
            <a:r>
              <a:rPr lang="en-US" altLang="zh-TW"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Linux</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非常明智地选择了</a:t>
            </a:r>
            <a:r>
              <a:rPr lang="en-US" altLang="zh-TW"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POSIX</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作为</a:t>
            </a:r>
            <a:r>
              <a:rPr lang="en-US" altLang="zh-TW"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API</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设计的标准。</a:t>
            </a:r>
            <a:endParaRPr lang="zh-TW" altLang="en-US" sz="1600" dirty="0"/>
          </a:p>
        </p:txBody>
      </p:sp>
      <p:sp>
        <p:nvSpPr>
          <p:cNvPr id="55" name="圆角矩形标注 54"/>
          <p:cNvSpPr/>
          <p:nvPr/>
        </p:nvSpPr>
        <p:spPr>
          <a:xfrm>
            <a:off x="8759602" y="4221088"/>
            <a:ext cx="3239516" cy="1800200"/>
          </a:xfrm>
          <a:prstGeom prst="wedgeRoundRectCallout">
            <a:avLst>
              <a:gd name="adj1" fmla="val 14363"/>
              <a:gd name="adj2" fmla="val -64487"/>
              <a:gd name="adj3" fmla="val 16667"/>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Linux</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内核的源码是开放的，自</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1991</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年之后，越来越多的开发人员参与到了</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Linux</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内核代码的编写、修改和维护工作中。</a:t>
            </a:r>
            <a:endPar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6" name="矩形 55"/>
          <p:cNvSpPr/>
          <p:nvPr/>
        </p:nvSpPr>
        <p:spPr>
          <a:xfrm>
            <a:off x="312407" y="1549359"/>
            <a:ext cx="3144441" cy="167104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altLang="zh-CN" sz="1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UNIX</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诞生于一个开放的、相互学习研究的时代，</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UNIX</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系统的源码在世界各地流传、分享，一些热衷于</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UNIX</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的人，在源码的基础上不断研究</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UNIX</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，并对其进行改善，极大地促进了</a:t>
            </a:r>
            <a:r>
              <a:rPr lang="en-US"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UNIX</a:t>
            </a:r>
            <a:r>
              <a:rPr lang="zh-CN" altLang="zh-CN"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的发展与优化</a:t>
            </a: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wipe(up)">
                                      <p:cBhvr>
                                        <p:cTn id="16" dur="500"/>
                                        <p:tgtEl>
                                          <p:spTgt spid="5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left)">
                                      <p:cBhvr>
                                        <p:cTn id="21" dur="500"/>
                                        <p:tgtEl>
                                          <p:spTgt spid="27"/>
                                        </p:tgtEl>
                                      </p:cBhvr>
                                    </p:animEffect>
                                  </p:childTnLst>
                                </p:cTn>
                              </p:par>
                            </p:childTnLst>
                          </p:cTn>
                        </p:par>
                        <p:par>
                          <p:cTn id="22" fill="hold">
                            <p:stCondLst>
                              <p:cond delay="500"/>
                            </p:stCondLst>
                            <p:childTnLst>
                              <p:par>
                                <p:cTn id="23" presetID="22" presetClass="entr" presetSubtype="4" fill="hold" grpId="0" nodeType="after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wipe(down)">
                                      <p:cBhvr>
                                        <p:cTn id="25" dur="500"/>
                                        <p:tgtEl>
                                          <p:spTgt spid="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wipe(left)">
                                      <p:cBhvr>
                                        <p:cTn id="30" dur="500"/>
                                        <p:tgtEl>
                                          <p:spTgt spid="41"/>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wipe(up)">
                                      <p:cBhvr>
                                        <p:cTn id="34" dur="500"/>
                                        <p:tgtEl>
                                          <p:spTgt spid="5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wipe(left)">
                                      <p:cBhvr>
                                        <p:cTn id="39" dur="500"/>
                                        <p:tgtEl>
                                          <p:spTgt spid="32"/>
                                        </p:tgtEl>
                                      </p:cBhvr>
                                    </p:animEffect>
                                  </p:childTnLst>
                                </p:cTn>
                              </p:par>
                            </p:childTnLst>
                          </p:cTn>
                        </p:par>
                        <p:par>
                          <p:cTn id="40" fill="hold">
                            <p:stCondLst>
                              <p:cond delay="500"/>
                            </p:stCondLst>
                            <p:childTnLst>
                              <p:par>
                                <p:cTn id="41" presetID="22" presetClass="entr" presetSubtype="4" fill="hold" grpId="0" nodeType="after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wipe(down)">
                                      <p:cBhvr>
                                        <p:cTn id="43" dur="500"/>
                                        <p:tgtEl>
                                          <p:spTgt spid="5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left)">
                                      <p:cBhvr>
                                        <p:cTn id="48" dur="500"/>
                                        <p:tgtEl>
                                          <p:spTgt spid="40"/>
                                        </p:tgtEl>
                                      </p:cBhvr>
                                    </p:animEffect>
                                  </p:childTnLst>
                                </p:cTn>
                              </p:par>
                              <p:par>
                                <p:cTn id="49" presetID="22" presetClass="entr" presetSubtype="8" fill="hold"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wipe(left)">
                                      <p:cBhvr>
                                        <p:cTn id="51" dur="500"/>
                                        <p:tgtEl>
                                          <p:spTgt spid="37"/>
                                        </p:tgtEl>
                                      </p:cBhvr>
                                    </p:animEffect>
                                  </p:childTnLst>
                                </p:cTn>
                              </p:par>
                            </p:childTnLst>
                          </p:cTn>
                        </p:par>
                        <p:par>
                          <p:cTn id="52" fill="hold">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wipe(up)">
                                      <p:cBhvr>
                                        <p:cTn id="5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08383" y="502131"/>
            <a:ext cx="5183226"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1.1.2Linux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系统版本</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10" name="组合 9"/>
          <p:cNvGrpSpPr/>
          <p:nvPr/>
        </p:nvGrpSpPr>
        <p:grpSpPr>
          <a:xfrm>
            <a:off x="695161" y="1724723"/>
            <a:ext cx="10967740" cy="3651817"/>
            <a:chOff x="695161" y="1724723"/>
            <a:chExt cx="10967740" cy="3651817"/>
          </a:xfrm>
        </p:grpSpPr>
        <p:grpSp>
          <p:nvGrpSpPr>
            <p:cNvPr id="8" name="组合 7"/>
            <p:cNvGrpSpPr/>
            <p:nvPr/>
          </p:nvGrpSpPr>
          <p:grpSpPr>
            <a:xfrm>
              <a:off x="695161" y="1724723"/>
              <a:ext cx="10967740" cy="3651817"/>
              <a:chOff x="695161" y="1724723"/>
              <a:chExt cx="10967740" cy="3651817"/>
            </a:xfrm>
          </p:grpSpPr>
          <p:sp>
            <p:nvSpPr>
              <p:cNvPr id="30" name="Rectangle 60"/>
              <p:cNvSpPr/>
              <p:nvPr/>
            </p:nvSpPr>
            <p:spPr bwMode="auto">
              <a:xfrm>
                <a:off x="695161" y="1724723"/>
                <a:ext cx="10944011" cy="972000"/>
              </a:xfrm>
              <a:prstGeom prst="rect">
                <a:avLst/>
              </a:prstGeom>
              <a:solidFill>
                <a:schemeClr val="bg1">
                  <a:lumMod val="65000"/>
                </a:schemeClr>
              </a:solidFill>
              <a:ln w="9525">
                <a:noFill/>
                <a:headEnd type="none" w="med" len="med"/>
                <a:tailEnd type="none" w="med" len="med"/>
              </a:ln>
              <a:effectLst/>
              <a:scene3d>
                <a:camera prst="orthographicFront" fov="0">
                  <a:rot lat="0" lon="0" rev="0"/>
                </a:camera>
                <a:lightRig rig="glow" dir="t">
                  <a:rot lat="0" lon="0" rev="6360000"/>
                </a:lightRig>
              </a:scene3d>
              <a:sp3d prstMaterial="flat">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lIns="121883" tIns="487532" rIns="121883" bIns="137160" anchor="b"/>
              <a:lstStyle/>
              <a:p>
                <a:pPr algn="ctr" defTabSz="1217930">
                  <a:lnSpc>
                    <a:spcPct val="90000"/>
                  </a:lnSpc>
                  <a:spcBef>
                    <a:spcPts val="840"/>
                  </a:spcBef>
                  <a:buClr>
                    <a:srgbClr val="FFFF99"/>
                  </a:buClr>
                  <a:buSzPct val="120000"/>
                  <a:defRPr/>
                </a:pPr>
                <a:endParaRPr lang="en-US" sz="1800" dirty="0">
                  <a:ln>
                    <a:solidFill>
                      <a:srgbClr val="FFFFFF">
                        <a:alpha val="0"/>
                      </a:srgbClr>
                    </a:solidFill>
                  </a:ln>
                  <a:gradFill>
                    <a:gsLst>
                      <a:gs pos="0">
                        <a:schemeClr val="tx1"/>
                      </a:gs>
                      <a:gs pos="100000">
                        <a:schemeClr val="tx1"/>
                      </a:gs>
                    </a:gsLst>
                    <a:lin ang="5400000" scaled="0"/>
                  </a:gradFill>
                  <a:cs typeface="Segoe UI" panose="020B0502040204020203" pitchFamily="34" charset="0"/>
                </a:endParaRPr>
              </a:p>
            </p:txBody>
          </p:sp>
          <p:sp>
            <p:nvSpPr>
              <p:cNvPr id="36" name="Circle Arrow"/>
              <p:cNvSpPr>
                <a:spLocks noEditPoints="1"/>
              </p:cNvSpPr>
              <p:nvPr/>
            </p:nvSpPr>
            <p:spPr bwMode="auto">
              <a:xfrm rot="2491950">
                <a:off x="10461200" y="1895359"/>
                <a:ext cx="631825" cy="630074"/>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lumMod val="20000"/>
                  <a:lumOff val="80000"/>
                </a:srgbClr>
              </a:solidFill>
              <a:ln>
                <a:noFill/>
              </a:ln>
            </p:spPr>
            <p:txBody>
              <a:bodyPr lIns="68550" tIns="34276" rIns="68550" bIns="34276"/>
              <a:lstStyle/>
              <a:p>
                <a:pPr defTabSz="685800" fontAlgn="auto">
                  <a:spcBef>
                    <a:spcPts val="0"/>
                  </a:spcBef>
                  <a:spcAft>
                    <a:spcPts val="0"/>
                  </a:spcAft>
                  <a:defRPr/>
                </a:pPr>
                <a:endParaRPr lang="en-US" sz="1400" kern="0" dirty="0">
                  <a:solidFill>
                    <a:srgbClr val="FFFFFF"/>
                  </a:solidFill>
                  <a:latin typeface="Segoe UI" panose="020B0502040204020203"/>
                  <a:ea typeface="+mn-ea"/>
                </a:endParaRPr>
              </a:p>
            </p:txBody>
          </p:sp>
          <p:sp>
            <p:nvSpPr>
              <p:cNvPr id="6" name="文本框 5"/>
              <p:cNvSpPr txBox="1"/>
              <p:nvPr/>
            </p:nvSpPr>
            <p:spPr>
              <a:xfrm>
                <a:off x="840278" y="1856780"/>
                <a:ext cx="9682459" cy="707886"/>
              </a:xfrm>
              <a:prstGeom prst="rect">
                <a:avLst/>
              </a:prstGeom>
              <a:noFill/>
            </p:spPr>
            <p:txBody>
              <a:bodyPr wrap="none" rtlCol="0">
                <a:spAutoFit/>
              </a:bodyPr>
              <a:lstStyle/>
              <a:p>
                <a:r>
                  <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目前市场占有率最高的商业版</a:t>
                </a:r>
                <a:r>
                  <a:rPr kumimoji="1" lang="en-US" altLang="zh-CN"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Linux</a:t>
                </a:r>
                <a:r>
                  <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如下：</a:t>
                </a:r>
                <a:endPar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矩形 20"/>
              <p:cNvSpPr/>
              <p:nvPr/>
            </p:nvSpPr>
            <p:spPr>
              <a:xfrm>
                <a:off x="9820405" y="2856260"/>
                <a:ext cx="1842496" cy="2520280"/>
              </a:xfrm>
              <a:prstGeom prst="rect">
                <a:avLst/>
              </a:prstGeom>
              <a:solidFill>
                <a:schemeClr val="bg1">
                  <a:lumMod val="65000"/>
                </a:schemeClr>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grpSp>
        <p:sp>
          <p:nvSpPr>
            <p:cNvPr id="22" name="文本框 60"/>
            <p:cNvSpPr txBox="1"/>
            <p:nvPr/>
          </p:nvSpPr>
          <p:spPr>
            <a:xfrm>
              <a:off x="9820405" y="4681336"/>
              <a:ext cx="1842496" cy="584776"/>
            </a:xfrm>
            <a:prstGeom prst="rect">
              <a:avLst/>
            </a:prstGeom>
            <a:noFill/>
          </p:spPr>
          <p:txBody>
            <a:bodyPr wrap="square" rtlCol="0">
              <a:spAutoFit/>
            </a:bodyPr>
            <a:lstStyle/>
            <a:p>
              <a:pPr algn="ctr"/>
              <a:r>
                <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Red hat</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3"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97460" y="3045355"/>
              <a:ext cx="1525186" cy="139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9" name="组合 8"/>
          <p:cNvGrpSpPr/>
          <p:nvPr/>
        </p:nvGrpSpPr>
        <p:grpSpPr>
          <a:xfrm>
            <a:off x="670108" y="2823966"/>
            <a:ext cx="10992793" cy="3606273"/>
            <a:chOff x="670108" y="2837820"/>
            <a:chExt cx="10992793" cy="3606273"/>
          </a:xfrm>
        </p:grpSpPr>
        <p:sp>
          <p:nvSpPr>
            <p:cNvPr id="52" name="矩形 51"/>
            <p:cNvSpPr/>
            <p:nvPr/>
          </p:nvSpPr>
          <p:spPr>
            <a:xfrm>
              <a:off x="2450839" y="2861274"/>
              <a:ext cx="1707802" cy="2520280"/>
            </a:xfrm>
            <a:prstGeom prst="rect">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1" name="矩形 50"/>
            <p:cNvSpPr/>
            <p:nvPr/>
          </p:nvSpPr>
          <p:spPr>
            <a:xfrm>
              <a:off x="682635" y="2849995"/>
              <a:ext cx="1625748" cy="2520280"/>
            </a:xfrm>
            <a:prstGeom prst="rect">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49" name="矩形 48"/>
            <p:cNvSpPr/>
            <p:nvPr/>
          </p:nvSpPr>
          <p:spPr>
            <a:xfrm>
              <a:off x="6166504" y="2837820"/>
              <a:ext cx="1687315" cy="2520280"/>
            </a:xfrm>
            <a:prstGeom prst="rect">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2" name="矩形 1"/>
            <p:cNvSpPr/>
            <p:nvPr/>
          </p:nvSpPr>
          <p:spPr>
            <a:xfrm>
              <a:off x="4341176" y="2861274"/>
              <a:ext cx="1671317" cy="2520280"/>
            </a:xfrm>
            <a:prstGeom prst="rect">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7" name="文本框 6"/>
            <p:cNvSpPr txBox="1"/>
            <p:nvPr/>
          </p:nvSpPr>
          <p:spPr>
            <a:xfrm>
              <a:off x="4439797" y="4646623"/>
              <a:ext cx="1572696" cy="584775"/>
            </a:xfrm>
            <a:prstGeom prst="rect">
              <a:avLst/>
            </a:prstGeom>
            <a:noFill/>
          </p:spPr>
          <p:txBody>
            <a:bodyPr wrap="square" rtlCol="0">
              <a:spAutoFit/>
            </a:bodyPr>
            <a:lstStyle/>
            <a:p>
              <a:pPr algn="ctr"/>
              <a:r>
                <a:rPr kumimoji="1" lang="en-US" altLang="zh-CN" sz="3200"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Debian</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6" name="文本框 55"/>
            <p:cNvSpPr txBox="1"/>
            <p:nvPr/>
          </p:nvSpPr>
          <p:spPr>
            <a:xfrm>
              <a:off x="6166504" y="4646622"/>
              <a:ext cx="1687315" cy="584775"/>
            </a:xfrm>
            <a:prstGeom prst="rect">
              <a:avLst/>
            </a:prstGeom>
            <a:noFill/>
          </p:spPr>
          <p:txBody>
            <a:bodyPr wrap="square" rtlCol="0">
              <a:spAutoFit/>
            </a:bodyPr>
            <a:lstStyle/>
            <a:p>
              <a:pPr algn="ctr"/>
              <a:r>
                <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Ubuntu</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2" name="文本框 61"/>
            <p:cNvSpPr txBox="1"/>
            <p:nvPr/>
          </p:nvSpPr>
          <p:spPr>
            <a:xfrm>
              <a:off x="682635" y="4650019"/>
              <a:ext cx="1625748" cy="584776"/>
            </a:xfrm>
            <a:prstGeom prst="rect">
              <a:avLst/>
            </a:prstGeom>
            <a:noFill/>
          </p:spPr>
          <p:txBody>
            <a:bodyPr wrap="square" rtlCol="0">
              <a:spAutoFit/>
            </a:bodyPr>
            <a:lstStyle/>
            <a:p>
              <a:pPr algn="ctr"/>
              <a:r>
                <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Fedora</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3" name="文本框 62"/>
            <p:cNvSpPr txBox="1"/>
            <p:nvPr/>
          </p:nvSpPr>
          <p:spPr>
            <a:xfrm>
              <a:off x="2450839" y="4622104"/>
              <a:ext cx="1707802" cy="584775"/>
            </a:xfrm>
            <a:prstGeom prst="rect">
              <a:avLst/>
            </a:prstGeom>
            <a:noFill/>
          </p:spPr>
          <p:txBody>
            <a:bodyPr wrap="square" rtlCol="0">
              <a:spAutoFit/>
            </a:bodyPr>
            <a:lstStyle/>
            <a:p>
              <a:pPr algn="ctr"/>
              <a:r>
                <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CentOS</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6613" y="3076538"/>
              <a:ext cx="1483942" cy="1362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9297" y="3076538"/>
              <a:ext cx="1491066" cy="1362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122" y="3084864"/>
              <a:ext cx="1487264" cy="1399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9"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4075" y="3084864"/>
              <a:ext cx="1546884" cy="136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Rectangle 60"/>
            <p:cNvSpPr/>
            <p:nvPr/>
          </p:nvSpPr>
          <p:spPr bwMode="auto">
            <a:xfrm>
              <a:off x="670108" y="5472093"/>
              <a:ext cx="10992793" cy="972000"/>
            </a:xfrm>
            <a:prstGeom prst="rect">
              <a:avLst/>
            </a:prstGeom>
            <a:solidFill>
              <a:srgbClr val="1353A2"/>
            </a:solidFill>
            <a:ln w="9525">
              <a:noFill/>
              <a:headEnd type="none" w="med" len="med"/>
              <a:tailEnd type="none" w="med" len="med"/>
            </a:ln>
            <a:effectLst/>
            <a:scene3d>
              <a:camera prst="orthographicFront" fov="0">
                <a:rot lat="0" lon="0" rev="0"/>
              </a:camera>
              <a:lightRig rig="glow" dir="t">
                <a:rot lat="0" lon="0" rev="6360000"/>
              </a:lightRig>
            </a:scene3d>
            <a:sp3d prstMaterial="flat">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lIns="121883" tIns="487532" rIns="121883" bIns="137160" anchor="b"/>
            <a:lstStyle/>
            <a:p>
              <a:pPr algn="ctr" defTabSz="1217930">
                <a:lnSpc>
                  <a:spcPct val="90000"/>
                </a:lnSpc>
                <a:spcBef>
                  <a:spcPts val="840"/>
                </a:spcBef>
                <a:buClr>
                  <a:srgbClr val="FFFF99"/>
                </a:buClr>
                <a:buSzPct val="120000"/>
                <a:defRPr/>
              </a:pPr>
              <a:endParaRPr lang="en-US" sz="1800" dirty="0">
                <a:ln>
                  <a:solidFill>
                    <a:srgbClr val="FFFFFF">
                      <a:alpha val="0"/>
                    </a:srgbClr>
                  </a:solidFill>
                </a:ln>
                <a:gradFill>
                  <a:gsLst>
                    <a:gs pos="0">
                      <a:schemeClr val="tx1"/>
                    </a:gs>
                    <a:gs pos="100000">
                      <a:schemeClr val="tx1"/>
                    </a:gs>
                  </a:gsLst>
                  <a:lin ang="5400000" scaled="0"/>
                </a:gradFill>
                <a:cs typeface="Segoe UI" panose="020B0502040204020203" pitchFamily="34" charset="0"/>
              </a:endParaRPr>
            </a:p>
          </p:txBody>
        </p:sp>
        <p:sp>
          <p:nvSpPr>
            <p:cNvPr id="25" name="文本框 5"/>
            <p:cNvSpPr txBox="1"/>
            <p:nvPr/>
          </p:nvSpPr>
          <p:spPr>
            <a:xfrm>
              <a:off x="765122" y="5584114"/>
              <a:ext cx="8143576" cy="707886"/>
            </a:xfrm>
            <a:prstGeom prst="rect">
              <a:avLst/>
            </a:prstGeom>
            <a:noFill/>
          </p:spPr>
          <p:txBody>
            <a:bodyPr wrap="none" rtlCol="0">
              <a:spAutoFit/>
            </a:bodyPr>
            <a:lstStyle/>
            <a:p>
              <a:r>
                <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被普遍使用的</a:t>
              </a:r>
              <a:r>
                <a:rPr kumimoji="1" lang="en-US" altLang="zh-CN" sz="40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Liunx</a:t>
              </a:r>
              <a:r>
                <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发行版本如上：</a:t>
              </a:r>
              <a:endPar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Circle Arrow"/>
            <p:cNvSpPr>
              <a:spLocks noEditPoints="1"/>
            </p:cNvSpPr>
            <p:nvPr/>
          </p:nvSpPr>
          <p:spPr bwMode="auto">
            <a:xfrm rot="9992287">
              <a:off x="8909239" y="5599980"/>
              <a:ext cx="631825" cy="630074"/>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lumMod val="20000"/>
                <a:lumOff val="80000"/>
              </a:srgbClr>
            </a:solidFill>
            <a:ln>
              <a:noFill/>
            </a:ln>
          </p:spPr>
          <p:txBody>
            <a:bodyPr lIns="68550" tIns="34276" rIns="68550" bIns="34276"/>
            <a:lstStyle/>
            <a:p>
              <a:pPr defTabSz="685800" fontAlgn="auto">
                <a:spcBef>
                  <a:spcPts val="0"/>
                </a:spcBef>
                <a:spcAft>
                  <a:spcPts val="0"/>
                </a:spcAft>
                <a:defRPr/>
              </a:pPr>
              <a:endParaRPr lang="en-US" sz="1400" kern="0" dirty="0">
                <a:solidFill>
                  <a:srgbClr val="FFFFFF"/>
                </a:solidFill>
                <a:latin typeface="Segoe UI" panose="020B0502040204020203"/>
                <a:ea typeface="+mn-ea"/>
              </a:endParaRPr>
            </a:p>
          </p:txBody>
        </p:sp>
        <p:sp>
          <p:nvSpPr>
            <p:cNvPr id="28" name="矩形 27"/>
            <p:cNvSpPr/>
            <p:nvPr/>
          </p:nvSpPr>
          <p:spPr>
            <a:xfrm>
              <a:off x="8000922" y="2858008"/>
              <a:ext cx="1687315" cy="2520280"/>
            </a:xfrm>
            <a:prstGeom prst="rect">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pic>
          <p:nvPicPr>
            <p:cNvPr id="29"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13945" y="3060915"/>
              <a:ext cx="1461268" cy="13784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文本框 55"/>
            <p:cNvSpPr txBox="1"/>
            <p:nvPr/>
          </p:nvSpPr>
          <p:spPr>
            <a:xfrm>
              <a:off x="8046452" y="4650019"/>
              <a:ext cx="1687315" cy="584775"/>
            </a:xfrm>
            <a:prstGeom prst="rect">
              <a:avLst/>
            </a:prstGeom>
            <a:noFill/>
          </p:spPr>
          <p:txBody>
            <a:bodyPr wrap="square" rtlCol="0">
              <a:spAutoFit/>
            </a:bodyPr>
            <a:lstStyle/>
            <a:p>
              <a:pPr algn="ctr"/>
              <a:r>
                <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Gentoo</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9"/>
                                        </p:tgtEl>
                                      </p:cBhvr>
                                    </p:animEffect>
                                    <p:animScale>
                                      <p:cBhvr>
                                        <p:cTn id="12"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70108" y="1717496"/>
            <a:ext cx="10992793" cy="3650204"/>
            <a:chOff x="670108" y="1731350"/>
            <a:chExt cx="10992793" cy="3650204"/>
          </a:xfrm>
        </p:grpSpPr>
        <p:sp>
          <p:nvSpPr>
            <p:cNvPr id="2" name="矩形 1"/>
            <p:cNvSpPr/>
            <p:nvPr/>
          </p:nvSpPr>
          <p:spPr>
            <a:xfrm>
              <a:off x="9973064" y="2861274"/>
              <a:ext cx="1671317" cy="2520280"/>
            </a:xfrm>
            <a:prstGeom prst="rect">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7" name="文本框 6"/>
            <p:cNvSpPr txBox="1"/>
            <p:nvPr/>
          </p:nvSpPr>
          <p:spPr>
            <a:xfrm>
              <a:off x="10002415" y="4646623"/>
              <a:ext cx="1572696" cy="584775"/>
            </a:xfrm>
            <a:prstGeom prst="rect">
              <a:avLst/>
            </a:prstGeom>
            <a:noFill/>
          </p:spPr>
          <p:txBody>
            <a:bodyPr wrap="square" rtlCol="0">
              <a:spAutoFit/>
            </a:bodyPr>
            <a:lstStyle/>
            <a:p>
              <a:pPr algn="ctr"/>
              <a:r>
                <a:rPr kumimoji="1" lang="en-US" altLang="zh-CN" sz="3200"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Deepin</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Rectangle 60"/>
            <p:cNvSpPr/>
            <p:nvPr/>
          </p:nvSpPr>
          <p:spPr bwMode="auto">
            <a:xfrm>
              <a:off x="670108" y="1731350"/>
              <a:ext cx="10992793" cy="972000"/>
            </a:xfrm>
            <a:prstGeom prst="rect">
              <a:avLst/>
            </a:prstGeom>
            <a:solidFill>
              <a:srgbClr val="1353A2"/>
            </a:solidFill>
            <a:ln w="9525">
              <a:noFill/>
              <a:headEnd type="none" w="med" len="med"/>
              <a:tailEnd type="none" w="med" len="med"/>
            </a:ln>
            <a:effectLst/>
            <a:scene3d>
              <a:camera prst="orthographicFront" fov="0">
                <a:rot lat="0" lon="0" rev="0"/>
              </a:camera>
              <a:lightRig rig="glow" dir="t">
                <a:rot lat="0" lon="0" rev="6360000"/>
              </a:lightRig>
            </a:scene3d>
            <a:sp3d prstMaterial="flat">
              <a:contourClr>
                <a:schemeClr val="accent2">
                  <a:satMod val="300000"/>
                </a:schemeClr>
              </a:contourClr>
            </a:sp3d>
          </p:spPr>
          <p:style>
            <a:lnRef idx="0">
              <a:schemeClr val="accent2"/>
            </a:lnRef>
            <a:fillRef idx="3">
              <a:schemeClr val="accent2"/>
            </a:fillRef>
            <a:effectRef idx="3">
              <a:schemeClr val="accent2"/>
            </a:effectRef>
            <a:fontRef idx="minor">
              <a:schemeClr val="lt1"/>
            </a:fontRef>
          </p:style>
          <p:txBody>
            <a:bodyPr lIns="121883" tIns="487532" rIns="121883" bIns="137160" anchor="b"/>
            <a:lstStyle/>
            <a:p>
              <a:pPr algn="ctr" defTabSz="1217930">
                <a:lnSpc>
                  <a:spcPct val="90000"/>
                </a:lnSpc>
                <a:spcBef>
                  <a:spcPts val="840"/>
                </a:spcBef>
                <a:buClr>
                  <a:srgbClr val="FFFF99"/>
                </a:buClr>
                <a:buSzPct val="120000"/>
                <a:defRPr/>
              </a:pPr>
              <a:endParaRPr lang="en-US" sz="1800" dirty="0">
                <a:ln>
                  <a:solidFill>
                    <a:srgbClr val="FFFFFF">
                      <a:alpha val="0"/>
                    </a:srgbClr>
                  </a:solidFill>
                </a:ln>
                <a:gradFill>
                  <a:gsLst>
                    <a:gs pos="0">
                      <a:schemeClr val="tx1"/>
                    </a:gs>
                    <a:gs pos="100000">
                      <a:schemeClr val="tx1"/>
                    </a:gs>
                  </a:gsLst>
                  <a:lin ang="5400000" scaled="0"/>
                </a:gradFill>
                <a:cs typeface="Segoe UI" panose="020B0502040204020203" pitchFamily="34" charset="0"/>
              </a:endParaRPr>
            </a:p>
          </p:txBody>
        </p:sp>
        <p:sp>
          <p:nvSpPr>
            <p:cNvPr id="25" name="文本框 5"/>
            <p:cNvSpPr txBox="1"/>
            <p:nvPr/>
          </p:nvSpPr>
          <p:spPr>
            <a:xfrm>
              <a:off x="765122" y="1843371"/>
              <a:ext cx="7630615" cy="707886"/>
            </a:xfrm>
            <a:prstGeom prst="rect">
              <a:avLst/>
            </a:prstGeom>
            <a:noFill/>
          </p:spPr>
          <p:txBody>
            <a:bodyPr wrap="none" rtlCol="0">
              <a:spAutoFit/>
            </a:bodyPr>
            <a:lstStyle/>
            <a:p>
              <a:r>
                <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基于</a:t>
              </a:r>
              <a:r>
                <a:rPr kumimoji="1" lang="en-US" altLang="zh-CN"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Linux</a:t>
              </a:r>
              <a:r>
                <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的国产开源操作系统：</a:t>
              </a:r>
              <a:endParaRPr kumimoji="1" lang="zh-CN" altLang="en-US" sz="4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 name="TextBox 1"/>
          <p:cNvSpPr txBox="1"/>
          <p:nvPr/>
        </p:nvSpPr>
        <p:spPr>
          <a:xfrm>
            <a:off x="2308383" y="502131"/>
            <a:ext cx="5183226"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1.1.2Linux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系统版本</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36" name="Circle Arrow"/>
          <p:cNvSpPr>
            <a:spLocks noEditPoints="1"/>
          </p:cNvSpPr>
          <p:nvPr/>
        </p:nvSpPr>
        <p:spPr bwMode="auto">
          <a:xfrm rot="2491950">
            <a:off x="10461200" y="1895359"/>
            <a:ext cx="631825" cy="630074"/>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lumMod val="20000"/>
              <a:lumOff val="80000"/>
            </a:srgbClr>
          </a:solidFill>
          <a:ln>
            <a:noFill/>
          </a:ln>
        </p:spPr>
        <p:txBody>
          <a:bodyPr lIns="68550" tIns="34276" rIns="68550" bIns="34276"/>
          <a:lstStyle/>
          <a:p>
            <a:pPr defTabSz="685800" fontAlgn="auto">
              <a:spcBef>
                <a:spcPts val="0"/>
              </a:spcBef>
              <a:spcAft>
                <a:spcPts val="0"/>
              </a:spcAft>
              <a:defRPr/>
            </a:pPr>
            <a:endParaRPr lang="en-US" sz="1400" kern="0" dirty="0">
              <a:solidFill>
                <a:srgbClr val="FFFFFF"/>
              </a:solidFill>
              <a:latin typeface="Segoe UI" panose="020B0502040204020203"/>
              <a:ea typeface="+mn-ea"/>
            </a:endParaRPr>
          </a:p>
        </p:txBody>
      </p:sp>
      <p:pic>
        <p:nvPicPr>
          <p:cNvPr id="4" name="图片 3"/>
          <p:cNvPicPr>
            <a:picLocks noChangeAspect="1"/>
          </p:cNvPicPr>
          <p:nvPr/>
        </p:nvPicPr>
        <p:blipFill>
          <a:blip r:embed="rId1"/>
          <a:stretch>
            <a:fillRect/>
          </a:stretch>
        </p:blipFill>
        <p:spPr>
          <a:xfrm>
            <a:off x="10035282" y="3040181"/>
            <a:ext cx="1546884" cy="1546884"/>
          </a:xfrm>
          <a:prstGeom prst="rect">
            <a:avLst/>
          </a:prstGeom>
        </p:spPr>
      </p:pic>
      <p:pic>
        <p:nvPicPr>
          <p:cNvPr id="14" name="图片 13"/>
          <p:cNvPicPr>
            <a:picLocks noChangeAspect="1"/>
          </p:cNvPicPr>
          <p:nvPr/>
        </p:nvPicPr>
        <p:blipFill>
          <a:blip r:embed="rId2"/>
          <a:stretch>
            <a:fillRect/>
          </a:stretch>
        </p:blipFill>
        <p:spPr>
          <a:xfrm>
            <a:off x="1925895" y="3115041"/>
            <a:ext cx="6712295" cy="3035456"/>
          </a:xfrm>
          <a:prstGeom prst="rect">
            <a:avLst/>
          </a:prstGeom>
        </p:spPr>
      </p:pic>
      <p:sp>
        <p:nvSpPr>
          <p:cNvPr id="19" name="文本框 18"/>
          <p:cNvSpPr txBox="1"/>
          <p:nvPr/>
        </p:nvSpPr>
        <p:spPr>
          <a:xfrm>
            <a:off x="3909683" y="6488668"/>
            <a:ext cx="4376625" cy="369332"/>
          </a:xfrm>
          <a:prstGeom prst="rect">
            <a:avLst/>
          </a:prstGeom>
          <a:noFill/>
        </p:spPr>
        <p:txBody>
          <a:bodyPr wrap="square">
            <a:spAutoFit/>
          </a:bodyPr>
          <a:lstStyle/>
          <a:p>
            <a:r>
              <a:rPr lang="en-US" altLang="zh-CN" dirty="0" err="1">
                <a:solidFill>
                  <a:schemeClr val="bg1">
                    <a:lumMod val="95000"/>
                  </a:schemeClr>
                </a:solidFill>
              </a:rPr>
              <a:t>Deepin</a:t>
            </a:r>
            <a:r>
              <a:rPr lang="en-US" altLang="zh-CN" dirty="0">
                <a:solidFill>
                  <a:schemeClr val="bg1">
                    <a:lumMod val="95000"/>
                  </a:schemeClr>
                </a:solidFill>
              </a:rPr>
              <a:t>: </a:t>
            </a:r>
            <a:r>
              <a:rPr lang="zh-CN" altLang="en-US" dirty="0">
                <a:solidFill>
                  <a:schemeClr val="bg1">
                    <a:lumMod val="95000"/>
                  </a:schemeClr>
                </a:solidFill>
              </a:rPr>
              <a:t>https://www.deepin.org/index/zh</a:t>
            </a:r>
            <a:endParaRPr lang="zh-CN" altLang="en-US" dirty="0">
              <a:solidFill>
                <a:schemeClr val="bg1">
                  <a:lumMod val="95000"/>
                </a:schemeClr>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08383" y="389397"/>
            <a:ext cx="5183226"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dirty="0">
                <a:solidFill>
                  <a:srgbClr val="1353A2"/>
                </a:solidFill>
                <a:latin typeface="微软雅黑" panose="020B0503020204020204" pitchFamily="34" charset="-122"/>
                <a:ea typeface="微软雅黑" panose="020B0503020204020204" pitchFamily="34" charset="-122"/>
              </a:rPr>
              <a:t>1.1.3GNU</a:t>
            </a:r>
            <a:r>
              <a:rPr lang="zh-CN" altLang="en-US" sz="3200" dirty="0">
                <a:solidFill>
                  <a:srgbClr val="1353A2"/>
                </a:solidFill>
                <a:latin typeface="微软雅黑" panose="020B0503020204020204" pitchFamily="34" charset="-122"/>
                <a:ea typeface="微软雅黑" panose="020B0503020204020204" pitchFamily="34" charset="-122"/>
              </a:rPr>
              <a:t>与</a:t>
            </a:r>
            <a:r>
              <a:rPr lang="en-US" altLang="zh-CN" sz="3200" dirty="0">
                <a:solidFill>
                  <a:srgbClr val="1353A2"/>
                </a:solidFill>
                <a:latin typeface="微软雅黑" panose="020B0503020204020204" pitchFamily="34" charset="-122"/>
                <a:ea typeface="微软雅黑" panose="020B0503020204020204" pitchFamily="34" charset="-122"/>
              </a:rPr>
              <a:t>GPL</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364591" y="4297329"/>
            <a:ext cx="2087688" cy="1077218"/>
          </a:xfrm>
          <a:prstGeom prst="rect">
            <a:avLst/>
          </a:prstGeom>
          <a:noFill/>
        </p:spPr>
        <p:txBody>
          <a:bodyPr wrap="square" rtlCol="0">
            <a:spAutoFit/>
          </a:bodyPr>
          <a:lstStyle/>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完全</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免费</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9963" y="1524000"/>
            <a:ext cx="3095625"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3837138" y="2274838"/>
            <a:ext cx="7761961" cy="230832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en-US" altLang="zh-CN" sz="2400" dirty="0">
                <a:solidFill>
                  <a:schemeClr val="bg1">
                    <a:lumMod val="50000"/>
                  </a:schemeClr>
                </a:solidFill>
                <a:latin typeface="微软雅黑" panose="020B0503020204020204" pitchFamily="34" charset="-122"/>
                <a:ea typeface="微软雅黑" panose="020B0503020204020204" pitchFamily="34" charset="-122"/>
              </a:rPr>
              <a:t>20</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世纪</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80</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年代，人们开始认识到软件的商业价值，越来越多的软件被</a:t>
            </a:r>
            <a:r>
              <a:rPr lang="zh-CN" altLang="zh-CN" sz="2400" dirty="0">
                <a:solidFill>
                  <a:srgbClr val="FF0000"/>
                </a:solidFill>
                <a:latin typeface="微软雅黑" panose="020B0503020204020204" pitchFamily="34" charset="-122"/>
                <a:ea typeface="微软雅黑" panose="020B0503020204020204" pitchFamily="34" charset="-122"/>
              </a:rPr>
              <a:t>商业化</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，为了与这种现象</a:t>
            </a:r>
            <a:r>
              <a:rPr lang="zh-CN" altLang="zh-CN" sz="2400" dirty="0">
                <a:solidFill>
                  <a:srgbClr val="FF0000"/>
                </a:solidFill>
                <a:latin typeface="微软雅黑" panose="020B0503020204020204" pitchFamily="34" charset="-122"/>
                <a:ea typeface="微软雅黑" panose="020B0503020204020204" pitchFamily="34" charset="-122"/>
              </a:rPr>
              <a:t>抗争</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Richard Stallman</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发起了</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GNU</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计划，希望能建立一套完全</a:t>
            </a:r>
            <a:r>
              <a:rPr lang="zh-CN" altLang="zh-CN" sz="2400" dirty="0">
                <a:solidFill>
                  <a:srgbClr val="FF0000"/>
                </a:solidFill>
                <a:latin typeface="微软雅黑" panose="020B0503020204020204" pitchFamily="34" charset="-122"/>
                <a:ea typeface="微软雅黑" panose="020B0503020204020204" pitchFamily="34" charset="-122"/>
              </a:rPr>
              <a:t>自由</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的、</a:t>
            </a:r>
            <a:r>
              <a:rPr lang="zh-CN" altLang="zh-CN" sz="2400" dirty="0">
                <a:solidFill>
                  <a:srgbClr val="FF0000"/>
                </a:solidFill>
                <a:latin typeface="微软雅黑" panose="020B0503020204020204" pitchFamily="34" charset="-122"/>
                <a:ea typeface="微软雅黑" panose="020B0503020204020204" pitchFamily="34" charset="-122"/>
              </a:rPr>
              <a:t>可移植</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的类</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UNIX</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操作系统。</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08383" y="389397"/>
            <a:ext cx="5183226"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dirty="0">
                <a:solidFill>
                  <a:srgbClr val="1353A2"/>
                </a:solidFill>
                <a:latin typeface="微软雅黑" panose="020B0503020204020204" pitchFamily="34" charset="-122"/>
                <a:ea typeface="微软雅黑" panose="020B0503020204020204" pitchFamily="34" charset="-122"/>
              </a:rPr>
              <a:t>1.1.3GNU</a:t>
            </a:r>
            <a:r>
              <a:rPr lang="zh-CN" altLang="en-US" sz="3200" dirty="0">
                <a:solidFill>
                  <a:srgbClr val="1353A2"/>
                </a:solidFill>
                <a:latin typeface="微软雅黑" panose="020B0503020204020204" pitchFamily="34" charset="-122"/>
                <a:ea typeface="微软雅黑" panose="020B0503020204020204" pitchFamily="34" charset="-122"/>
              </a:rPr>
              <a:t>与</a:t>
            </a:r>
            <a:r>
              <a:rPr lang="en-US" altLang="zh-CN" sz="3200" dirty="0">
                <a:solidFill>
                  <a:srgbClr val="1353A2"/>
                </a:solidFill>
                <a:latin typeface="微软雅黑" panose="020B0503020204020204" pitchFamily="34" charset="-122"/>
                <a:ea typeface="微软雅黑" panose="020B0503020204020204" pitchFamily="34" charset="-122"/>
              </a:rPr>
              <a:t>GPL</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364591" y="4297329"/>
            <a:ext cx="2087688" cy="1077218"/>
          </a:xfrm>
          <a:prstGeom prst="rect">
            <a:avLst/>
          </a:prstGeom>
          <a:noFill/>
        </p:spPr>
        <p:txBody>
          <a:bodyPr wrap="square" rtlCol="0">
            <a:spAutoFit/>
          </a:bodyPr>
          <a:lstStyle/>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完全</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免费</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9963" y="1524000"/>
            <a:ext cx="3095625"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3837138" y="2274838"/>
            <a:ext cx="7761961" cy="279704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为了</a:t>
            </a:r>
            <a:r>
              <a:rPr lang="zh-CN" altLang="en-US" sz="2400" dirty="0">
                <a:solidFill>
                  <a:srgbClr val="FF0000"/>
                </a:solidFill>
                <a:latin typeface="微软雅黑" panose="020B0503020204020204" pitchFamily="34" charset="-122"/>
                <a:ea typeface="微软雅黑" panose="020B0503020204020204" pitchFamily="34" charset="-122"/>
              </a:rPr>
              <a:t>避免</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自己开发的开源自由软件被其他人做成</a:t>
            </a:r>
            <a:r>
              <a:rPr lang="zh-CN" altLang="en-US" sz="2400" dirty="0">
                <a:solidFill>
                  <a:srgbClr val="FF0000"/>
                </a:solidFill>
                <a:latin typeface="微软雅黑" panose="020B0503020204020204" pitchFamily="34" charset="-122"/>
                <a:ea typeface="微软雅黑" panose="020B0503020204020204" pitchFamily="34" charset="-122"/>
              </a:rPr>
              <a:t>专利</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软件，</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1989</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年，他与一群律师起草了现在广泛使用的</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GNU </a:t>
            </a:r>
            <a:r>
              <a:rPr lang="en-US" altLang="zh-CN" sz="2400" dirty="0">
                <a:solidFill>
                  <a:srgbClr val="FF0000"/>
                </a:solidFill>
                <a:latin typeface="微软雅黑" panose="020B0503020204020204" pitchFamily="34" charset="-122"/>
                <a:ea typeface="微软雅黑" panose="020B0503020204020204" pitchFamily="34" charset="-122"/>
              </a:rPr>
              <a:t>GPL</a:t>
            </a:r>
            <a:r>
              <a:rPr lang="zh-CN" altLang="en-US" sz="2400" dirty="0">
                <a:solidFill>
                  <a:srgbClr val="FF0000"/>
                </a:solidFill>
                <a:latin typeface="微软雅黑" panose="020B0503020204020204" pitchFamily="34" charset="-122"/>
                <a:ea typeface="微软雅黑" panose="020B0503020204020204" pitchFamily="34" charset="-122"/>
              </a:rPr>
              <a:t>协议</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GNU General Public License</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GNU</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通用公共协议证书），并将</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GPL</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协议作为自己软件的版权说明。</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p:nvPr/>
        </p:nvSpPr>
        <p:spPr>
          <a:xfrm>
            <a:off x="2308383" y="389397"/>
            <a:ext cx="5183226"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dirty="0">
                <a:solidFill>
                  <a:srgbClr val="1353A2"/>
                </a:solidFill>
                <a:latin typeface="微软雅黑" panose="020B0503020204020204" pitchFamily="34" charset="-122"/>
                <a:ea typeface="微软雅黑" panose="020B0503020204020204" pitchFamily="34" charset="-122"/>
              </a:rPr>
              <a:t>1.1.4Linux</a:t>
            </a:r>
            <a:r>
              <a:rPr lang="zh-CN" altLang="en-US" sz="3200" dirty="0">
                <a:solidFill>
                  <a:srgbClr val="1353A2"/>
                </a:solidFill>
                <a:latin typeface="微软雅黑" panose="020B0503020204020204" pitchFamily="34" charset="-122"/>
                <a:ea typeface="微软雅黑" panose="020B0503020204020204" pitchFamily="34" charset="-122"/>
              </a:rPr>
              <a:t>系统的应用领域</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364591" y="4297329"/>
            <a:ext cx="2087688" cy="1077218"/>
          </a:xfrm>
          <a:prstGeom prst="rect">
            <a:avLst/>
          </a:prstGeom>
          <a:noFill/>
        </p:spPr>
        <p:txBody>
          <a:bodyPr wrap="square" rtlCol="0">
            <a:spAutoFit/>
          </a:bodyPr>
          <a:lstStyle/>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完全</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免费</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矩形 2"/>
          <p:cNvSpPr/>
          <p:nvPr/>
        </p:nvSpPr>
        <p:spPr>
          <a:xfrm>
            <a:off x="601249" y="1153312"/>
            <a:ext cx="10997852" cy="175432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en-US" sz="2400" dirty="0">
                <a:solidFill>
                  <a:schemeClr val="bg1">
                    <a:lumMod val="50000"/>
                  </a:schemeClr>
                </a:solidFill>
                <a:latin typeface="微软雅黑" panose="020B0503020204020204" pitchFamily="34" charset="-122"/>
                <a:ea typeface="微软雅黑" panose="020B0503020204020204" pitchFamily="34" charset="-122"/>
              </a:rPr>
              <a:t>自诞生至今，</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系统经过无数人的开发与完善，逐渐发展成了与</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Unix</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Windows</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并列的操作系统，且应用于人类生活的诸多领域，包括</a:t>
            </a:r>
            <a:r>
              <a:rPr lang="zh-CN" altLang="en-US" sz="2400" dirty="0">
                <a:solidFill>
                  <a:srgbClr val="FF0000"/>
                </a:solidFill>
                <a:latin typeface="微软雅黑" panose="020B0503020204020204" pitchFamily="34" charset="-122"/>
                <a:ea typeface="微软雅黑" panose="020B0503020204020204" pitchFamily="34" charset="-122"/>
              </a:rPr>
              <a:t>服务器</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领域、</a:t>
            </a:r>
            <a:r>
              <a:rPr lang="zh-CN" altLang="en-US" sz="2400" dirty="0">
                <a:solidFill>
                  <a:srgbClr val="FF0000"/>
                </a:solidFill>
                <a:latin typeface="微软雅黑" panose="020B0503020204020204" pitchFamily="34" charset="-122"/>
                <a:ea typeface="微软雅黑" panose="020B0503020204020204" pitchFamily="34" charset="-122"/>
              </a:rPr>
              <a:t>嵌入式</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领域和</a:t>
            </a:r>
            <a:r>
              <a:rPr lang="zh-CN" altLang="en-US" sz="2400" dirty="0">
                <a:solidFill>
                  <a:srgbClr val="FF0000"/>
                </a:solidFill>
                <a:latin typeface="微软雅黑" panose="020B0503020204020204" pitchFamily="34" charset="-122"/>
                <a:ea typeface="微软雅黑" panose="020B0503020204020204" pitchFamily="34" charset="-122"/>
              </a:rPr>
              <a:t>桌面应用</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领域等。</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5132" y="447215"/>
            <a:ext cx="3167527" cy="646331"/>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600" kern="1200" dirty="0">
                <a:solidFill>
                  <a:srgbClr val="1353A2"/>
                </a:solidFill>
                <a:latin typeface="微软雅黑" panose="020B0503020204020204" pitchFamily="34" charset="-122"/>
                <a:ea typeface="微软雅黑" panose="020B0503020204020204" pitchFamily="34" charset="-122"/>
                <a:cs typeface="+mn-cs"/>
              </a:rPr>
              <a:t>目录页</a:t>
            </a:r>
            <a:endParaRPr lang="zh-CN" altLang="en-US" sz="3600" kern="1200" dirty="0">
              <a:solidFill>
                <a:srgbClr val="1353A2"/>
              </a:solidFill>
              <a:latin typeface="微软雅黑" panose="020B0503020204020204" pitchFamily="34" charset="-122"/>
              <a:ea typeface="微软雅黑" panose="020B0503020204020204" pitchFamily="34" charset="-122"/>
              <a:cs typeface="+mn-cs"/>
            </a:endParaRPr>
          </a:p>
        </p:txBody>
      </p:sp>
      <p:cxnSp>
        <p:nvCxnSpPr>
          <p:cNvPr id="50"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29"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31" name="矩形 1"/>
          <p:cNvSpPr>
            <a:spLocks noChangeArrowheads="1"/>
          </p:cNvSpPr>
          <p:nvPr/>
        </p:nvSpPr>
        <p:spPr bwMode="auto">
          <a:xfrm>
            <a:off x="264393" y="1769173"/>
            <a:ext cx="1888804"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4" name="矩形 21"/>
          <p:cNvSpPr>
            <a:spLocks noChangeArrowheads="1"/>
          </p:cNvSpPr>
          <p:nvPr/>
        </p:nvSpPr>
        <p:spPr bwMode="auto">
          <a:xfrm>
            <a:off x="2165681" y="1769173"/>
            <a:ext cx="1888803" cy="2038712"/>
          </a:xfrm>
          <a:prstGeom prst="rect">
            <a:avLst/>
          </a:prstGeom>
          <a:solidFill>
            <a:srgbClr val="1353A2"/>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5" name="矩形 22"/>
          <p:cNvSpPr>
            <a:spLocks noChangeArrowheads="1"/>
          </p:cNvSpPr>
          <p:nvPr/>
        </p:nvSpPr>
        <p:spPr bwMode="auto">
          <a:xfrm>
            <a:off x="4053100" y="1769173"/>
            <a:ext cx="1892565" cy="2038712"/>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6" name="矩形 28"/>
          <p:cNvSpPr>
            <a:spLocks noChangeArrowheads="1"/>
          </p:cNvSpPr>
          <p:nvPr/>
        </p:nvSpPr>
        <p:spPr bwMode="auto">
          <a:xfrm>
            <a:off x="2099550" y="1841570"/>
            <a:ext cx="20331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安装</a:t>
            </a: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7" name="矩形 29"/>
          <p:cNvSpPr>
            <a:spLocks noChangeArrowheads="1"/>
          </p:cNvSpPr>
          <p:nvPr/>
        </p:nvSpPr>
        <p:spPr bwMode="auto">
          <a:xfrm>
            <a:off x="4070327" y="1841570"/>
            <a:ext cx="1811231"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网络配置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38" name="直接连接符 7167"/>
          <p:cNvCxnSpPr>
            <a:cxnSpLocks noChangeShapeType="1"/>
          </p:cNvCxnSpPr>
          <p:nvPr/>
        </p:nvCxnSpPr>
        <p:spPr bwMode="auto">
          <a:xfrm>
            <a:off x="240288" y="1688477"/>
            <a:ext cx="190178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39" name="直接连接符 7172"/>
          <p:cNvCxnSpPr>
            <a:cxnSpLocks noChangeShapeType="1"/>
          </p:cNvCxnSpPr>
          <p:nvPr/>
        </p:nvCxnSpPr>
        <p:spPr bwMode="auto">
          <a:xfrm>
            <a:off x="240288"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0" name="直接连接符 50"/>
          <p:cNvCxnSpPr>
            <a:cxnSpLocks noChangeShapeType="1"/>
          </p:cNvCxnSpPr>
          <p:nvPr/>
        </p:nvCxnSpPr>
        <p:spPr bwMode="auto">
          <a:xfrm>
            <a:off x="2130757"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1" name="直接连接符 51"/>
          <p:cNvCxnSpPr>
            <a:cxnSpLocks noChangeShapeType="1"/>
          </p:cNvCxnSpPr>
          <p:nvPr/>
        </p:nvCxnSpPr>
        <p:spPr bwMode="auto">
          <a:xfrm>
            <a:off x="4011601"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2" name="直接连接符 52"/>
          <p:cNvCxnSpPr>
            <a:cxnSpLocks noChangeShapeType="1"/>
          </p:cNvCxnSpPr>
          <p:nvPr/>
        </p:nvCxnSpPr>
        <p:spPr bwMode="auto">
          <a:xfrm>
            <a:off x="5950178" y="1359415"/>
            <a:ext cx="1" cy="24837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43" name="TextBox 7177"/>
          <p:cNvSpPr txBox="1">
            <a:spLocks noChangeArrowheads="1"/>
          </p:cNvSpPr>
          <p:nvPr/>
        </p:nvSpPr>
        <p:spPr bwMode="auto">
          <a:xfrm>
            <a:off x="240288" y="1049095"/>
            <a:ext cx="14722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1</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4" name="TextBox 7177"/>
          <p:cNvSpPr txBox="1">
            <a:spLocks noChangeArrowheads="1"/>
          </p:cNvSpPr>
          <p:nvPr/>
        </p:nvSpPr>
        <p:spPr bwMode="auto">
          <a:xfrm>
            <a:off x="2142942" y="1049096"/>
            <a:ext cx="1397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2</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5" name="TextBox 7177"/>
          <p:cNvSpPr txBox="1">
            <a:spLocks noChangeArrowheads="1"/>
          </p:cNvSpPr>
          <p:nvPr/>
        </p:nvSpPr>
        <p:spPr bwMode="auto">
          <a:xfrm>
            <a:off x="3961241" y="1049095"/>
            <a:ext cx="1724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5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3</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6" name="矩形 28"/>
          <p:cNvSpPr>
            <a:spLocks noChangeArrowheads="1"/>
          </p:cNvSpPr>
          <p:nvPr/>
        </p:nvSpPr>
        <p:spPr bwMode="auto">
          <a:xfrm>
            <a:off x="125260" y="1860344"/>
            <a:ext cx="202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系统简介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47" name="直接连接符 46"/>
          <p:cNvCxnSpPr/>
          <p:nvPr/>
        </p:nvCxnSpPr>
        <p:spPr bwMode="auto">
          <a:xfrm>
            <a:off x="2130757" y="1688477"/>
            <a:ext cx="190178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8" name="直接连接符 47"/>
          <p:cNvCxnSpPr/>
          <p:nvPr/>
        </p:nvCxnSpPr>
        <p:spPr bwMode="auto">
          <a:xfrm>
            <a:off x="3991652" y="1688477"/>
            <a:ext cx="399995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2" name="矩形 1"/>
          <p:cNvSpPr>
            <a:spLocks noChangeArrowheads="1"/>
          </p:cNvSpPr>
          <p:nvPr/>
        </p:nvSpPr>
        <p:spPr bwMode="auto">
          <a:xfrm>
            <a:off x="5981779" y="1785676"/>
            <a:ext cx="1859200" cy="200675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4" name="矩形 21"/>
          <p:cNvSpPr>
            <a:spLocks noChangeArrowheads="1"/>
          </p:cNvSpPr>
          <p:nvPr/>
        </p:nvSpPr>
        <p:spPr bwMode="auto">
          <a:xfrm>
            <a:off x="5997390" y="4479805"/>
            <a:ext cx="1724176"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5" name="矩形 22"/>
          <p:cNvSpPr>
            <a:spLocks noChangeArrowheads="1"/>
          </p:cNvSpPr>
          <p:nvPr/>
        </p:nvSpPr>
        <p:spPr bwMode="auto">
          <a:xfrm>
            <a:off x="7730879" y="4489427"/>
            <a:ext cx="1727610"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6" name="矩形 28"/>
          <p:cNvSpPr>
            <a:spLocks noChangeArrowheads="1"/>
          </p:cNvSpPr>
          <p:nvPr/>
        </p:nvSpPr>
        <p:spPr bwMode="auto">
          <a:xfrm>
            <a:off x="5993887" y="4364312"/>
            <a:ext cx="176966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系统启动流程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7" name="矩形 29"/>
          <p:cNvSpPr>
            <a:spLocks noChangeArrowheads="1"/>
          </p:cNvSpPr>
          <p:nvPr/>
        </p:nvSpPr>
        <p:spPr bwMode="auto">
          <a:xfrm>
            <a:off x="7721566" y="4566723"/>
            <a:ext cx="1713648"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远程终端访问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58" name="直接连接符 51"/>
          <p:cNvCxnSpPr>
            <a:cxnSpLocks noChangeShapeType="1"/>
          </p:cNvCxnSpPr>
          <p:nvPr/>
        </p:nvCxnSpPr>
        <p:spPr bwMode="auto">
          <a:xfrm>
            <a:off x="7677268" y="4159855"/>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9" name="TextBox 7177"/>
          <p:cNvSpPr txBox="1">
            <a:spLocks noChangeArrowheads="1"/>
          </p:cNvSpPr>
          <p:nvPr/>
        </p:nvSpPr>
        <p:spPr bwMode="auto">
          <a:xfrm>
            <a:off x="5984045" y="1060096"/>
            <a:ext cx="979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zh-CN"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4</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0" name="TextBox 7177"/>
          <p:cNvSpPr txBox="1">
            <a:spLocks noChangeArrowheads="1"/>
          </p:cNvSpPr>
          <p:nvPr/>
        </p:nvSpPr>
        <p:spPr bwMode="auto">
          <a:xfrm>
            <a:off x="5943295" y="3783090"/>
            <a:ext cx="9970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5</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1" name="TextBox 7177"/>
          <p:cNvSpPr txBox="1">
            <a:spLocks noChangeArrowheads="1"/>
          </p:cNvSpPr>
          <p:nvPr/>
        </p:nvSpPr>
        <p:spPr bwMode="auto">
          <a:xfrm>
            <a:off x="7725608" y="3803149"/>
            <a:ext cx="15200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6</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2" name="矩形 28"/>
          <p:cNvSpPr>
            <a:spLocks noChangeArrowheads="1"/>
          </p:cNvSpPr>
          <p:nvPr/>
        </p:nvSpPr>
        <p:spPr bwMode="auto">
          <a:xfrm>
            <a:off x="5967195" y="1870892"/>
            <a:ext cx="178290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目录结构</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63" name="直接连接符 19"/>
          <p:cNvCxnSpPr/>
          <p:nvPr/>
        </p:nvCxnSpPr>
        <p:spPr bwMode="auto">
          <a:xfrm>
            <a:off x="6017699" y="4427930"/>
            <a:ext cx="1678967" cy="776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64" name="直接连接符 20"/>
          <p:cNvCxnSpPr/>
          <p:nvPr/>
        </p:nvCxnSpPr>
        <p:spPr bwMode="auto">
          <a:xfrm>
            <a:off x="7698294" y="4428744"/>
            <a:ext cx="183470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pic>
        <p:nvPicPr>
          <p:cNvPr id="66"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6064187" y="5280100"/>
            <a:ext cx="1538977" cy="104646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68" name="直接连接符 52"/>
          <p:cNvCxnSpPr>
            <a:cxnSpLocks noChangeShapeType="1"/>
          </p:cNvCxnSpPr>
          <p:nvPr/>
        </p:nvCxnSpPr>
        <p:spPr bwMode="auto">
          <a:xfrm>
            <a:off x="5993969" y="4173190"/>
            <a:ext cx="1" cy="296447"/>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69" name="矩形 1"/>
          <p:cNvSpPr>
            <a:spLocks noChangeArrowheads="1"/>
          </p:cNvSpPr>
          <p:nvPr/>
        </p:nvSpPr>
        <p:spPr bwMode="auto">
          <a:xfrm>
            <a:off x="9478906" y="4485614"/>
            <a:ext cx="1724177"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pic>
        <p:nvPicPr>
          <p:cNvPr id="70" name="Picture 5"/>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9634247" y="5321637"/>
            <a:ext cx="1457809" cy="99727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71" name="直接连接符 7167"/>
          <p:cNvCxnSpPr>
            <a:cxnSpLocks noChangeShapeType="1"/>
          </p:cNvCxnSpPr>
          <p:nvPr/>
        </p:nvCxnSpPr>
        <p:spPr bwMode="auto">
          <a:xfrm flipV="1">
            <a:off x="9454801" y="4419988"/>
            <a:ext cx="1993988" cy="875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72" name="直接连接符 7172"/>
          <p:cNvCxnSpPr>
            <a:cxnSpLocks noChangeShapeType="1"/>
          </p:cNvCxnSpPr>
          <p:nvPr/>
        </p:nvCxnSpPr>
        <p:spPr bwMode="auto">
          <a:xfrm>
            <a:off x="9453896" y="4149228"/>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73" name="TextBox 7177"/>
          <p:cNvSpPr txBox="1">
            <a:spLocks noChangeArrowheads="1"/>
          </p:cNvSpPr>
          <p:nvPr/>
        </p:nvSpPr>
        <p:spPr bwMode="auto">
          <a:xfrm>
            <a:off x="9497973" y="3814531"/>
            <a:ext cx="1504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7</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74" name="矩形 28"/>
          <p:cNvSpPr>
            <a:spLocks noChangeArrowheads="1"/>
          </p:cNvSpPr>
          <p:nvPr/>
        </p:nvSpPr>
        <p:spPr bwMode="auto">
          <a:xfrm>
            <a:off x="9478906" y="4402629"/>
            <a:ext cx="1699485"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b="1" dirty="0">
                <a:solidFill>
                  <a:srgbClr val="FFFFFF"/>
                </a:solidFill>
                <a:latin typeface="微软雅黑" panose="020B0503020204020204" pitchFamily="34" charset="-122"/>
                <a:ea typeface="微软雅黑" panose="020B0503020204020204" pitchFamily="34" charset="-122"/>
              </a:rPr>
              <a:t>SFTP</a:t>
            </a:r>
            <a:r>
              <a:rPr lang="zh-CN" altLang="en-US" b="1" dirty="0">
                <a:solidFill>
                  <a:srgbClr val="FFFFFF"/>
                </a:solidFill>
                <a:latin typeface="微软雅黑" panose="020B0503020204020204" pitchFamily="34" charset="-122"/>
                <a:ea typeface="微软雅黑" panose="020B0503020204020204" pitchFamily="34" charset="-122"/>
              </a:rPr>
              <a:t>远程文件管理</a:t>
            </a:r>
            <a:endParaRPr lang="zh-CN" altLang="en-US" b="1" dirty="0">
              <a:solidFill>
                <a:srgbClr val="FFFFFF"/>
              </a:solidFill>
              <a:latin typeface="微软雅黑" panose="020B0503020204020204" pitchFamily="34" charset="-122"/>
              <a:ea typeface="微软雅黑" panose="020B0503020204020204" pitchFamily="34" charset="-122"/>
            </a:endParaRPr>
          </a:p>
        </p:txBody>
      </p:sp>
      <p:pic>
        <p:nvPicPr>
          <p:cNvPr id="7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56" y="2597881"/>
            <a:ext cx="1520630" cy="106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0621" y="2594842"/>
            <a:ext cx="1611054" cy="108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1376" y="2624392"/>
            <a:ext cx="1528692" cy="1029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9757" y="5269244"/>
            <a:ext cx="1531780" cy="1012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29150" y="2604066"/>
            <a:ext cx="1364458" cy="104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44000">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14:bounceEnd="44000">
                                          <p:cBhvr additive="base">
                                            <p:cTn id="7" dur="500" fill="hold"/>
                                            <p:tgtEl>
                                              <p:spTgt spid="43"/>
                                            </p:tgtEl>
                                            <p:attrNameLst>
                                              <p:attrName>ppt_x</p:attrName>
                                            </p:attrNameLst>
                                          </p:cBhvr>
                                          <p:tavLst>
                                            <p:tav tm="0">
                                              <p:val>
                                                <p:strVal val="1+#ppt_w/2"/>
                                              </p:val>
                                            </p:tav>
                                            <p:tav tm="100000">
                                              <p:val>
                                                <p:strVal val="#ppt_x"/>
                                              </p:val>
                                            </p:tav>
                                          </p:tavLst>
                                        </p:anim>
                                        <p:anim calcmode="lin" valueType="num" p14:bounceEnd="44000">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44000">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14:bounceEnd="44000">
                                          <p:cBhvr additive="base">
                                            <p:cTn id="11" dur="500" fill="hold"/>
                                            <p:tgtEl>
                                              <p:spTgt spid="44"/>
                                            </p:tgtEl>
                                            <p:attrNameLst>
                                              <p:attrName>ppt_x</p:attrName>
                                            </p:attrNameLst>
                                          </p:cBhvr>
                                          <p:tavLst>
                                            <p:tav tm="0">
                                              <p:val>
                                                <p:strVal val="1+#ppt_w/2"/>
                                              </p:val>
                                            </p:tav>
                                            <p:tav tm="100000">
                                              <p:val>
                                                <p:strVal val="#ppt_x"/>
                                              </p:val>
                                            </p:tav>
                                          </p:tavLst>
                                        </p:anim>
                                        <p:anim calcmode="lin" valueType="num" p14:bounceEnd="44000">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44000">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14:bounceEnd="44000">
                                          <p:cBhvr additive="base">
                                            <p:cTn id="15" dur="500" fill="hold"/>
                                            <p:tgtEl>
                                              <p:spTgt spid="45"/>
                                            </p:tgtEl>
                                            <p:attrNameLst>
                                              <p:attrName>ppt_x</p:attrName>
                                            </p:attrNameLst>
                                          </p:cBhvr>
                                          <p:tavLst>
                                            <p:tav tm="0">
                                              <p:val>
                                                <p:strVal val="1+#ppt_w/2"/>
                                              </p:val>
                                            </p:tav>
                                            <p:tav tm="100000">
                                              <p:val>
                                                <p:strVal val="#ppt_x"/>
                                              </p:val>
                                            </p:tav>
                                          </p:tavLst>
                                        </p:anim>
                                        <p:anim calcmode="lin" valueType="num" p14:bounceEnd="44000">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44000">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14:bounceEnd="44000">
                                          <p:cBhvr additive="base">
                                            <p:cTn id="19" dur="500" fill="hold"/>
                                            <p:tgtEl>
                                              <p:spTgt spid="59"/>
                                            </p:tgtEl>
                                            <p:attrNameLst>
                                              <p:attrName>ppt_x</p:attrName>
                                            </p:attrNameLst>
                                          </p:cBhvr>
                                          <p:tavLst>
                                            <p:tav tm="0">
                                              <p:val>
                                                <p:strVal val="1+#ppt_w/2"/>
                                              </p:val>
                                            </p:tav>
                                            <p:tav tm="100000">
                                              <p:val>
                                                <p:strVal val="#ppt_x"/>
                                              </p:val>
                                            </p:tav>
                                          </p:tavLst>
                                        </p:anim>
                                        <p:anim calcmode="lin" valueType="num" p14:bounceEnd="44000">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44000">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14:bounceEnd="44000">
                                          <p:cBhvr additive="base">
                                            <p:cTn id="23" dur="500" fill="hold"/>
                                            <p:tgtEl>
                                              <p:spTgt spid="60"/>
                                            </p:tgtEl>
                                            <p:attrNameLst>
                                              <p:attrName>ppt_x</p:attrName>
                                            </p:attrNameLst>
                                          </p:cBhvr>
                                          <p:tavLst>
                                            <p:tav tm="0">
                                              <p:val>
                                                <p:strVal val="1+#ppt_w/2"/>
                                              </p:val>
                                            </p:tav>
                                            <p:tav tm="100000">
                                              <p:val>
                                                <p:strVal val="#ppt_x"/>
                                              </p:val>
                                            </p:tav>
                                          </p:tavLst>
                                        </p:anim>
                                        <p:anim calcmode="lin" valueType="num" p14:bounceEnd="44000">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44000">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14:bounceEnd="44000">
                                          <p:cBhvr additive="base">
                                            <p:cTn id="27" dur="500" fill="hold"/>
                                            <p:tgtEl>
                                              <p:spTgt spid="61"/>
                                            </p:tgtEl>
                                            <p:attrNameLst>
                                              <p:attrName>ppt_x</p:attrName>
                                            </p:attrNameLst>
                                          </p:cBhvr>
                                          <p:tavLst>
                                            <p:tav tm="0">
                                              <p:val>
                                                <p:strVal val="1+#ppt_w/2"/>
                                              </p:val>
                                            </p:tav>
                                            <p:tav tm="100000">
                                              <p:val>
                                                <p:strVal val="#ppt_x"/>
                                              </p:val>
                                            </p:tav>
                                          </p:tavLst>
                                        </p:anim>
                                        <p:anim calcmode="lin" valueType="num" p14:bounceEnd="44000">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44000">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14:bounceEnd="44000">
                                          <p:cBhvr additive="base">
                                            <p:cTn id="31" dur="500" fill="hold"/>
                                            <p:tgtEl>
                                              <p:spTgt spid="73"/>
                                            </p:tgtEl>
                                            <p:attrNameLst>
                                              <p:attrName>ppt_x</p:attrName>
                                            </p:attrNameLst>
                                          </p:cBhvr>
                                          <p:tavLst>
                                            <p:tav tm="0">
                                              <p:val>
                                                <p:strVal val="1+#ppt_w/2"/>
                                              </p:val>
                                            </p:tav>
                                            <p:tav tm="100000">
                                              <p:val>
                                                <p:strVal val="#ppt_x"/>
                                              </p:val>
                                            </p:tav>
                                          </p:tavLst>
                                        </p:anim>
                                        <p:anim calcmode="lin" valueType="num" p14:bounceEnd="44000">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1+#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1+#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1+#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1+#ppt_w/2"/>
                                              </p:val>
                                            </p:tav>
                                            <p:tav tm="100000">
                                              <p:val>
                                                <p:strVal val="#ppt_x"/>
                                              </p:val>
                                            </p:tav>
                                          </p:tavLst>
                                        </p:anim>
                                        <p:anim calcmode="lin" valueType="num">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500" fill="hold"/>
                                            <p:tgtEl>
                                              <p:spTgt spid="60"/>
                                            </p:tgtEl>
                                            <p:attrNameLst>
                                              <p:attrName>ppt_x</p:attrName>
                                            </p:attrNameLst>
                                          </p:cBhvr>
                                          <p:tavLst>
                                            <p:tav tm="0">
                                              <p:val>
                                                <p:strVal val="1+#ppt_w/2"/>
                                              </p:val>
                                            </p:tav>
                                            <p:tav tm="100000">
                                              <p:val>
                                                <p:strVal val="#ppt_x"/>
                                              </p:val>
                                            </p:tav>
                                          </p:tavLst>
                                        </p:anim>
                                        <p:anim calcmode="lin" valueType="num">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cBhvr additive="base">
                                            <p:cTn id="27" dur="500" fill="hold"/>
                                            <p:tgtEl>
                                              <p:spTgt spid="61"/>
                                            </p:tgtEl>
                                            <p:attrNameLst>
                                              <p:attrName>ppt_x</p:attrName>
                                            </p:attrNameLst>
                                          </p:cBhvr>
                                          <p:tavLst>
                                            <p:tav tm="0">
                                              <p:val>
                                                <p:strVal val="1+#ppt_w/2"/>
                                              </p:val>
                                            </p:tav>
                                            <p:tav tm="100000">
                                              <p:val>
                                                <p:strVal val="#ppt_x"/>
                                              </p:val>
                                            </p:tav>
                                          </p:tavLst>
                                        </p:anim>
                                        <p:anim calcmode="lin" valueType="num">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cBhvr additive="base">
                                            <p:cTn id="31" dur="500" fill="hold"/>
                                            <p:tgtEl>
                                              <p:spTgt spid="73"/>
                                            </p:tgtEl>
                                            <p:attrNameLst>
                                              <p:attrName>ppt_x</p:attrName>
                                            </p:attrNameLst>
                                          </p:cBhvr>
                                          <p:tavLst>
                                            <p:tav tm="0">
                                              <p:val>
                                                <p:strVal val="1+#ppt_w/2"/>
                                              </p:val>
                                            </p:tav>
                                            <p:tav tm="100000">
                                              <p:val>
                                                <p:strVal val="#ppt_x"/>
                                              </p:val>
                                            </p:tav>
                                          </p:tavLst>
                                        </p:anim>
                                        <p:anim calcmode="lin" valueType="num">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31990" y="461968"/>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Linux</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pic>
        <p:nvPicPr>
          <p:cNvPr id="13" name="Picture 2" descr="D:\Teliss_Tong\Copy\定期备份\工作备份\！PPT图片及版面资源\06-PPT精选插图\08-3D小人\3d07.jp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a:stretch>
            <a:fillRect/>
          </a:stretch>
        </p:blipFill>
        <p:spPr bwMode="auto">
          <a:xfrm>
            <a:off x="-95076" y="2060848"/>
            <a:ext cx="5802648" cy="3528392"/>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44"/>
          <p:cNvSpPr txBox="1">
            <a:spLocks noChangeArrowheads="1"/>
          </p:cNvSpPr>
          <p:nvPr/>
        </p:nvSpPr>
        <p:spPr bwMode="auto">
          <a:xfrm>
            <a:off x="5858006" y="2211160"/>
            <a:ext cx="5665939" cy="230832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zh-CN" altLang="en-US" sz="2400" dirty="0">
                <a:solidFill>
                  <a:srgbClr val="FF0000"/>
                </a:solidFill>
              </a:rPr>
              <a:t>前期准备</a:t>
            </a:r>
            <a:r>
              <a:rPr lang="zh-CN" altLang="zh-CN" sz="2400" dirty="0">
                <a:solidFill>
                  <a:srgbClr val="FF0000"/>
                </a:solidFill>
              </a:rPr>
              <a:t> </a:t>
            </a:r>
            <a:endParaRPr lang="en-US" altLang="zh-CN" sz="2400" dirty="0">
              <a:solidFill>
                <a:srgbClr val="FF0000"/>
              </a:solidFill>
            </a:endParaRPr>
          </a:p>
          <a:p>
            <a:pPr indent="0">
              <a:lnSpc>
                <a:spcPct val="200000"/>
              </a:lnSpc>
            </a:pPr>
            <a:r>
              <a:rPr lang="en-US" altLang="zh-CN" sz="2400" dirty="0">
                <a:solidFill>
                  <a:srgbClr val="1353A2"/>
                </a:solidFill>
              </a:rPr>
              <a:t>①</a:t>
            </a:r>
            <a:r>
              <a:rPr lang="zh-CN" altLang="en-US" sz="2400" dirty="0">
                <a:solidFill>
                  <a:srgbClr val="1353A2"/>
                </a:solidFill>
              </a:rPr>
              <a:t>  获取</a:t>
            </a:r>
            <a:r>
              <a:rPr lang="en-US" altLang="zh-CN" sz="2400" dirty="0">
                <a:solidFill>
                  <a:srgbClr val="1353A2"/>
                </a:solidFill>
              </a:rPr>
              <a:t>CentOS 7</a:t>
            </a:r>
            <a:r>
              <a:rPr lang="zh-CN" altLang="en-US" sz="2400" dirty="0">
                <a:solidFill>
                  <a:srgbClr val="1353A2"/>
                </a:solidFill>
              </a:rPr>
              <a:t>版</a:t>
            </a:r>
            <a:r>
              <a:rPr lang="en-US" altLang="zh-CN" sz="2400" dirty="0">
                <a:solidFill>
                  <a:srgbClr val="1353A2"/>
                </a:solidFill>
              </a:rPr>
              <a:t>Linux</a:t>
            </a:r>
            <a:r>
              <a:rPr lang="zh-CN" altLang="en-US" sz="2400" dirty="0">
                <a:solidFill>
                  <a:srgbClr val="1353A2"/>
                </a:solidFill>
              </a:rPr>
              <a:t>操作系统</a:t>
            </a:r>
            <a:r>
              <a:rPr lang="zh-CN" altLang="zh-CN" sz="2400" dirty="0">
                <a:solidFill>
                  <a:srgbClr val="1353A2"/>
                </a:solidFill>
              </a:rPr>
              <a:t>。</a:t>
            </a:r>
            <a:endParaRPr lang="en-US" altLang="zh-CN" sz="2400" dirty="0">
              <a:solidFill>
                <a:srgbClr val="1353A2"/>
              </a:solidFill>
            </a:endParaRPr>
          </a:p>
          <a:p>
            <a:pPr marL="457200" indent="-457200">
              <a:lnSpc>
                <a:spcPct val="200000"/>
              </a:lnSpc>
              <a:buAutoNum type="circleNumDbPlain" startAt="2"/>
            </a:pPr>
            <a:r>
              <a:rPr lang="zh-CN" altLang="en-US" sz="2400" dirty="0">
                <a:solidFill>
                  <a:srgbClr val="1353A2"/>
                </a:solidFill>
              </a:rPr>
              <a:t>使用</a:t>
            </a:r>
            <a:r>
              <a:rPr lang="en-US" altLang="zh-CN" sz="2400" dirty="0">
                <a:solidFill>
                  <a:srgbClr val="1353A2"/>
                </a:solidFill>
              </a:rPr>
              <a:t>VMware</a:t>
            </a:r>
            <a:r>
              <a:rPr lang="zh-CN" altLang="en-US" sz="2400" dirty="0">
                <a:solidFill>
                  <a:srgbClr val="1353A2"/>
                </a:solidFill>
              </a:rPr>
              <a:t>搭建虚拟机环境。</a:t>
            </a:r>
            <a:endParaRPr lang="en-US" altLang="zh-CN" sz="2400" dirty="0">
              <a:solidFill>
                <a:srgbClr val="1353A2"/>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Scale>
                                      <p:cBhvr>
                                        <p:cTn id="7"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1"/>
                                        </p:tgtEl>
                                        <p:attrNameLst>
                                          <p:attrName>ppt_x</p:attrName>
                                          <p:attrName>ppt_y</p:attrName>
                                        </p:attrNameLst>
                                      </p:cBhvr>
                                    </p:animMotion>
                                    <p:animEffect transition="in" filter="fade">
                                      <p:cBhvr>
                                        <p:cTn id="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08849" y="1988841"/>
            <a:ext cx="3930419" cy="3931443"/>
          </a:xfrm>
          <a:prstGeom prst="rect">
            <a:avLst/>
          </a:prstGeom>
        </p:spPr>
      </p:pic>
      <p:sp>
        <p:nvSpPr>
          <p:cNvPr id="8" name="Text Box 44"/>
          <p:cNvSpPr txBox="1">
            <a:spLocks noChangeArrowheads="1"/>
          </p:cNvSpPr>
          <p:nvPr/>
        </p:nvSpPr>
        <p:spPr bwMode="auto">
          <a:xfrm>
            <a:off x="5376107" y="1844825"/>
            <a:ext cx="6119086" cy="30469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en-US" altLang="zh-CN" sz="2400" dirty="0">
                <a:solidFill>
                  <a:srgbClr val="FF0000"/>
                </a:solidFill>
              </a:rPr>
              <a:t>CentOS</a:t>
            </a:r>
            <a:r>
              <a:rPr lang="zh-CN" altLang="en-US" sz="2400" dirty="0">
                <a:solidFill>
                  <a:srgbClr val="FF0000"/>
                </a:solidFill>
              </a:rPr>
              <a:t>介绍</a:t>
            </a:r>
            <a:endParaRPr lang="en-US" altLang="zh-CN" sz="2400" dirty="0">
              <a:solidFill>
                <a:srgbClr val="FF0000"/>
              </a:solidFill>
            </a:endParaRPr>
          </a:p>
          <a:p>
            <a:pPr indent="0">
              <a:lnSpc>
                <a:spcPct val="200000"/>
              </a:lnSpc>
            </a:pPr>
            <a:r>
              <a:rPr lang="zh-CN" altLang="en-US" sz="2400" dirty="0">
                <a:solidFill>
                  <a:srgbClr val="1353A2"/>
                </a:solidFill>
              </a:rPr>
              <a:t>①是</a:t>
            </a:r>
            <a:r>
              <a:rPr lang="en-US" altLang="zh-CN" sz="2400" dirty="0">
                <a:solidFill>
                  <a:srgbClr val="1353A2"/>
                </a:solidFill>
              </a:rPr>
              <a:t>Linux</a:t>
            </a:r>
            <a:r>
              <a:rPr lang="zh-CN" altLang="en-US" sz="2400" dirty="0">
                <a:solidFill>
                  <a:srgbClr val="1353A2"/>
                </a:solidFill>
              </a:rPr>
              <a:t>发行版之一。</a:t>
            </a:r>
            <a:endParaRPr lang="en-US" altLang="zh-CN" sz="2400" dirty="0">
              <a:solidFill>
                <a:srgbClr val="1353A2"/>
              </a:solidFill>
            </a:endParaRPr>
          </a:p>
          <a:p>
            <a:pPr indent="0">
              <a:lnSpc>
                <a:spcPct val="200000"/>
              </a:lnSpc>
            </a:pPr>
            <a:r>
              <a:rPr lang="zh-CN" altLang="en-US" sz="2400" dirty="0">
                <a:solidFill>
                  <a:srgbClr val="1353A2"/>
                </a:solidFill>
              </a:rPr>
              <a:t>②由</a:t>
            </a:r>
            <a:r>
              <a:rPr lang="en-US" altLang="zh-CN" sz="2400" dirty="0">
                <a:solidFill>
                  <a:srgbClr val="1353A2"/>
                </a:solidFill>
              </a:rPr>
              <a:t>Red Hat</a:t>
            </a:r>
            <a:r>
              <a:rPr lang="zh-CN" altLang="en-US" sz="2400" dirty="0">
                <a:solidFill>
                  <a:srgbClr val="1353A2"/>
                </a:solidFill>
              </a:rPr>
              <a:t>企业版依照开源规定放出的源码编译而成。</a:t>
            </a:r>
            <a:endParaRPr lang="en-US" altLang="zh-CN" sz="2400" dirty="0">
              <a:solidFill>
                <a:srgbClr val="1353A2"/>
              </a:solidFill>
            </a:endParaRPr>
          </a:p>
        </p:txBody>
      </p:sp>
      <p:sp>
        <p:nvSpPr>
          <p:cNvPr id="5" name="TextBox 1"/>
          <p:cNvSpPr txBox="1"/>
          <p:nvPr/>
        </p:nvSpPr>
        <p:spPr>
          <a:xfrm>
            <a:off x="2331990" y="461968"/>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Linux</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08849" y="1988841"/>
            <a:ext cx="3930419" cy="3931443"/>
          </a:xfrm>
          <a:prstGeom prst="rect">
            <a:avLst/>
          </a:prstGeom>
        </p:spPr>
      </p:pic>
      <p:sp>
        <p:nvSpPr>
          <p:cNvPr id="8" name="Text Box 44"/>
          <p:cNvSpPr txBox="1">
            <a:spLocks noChangeArrowheads="1"/>
          </p:cNvSpPr>
          <p:nvPr/>
        </p:nvSpPr>
        <p:spPr bwMode="auto">
          <a:xfrm>
            <a:off x="5376107" y="1844825"/>
            <a:ext cx="6119086" cy="30469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en-US" altLang="zh-CN" sz="2400" dirty="0" err="1">
                <a:solidFill>
                  <a:srgbClr val="FF0000"/>
                </a:solidFill>
              </a:rPr>
              <a:t>Vmware</a:t>
            </a:r>
            <a:r>
              <a:rPr lang="zh-CN" altLang="en-US" sz="2400" dirty="0">
                <a:solidFill>
                  <a:srgbClr val="FF0000"/>
                </a:solidFill>
              </a:rPr>
              <a:t>介绍</a:t>
            </a:r>
            <a:endParaRPr lang="en-US" altLang="zh-CN" sz="2400" dirty="0">
              <a:solidFill>
                <a:srgbClr val="FF0000"/>
              </a:solidFill>
            </a:endParaRPr>
          </a:p>
          <a:p>
            <a:pPr indent="0">
              <a:lnSpc>
                <a:spcPct val="200000"/>
              </a:lnSpc>
            </a:pPr>
            <a:r>
              <a:rPr lang="zh-CN" altLang="en-US" sz="2400" dirty="0">
                <a:solidFill>
                  <a:srgbClr val="1353A2"/>
                </a:solidFill>
              </a:rPr>
              <a:t>①是一款功能强大的桌面虚拟计算机软件。</a:t>
            </a:r>
            <a:endParaRPr lang="en-US" altLang="zh-CN" sz="2400" dirty="0">
              <a:solidFill>
                <a:srgbClr val="1353A2"/>
              </a:solidFill>
            </a:endParaRPr>
          </a:p>
          <a:p>
            <a:pPr indent="0">
              <a:lnSpc>
                <a:spcPct val="200000"/>
              </a:lnSpc>
            </a:pPr>
            <a:r>
              <a:rPr lang="zh-CN" altLang="en-US" sz="2400" dirty="0">
                <a:solidFill>
                  <a:srgbClr val="1353A2"/>
                </a:solidFill>
              </a:rPr>
              <a:t>②可以在一部实体机器上模拟完整的网络环境及可便于携带的虚拟机器。</a:t>
            </a:r>
            <a:endParaRPr lang="en-US" altLang="zh-CN" sz="2400" dirty="0">
              <a:solidFill>
                <a:srgbClr val="1353A2"/>
              </a:solidFill>
            </a:endParaRPr>
          </a:p>
        </p:txBody>
      </p:sp>
      <p:sp>
        <p:nvSpPr>
          <p:cNvPr id="5" name="TextBox 1"/>
          <p:cNvSpPr txBox="1"/>
          <p:nvPr/>
        </p:nvSpPr>
        <p:spPr>
          <a:xfrm>
            <a:off x="2331990" y="461968"/>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Linux</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31990" y="461968"/>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Linux</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pic>
        <p:nvPicPr>
          <p:cNvPr id="13" name="Picture 2" descr="D:\Teliss_Tong\Copy\定期备份\工作备份\！PPT图片及版面资源\06-PPT精选插图\08-3D小人\3d07.jp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a:stretch>
            <a:fillRect/>
          </a:stretch>
        </p:blipFill>
        <p:spPr bwMode="auto">
          <a:xfrm>
            <a:off x="-95076" y="2060848"/>
            <a:ext cx="5802648" cy="3528392"/>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44"/>
          <p:cNvSpPr txBox="1">
            <a:spLocks noChangeArrowheads="1"/>
          </p:cNvSpPr>
          <p:nvPr/>
        </p:nvSpPr>
        <p:spPr bwMode="auto">
          <a:xfrm>
            <a:off x="5346798" y="1506164"/>
            <a:ext cx="6365898" cy="224305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150000"/>
              </a:lnSpc>
            </a:pPr>
            <a:r>
              <a:rPr lang="zh-CN" altLang="en-US" sz="2400" dirty="0">
                <a:solidFill>
                  <a:srgbClr val="FF0000"/>
                </a:solidFill>
              </a:rPr>
              <a:t>可能存在问题</a:t>
            </a:r>
            <a:endParaRPr lang="en-US" altLang="zh-CN" sz="2400" dirty="0">
              <a:solidFill>
                <a:srgbClr val="FF0000"/>
              </a:solidFill>
            </a:endParaRPr>
          </a:p>
          <a:p>
            <a:pPr indent="0">
              <a:lnSpc>
                <a:spcPct val="150000"/>
              </a:lnSpc>
            </a:pPr>
            <a:r>
              <a:rPr lang="en-US" altLang="zh-CN" sz="2400" dirty="0">
                <a:solidFill>
                  <a:srgbClr val="1353A2"/>
                </a:solidFill>
              </a:rPr>
              <a:t>① </a:t>
            </a:r>
            <a:r>
              <a:rPr lang="zh-CN" altLang="en-US" sz="2400" dirty="0">
                <a:solidFill>
                  <a:srgbClr val="1353A2"/>
                </a:solidFill>
              </a:rPr>
              <a:t>安装</a:t>
            </a:r>
            <a:r>
              <a:rPr lang="en-US" altLang="zh-CN" sz="2400" dirty="0">
                <a:solidFill>
                  <a:srgbClr val="1353A2"/>
                </a:solidFill>
              </a:rPr>
              <a:t>VMware</a:t>
            </a:r>
            <a:r>
              <a:rPr lang="zh-CN" altLang="en-US" sz="2400" dirty="0">
                <a:solidFill>
                  <a:srgbClr val="1353A2"/>
                </a:solidFill>
              </a:rPr>
              <a:t>虚拟机提示”虚拟化技术禁用、没有开启</a:t>
            </a:r>
            <a:r>
              <a:rPr lang="en-US" altLang="zh-CN" sz="2400" dirty="0">
                <a:solidFill>
                  <a:srgbClr val="1353A2"/>
                </a:solidFill>
              </a:rPr>
              <a:t>VT-x”</a:t>
            </a:r>
            <a:r>
              <a:rPr lang="zh-CN" altLang="zh-CN" sz="2400" dirty="0">
                <a:solidFill>
                  <a:srgbClr val="1353A2"/>
                </a:solidFill>
              </a:rPr>
              <a:t>。</a:t>
            </a:r>
            <a:endParaRPr lang="en-US" altLang="zh-CN" sz="2400" dirty="0">
              <a:solidFill>
                <a:srgbClr val="1353A2"/>
              </a:solidFill>
            </a:endParaRPr>
          </a:p>
          <a:p>
            <a:pPr marL="457200" indent="-457200">
              <a:lnSpc>
                <a:spcPct val="150000"/>
              </a:lnSpc>
              <a:buAutoNum type="circleNumDbPlain" startAt="2"/>
            </a:pPr>
            <a:r>
              <a:rPr lang="zh-CN" altLang="en-US" sz="2400" dirty="0">
                <a:solidFill>
                  <a:srgbClr val="1353A2"/>
                </a:solidFill>
              </a:rPr>
              <a:t>安装</a:t>
            </a:r>
            <a:r>
              <a:rPr lang="en-US" altLang="zh-CN" sz="2400" dirty="0">
                <a:solidFill>
                  <a:srgbClr val="1353A2"/>
                </a:solidFill>
              </a:rPr>
              <a:t>Centos</a:t>
            </a:r>
            <a:r>
              <a:rPr lang="zh-CN" altLang="en-US" sz="2400" dirty="0">
                <a:solidFill>
                  <a:srgbClr val="1353A2"/>
                </a:solidFill>
              </a:rPr>
              <a:t>显示不兼容 </a:t>
            </a:r>
            <a:r>
              <a:rPr lang="en-US" altLang="zh-CN" sz="2400" dirty="0">
                <a:solidFill>
                  <a:srgbClr val="1353A2"/>
                </a:solidFill>
              </a:rPr>
              <a:t>(Win11)</a:t>
            </a:r>
            <a:r>
              <a:rPr lang="zh-CN" altLang="en-US" sz="2400" dirty="0">
                <a:solidFill>
                  <a:srgbClr val="1353A2"/>
                </a:solidFill>
              </a:rPr>
              <a:t>。</a:t>
            </a:r>
            <a:endParaRPr lang="en-US" altLang="zh-CN" sz="2400" dirty="0">
              <a:solidFill>
                <a:srgbClr val="1353A2"/>
              </a:solidFill>
            </a:endParaRPr>
          </a:p>
        </p:txBody>
      </p:sp>
      <p:sp>
        <p:nvSpPr>
          <p:cNvPr id="4" name="Text Box 44"/>
          <p:cNvSpPr txBox="1">
            <a:spLocks noChangeArrowheads="1"/>
          </p:cNvSpPr>
          <p:nvPr/>
        </p:nvSpPr>
        <p:spPr bwMode="auto">
          <a:xfrm>
            <a:off x="5338657" y="4122560"/>
            <a:ext cx="6365898" cy="1753235"/>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150000"/>
              </a:lnSpc>
            </a:pPr>
            <a:r>
              <a:rPr lang="zh-CN" altLang="en-US" sz="2400" dirty="0">
                <a:solidFill>
                  <a:srgbClr val="FF0000"/>
                </a:solidFill>
              </a:rPr>
              <a:t>解决方案（具体步骤可百度）</a:t>
            </a:r>
            <a:endParaRPr lang="en-US" altLang="zh-CN" sz="2400" dirty="0">
              <a:solidFill>
                <a:srgbClr val="FF0000"/>
              </a:solidFill>
            </a:endParaRPr>
          </a:p>
          <a:p>
            <a:pPr indent="0">
              <a:lnSpc>
                <a:spcPct val="150000"/>
              </a:lnSpc>
            </a:pPr>
            <a:r>
              <a:rPr lang="en-US" altLang="zh-CN" sz="2400" dirty="0">
                <a:solidFill>
                  <a:srgbClr val="1353A2"/>
                </a:solidFill>
              </a:rPr>
              <a:t>① BIOS</a:t>
            </a:r>
            <a:r>
              <a:rPr lang="zh-CN" altLang="en-US" sz="2400" dirty="0">
                <a:solidFill>
                  <a:srgbClr val="1353A2"/>
                </a:solidFill>
              </a:rPr>
              <a:t>中开启虚拟化</a:t>
            </a:r>
            <a:r>
              <a:rPr lang="zh-CN" altLang="zh-CN" sz="2400" dirty="0">
                <a:solidFill>
                  <a:srgbClr val="1353A2"/>
                </a:solidFill>
              </a:rPr>
              <a:t>。</a:t>
            </a:r>
            <a:endParaRPr lang="en-US" altLang="zh-CN" sz="2400" dirty="0">
              <a:solidFill>
                <a:srgbClr val="1353A2"/>
              </a:solidFill>
            </a:endParaRPr>
          </a:p>
          <a:p>
            <a:pPr marL="457200" indent="-457200">
              <a:lnSpc>
                <a:spcPct val="150000"/>
              </a:lnSpc>
              <a:buAutoNum type="circleNumDbPlain" startAt="2"/>
            </a:pPr>
            <a:r>
              <a:rPr lang="zh-CN" altLang="en-US" sz="2400" dirty="0">
                <a:solidFill>
                  <a:srgbClr val="1353A2"/>
                </a:solidFill>
              </a:rPr>
              <a:t>安装最新版</a:t>
            </a:r>
            <a:r>
              <a:rPr lang="en-US" altLang="zh-CN" sz="2400" dirty="0" err="1">
                <a:solidFill>
                  <a:srgbClr val="1353A2"/>
                </a:solidFill>
              </a:rPr>
              <a:t>Vmware</a:t>
            </a:r>
            <a:r>
              <a:rPr lang="zh-CN" altLang="en-US" sz="2400" dirty="0">
                <a:solidFill>
                  <a:srgbClr val="1353A2"/>
                </a:solidFill>
              </a:rPr>
              <a:t>。</a:t>
            </a:r>
            <a:endParaRPr lang="en-US" altLang="zh-CN" sz="2400" dirty="0">
              <a:solidFill>
                <a:srgbClr val="1353A2"/>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Scale>
                                      <p:cBhvr>
                                        <p:cTn id="7"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1"/>
                                        </p:tgtEl>
                                        <p:attrNameLst>
                                          <p:attrName>ppt_x</p:attrName>
                                          <p:attrName>ppt_y</p:attrName>
                                        </p:attrNameLst>
                                      </p:cBhvr>
                                    </p:animMotion>
                                    <p:animEffect transition="in" filter="fade">
                                      <p:cBhvr>
                                        <p:cTn id="9" dur="1000"/>
                                        <p:tgtEl>
                                          <p:spTgt spid="11"/>
                                        </p:tgtEl>
                                      </p:cBhvr>
                                    </p:animEffect>
                                  </p:childTnLst>
                                </p:cTn>
                              </p:par>
                            </p:childTnLst>
                          </p:cTn>
                        </p:par>
                        <p:par>
                          <p:cTn id="10" fill="hold">
                            <p:stCondLst>
                              <p:cond delay="1000"/>
                            </p:stCondLst>
                            <p:childTnLst>
                              <p:par>
                                <p:cTn id="11" presetID="5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Scale>
                                      <p:cBhvr>
                                        <p:cTn id="13"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4"/>
                                        </p:tgtEl>
                                        <p:attrNameLst>
                                          <p:attrName>ppt_x</p:attrName>
                                          <p:attrName>ppt_y</p:attrName>
                                        </p:attrNameLst>
                                      </p:cBhvr>
                                    </p:animMotion>
                                    <p:animEffect transition="in" filter="fade">
                                      <p:cBhvr>
                                        <p:cTn id="15"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5"/>
          <p:cNvGrpSpPr/>
          <p:nvPr/>
        </p:nvGrpSpPr>
        <p:grpSpPr>
          <a:xfrm>
            <a:off x="840784" y="1268760"/>
            <a:ext cx="10654409" cy="1008112"/>
            <a:chOff x="395441" y="968316"/>
            <a:chExt cx="10210154" cy="1008112"/>
          </a:xfrm>
          <a:solidFill>
            <a:srgbClr val="1353A2"/>
          </a:solidFill>
        </p:grpSpPr>
        <p:sp>
          <p:nvSpPr>
            <p:cNvPr id="3"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4"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zh-CN" altLang="en-US" sz="3200" b="1" dirty="0">
                  <a:solidFill>
                    <a:schemeClr val="bg1"/>
                  </a:solidFill>
                </a:rPr>
                <a:t>从网络环境中下载</a:t>
              </a:r>
              <a:endParaRPr lang="en-US" altLang="zh-CN" sz="3200" b="1" dirty="0">
                <a:solidFill>
                  <a:schemeClr val="bg1"/>
                </a:solidFill>
              </a:endParaRPr>
            </a:p>
          </p:txBody>
        </p:sp>
        <p:pic>
          <p:nvPicPr>
            <p:cNvPr id="5" name="图片 4"/>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13" name="矩形 12"/>
          <p:cNvSpPr/>
          <p:nvPr/>
        </p:nvSpPr>
        <p:spPr>
          <a:xfrm>
            <a:off x="840783" y="2420888"/>
            <a:ext cx="2954603" cy="3761804"/>
          </a:xfrm>
          <a:prstGeom prst="rect">
            <a:avLst/>
          </a:prstGeom>
          <a:solidFill>
            <a:srgbClr val="1353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40000"/>
              </a:lnSpc>
            </a:pPr>
            <a:r>
              <a:rPr lang="en-US" altLang="zh-CN" sz="2400"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Vmware</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的下载与安装都比较简单，可自行通过网络下载该软件并安装。本课程使用</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VMware16.2</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，该软件的主界面如右图所示。</a:t>
            </a:r>
            <a:endParaRPr kumimoji="1" lang="zh-CN" altLang="en-US" dirty="0"/>
          </a:p>
        </p:txBody>
      </p:sp>
      <p:sp>
        <p:nvSpPr>
          <p:cNvPr id="16" name="TextBox 1"/>
          <p:cNvSpPr txBox="1"/>
          <p:nvPr/>
        </p:nvSpPr>
        <p:spPr>
          <a:xfrm>
            <a:off x="2309955"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1.2.1</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安装虚拟机软件</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11" name="文本框 10"/>
          <p:cNvSpPr txBox="1"/>
          <p:nvPr/>
        </p:nvSpPr>
        <p:spPr>
          <a:xfrm>
            <a:off x="1036284" y="6480957"/>
            <a:ext cx="9888022" cy="369332"/>
          </a:xfrm>
          <a:prstGeom prst="rect">
            <a:avLst/>
          </a:prstGeom>
          <a:noFill/>
        </p:spPr>
        <p:txBody>
          <a:bodyPr wrap="square">
            <a:spAutoFit/>
          </a:bodyPr>
          <a:lstStyle/>
          <a:p>
            <a:r>
              <a:rPr lang="en-US" altLang="zh-CN" dirty="0" err="1">
                <a:solidFill>
                  <a:schemeClr val="bg1">
                    <a:lumMod val="95000"/>
                  </a:schemeClr>
                </a:solidFill>
              </a:rPr>
              <a:t>Vmware</a:t>
            </a:r>
            <a:r>
              <a:rPr lang="zh-CN" altLang="en-US" dirty="0">
                <a:solidFill>
                  <a:schemeClr val="bg1">
                    <a:lumMod val="95000"/>
                  </a:schemeClr>
                </a:solidFill>
              </a:rPr>
              <a:t>百度网盘下载链接：</a:t>
            </a:r>
            <a:r>
              <a:rPr lang="en-US" altLang="zh-CN" dirty="0">
                <a:solidFill>
                  <a:schemeClr val="bg1">
                    <a:lumMod val="95000"/>
                  </a:schemeClr>
                </a:solidFill>
              </a:rPr>
              <a:t>https://pan.baidu.com/s/1LBMp-tdQfWwK0JkzaYci7A </a:t>
            </a:r>
            <a:r>
              <a:rPr lang="zh-CN" altLang="en-US" dirty="0">
                <a:solidFill>
                  <a:schemeClr val="bg1">
                    <a:lumMod val="95000"/>
                  </a:schemeClr>
                </a:solidFill>
              </a:rPr>
              <a:t>提取码：</a:t>
            </a:r>
            <a:r>
              <a:rPr lang="en-US" altLang="zh-CN" dirty="0">
                <a:solidFill>
                  <a:schemeClr val="bg1">
                    <a:lumMod val="95000"/>
                  </a:schemeClr>
                </a:solidFill>
              </a:rPr>
              <a:t>1234</a:t>
            </a:r>
            <a:endParaRPr lang="zh-CN" altLang="en-US" dirty="0">
              <a:solidFill>
                <a:schemeClr val="bg1">
                  <a:lumMod val="95000"/>
                </a:schemeClr>
              </a:solidFill>
            </a:endParaRPr>
          </a:p>
        </p:txBody>
      </p:sp>
      <p:pic>
        <p:nvPicPr>
          <p:cNvPr id="7" name="图片 6"/>
          <p:cNvPicPr>
            <a:picLocks noChangeAspect="1"/>
          </p:cNvPicPr>
          <p:nvPr/>
        </p:nvPicPr>
        <p:blipFill>
          <a:blip r:embed="rId2"/>
          <a:stretch>
            <a:fillRect/>
          </a:stretch>
        </p:blipFill>
        <p:spPr>
          <a:xfrm>
            <a:off x="3913782" y="2434858"/>
            <a:ext cx="7581411" cy="3776423"/>
          </a:xfrm>
          <a:prstGeom prst="rect">
            <a:avLst/>
          </a:prstGeom>
        </p:spPr>
      </p:pic>
    </p:spTree>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5"/>
          <p:cNvGrpSpPr/>
          <p:nvPr/>
        </p:nvGrpSpPr>
        <p:grpSpPr>
          <a:xfrm>
            <a:off x="840784" y="1196752"/>
            <a:ext cx="10510431" cy="1008112"/>
            <a:chOff x="395441" y="968316"/>
            <a:chExt cx="10072179" cy="1008112"/>
          </a:xfrm>
          <a:solidFill>
            <a:srgbClr val="39A2FE"/>
          </a:solidFill>
        </p:grpSpPr>
        <p:sp>
          <p:nvSpPr>
            <p:cNvPr id="3" name="矩形 3"/>
            <p:cNvSpPr>
              <a:spLocks noChangeArrowheads="1"/>
            </p:cNvSpPr>
            <p:nvPr/>
          </p:nvSpPr>
          <p:spPr bwMode="auto">
            <a:xfrm>
              <a:off x="395441" y="968316"/>
              <a:ext cx="10072179" cy="1008112"/>
            </a:xfrm>
            <a:prstGeom prst="rect">
              <a:avLst/>
            </a:prstGeom>
            <a:solidFill>
              <a:srgbClr val="1353A2"/>
            </a:solidFill>
            <a:ln w="19050">
              <a:solidFill>
                <a:srgbClr val="1353A2"/>
              </a:solidFill>
            </a:ln>
          </p:spPr>
          <p:txBody>
            <a:bodyPr anchor="ctr"/>
            <a:lstStyle/>
            <a:p>
              <a:pPr defTabSz="1221105" fontAlgn="auto">
                <a:spcBef>
                  <a:spcPts val="0"/>
                </a:spcBef>
                <a:spcAft>
                  <a:spcPts val="0"/>
                </a:spcAft>
                <a:defRPr/>
              </a:pPr>
              <a:endParaRPr lang="zh-CN" altLang="en-US" dirty="0">
                <a:latin typeface="+mn-lt"/>
              </a:endParaRPr>
            </a:p>
          </p:txBody>
        </p:sp>
        <p:sp>
          <p:nvSpPr>
            <p:cNvPr id="4" name="Text Box 44"/>
            <p:cNvSpPr txBox="1">
              <a:spLocks noChangeArrowheads="1"/>
            </p:cNvSpPr>
            <p:nvPr/>
          </p:nvSpPr>
          <p:spPr bwMode="auto">
            <a:xfrm>
              <a:off x="1361266" y="970444"/>
              <a:ext cx="8637023" cy="7439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zh-CN" altLang="en-US" sz="3200" b="1" dirty="0">
                  <a:solidFill>
                    <a:schemeClr val="bg1"/>
                  </a:solidFill>
                </a:rPr>
                <a:t>从</a:t>
              </a:r>
              <a:r>
                <a:rPr lang="en-US" altLang="zh-CN" sz="3200" b="1" dirty="0" err="1">
                  <a:solidFill>
                    <a:schemeClr val="bg1"/>
                  </a:solidFill>
                </a:rPr>
                <a:t>CnetOS</a:t>
              </a:r>
              <a:r>
                <a:rPr lang="zh-CN" altLang="en-US" sz="3200" b="1" dirty="0">
                  <a:solidFill>
                    <a:schemeClr val="bg1"/>
                  </a:solidFill>
                </a:rPr>
                <a:t>官方网站下载</a:t>
              </a:r>
              <a:endParaRPr lang="en-US" altLang="zh-CN" sz="3200" b="1" dirty="0">
                <a:solidFill>
                  <a:schemeClr val="bg1"/>
                </a:solidFill>
              </a:endParaRPr>
            </a:p>
          </p:txBody>
        </p:sp>
        <p:pic>
          <p:nvPicPr>
            <p:cNvPr id="5" name="图片 4"/>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solidFill>
              <a:srgbClr val="1353A2"/>
            </a:solidFill>
            <a:ln>
              <a:solidFill>
                <a:srgbClr val="1353A2"/>
              </a:solidFill>
            </a:ln>
          </p:spPr>
        </p:pic>
      </p:grpSp>
      <p:sp>
        <p:nvSpPr>
          <p:cNvPr id="16" name="TextBox 1"/>
          <p:cNvSpPr txBox="1"/>
          <p:nvPr/>
        </p:nvSpPr>
        <p:spPr>
          <a:xfrm>
            <a:off x="2355319"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1.2.2</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下载</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CentOS</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11" name="Text Box 44"/>
          <p:cNvSpPr txBox="1">
            <a:spLocks noChangeArrowheads="1"/>
          </p:cNvSpPr>
          <p:nvPr/>
        </p:nvSpPr>
        <p:spPr bwMode="auto">
          <a:xfrm>
            <a:off x="840784" y="2079604"/>
            <a:ext cx="10510431" cy="4412875"/>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lnSpc>
                <a:spcPct val="200000"/>
              </a:lnSpc>
            </a:pPr>
            <a:r>
              <a:rPr lang="zh-CN" altLang="en-US" sz="2400" dirty="0">
                <a:solidFill>
                  <a:srgbClr val="1353A2"/>
                </a:solidFill>
              </a:rPr>
              <a:t>①进入</a:t>
            </a:r>
            <a:r>
              <a:rPr lang="en-US" altLang="zh-CN" sz="2400" dirty="0" err="1">
                <a:solidFill>
                  <a:srgbClr val="1353A2"/>
                </a:solidFill>
              </a:rPr>
              <a:t>CnetOS</a:t>
            </a:r>
            <a:r>
              <a:rPr lang="zh-CN" altLang="en-US" sz="2400" dirty="0">
                <a:solidFill>
                  <a:srgbClr val="1353A2"/>
                </a:solidFill>
              </a:rPr>
              <a:t>官网：</a:t>
            </a:r>
            <a:r>
              <a:rPr lang="en-US" altLang="zh-CN" sz="2400" u="sng" dirty="0">
                <a:solidFill>
                  <a:srgbClr val="00B050"/>
                </a:solidFill>
                <a:hlinkClick r:id="rId2"/>
              </a:rPr>
              <a:t>https://www.centos.org/</a:t>
            </a:r>
            <a:r>
              <a:rPr lang="en-US" altLang="zh-CN" sz="2400" u="sng" dirty="0">
                <a:solidFill>
                  <a:srgbClr val="00B050"/>
                </a:solidFill>
              </a:rPr>
              <a:t> </a:t>
            </a:r>
            <a:endParaRPr lang="en-US" altLang="zh-CN" sz="2400" dirty="0">
              <a:solidFill>
                <a:srgbClr val="00B050"/>
              </a:solidFill>
            </a:endParaRPr>
          </a:p>
          <a:p>
            <a:pPr indent="0">
              <a:lnSpc>
                <a:spcPct val="200000"/>
              </a:lnSpc>
            </a:pPr>
            <a:r>
              <a:rPr lang="zh-CN" altLang="en-US" sz="2400" dirty="0">
                <a:solidFill>
                  <a:srgbClr val="1353A2"/>
                </a:solidFill>
              </a:rPr>
              <a:t>②点击网页上方的 </a:t>
            </a:r>
            <a:r>
              <a:rPr lang="en-US" altLang="zh-CN" sz="2400" dirty="0">
                <a:solidFill>
                  <a:srgbClr val="00B050"/>
                </a:solidFill>
              </a:rPr>
              <a:t>Download</a:t>
            </a:r>
            <a:r>
              <a:rPr lang="zh-CN" altLang="en-US" sz="2400" dirty="0">
                <a:solidFill>
                  <a:srgbClr val="1353A2"/>
                </a:solidFill>
              </a:rPr>
              <a:t>，进入下载页</a:t>
            </a:r>
            <a:endParaRPr lang="en-US" altLang="zh-CN" sz="2400" dirty="0">
              <a:solidFill>
                <a:srgbClr val="1353A2"/>
              </a:solidFill>
            </a:endParaRPr>
          </a:p>
          <a:p>
            <a:pPr indent="0">
              <a:lnSpc>
                <a:spcPct val="200000"/>
              </a:lnSpc>
            </a:pPr>
            <a:r>
              <a:rPr lang="zh-CN" altLang="en-US" sz="2400" dirty="0">
                <a:solidFill>
                  <a:srgbClr val="1353A2"/>
                </a:solidFill>
              </a:rPr>
              <a:t>③在下载界面下方的“</a:t>
            </a:r>
            <a:r>
              <a:rPr lang="en-US" altLang="zh-CN" sz="2400" dirty="0">
                <a:solidFill>
                  <a:srgbClr val="00B050"/>
                </a:solidFill>
              </a:rPr>
              <a:t>Older Versions</a:t>
            </a:r>
            <a:r>
              <a:rPr lang="zh-CN" altLang="en-US" sz="2400" dirty="0">
                <a:solidFill>
                  <a:srgbClr val="1353A2"/>
                </a:solidFill>
              </a:rPr>
              <a:t>”中找到链接“</a:t>
            </a:r>
            <a:r>
              <a:rPr lang="en-US" altLang="zh-CN" sz="2400" dirty="0">
                <a:solidFill>
                  <a:srgbClr val="1353A2"/>
                </a:solidFill>
              </a:rPr>
              <a:t>then click here</a:t>
            </a:r>
            <a:r>
              <a:rPr lang="zh-CN" altLang="en-US" sz="2400" dirty="0">
                <a:solidFill>
                  <a:srgbClr val="1353A2"/>
                </a:solidFill>
              </a:rPr>
              <a:t>”</a:t>
            </a:r>
            <a:endParaRPr lang="en-US" altLang="zh-CN" sz="2400" dirty="0">
              <a:solidFill>
                <a:srgbClr val="1353A2"/>
              </a:solidFill>
            </a:endParaRPr>
          </a:p>
          <a:p>
            <a:pPr indent="0">
              <a:lnSpc>
                <a:spcPct val="200000"/>
              </a:lnSpc>
            </a:pPr>
            <a:r>
              <a:rPr lang="zh-CN" altLang="en-US" sz="2400" dirty="0">
                <a:solidFill>
                  <a:srgbClr val="1353A2"/>
                </a:solidFill>
              </a:rPr>
              <a:t>④点击“</a:t>
            </a:r>
            <a:r>
              <a:rPr lang="en-US" altLang="zh-CN" sz="2400" dirty="0">
                <a:solidFill>
                  <a:srgbClr val="00B050"/>
                </a:solidFill>
              </a:rPr>
              <a:t>then click here</a:t>
            </a:r>
            <a:r>
              <a:rPr lang="zh-CN" altLang="en-US" sz="2400" dirty="0">
                <a:solidFill>
                  <a:srgbClr val="1353A2"/>
                </a:solidFill>
              </a:rPr>
              <a:t>”进入新界面，拖动到“</a:t>
            </a:r>
            <a:r>
              <a:rPr lang="en-US" altLang="zh-CN" sz="2400" dirty="0">
                <a:solidFill>
                  <a:srgbClr val="00B050"/>
                </a:solidFill>
              </a:rPr>
              <a:t>Archived Versions</a:t>
            </a:r>
            <a:r>
              <a:rPr lang="zh-CN" altLang="en-US" sz="2400" dirty="0">
                <a:solidFill>
                  <a:srgbClr val="1353A2"/>
                </a:solidFill>
              </a:rPr>
              <a:t>”部分，点击表格</a:t>
            </a:r>
            <a:r>
              <a:rPr lang="en-US" altLang="zh-CN" sz="2400" dirty="0" err="1">
                <a:solidFill>
                  <a:srgbClr val="1353A2"/>
                </a:solidFill>
              </a:rPr>
              <a:t>CnetOS</a:t>
            </a:r>
            <a:r>
              <a:rPr lang="en-US" altLang="zh-CN" sz="2400" dirty="0">
                <a:solidFill>
                  <a:srgbClr val="1353A2"/>
                </a:solidFill>
              </a:rPr>
              <a:t> Linux7</a:t>
            </a:r>
            <a:r>
              <a:rPr lang="zh-CN" altLang="en-US" sz="2400" dirty="0">
                <a:solidFill>
                  <a:srgbClr val="1353A2"/>
                </a:solidFill>
              </a:rPr>
              <a:t>中</a:t>
            </a:r>
            <a:r>
              <a:rPr lang="en-US" altLang="zh-CN" sz="2400" dirty="0">
                <a:solidFill>
                  <a:srgbClr val="1353A2"/>
                </a:solidFill>
              </a:rPr>
              <a:t>7.3</a:t>
            </a:r>
            <a:r>
              <a:rPr lang="zh-CN" altLang="en-US" sz="2400" dirty="0">
                <a:solidFill>
                  <a:srgbClr val="1353A2"/>
                </a:solidFill>
              </a:rPr>
              <a:t>版的存档树链接，跳转到存档树页面</a:t>
            </a:r>
            <a:endParaRPr lang="en-US" altLang="zh-CN" sz="2400" dirty="0">
              <a:solidFill>
                <a:srgbClr val="1353A2"/>
              </a:solidFill>
            </a:endParaRPr>
          </a:p>
          <a:p>
            <a:pPr indent="0">
              <a:lnSpc>
                <a:spcPct val="200000"/>
              </a:lnSpc>
            </a:pPr>
            <a:r>
              <a:rPr lang="zh-CN" altLang="en-US" sz="2400" dirty="0">
                <a:solidFill>
                  <a:srgbClr val="1353A2"/>
                </a:solidFill>
              </a:rPr>
              <a:t>⑤点击进入“</a:t>
            </a:r>
            <a:r>
              <a:rPr lang="en-US" altLang="zh-CN" sz="2400" dirty="0" err="1">
                <a:solidFill>
                  <a:srgbClr val="00B050"/>
                </a:solidFill>
              </a:rPr>
              <a:t>isos</a:t>
            </a:r>
            <a:r>
              <a:rPr lang="en-US" altLang="zh-CN" sz="2400" dirty="0">
                <a:solidFill>
                  <a:srgbClr val="00B050"/>
                </a:solidFill>
              </a:rPr>
              <a:t>/</a:t>
            </a:r>
            <a:r>
              <a:rPr lang="en-US" altLang="zh-CN" sz="2400" dirty="0">
                <a:solidFill>
                  <a:srgbClr val="1353A2"/>
                </a:solidFill>
              </a:rPr>
              <a:t>”</a:t>
            </a:r>
            <a:r>
              <a:rPr lang="zh-CN" altLang="en-US" sz="2400" dirty="0">
                <a:solidFill>
                  <a:srgbClr val="1353A2"/>
                </a:solidFill>
              </a:rPr>
              <a:t>→“</a:t>
            </a:r>
            <a:r>
              <a:rPr lang="en-US" altLang="zh-CN" sz="2400" dirty="0">
                <a:solidFill>
                  <a:srgbClr val="00B050"/>
                </a:solidFill>
              </a:rPr>
              <a:t>x86_64/</a:t>
            </a:r>
            <a:r>
              <a:rPr lang="en-US" altLang="zh-CN" sz="2400" dirty="0">
                <a:solidFill>
                  <a:srgbClr val="1353A2"/>
                </a:solidFill>
              </a:rPr>
              <a:t>”</a:t>
            </a:r>
            <a:r>
              <a:rPr lang="zh-CN" altLang="en-US" sz="2400" dirty="0">
                <a:solidFill>
                  <a:srgbClr val="1353A2"/>
                </a:solidFill>
              </a:rPr>
              <a:t>，可看到</a:t>
            </a:r>
            <a:r>
              <a:rPr lang="en-US" altLang="zh-CN" sz="2400" dirty="0">
                <a:solidFill>
                  <a:srgbClr val="1353A2"/>
                </a:solidFill>
              </a:rPr>
              <a:t>CentOS7.3</a:t>
            </a:r>
            <a:r>
              <a:rPr lang="zh-CN" altLang="en-US" sz="2400" dirty="0">
                <a:solidFill>
                  <a:srgbClr val="1353A2"/>
                </a:solidFill>
              </a:rPr>
              <a:t>的镜像文件</a:t>
            </a:r>
            <a:endParaRPr lang="en-US" altLang="zh-CN" sz="2400" dirty="0">
              <a:solidFill>
                <a:srgbClr val="1353A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Scale>
                                      <p:cBhvr>
                                        <p:cTn id="7"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11"/>
                                        </p:tgtEl>
                                        <p:attrNameLst>
                                          <p:attrName>ppt_x</p:attrName>
                                          <p:attrName>ppt_y</p:attrName>
                                        </p:attrNameLst>
                                      </p:cBhvr>
                                    </p:animMotion>
                                    <p:animEffect transition="in" filter="fade">
                                      <p:cBhvr>
                                        <p:cTn id="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852965" y="2318424"/>
            <a:ext cx="3368305" cy="3682574"/>
          </a:xfrm>
          <a:prstGeom prst="rect">
            <a:avLst/>
          </a:prstGeom>
          <a:solidFill>
            <a:srgbClr val="1353A2"/>
          </a:solidFill>
          <a:ln>
            <a:solidFill>
              <a:srgbClr val="1353A2"/>
            </a:solid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40000"/>
              </a:lnSpc>
            </a:pPr>
            <a:r>
              <a:rPr lang="zh-CN" altLang="en-US"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点击如右图所示红框中的链接，将会弹出下载窗口；选择确认后，将开始下载镜像包文件。</a:t>
            </a:r>
            <a:endParaRPr lang="en-US" altLang="zh-CN"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20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该页面的网址为：</a:t>
            </a:r>
            <a:r>
              <a:rPr lang="en-US" altLang="zh-CN" sz="2000" dirty="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http://vault.centos.org/7.3.1611/isos/x86_64/</a:t>
            </a:r>
            <a:endParaRPr kumimoji="1" lang="zh-CN" altLang="en-US" sz="1600" dirty="0">
              <a:solidFill>
                <a:srgbClr val="00B050"/>
              </a:solidFill>
            </a:endParaRPr>
          </a:p>
        </p:txBody>
      </p:sp>
      <p:grpSp>
        <p:nvGrpSpPr>
          <p:cNvPr id="13" name="组合 15"/>
          <p:cNvGrpSpPr/>
          <p:nvPr/>
        </p:nvGrpSpPr>
        <p:grpSpPr>
          <a:xfrm>
            <a:off x="840784" y="1196752"/>
            <a:ext cx="10510431" cy="1008112"/>
            <a:chOff x="395441" y="968316"/>
            <a:chExt cx="10072179" cy="1008112"/>
          </a:xfrm>
          <a:solidFill>
            <a:srgbClr val="39A2FE"/>
          </a:solidFill>
        </p:grpSpPr>
        <p:sp>
          <p:nvSpPr>
            <p:cNvPr id="14" name="矩形 3"/>
            <p:cNvSpPr>
              <a:spLocks noChangeArrowheads="1"/>
            </p:cNvSpPr>
            <p:nvPr/>
          </p:nvSpPr>
          <p:spPr bwMode="auto">
            <a:xfrm>
              <a:off x="395441" y="968316"/>
              <a:ext cx="10072179" cy="1008112"/>
            </a:xfrm>
            <a:prstGeom prst="rect">
              <a:avLst/>
            </a:prstGeom>
            <a:solidFill>
              <a:srgbClr val="1353A2"/>
            </a:solidFill>
            <a:ln w="19050">
              <a:solidFill>
                <a:srgbClr val="1353A2"/>
              </a:solidFill>
            </a:ln>
          </p:spPr>
          <p:txBody>
            <a:bodyPr anchor="ctr"/>
            <a:lstStyle/>
            <a:p>
              <a:pPr defTabSz="1221105" fontAlgn="auto">
                <a:spcBef>
                  <a:spcPts val="0"/>
                </a:spcBef>
                <a:spcAft>
                  <a:spcPts val="0"/>
                </a:spcAft>
                <a:defRPr/>
              </a:pPr>
              <a:endParaRPr lang="zh-CN" altLang="en-US" dirty="0">
                <a:latin typeface="+mn-lt"/>
              </a:endParaRPr>
            </a:p>
          </p:txBody>
        </p:sp>
        <p:sp>
          <p:nvSpPr>
            <p:cNvPr id="15" name="Text Box 44"/>
            <p:cNvSpPr txBox="1">
              <a:spLocks noChangeArrowheads="1"/>
            </p:cNvSpPr>
            <p:nvPr/>
          </p:nvSpPr>
          <p:spPr bwMode="auto">
            <a:xfrm>
              <a:off x="1361266" y="970444"/>
              <a:ext cx="8637023" cy="743986"/>
            </a:xfrm>
            <a:prstGeom prst="rect">
              <a:avLst/>
            </a:prstGeom>
            <a:no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zh-CN" altLang="en-US" sz="3200" b="1" dirty="0">
                  <a:solidFill>
                    <a:schemeClr val="bg1"/>
                  </a:solidFill>
                </a:rPr>
                <a:t>从</a:t>
              </a:r>
              <a:r>
                <a:rPr lang="en-US" altLang="zh-CN" sz="3200" b="1" dirty="0" err="1">
                  <a:solidFill>
                    <a:schemeClr val="bg1"/>
                  </a:solidFill>
                </a:rPr>
                <a:t>CnetOS</a:t>
              </a:r>
              <a:r>
                <a:rPr lang="zh-CN" altLang="en-US" sz="3200" b="1" dirty="0">
                  <a:solidFill>
                    <a:schemeClr val="bg1"/>
                  </a:solidFill>
                </a:rPr>
                <a:t>官方网站下载</a:t>
              </a:r>
              <a:endParaRPr lang="en-US" altLang="zh-CN" sz="3200" b="1" dirty="0">
                <a:solidFill>
                  <a:schemeClr val="bg1"/>
                </a:solidFill>
              </a:endParaRPr>
            </a:p>
          </p:txBody>
        </p:sp>
        <p:pic>
          <p:nvPicPr>
            <p:cNvPr id="17" name="图片 16"/>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solidFill>
              <a:srgbClr val="1353A2"/>
            </a:solidFill>
            <a:ln>
              <a:solidFill>
                <a:srgbClr val="1353A2"/>
              </a:solidFill>
            </a:ln>
          </p:spPr>
        </p:pic>
      </p:grpSp>
      <p:pic>
        <p:nvPicPr>
          <p:cNvPr id="153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3243" y="2352817"/>
            <a:ext cx="6662290" cy="3613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
          <p:cNvSpPr txBox="1"/>
          <p:nvPr/>
        </p:nvSpPr>
        <p:spPr>
          <a:xfrm>
            <a:off x="2355319"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1.2.2</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下载</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CentOS</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6" name="文本框 5"/>
          <p:cNvSpPr txBox="1"/>
          <p:nvPr/>
        </p:nvSpPr>
        <p:spPr>
          <a:xfrm>
            <a:off x="1036284" y="6480957"/>
            <a:ext cx="9888022" cy="369332"/>
          </a:xfrm>
          <a:prstGeom prst="rect">
            <a:avLst/>
          </a:prstGeom>
          <a:noFill/>
        </p:spPr>
        <p:txBody>
          <a:bodyPr wrap="square">
            <a:spAutoFit/>
          </a:bodyPr>
          <a:lstStyle/>
          <a:p>
            <a:r>
              <a:rPr lang="en-US" altLang="zh-CN" dirty="0">
                <a:solidFill>
                  <a:schemeClr val="bg1">
                    <a:lumMod val="95000"/>
                  </a:schemeClr>
                </a:solidFill>
              </a:rPr>
              <a:t>Centos7</a:t>
            </a:r>
            <a:r>
              <a:rPr lang="zh-CN" altLang="en-US" dirty="0">
                <a:solidFill>
                  <a:schemeClr val="bg1">
                    <a:lumMod val="95000"/>
                  </a:schemeClr>
                </a:solidFill>
              </a:rPr>
              <a:t>百度网盘下载链接：</a:t>
            </a:r>
            <a:r>
              <a:rPr lang="en-US" altLang="zh-CN" dirty="0">
                <a:solidFill>
                  <a:schemeClr val="bg1">
                    <a:lumMod val="95000"/>
                  </a:schemeClr>
                </a:solidFill>
              </a:rPr>
              <a:t>https://pan.baidu.com/s/1sieP72wWBJ1k5l7R3dAmCw </a:t>
            </a:r>
            <a:r>
              <a:rPr lang="zh-CN" altLang="en-US" dirty="0">
                <a:solidFill>
                  <a:schemeClr val="bg1">
                    <a:lumMod val="95000"/>
                  </a:schemeClr>
                </a:solidFill>
              </a:rPr>
              <a:t>提取码：</a:t>
            </a:r>
            <a:r>
              <a:rPr lang="en-US" altLang="zh-CN" dirty="0">
                <a:solidFill>
                  <a:schemeClr val="bg1">
                    <a:lumMod val="95000"/>
                  </a:schemeClr>
                </a:solidFill>
              </a:rPr>
              <a:t>1234 </a:t>
            </a:r>
            <a:endParaRPr lang="zh-CN" altLang="en-US" dirty="0">
              <a:solidFill>
                <a:schemeClr val="bg1">
                  <a:lumMod val="95000"/>
                </a:schemeClr>
              </a:solidFill>
            </a:endParaRPr>
          </a:p>
        </p:txBody>
      </p:sp>
    </p:spTree>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1"/>
          <p:cNvSpPr txBox="1"/>
          <p:nvPr/>
        </p:nvSpPr>
        <p:spPr>
          <a:xfrm>
            <a:off x="2355319" y="500839"/>
            <a:ext cx="6192936"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CentOS – </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新建虚拟机</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10" name="组合 9"/>
          <p:cNvGrpSpPr/>
          <p:nvPr/>
        </p:nvGrpSpPr>
        <p:grpSpPr>
          <a:xfrm>
            <a:off x="607529" y="1340378"/>
            <a:ext cx="10816935" cy="4248368"/>
            <a:chOff x="607529" y="1340378"/>
            <a:chExt cx="10816935" cy="4248368"/>
          </a:xfrm>
        </p:grpSpPr>
        <p:pic>
          <p:nvPicPr>
            <p:cNvPr id="6" name="图片 5"/>
            <p:cNvPicPr>
              <a:picLocks noChangeAspect="1"/>
            </p:cNvPicPr>
            <p:nvPr/>
          </p:nvPicPr>
          <p:blipFill>
            <a:blip r:embed="rId1"/>
            <a:stretch>
              <a:fillRect/>
            </a:stretch>
          </p:blipFill>
          <p:spPr>
            <a:xfrm>
              <a:off x="6915732" y="1340378"/>
              <a:ext cx="4508732" cy="4248368"/>
            </a:xfrm>
            <a:prstGeom prst="rect">
              <a:avLst/>
            </a:prstGeom>
          </p:spPr>
        </p:pic>
        <p:sp>
          <p:nvSpPr>
            <p:cNvPr id="27" name="矩形 26"/>
            <p:cNvSpPr/>
            <p:nvPr/>
          </p:nvSpPr>
          <p:spPr>
            <a:xfrm>
              <a:off x="607529" y="2050733"/>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607529" y="1340378"/>
            <a:ext cx="6116458" cy="4248368"/>
            <a:chOff x="607529" y="1340378"/>
            <a:chExt cx="6116458" cy="4248368"/>
          </a:xfrm>
        </p:grpSpPr>
        <p:sp>
          <p:nvSpPr>
            <p:cNvPr id="3" name="矩形 2"/>
            <p:cNvSpPr/>
            <p:nvPr/>
          </p:nvSpPr>
          <p:spPr>
            <a:xfrm>
              <a:off x="607529" y="1340378"/>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2215255" y="1340378"/>
              <a:ext cx="4508732" cy="4248368"/>
            </a:xfrm>
            <a:prstGeom prst="rect">
              <a:avLst/>
            </a:prstGeom>
          </p:spPr>
        </p:pic>
      </p:grpSp>
      <p:grpSp>
        <p:nvGrpSpPr>
          <p:cNvPr id="11" name="组合 10"/>
          <p:cNvGrpSpPr/>
          <p:nvPr/>
        </p:nvGrpSpPr>
        <p:grpSpPr>
          <a:xfrm>
            <a:off x="607529" y="1595142"/>
            <a:ext cx="6116458" cy="4248368"/>
            <a:chOff x="607529" y="1595142"/>
            <a:chExt cx="6116458" cy="4248368"/>
          </a:xfrm>
        </p:grpSpPr>
        <p:sp>
          <p:nvSpPr>
            <p:cNvPr id="33" name="矩形 32"/>
            <p:cNvSpPr/>
            <p:nvPr/>
          </p:nvSpPr>
          <p:spPr>
            <a:xfrm>
              <a:off x="607529" y="2765357"/>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3</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3"/>
            <a:stretch>
              <a:fillRect/>
            </a:stretch>
          </p:blipFill>
          <p:spPr>
            <a:xfrm>
              <a:off x="2215255" y="1595142"/>
              <a:ext cx="4508732" cy="4248368"/>
            </a:xfrm>
            <a:prstGeom prst="rect">
              <a:avLst/>
            </a:prstGeom>
          </p:spPr>
        </p:pic>
      </p:grpSp>
      <p:grpSp>
        <p:nvGrpSpPr>
          <p:cNvPr id="7" name="组合 6"/>
          <p:cNvGrpSpPr/>
          <p:nvPr/>
        </p:nvGrpSpPr>
        <p:grpSpPr>
          <a:xfrm>
            <a:off x="607529" y="1856256"/>
            <a:ext cx="6116458" cy="4242018"/>
            <a:chOff x="607529" y="1856256"/>
            <a:chExt cx="6116458" cy="4242018"/>
          </a:xfrm>
        </p:grpSpPr>
        <p:grpSp>
          <p:nvGrpSpPr>
            <p:cNvPr id="20" name="组合 19"/>
            <p:cNvGrpSpPr/>
            <p:nvPr/>
          </p:nvGrpSpPr>
          <p:grpSpPr>
            <a:xfrm>
              <a:off x="607529" y="1856256"/>
              <a:ext cx="6116458" cy="4242018"/>
              <a:chOff x="607529" y="1856256"/>
              <a:chExt cx="6116458" cy="4242018"/>
            </a:xfrm>
          </p:grpSpPr>
          <p:pic>
            <p:nvPicPr>
              <p:cNvPr id="19" name="图片 18"/>
              <p:cNvPicPr>
                <a:picLocks noChangeAspect="1"/>
              </p:cNvPicPr>
              <p:nvPr/>
            </p:nvPicPr>
            <p:blipFill>
              <a:blip r:embed="rId4"/>
              <a:stretch>
                <a:fillRect/>
              </a:stretch>
            </p:blipFill>
            <p:spPr>
              <a:xfrm>
                <a:off x="2215255" y="1856256"/>
                <a:ext cx="4508732" cy="4242018"/>
              </a:xfrm>
              <a:prstGeom prst="rect">
                <a:avLst/>
              </a:prstGeom>
            </p:spPr>
          </p:pic>
          <p:sp>
            <p:nvSpPr>
              <p:cNvPr id="35" name="矩形 34"/>
              <p:cNvSpPr/>
              <p:nvPr/>
            </p:nvSpPr>
            <p:spPr>
              <a:xfrm>
                <a:off x="607529" y="4182132"/>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5</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cxnSp>
          <p:nvCxnSpPr>
            <p:cNvPr id="2" name="直接箭头连接符 1"/>
            <p:cNvCxnSpPr/>
            <p:nvPr/>
          </p:nvCxnSpPr>
          <p:spPr>
            <a:xfrm flipH="1" flipV="1">
              <a:off x="4469621" y="3977265"/>
              <a:ext cx="558965" cy="2351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607529" y="1595142"/>
            <a:ext cx="10816935" cy="4248368"/>
            <a:chOff x="607529" y="1595142"/>
            <a:chExt cx="10816935" cy="4248368"/>
          </a:xfrm>
        </p:grpSpPr>
        <p:grpSp>
          <p:nvGrpSpPr>
            <p:cNvPr id="15" name="组合 14"/>
            <p:cNvGrpSpPr/>
            <p:nvPr/>
          </p:nvGrpSpPr>
          <p:grpSpPr>
            <a:xfrm>
              <a:off x="607529" y="1595142"/>
              <a:ext cx="10816935" cy="4248368"/>
              <a:chOff x="607529" y="1595142"/>
              <a:chExt cx="10816935" cy="4248368"/>
            </a:xfrm>
          </p:grpSpPr>
          <p:pic>
            <p:nvPicPr>
              <p:cNvPr id="14" name="图片 13"/>
              <p:cNvPicPr>
                <a:picLocks noChangeAspect="1"/>
              </p:cNvPicPr>
              <p:nvPr/>
            </p:nvPicPr>
            <p:blipFill>
              <a:blip r:embed="rId5"/>
              <a:stretch>
                <a:fillRect/>
              </a:stretch>
            </p:blipFill>
            <p:spPr>
              <a:xfrm>
                <a:off x="6915732" y="1595142"/>
                <a:ext cx="4508732" cy="4248368"/>
              </a:xfrm>
              <a:prstGeom prst="rect">
                <a:avLst/>
              </a:prstGeom>
            </p:spPr>
          </p:pic>
          <p:sp>
            <p:nvSpPr>
              <p:cNvPr id="34" name="矩形 33"/>
              <p:cNvSpPr/>
              <p:nvPr/>
            </p:nvSpPr>
            <p:spPr>
              <a:xfrm>
                <a:off x="607529" y="3470350"/>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pSp>
        <p:cxnSp>
          <p:nvCxnSpPr>
            <p:cNvPr id="13" name="直接箭头连接符 12"/>
            <p:cNvCxnSpPr/>
            <p:nvPr/>
          </p:nvCxnSpPr>
          <p:spPr>
            <a:xfrm flipH="1" flipV="1">
              <a:off x="7651407" y="4094856"/>
              <a:ext cx="558965" cy="2351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607527" y="1856256"/>
            <a:ext cx="10816937" cy="4254719"/>
            <a:chOff x="607527" y="1856256"/>
            <a:chExt cx="10816937" cy="4254719"/>
          </a:xfrm>
        </p:grpSpPr>
        <p:sp>
          <p:nvSpPr>
            <p:cNvPr id="24" name="矩形 23"/>
            <p:cNvSpPr/>
            <p:nvPr/>
          </p:nvSpPr>
          <p:spPr>
            <a:xfrm>
              <a:off x="607527" y="4924909"/>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6</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6"/>
            <a:stretch>
              <a:fillRect/>
            </a:stretch>
          </p:blipFill>
          <p:spPr>
            <a:xfrm>
              <a:off x="6915732" y="1856256"/>
              <a:ext cx="4508732" cy="4254719"/>
            </a:xfrm>
            <a:prstGeom prst="rect">
              <a:avLst/>
            </a:prstGeom>
          </p:spPr>
        </p:pic>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1"/>
          <p:cNvSpPr txBox="1"/>
          <p:nvPr/>
        </p:nvSpPr>
        <p:spPr>
          <a:xfrm>
            <a:off x="2355319" y="500839"/>
            <a:ext cx="615137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CentOS – </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新建虚拟机</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7" name="组合 6"/>
          <p:cNvGrpSpPr/>
          <p:nvPr/>
        </p:nvGrpSpPr>
        <p:grpSpPr>
          <a:xfrm>
            <a:off x="607529" y="1340378"/>
            <a:ext cx="6068576" cy="4261069"/>
            <a:chOff x="607529" y="1340378"/>
            <a:chExt cx="6068576" cy="4261069"/>
          </a:xfrm>
        </p:grpSpPr>
        <p:sp>
          <p:nvSpPr>
            <p:cNvPr id="44" name="矩形 43"/>
            <p:cNvSpPr/>
            <p:nvPr/>
          </p:nvSpPr>
          <p:spPr>
            <a:xfrm>
              <a:off x="607529" y="1340378"/>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7</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167373" y="1340378"/>
              <a:ext cx="4508732" cy="4261069"/>
            </a:xfrm>
            <a:prstGeom prst="rect">
              <a:avLst/>
            </a:prstGeom>
          </p:spPr>
        </p:pic>
      </p:grpSp>
      <p:grpSp>
        <p:nvGrpSpPr>
          <p:cNvPr id="10" name="组合 9"/>
          <p:cNvGrpSpPr/>
          <p:nvPr/>
        </p:nvGrpSpPr>
        <p:grpSpPr>
          <a:xfrm>
            <a:off x="607529" y="1340378"/>
            <a:ext cx="10868871" cy="4261069"/>
            <a:chOff x="607529" y="1340378"/>
            <a:chExt cx="10868871" cy="4261069"/>
          </a:xfrm>
        </p:grpSpPr>
        <p:sp>
          <p:nvSpPr>
            <p:cNvPr id="45" name="矩形 44"/>
            <p:cNvSpPr/>
            <p:nvPr/>
          </p:nvSpPr>
          <p:spPr>
            <a:xfrm>
              <a:off x="607529" y="2050733"/>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8</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6967668" y="1340378"/>
              <a:ext cx="4508732" cy="4261069"/>
            </a:xfrm>
            <a:prstGeom prst="rect">
              <a:avLst/>
            </a:prstGeom>
          </p:spPr>
        </p:pic>
      </p:grpSp>
      <p:grpSp>
        <p:nvGrpSpPr>
          <p:cNvPr id="14" name="组合 13"/>
          <p:cNvGrpSpPr/>
          <p:nvPr/>
        </p:nvGrpSpPr>
        <p:grpSpPr>
          <a:xfrm>
            <a:off x="607529" y="1621417"/>
            <a:ext cx="6068576" cy="4254719"/>
            <a:chOff x="607529" y="1621417"/>
            <a:chExt cx="6068576" cy="4254719"/>
          </a:xfrm>
        </p:grpSpPr>
        <p:sp>
          <p:nvSpPr>
            <p:cNvPr id="46" name="矩形 45"/>
            <p:cNvSpPr/>
            <p:nvPr/>
          </p:nvSpPr>
          <p:spPr>
            <a:xfrm>
              <a:off x="607529" y="2765357"/>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9</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3"/>
            <a:stretch>
              <a:fillRect/>
            </a:stretch>
          </p:blipFill>
          <p:spPr>
            <a:xfrm>
              <a:off x="2167373" y="1621417"/>
              <a:ext cx="4508732" cy="4254719"/>
            </a:xfrm>
            <a:prstGeom prst="rect">
              <a:avLst/>
            </a:prstGeom>
          </p:spPr>
        </p:pic>
      </p:grpSp>
      <p:grpSp>
        <p:nvGrpSpPr>
          <p:cNvPr id="18" name="组合 17"/>
          <p:cNvGrpSpPr/>
          <p:nvPr/>
        </p:nvGrpSpPr>
        <p:grpSpPr>
          <a:xfrm>
            <a:off x="607529" y="1620543"/>
            <a:ext cx="10868871" cy="4235668"/>
            <a:chOff x="607529" y="1620543"/>
            <a:chExt cx="10868871" cy="4235668"/>
          </a:xfrm>
        </p:grpSpPr>
        <p:sp>
          <p:nvSpPr>
            <p:cNvPr id="47" name="矩形 46"/>
            <p:cNvSpPr/>
            <p:nvPr/>
          </p:nvSpPr>
          <p:spPr>
            <a:xfrm>
              <a:off x="607529" y="3470350"/>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10</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4"/>
            <a:stretch>
              <a:fillRect/>
            </a:stretch>
          </p:blipFill>
          <p:spPr>
            <a:xfrm>
              <a:off x="6967668" y="1620543"/>
              <a:ext cx="4508732" cy="4235668"/>
            </a:xfrm>
            <a:prstGeom prst="rect">
              <a:avLst/>
            </a:prstGeom>
          </p:spPr>
        </p:pic>
      </p:grpSp>
      <p:grpSp>
        <p:nvGrpSpPr>
          <p:cNvPr id="26" name="组合 25"/>
          <p:cNvGrpSpPr/>
          <p:nvPr/>
        </p:nvGrpSpPr>
        <p:grpSpPr>
          <a:xfrm>
            <a:off x="607529" y="1880363"/>
            <a:ext cx="6068576" cy="4242018"/>
            <a:chOff x="607529" y="1880363"/>
            <a:chExt cx="6068576" cy="4242018"/>
          </a:xfrm>
        </p:grpSpPr>
        <p:sp>
          <p:nvSpPr>
            <p:cNvPr id="48" name="矩形 47"/>
            <p:cNvSpPr/>
            <p:nvPr/>
          </p:nvSpPr>
          <p:spPr>
            <a:xfrm>
              <a:off x="607529" y="4182132"/>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22" name="图片 21"/>
            <p:cNvPicPr>
              <a:picLocks noChangeAspect="1"/>
            </p:cNvPicPr>
            <p:nvPr/>
          </p:nvPicPr>
          <p:blipFill>
            <a:blip r:embed="rId5"/>
            <a:stretch>
              <a:fillRect/>
            </a:stretch>
          </p:blipFill>
          <p:spPr>
            <a:xfrm>
              <a:off x="2167373" y="1880363"/>
              <a:ext cx="4508732" cy="4242018"/>
            </a:xfrm>
            <a:prstGeom prst="rect">
              <a:avLst/>
            </a:prstGeom>
          </p:spPr>
        </p:pic>
      </p:grpSp>
      <p:grpSp>
        <p:nvGrpSpPr>
          <p:cNvPr id="3" name="组合 2"/>
          <p:cNvGrpSpPr/>
          <p:nvPr/>
        </p:nvGrpSpPr>
        <p:grpSpPr>
          <a:xfrm>
            <a:off x="607527" y="1874012"/>
            <a:ext cx="10868873" cy="4254719"/>
            <a:chOff x="607527" y="1874012"/>
            <a:chExt cx="10868873" cy="4254719"/>
          </a:xfrm>
        </p:grpSpPr>
        <p:grpSp>
          <p:nvGrpSpPr>
            <p:cNvPr id="25" name="组合 24"/>
            <p:cNvGrpSpPr/>
            <p:nvPr/>
          </p:nvGrpSpPr>
          <p:grpSpPr>
            <a:xfrm>
              <a:off x="607527" y="1874012"/>
              <a:ext cx="10868873" cy="4254719"/>
              <a:chOff x="607527" y="1874012"/>
              <a:chExt cx="10868873" cy="4254719"/>
            </a:xfrm>
          </p:grpSpPr>
          <p:sp>
            <p:nvSpPr>
              <p:cNvPr id="49" name="矩形 48"/>
              <p:cNvSpPr/>
              <p:nvPr/>
            </p:nvSpPr>
            <p:spPr>
              <a:xfrm>
                <a:off x="607527" y="4924909"/>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24" name="图片 23"/>
              <p:cNvPicPr>
                <a:picLocks noChangeAspect="1"/>
              </p:cNvPicPr>
              <p:nvPr/>
            </p:nvPicPr>
            <p:blipFill>
              <a:blip r:embed="rId6"/>
              <a:stretch>
                <a:fillRect/>
              </a:stretch>
            </p:blipFill>
            <p:spPr>
              <a:xfrm>
                <a:off x="6967668" y="1874012"/>
                <a:ext cx="4508732" cy="4254719"/>
              </a:xfrm>
              <a:prstGeom prst="rect">
                <a:avLst/>
              </a:prstGeom>
            </p:spPr>
          </p:pic>
        </p:grpSp>
        <p:cxnSp>
          <p:nvCxnSpPr>
            <p:cNvPr id="2" name="直接箭头连接符 1"/>
            <p:cNvCxnSpPr/>
            <p:nvPr/>
          </p:nvCxnSpPr>
          <p:spPr>
            <a:xfrm flipH="1" flipV="1">
              <a:off x="9222034" y="3029480"/>
              <a:ext cx="558965" cy="2351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1"/>
          <p:cNvSpPr txBox="1"/>
          <p:nvPr/>
        </p:nvSpPr>
        <p:spPr>
          <a:xfrm>
            <a:off x="2355319" y="500839"/>
            <a:ext cx="6241426"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CentOS – </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新建虚拟机</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9" name="组合 8"/>
          <p:cNvGrpSpPr/>
          <p:nvPr/>
        </p:nvGrpSpPr>
        <p:grpSpPr>
          <a:xfrm>
            <a:off x="607529" y="1340378"/>
            <a:ext cx="6078661" cy="4254719"/>
            <a:chOff x="607529" y="1340378"/>
            <a:chExt cx="6078661" cy="4254719"/>
          </a:xfrm>
        </p:grpSpPr>
        <p:sp>
          <p:nvSpPr>
            <p:cNvPr id="3" name="矩形 2"/>
            <p:cNvSpPr/>
            <p:nvPr/>
          </p:nvSpPr>
          <p:spPr>
            <a:xfrm>
              <a:off x="607529" y="1340378"/>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2177458" y="1340378"/>
              <a:ext cx="4508732" cy="4254719"/>
            </a:xfrm>
            <a:prstGeom prst="rect">
              <a:avLst/>
            </a:prstGeom>
          </p:spPr>
        </p:pic>
      </p:grpSp>
      <p:grpSp>
        <p:nvGrpSpPr>
          <p:cNvPr id="12" name="组合 11"/>
          <p:cNvGrpSpPr/>
          <p:nvPr/>
        </p:nvGrpSpPr>
        <p:grpSpPr>
          <a:xfrm>
            <a:off x="607529" y="1340378"/>
            <a:ext cx="10853727" cy="4254719"/>
            <a:chOff x="607529" y="1340378"/>
            <a:chExt cx="10853727" cy="4254719"/>
          </a:xfrm>
        </p:grpSpPr>
        <p:sp>
          <p:nvSpPr>
            <p:cNvPr id="27" name="矩形 26"/>
            <p:cNvSpPr/>
            <p:nvPr/>
          </p:nvSpPr>
          <p:spPr>
            <a:xfrm>
              <a:off x="607529" y="2050733"/>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15</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2"/>
            <a:stretch>
              <a:fillRect/>
            </a:stretch>
          </p:blipFill>
          <p:spPr>
            <a:xfrm>
              <a:off x="6952524" y="1340378"/>
              <a:ext cx="4508732" cy="4254719"/>
            </a:xfrm>
            <a:prstGeom prst="rect">
              <a:avLst/>
            </a:prstGeom>
          </p:spPr>
        </p:pic>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1"/>
          <p:cNvSpPr txBox="1"/>
          <p:nvPr/>
        </p:nvSpPr>
        <p:spPr>
          <a:xfrm>
            <a:off x="2355319" y="500839"/>
            <a:ext cx="6241426"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CentOS – </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添加</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IOS</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镜像</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10" name="组合 9"/>
          <p:cNvGrpSpPr/>
          <p:nvPr/>
        </p:nvGrpSpPr>
        <p:grpSpPr>
          <a:xfrm>
            <a:off x="607529" y="1340378"/>
            <a:ext cx="8250524" cy="3733466"/>
            <a:chOff x="607529" y="1340378"/>
            <a:chExt cx="8250524" cy="3733466"/>
          </a:xfrm>
        </p:grpSpPr>
        <p:grpSp>
          <p:nvGrpSpPr>
            <p:cNvPr id="5" name="组合 4"/>
            <p:cNvGrpSpPr/>
            <p:nvPr/>
          </p:nvGrpSpPr>
          <p:grpSpPr>
            <a:xfrm>
              <a:off x="607529" y="1340378"/>
              <a:ext cx="8250524" cy="3733466"/>
              <a:chOff x="607529" y="1340378"/>
              <a:chExt cx="8250524" cy="3733466"/>
            </a:xfrm>
          </p:grpSpPr>
          <p:sp>
            <p:nvSpPr>
              <p:cNvPr id="3" name="矩形 2"/>
              <p:cNvSpPr/>
              <p:nvPr/>
            </p:nvSpPr>
            <p:spPr>
              <a:xfrm>
                <a:off x="607529" y="1340378"/>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2355319" y="1340378"/>
                <a:ext cx="6502734" cy="3733466"/>
              </a:xfrm>
              <a:prstGeom prst="rect">
                <a:avLst/>
              </a:prstGeom>
            </p:spPr>
          </p:pic>
        </p:grpSp>
        <p:cxnSp>
          <p:nvCxnSpPr>
            <p:cNvPr id="8" name="直接箭头连接符 7"/>
            <p:cNvCxnSpPr/>
            <p:nvPr/>
          </p:nvCxnSpPr>
          <p:spPr>
            <a:xfrm flipH="1" flipV="1">
              <a:off x="3383098" y="2946062"/>
              <a:ext cx="674595" cy="18104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607529" y="1583905"/>
            <a:ext cx="9005161" cy="3841947"/>
            <a:chOff x="607529" y="1583905"/>
            <a:chExt cx="9005161" cy="3841947"/>
          </a:xfrm>
        </p:grpSpPr>
        <p:grpSp>
          <p:nvGrpSpPr>
            <p:cNvPr id="9" name="组合 8"/>
            <p:cNvGrpSpPr/>
            <p:nvPr/>
          </p:nvGrpSpPr>
          <p:grpSpPr>
            <a:xfrm>
              <a:off x="607529" y="1583905"/>
              <a:ext cx="9005161" cy="3841947"/>
              <a:chOff x="607529" y="1583905"/>
              <a:chExt cx="9005161" cy="3841947"/>
            </a:xfrm>
          </p:grpSpPr>
          <p:sp>
            <p:nvSpPr>
              <p:cNvPr id="27" name="矩形 26"/>
              <p:cNvSpPr/>
              <p:nvPr/>
            </p:nvSpPr>
            <p:spPr>
              <a:xfrm>
                <a:off x="607529" y="2050733"/>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2900395" y="1583905"/>
                <a:ext cx="6712295" cy="3841947"/>
              </a:xfrm>
              <a:prstGeom prst="rect">
                <a:avLst/>
              </a:prstGeom>
            </p:spPr>
          </p:pic>
        </p:grpSp>
        <p:cxnSp>
          <p:nvCxnSpPr>
            <p:cNvPr id="12" name="直接箭头连接符 11"/>
            <p:cNvCxnSpPr/>
            <p:nvPr/>
          </p:nvCxnSpPr>
          <p:spPr>
            <a:xfrm flipV="1">
              <a:off x="3669547" y="3118556"/>
              <a:ext cx="538700" cy="223364"/>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5987192" y="4050235"/>
              <a:ext cx="538700" cy="223364"/>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607529" y="1848373"/>
            <a:ext cx="9677167" cy="3505380"/>
            <a:chOff x="607529" y="1848373"/>
            <a:chExt cx="9677167" cy="3505380"/>
          </a:xfrm>
        </p:grpSpPr>
        <p:grpSp>
          <p:nvGrpSpPr>
            <p:cNvPr id="24" name="组合 23"/>
            <p:cNvGrpSpPr/>
            <p:nvPr/>
          </p:nvGrpSpPr>
          <p:grpSpPr>
            <a:xfrm>
              <a:off x="607529" y="1848373"/>
              <a:ext cx="9677167" cy="3505380"/>
              <a:chOff x="607529" y="1848373"/>
              <a:chExt cx="9677167" cy="3505380"/>
            </a:xfrm>
          </p:grpSpPr>
          <p:sp>
            <p:nvSpPr>
              <p:cNvPr id="33" name="矩形 32"/>
              <p:cNvSpPr/>
              <p:nvPr/>
            </p:nvSpPr>
            <p:spPr>
              <a:xfrm>
                <a:off x="607529" y="2765357"/>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3</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3"/>
              <a:stretch>
                <a:fillRect/>
              </a:stretch>
            </p:blipFill>
            <p:spPr>
              <a:xfrm>
                <a:off x="3540649" y="1848373"/>
                <a:ext cx="6744047" cy="3505380"/>
              </a:xfrm>
              <a:prstGeom prst="rect">
                <a:avLst/>
              </a:prstGeom>
            </p:spPr>
          </p:pic>
        </p:grpSp>
        <p:cxnSp>
          <p:nvCxnSpPr>
            <p:cNvPr id="17" name="直接箭头连接符 16"/>
            <p:cNvCxnSpPr/>
            <p:nvPr/>
          </p:nvCxnSpPr>
          <p:spPr>
            <a:xfrm flipV="1">
              <a:off x="6525892" y="3571570"/>
              <a:ext cx="538700" cy="223364"/>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607529" y="2135612"/>
            <a:ext cx="10247629" cy="3829247"/>
            <a:chOff x="607529" y="2135612"/>
            <a:chExt cx="10247629" cy="3829247"/>
          </a:xfrm>
        </p:grpSpPr>
        <p:grpSp>
          <p:nvGrpSpPr>
            <p:cNvPr id="25" name="组合 24"/>
            <p:cNvGrpSpPr/>
            <p:nvPr/>
          </p:nvGrpSpPr>
          <p:grpSpPr>
            <a:xfrm>
              <a:off x="607529" y="2135612"/>
              <a:ext cx="10247629" cy="3829247"/>
              <a:chOff x="607529" y="2135612"/>
              <a:chExt cx="10247629" cy="3829247"/>
            </a:xfrm>
          </p:grpSpPr>
          <p:sp>
            <p:nvSpPr>
              <p:cNvPr id="34" name="矩形 33"/>
              <p:cNvSpPr/>
              <p:nvPr/>
            </p:nvSpPr>
            <p:spPr>
              <a:xfrm>
                <a:off x="607529" y="3470350"/>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4"/>
              <a:stretch>
                <a:fillRect/>
              </a:stretch>
            </p:blipFill>
            <p:spPr>
              <a:xfrm>
                <a:off x="4142863" y="2135612"/>
                <a:ext cx="6712295" cy="3829247"/>
              </a:xfrm>
              <a:prstGeom prst="rect">
                <a:avLst/>
              </a:prstGeom>
            </p:spPr>
          </p:pic>
        </p:grpSp>
        <p:cxnSp>
          <p:nvCxnSpPr>
            <p:cNvPr id="19" name="直接箭头连接符 18"/>
            <p:cNvCxnSpPr/>
            <p:nvPr/>
          </p:nvCxnSpPr>
          <p:spPr>
            <a:xfrm flipV="1">
              <a:off x="7229660" y="4543543"/>
              <a:ext cx="538700" cy="223364"/>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607529" y="2456646"/>
            <a:ext cx="10707535" cy="3733466"/>
            <a:chOff x="607529" y="2456646"/>
            <a:chExt cx="10707535" cy="3733466"/>
          </a:xfrm>
        </p:grpSpPr>
        <p:grpSp>
          <p:nvGrpSpPr>
            <p:cNvPr id="26" name="组合 25"/>
            <p:cNvGrpSpPr/>
            <p:nvPr/>
          </p:nvGrpSpPr>
          <p:grpSpPr>
            <a:xfrm>
              <a:off x="607529" y="2456646"/>
              <a:ext cx="10707535" cy="3733466"/>
              <a:chOff x="607529" y="2456646"/>
              <a:chExt cx="10707535" cy="3733466"/>
            </a:xfrm>
          </p:grpSpPr>
          <p:sp>
            <p:nvSpPr>
              <p:cNvPr id="35" name="矩形 34"/>
              <p:cNvSpPr/>
              <p:nvPr/>
            </p:nvSpPr>
            <p:spPr>
              <a:xfrm>
                <a:off x="607529" y="4182132"/>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5</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a:blip r:embed="rId5"/>
              <a:stretch>
                <a:fillRect/>
              </a:stretch>
            </p:blipFill>
            <p:spPr>
              <a:xfrm>
                <a:off x="4812330" y="2456646"/>
                <a:ext cx="6502734" cy="3733466"/>
              </a:xfrm>
              <a:prstGeom prst="rect">
                <a:avLst/>
              </a:prstGeom>
            </p:spPr>
          </p:pic>
        </p:grpSp>
        <p:cxnSp>
          <p:nvCxnSpPr>
            <p:cNvPr id="21" name="直接箭头连接符 20"/>
            <p:cNvCxnSpPr/>
            <p:nvPr/>
          </p:nvCxnSpPr>
          <p:spPr>
            <a:xfrm flipV="1">
              <a:off x="6912672" y="5394878"/>
              <a:ext cx="538700" cy="223364"/>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1"/>
          <p:cNvSpPr txBox="1"/>
          <p:nvPr/>
        </p:nvSpPr>
        <p:spPr>
          <a:xfrm>
            <a:off x="2355319"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CentOS</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9" name="组合 8"/>
          <p:cNvGrpSpPr/>
          <p:nvPr/>
        </p:nvGrpSpPr>
        <p:grpSpPr>
          <a:xfrm>
            <a:off x="607529" y="1340378"/>
            <a:ext cx="6514137" cy="2645289"/>
            <a:chOff x="607529" y="1340378"/>
            <a:chExt cx="6514137" cy="2645289"/>
          </a:xfrm>
        </p:grpSpPr>
        <p:sp>
          <p:nvSpPr>
            <p:cNvPr id="3" name="矩形 2"/>
            <p:cNvSpPr/>
            <p:nvPr/>
          </p:nvSpPr>
          <p:spPr>
            <a:xfrm>
              <a:off x="607529" y="1340378"/>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21" name="图片 20"/>
            <p:cNvPicPr/>
            <p:nvPr/>
          </p:nvPicPr>
          <p:blipFill>
            <a:blip r:embed="rId1"/>
            <a:stretch>
              <a:fillRect/>
            </a:stretch>
          </p:blipFill>
          <p:spPr>
            <a:xfrm>
              <a:off x="2041407" y="1340378"/>
              <a:ext cx="5080259" cy="2645289"/>
            </a:xfrm>
            <a:prstGeom prst="rect">
              <a:avLst/>
            </a:prstGeom>
          </p:spPr>
        </p:pic>
      </p:grpSp>
      <p:grpSp>
        <p:nvGrpSpPr>
          <p:cNvPr id="20" name="组合 19"/>
          <p:cNvGrpSpPr/>
          <p:nvPr/>
        </p:nvGrpSpPr>
        <p:grpSpPr>
          <a:xfrm>
            <a:off x="607529" y="1579422"/>
            <a:ext cx="7251617" cy="3810196"/>
            <a:chOff x="607529" y="1579422"/>
            <a:chExt cx="7251617" cy="3810196"/>
          </a:xfrm>
        </p:grpSpPr>
        <p:sp>
          <p:nvSpPr>
            <p:cNvPr id="27" name="矩形 26"/>
            <p:cNvSpPr/>
            <p:nvPr/>
          </p:nvSpPr>
          <p:spPr>
            <a:xfrm>
              <a:off x="607529" y="2050733"/>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2778885" y="1579422"/>
              <a:ext cx="5080261" cy="3810196"/>
            </a:xfrm>
            <a:prstGeom prst="rect">
              <a:avLst/>
            </a:prstGeom>
          </p:spPr>
        </p:pic>
      </p:grpSp>
      <p:grpSp>
        <p:nvGrpSpPr>
          <p:cNvPr id="5" name="组合 4"/>
          <p:cNvGrpSpPr/>
          <p:nvPr/>
        </p:nvGrpSpPr>
        <p:grpSpPr>
          <a:xfrm>
            <a:off x="607529" y="1818466"/>
            <a:ext cx="8007661" cy="3810196"/>
            <a:chOff x="607529" y="1818466"/>
            <a:chExt cx="8007661" cy="3810196"/>
          </a:xfrm>
        </p:grpSpPr>
        <p:grpSp>
          <p:nvGrpSpPr>
            <p:cNvPr id="22" name="组合 21"/>
            <p:cNvGrpSpPr/>
            <p:nvPr/>
          </p:nvGrpSpPr>
          <p:grpSpPr>
            <a:xfrm>
              <a:off x="607529" y="1818466"/>
              <a:ext cx="8007661" cy="3810196"/>
              <a:chOff x="607529" y="1818466"/>
              <a:chExt cx="8007661" cy="3810196"/>
            </a:xfrm>
          </p:grpSpPr>
          <p:sp>
            <p:nvSpPr>
              <p:cNvPr id="33" name="矩形 32"/>
              <p:cNvSpPr/>
              <p:nvPr/>
            </p:nvSpPr>
            <p:spPr>
              <a:xfrm>
                <a:off x="607529" y="2765357"/>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3</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stretch>
                <a:fillRect/>
              </a:stretch>
            </p:blipFill>
            <p:spPr>
              <a:xfrm>
                <a:off x="3534929" y="1818466"/>
                <a:ext cx="5080261" cy="3810196"/>
              </a:xfrm>
              <a:prstGeom prst="rect">
                <a:avLst/>
              </a:prstGeom>
            </p:spPr>
          </p:pic>
        </p:grpSp>
        <p:cxnSp>
          <p:nvCxnSpPr>
            <p:cNvPr id="2" name="直接箭头连接符 1"/>
            <p:cNvCxnSpPr/>
            <p:nvPr/>
          </p:nvCxnSpPr>
          <p:spPr>
            <a:xfrm flipH="1" flipV="1">
              <a:off x="7579663" y="4323751"/>
              <a:ext cx="558965" cy="2351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607529" y="2059703"/>
            <a:ext cx="8776122" cy="3810196"/>
            <a:chOff x="607529" y="2059703"/>
            <a:chExt cx="8776122" cy="3810196"/>
          </a:xfrm>
        </p:grpSpPr>
        <p:sp>
          <p:nvSpPr>
            <p:cNvPr id="34" name="矩形 33"/>
            <p:cNvSpPr/>
            <p:nvPr/>
          </p:nvSpPr>
          <p:spPr>
            <a:xfrm>
              <a:off x="607529" y="3470350"/>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4</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4"/>
            <a:stretch>
              <a:fillRect/>
            </a:stretch>
          </p:blipFill>
          <p:spPr>
            <a:xfrm>
              <a:off x="4303390" y="2059703"/>
              <a:ext cx="5080261" cy="3810196"/>
            </a:xfrm>
            <a:prstGeom prst="rect">
              <a:avLst/>
            </a:prstGeom>
          </p:spPr>
        </p:pic>
      </p:grpSp>
      <p:grpSp>
        <p:nvGrpSpPr>
          <p:cNvPr id="10" name="组合 9"/>
          <p:cNvGrpSpPr/>
          <p:nvPr/>
        </p:nvGrpSpPr>
        <p:grpSpPr>
          <a:xfrm>
            <a:off x="607529" y="2290994"/>
            <a:ext cx="9570984" cy="3810196"/>
            <a:chOff x="607529" y="2290994"/>
            <a:chExt cx="9570984" cy="3810196"/>
          </a:xfrm>
        </p:grpSpPr>
        <p:grpSp>
          <p:nvGrpSpPr>
            <p:cNvPr id="31" name="组合 30"/>
            <p:cNvGrpSpPr/>
            <p:nvPr/>
          </p:nvGrpSpPr>
          <p:grpSpPr>
            <a:xfrm>
              <a:off x="607529" y="2290994"/>
              <a:ext cx="9570984" cy="3810196"/>
              <a:chOff x="607529" y="2290994"/>
              <a:chExt cx="9570984" cy="3810196"/>
            </a:xfrm>
          </p:grpSpPr>
          <p:sp>
            <p:nvSpPr>
              <p:cNvPr id="35" name="矩形 34"/>
              <p:cNvSpPr/>
              <p:nvPr/>
            </p:nvSpPr>
            <p:spPr>
              <a:xfrm>
                <a:off x="607529" y="4182132"/>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5</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7" name="图片 16"/>
              <p:cNvPicPr>
                <a:picLocks noChangeAspect="1"/>
              </p:cNvPicPr>
              <p:nvPr/>
            </p:nvPicPr>
            <p:blipFill>
              <a:blip r:embed="rId5"/>
              <a:stretch>
                <a:fillRect/>
              </a:stretch>
            </p:blipFill>
            <p:spPr>
              <a:xfrm>
                <a:off x="5098252" y="2290994"/>
                <a:ext cx="5080261" cy="3810196"/>
              </a:xfrm>
              <a:prstGeom prst="rect">
                <a:avLst/>
              </a:prstGeom>
            </p:spPr>
          </p:pic>
        </p:grpSp>
        <p:cxnSp>
          <p:nvCxnSpPr>
            <p:cNvPr id="7" name="直接箭头连接符 6"/>
            <p:cNvCxnSpPr/>
            <p:nvPr/>
          </p:nvCxnSpPr>
          <p:spPr>
            <a:xfrm flipH="1" flipV="1">
              <a:off x="6619634" y="5765833"/>
              <a:ext cx="558965" cy="2351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607527" y="2536245"/>
            <a:ext cx="10365848" cy="3810196"/>
            <a:chOff x="607527" y="2536245"/>
            <a:chExt cx="10365848" cy="3810196"/>
          </a:xfrm>
        </p:grpSpPr>
        <p:grpSp>
          <p:nvGrpSpPr>
            <p:cNvPr id="32" name="组合 31"/>
            <p:cNvGrpSpPr/>
            <p:nvPr/>
          </p:nvGrpSpPr>
          <p:grpSpPr>
            <a:xfrm>
              <a:off x="607527" y="2536245"/>
              <a:ext cx="10365848" cy="3810196"/>
              <a:chOff x="607527" y="2536245"/>
              <a:chExt cx="10365848" cy="3810196"/>
            </a:xfrm>
          </p:grpSpPr>
          <p:sp>
            <p:nvSpPr>
              <p:cNvPr id="24" name="矩形 23"/>
              <p:cNvSpPr/>
              <p:nvPr/>
            </p:nvSpPr>
            <p:spPr>
              <a:xfrm>
                <a:off x="607527" y="4924909"/>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6</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6"/>
              <a:stretch>
                <a:fillRect/>
              </a:stretch>
            </p:blipFill>
            <p:spPr>
              <a:xfrm>
                <a:off x="5893114" y="2536245"/>
                <a:ext cx="5080261" cy="3810196"/>
              </a:xfrm>
              <a:prstGeom prst="rect">
                <a:avLst/>
              </a:prstGeom>
            </p:spPr>
          </p:pic>
        </p:grpSp>
        <p:cxnSp>
          <p:nvCxnSpPr>
            <p:cNvPr id="11" name="直接箭头连接符 10"/>
            <p:cNvCxnSpPr/>
            <p:nvPr/>
          </p:nvCxnSpPr>
          <p:spPr>
            <a:xfrm flipH="1">
              <a:off x="6207805" y="5047839"/>
              <a:ext cx="558964" cy="320301"/>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1"/>
          <p:cNvSpPr txBox="1"/>
          <p:nvPr/>
        </p:nvSpPr>
        <p:spPr>
          <a:xfrm>
            <a:off x="2355319"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1.2.3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安装</a:t>
            </a:r>
            <a:r>
              <a:rPr lang="en-US" altLang="zh-CN" sz="3200" kern="1200" dirty="0">
                <a:solidFill>
                  <a:srgbClr val="1353A2"/>
                </a:solidFill>
                <a:latin typeface="微软雅黑" panose="020B0503020204020204" pitchFamily="34" charset="-122"/>
                <a:ea typeface="微软雅黑" panose="020B0503020204020204" pitchFamily="34" charset="-122"/>
                <a:cs typeface="+mn-cs"/>
              </a:rPr>
              <a:t>CentOS</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6" name="组合 5"/>
          <p:cNvGrpSpPr/>
          <p:nvPr/>
        </p:nvGrpSpPr>
        <p:grpSpPr>
          <a:xfrm>
            <a:off x="607529" y="1238858"/>
            <a:ext cx="6571070" cy="3810196"/>
            <a:chOff x="607529" y="1238858"/>
            <a:chExt cx="6571070" cy="3810196"/>
          </a:xfrm>
        </p:grpSpPr>
        <p:grpSp>
          <p:nvGrpSpPr>
            <p:cNvPr id="10" name="组合 9"/>
            <p:cNvGrpSpPr/>
            <p:nvPr/>
          </p:nvGrpSpPr>
          <p:grpSpPr>
            <a:xfrm>
              <a:off x="607529" y="1238858"/>
              <a:ext cx="6571070" cy="3810196"/>
              <a:chOff x="607529" y="1238858"/>
              <a:chExt cx="6571070" cy="3810196"/>
            </a:xfrm>
          </p:grpSpPr>
          <p:sp>
            <p:nvSpPr>
              <p:cNvPr id="27" name="矩形 26"/>
              <p:cNvSpPr/>
              <p:nvPr/>
            </p:nvSpPr>
            <p:spPr>
              <a:xfrm>
                <a:off x="607529" y="1238858"/>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7</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2098338" y="1238858"/>
                <a:ext cx="5080261" cy="3810196"/>
              </a:xfrm>
              <a:prstGeom prst="rect">
                <a:avLst/>
              </a:prstGeom>
            </p:spPr>
          </p:pic>
        </p:grpSp>
        <p:sp>
          <p:nvSpPr>
            <p:cNvPr id="2" name="矩形 1"/>
            <p:cNvSpPr/>
            <p:nvPr/>
          </p:nvSpPr>
          <p:spPr>
            <a:xfrm>
              <a:off x="2205567" y="1748204"/>
              <a:ext cx="2169265" cy="119396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箭头连接符 3"/>
            <p:cNvCxnSpPr/>
            <p:nvPr/>
          </p:nvCxnSpPr>
          <p:spPr>
            <a:xfrm flipH="1" flipV="1">
              <a:off x="3229489" y="2992334"/>
              <a:ext cx="558965" cy="2351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607529" y="1500422"/>
            <a:ext cx="7189016" cy="3810196"/>
            <a:chOff x="607529" y="1500422"/>
            <a:chExt cx="7189016" cy="3810196"/>
          </a:xfrm>
        </p:grpSpPr>
        <p:grpSp>
          <p:nvGrpSpPr>
            <p:cNvPr id="15" name="组合 14"/>
            <p:cNvGrpSpPr/>
            <p:nvPr/>
          </p:nvGrpSpPr>
          <p:grpSpPr>
            <a:xfrm>
              <a:off x="607529" y="1500422"/>
              <a:ext cx="7189016" cy="3810196"/>
              <a:chOff x="607529" y="1500422"/>
              <a:chExt cx="7189016" cy="3810196"/>
            </a:xfrm>
          </p:grpSpPr>
          <p:sp>
            <p:nvSpPr>
              <p:cNvPr id="33" name="矩形 32"/>
              <p:cNvSpPr/>
              <p:nvPr/>
            </p:nvSpPr>
            <p:spPr>
              <a:xfrm>
                <a:off x="607529" y="1953845"/>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8</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2716284" y="1500422"/>
                <a:ext cx="5080261" cy="3810196"/>
              </a:xfrm>
              <a:prstGeom prst="rect">
                <a:avLst/>
              </a:prstGeom>
            </p:spPr>
          </p:pic>
        </p:grpSp>
        <p:cxnSp>
          <p:nvCxnSpPr>
            <p:cNvPr id="7" name="直接箭头连接符 6"/>
            <p:cNvCxnSpPr/>
            <p:nvPr/>
          </p:nvCxnSpPr>
          <p:spPr>
            <a:xfrm>
              <a:off x="5825004" y="4005276"/>
              <a:ext cx="541991" cy="366779"/>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607529" y="1782068"/>
            <a:ext cx="7806962" cy="3810196"/>
            <a:chOff x="607529" y="1782068"/>
            <a:chExt cx="7806962" cy="3810196"/>
          </a:xfrm>
        </p:grpSpPr>
        <p:grpSp>
          <p:nvGrpSpPr>
            <p:cNvPr id="18" name="组合 17"/>
            <p:cNvGrpSpPr/>
            <p:nvPr/>
          </p:nvGrpSpPr>
          <p:grpSpPr>
            <a:xfrm>
              <a:off x="607529" y="1782068"/>
              <a:ext cx="7806962" cy="3810196"/>
              <a:chOff x="607529" y="1823633"/>
              <a:chExt cx="7806962" cy="3810196"/>
            </a:xfrm>
          </p:grpSpPr>
          <p:sp>
            <p:nvSpPr>
              <p:cNvPr id="34" name="矩形 33"/>
              <p:cNvSpPr/>
              <p:nvPr/>
            </p:nvSpPr>
            <p:spPr>
              <a:xfrm>
                <a:off x="607529" y="2707698"/>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9</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3"/>
              <a:stretch>
                <a:fillRect/>
              </a:stretch>
            </p:blipFill>
            <p:spPr>
              <a:xfrm>
                <a:off x="3334230" y="1823633"/>
                <a:ext cx="5080261" cy="3810196"/>
              </a:xfrm>
              <a:prstGeom prst="rect">
                <a:avLst/>
              </a:prstGeom>
            </p:spPr>
          </p:pic>
        </p:grpSp>
        <p:cxnSp>
          <p:nvCxnSpPr>
            <p:cNvPr id="12" name="直接箭头连接符 11"/>
            <p:cNvCxnSpPr/>
            <p:nvPr/>
          </p:nvCxnSpPr>
          <p:spPr>
            <a:xfrm flipH="1" flipV="1">
              <a:off x="5094339" y="3093993"/>
              <a:ext cx="558965" cy="2351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flipV="1">
              <a:off x="7166560" y="3093993"/>
              <a:ext cx="558965" cy="2351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07529" y="2015953"/>
            <a:ext cx="9486133" cy="3595201"/>
            <a:chOff x="607529" y="2015953"/>
            <a:chExt cx="9486133" cy="3595201"/>
          </a:xfrm>
        </p:grpSpPr>
        <p:grpSp>
          <p:nvGrpSpPr>
            <p:cNvPr id="28" name="组合 27"/>
            <p:cNvGrpSpPr/>
            <p:nvPr/>
          </p:nvGrpSpPr>
          <p:grpSpPr>
            <a:xfrm>
              <a:off x="607529" y="2015953"/>
              <a:ext cx="9486133" cy="3595201"/>
              <a:chOff x="607529" y="2015953"/>
              <a:chExt cx="9486133" cy="3595201"/>
            </a:xfrm>
          </p:grpSpPr>
          <p:sp>
            <p:nvSpPr>
              <p:cNvPr id="35" name="矩形 34"/>
              <p:cNvSpPr/>
              <p:nvPr/>
            </p:nvSpPr>
            <p:spPr>
              <a:xfrm>
                <a:off x="607529" y="3405520"/>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10</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a:blip r:embed="rId4"/>
              <a:stretch>
                <a:fillRect/>
              </a:stretch>
            </p:blipFill>
            <p:spPr>
              <a:xfrm>
                <a:off x="4101660" y="2015953"/>
                <a:ext cx="5992002" cy="3595201"/>
              </a:xfrm>
              <a:prstGeom prst="rect">
                <a:avLst/>
              </a:prstGeom>
            </p:spPr>
          </p:pic>
        </p:grpSp>
        <p:cxnSp>
          <p:nvCxnSpPr>
            <p:cNvPr id="16" name="直接箭头连接符 15"/>
            <p:cNvCxnSpPr/>
            <p:nvPr/>
          </p:nvCxnSpPr>
          <p:spPr>
            <a:xfrm flipH="1" flipV="1">
              <a:off x="6922588" y="2911292"/>
              <a:ext cx="558965" cy="23518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607528" y="2256818"/>
            <a:ext cx="10385718" cy="3595201"/>
            <a:chOff x="607528" y="2256818"/>
            <a:chExt cx="10385718" cy="3595201"/>
          </a:xfrm>
        </p:grpSpPr>
        <p:sp>
          <p:nvSpPr>
            <p:cNvPr id="22" name="矩形 21"/>
            <p:cNvSpPr/>
            <p:nvPr/>
          </p:nvSpPr>
          <p:spPr>
            <a:xfrm>
              <a:off x="607528" y="4109934"/>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24" name="图片 23"/>
            <p:cNvPicPr>
              <a:picLocks noChangeAspect="1"/>
            </p:cNvPicPr>
            <p:nvPr/>
          </p:nvPicPr>
          <p:blipFill>
            <a:blip r:embed="rId5"/>
            <a:stretch>
              <a:fillRect/>
            </a:stretch>
          </p:blipFill>
          <p:spPr>
            <a:xfrm>
              <a:off x="5001244" y="2256818"/>
              <a:ext cx="5992002" cy="3595201"/>
            </a:xfrm>
            <a:prstGeom prst="rect">
              <a:avLst/>
            </a:prstGeom>
          </p:spPr>
        </p:pic>
      </p:grpSp>
      <p:grpSp>
        <p:nvGrpSpPr>
          <p:cNvPr id="37" name="组合 36"/>
          <p:cNvGrpSpPr/>
          <p:nvPr/>
        </p:nvGrpSpPr>
        <p:grpSpPr>
          <a:xfrm>
            <a:off x="607529" y="2897108"/>
            <a:ext cx="7482811" cy="3595201"/>
            <a:chOff x="607529" y="2897108"/>
            <a:chExt cx="7482811" cy="3595201"/>
          </a:xfrm>
        </p:grpSpPr>
        <p:sp>
          <p:nvSpPr>
            <p:cNvPr id="23" name="矩形 22"/>
            <p:cNvSpPr/>
            <p:nvPr/>
          </p:nvSpPr>
          <p:spPr>
            <a:xfrm>
              <a:off x="607529" y="4822057"/>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pic>
          <p:nvPicPr>
            <p:cNvPr id="26" name="图片 25"/>
            <p:cNvPicPr>
              <a:picLocks noChangeAspect="1"/>
            </p:cNvPicPr>
            <p:nvPr/>
          </p:nvPicPr>
          <p:blipFill>
            <a:blip r:embed="rId6"/>
            <a:stretch>
              <a:fillRect/>
            </a:stretch>
          </p:blipFill>
          <p:spPr>
            <a:xfrm>
              <a:off x="2098338" y="2897108"/>
              <a:ext cx="5992002" cy="3595201"/>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1+#ppt_w/2"/>
                                          </p:val>
                                        </p:tav>
                                        <p:tav tm="100000">
                                          <p:val>
                                            <p:strVal val="#ppt_x"/>
                                          </p:val>
                                        </p:tav>
                                      </p:tavLst>
                                    </p:anim>
                                    <p:anim calcmode="lin" valueType="num">
                                      <p:cBhvr additive="base">
                                        <p:cTn id="32" dur="5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5132" y="447215"/>
            <a:ext cx="3167527" cy="646331"/>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600" kern="1200" dirty="0">
                <a:solidFill>
                  <a:srgbClr val="1353A2"/>
                </a:solidFill>
                <a:latin typeface="微软雅黑" panose="020B0503020204020204" pitchFamily="34" charset="-122"/>
                <a:ea typeface="微软雅黑" panose="020B0503020204020204" pitchFamily="34" charset="-122"/>
                <a:cs typeface="+mn-cs"/>
              </a:rPr>
              <a:t>目录页</a:t>
            </a:r>
            <a:endParaRPr lang="zh-CN" altLang="en-US" sz="3600" kern="1200" dirty="0">
              <a:solidFill>
                <a:srgbClr val="1353A2"/>
              </a:solidFill>
              <a:latin typeface="微软雅黑" panose="020B0503020204020204" pitchFamily="34" charset="-122"/>
              <a:ea typeface="微软雅黑" panose="020B0503020204020204" pitchFamily="34" charset="-122"/>
              <a:cs typeface="+mn-cs"/>
            </a:endParaRPr>
          </a:p>
        </p:txBody>
      </p:sp>
      <p:cxnSp>
        <p:nvCxnSpPr>
          <p:cNvPr id="50"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29"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31" name="矩形 1"/>
          <p:cNvSpPr>
            <a:spLocks noChangeArrowheads="1"/>
          </p:cNvSpPr>
          <p:nvPr/>
        </p:nvSpPr>
        <p:spPr bwMode="auto">
          <a:xfrm>
            <a:off x="264393" y="1769173"/>
            <a:ext cx="1888804"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4" name="矩形 21"/>
          <p:cNvSpPr>
            <a:spLocks noChangeArrowheads="1"/>
          </p:cNvSpPr>
          <p:nvPr/>
        </p:nvSpPr>
        <p:spPr bwMode="auto">
          <a:xfrm>
            <a:off x="2165681" y="1769173"/>
            <a:ext cx="1888803"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5" name="矩形 22"/>
          <p:cNvSpPr>
            <a:spLocks noChangeArrowheads="1"/>
          </p:cNvSpPr>
          <p:nvPr/>
        </p:nvSpPr>
        <p:spPr bwMode="auto">
          <a:xfrm>
            <a:off x="4053100" y="1769173"/>
            <a:ext cx="1892565" cy="2038712"/>
          </a:xfrm>
          <a:prstGeom prst="rect">
            <a:avLst/>
          </a:prstGeom>
          <a:solidFill>
            <a:srgbClr val="1353A2"/>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6" name="矩形 28"/>
          <p:cNvSpPr>
            <a:spLocks noChangeArrowheads="1"/>
          </p:cNvSpPr>
          <p:nvPr/>
        </p:nvSpPr>
        <p:spPr bwMode="auto">
          <a:xfrm>
            <a:off x="2099550" y="1841570"/>
            <a:ext cx="20331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安装</a:t>
            </a: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7" name="矩形 29"/>
          <p:cNvSpPr>
            <a:spLocks noChangeArrowheads="1"/>
          </p:cNvSpPr>
          <p:nvPr/>
        </p:nvSpPr>
        <p:spPr bwMode="auto">
          <a:xfrm>
            <a:off x="4070327" y="1841570"/>
            <a:ext cx="1811231"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网络配置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38" name="直接连接符 7167"/>
          <p:cNvCxnSpPr>
            <a:cxnSpLocks noChangeShapeType="1"/>
          </p:cNvCxnSpPr>
          <p:nvPr/>
        </p:nvCxnSpPr>
        <p:spPr bwMode="auto">
          <a:xfrm>
            <a:off x="240288" y="1688477"/>
            <a:ext cx="190178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39" name="直接连接符 7172"/>
          <p:cNvCxnSpPr>
            <a:cxnSpLocks noChangeShapeType="1"/>
          </p:cNvCxnSpPr>
          <p:nvPr/>
        </p:nvCxnSpPr>
        <p:spPr bwMode="auto">
          <a:xfrm>
            <a:off x="240288"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0" name="直接连接符 50"/>
          <p:cNvCxnSpPr>
            <a:cxnSpLocks noChangeShapeType="1"/>
          </p:cNvCxnSpPr>
          <p:nvPr/>
        </p:nvCxnSpPr>
        <p:spPr bwMode="auto">
          <a:xfrm>
            <a:off x="2130757"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1" name="直接连接符 51"/>
          <p:cNvCxnSpPr>
            <a:cxnSpLocks noChangeShapeType="1"/>
          </p:cNvCxnSpPr>
          <p:nvPr/>
        </p:nvCxnSpPr>
        <p:spPr bwMode="auto">
          <a:xfrm>
            <a:off x="4011601"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2" name="直接连接符 52"/>
          <p:cNvCxnSpPr>
            <a:cxnSpLocks noChangeShapeType="1"/>
          </p:cNvCxnSpPr>
          <p:nvPr/>
        </p:nvCxnSpPr>
        <p:spPr bwMode="auto">
          <a:xfrm>
            <a:off x="5950178" y="1359415"/>
            <a:ext cx="1" cy="24837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43" name="TextBox 7177"/>
          <p:cNvSpPr txBox="1">
            <a:spLocks noChangeArrowheads="1"/>
          </p:cNvSpPr>
          <p:nvPr/>
        </p:nvSpPr>
        <p:spPr bwMode="auto">
          <a:xfrm>
            <a:off x="240288" y="1049095"/>
            <a:ext cx="14722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1</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4" name="TextBox 7177"/>
          <p:cNvSpPr txBox="1">
            <a:spLocks noChangeArrowheads="1"/>
          </p:cNvSpPr>
          <p:nvPr/>
        </p:nvSpPr>
        <p:spPr bwMode="auto">
          <a:xfrm>
            <a:off x="2142942" y="1049096"/>
            <a:ext cx="1397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2</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5" name="TextBox 7177"/>
          <p:cNvSpPr txBox="1">
            <a:spLocks noChangeArrowheads="1"/>
          </p:cNvSpPr>
          <p:nvPr/>
        </p:nvSpPr>
        <p:spPr bwMode="auto">
          <a:xfrm>
            <a:off x="3961241" y="1049095"/>
            <a:ext cx="1724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5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3</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6" name="矩形 28"/>
          <p:cNvSpPr>
            <a:spLocks noChangeArrowheads="1"/>
          </p:cNvSpPr>
          <p:nvPr/>
        </p:nvSpPr>
        <p:spPr bwMode="auto">
          <a:xfrm>
            <a:off x="125260" y="1860344"/>
            <a:ext cx="202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系统简介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47" name="直接连接符 46"/>
          <p:cNvCxnSpPr/>
          <p:nvPr/>
        </p:nvCxnSpPr>
        <p:spPr bwMode="auto">
          <a:xfrm>
            <a:off x="2130757" y="1688477"/>
            <a:ext cx="190178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8" name="直接连接符 47"/>
          <p:cNvCxnSpPr/>
          <p:nvPr/>
        </p:nvCxnSpPr>
        <p:spPr bwMode="auto">
          <a:xfrm>
            <a:off x="3991652" y="1688477"/>
            <a:ext cx="399995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2" name="矩形 1"/>
          <p:cNvSpPr>
            <a:spLocks noChangeArrowheads="1"/>
          </p:cNvSpPr>
          <p:nvPr/>
        </p:nvSpPr>
        <p:spPr bwMode="auto">
          <a:xfrm>
            <a:off x="5981779" y="1785676"/>
            <a:ext cx="1859200" cy="200675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4" name="矩形 21"/>
          <p:cNvSpPr>
            <a:spLocks noChangeArrowheads="1"/>
          </p:cNvSpPr>
          <p:nvPr/>
        </p:nvSpPr>
        <p:spPr bwMode="auto">
          <a:xfrm>
            <a:off x="5997390" y="4479805"/>
            <a:ext cx="1724176"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5" name="矩形 22"/>
          <p:cNvSpPr>
            <a:spLocks noChangeArrowheads="1"/>
          </p:cNvSpPr>
          <p:nvPr/>
        </p:nvSpPr>
        <p:spPr bwMode="auto">
          <a:xfrm>
            <a:off x="7730879" y="4489427"/>
            <a:ext cx="1727610"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6" name="矩形 28"/>
          <p:cNvSpPr>
            <a:spLocks noChangeArrowheads="1"/>
          </p:cNvSpPr>
          <p:nvPr/>
        </p:nvSpPr>
        <p:spPr bwMode="auto">
          <a:xfrm>
            <a:off x="5993887" y="4364312"/>
            <a:ext cx="176966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系统启动流程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7" name="矩形 29"/>
          <p:cNvSpPr>
            <a:spLocks noChangeArrowheads="1"/>
          </p:cNvSpPr>
          <p:nvPr/>
        </p:nvSpPr>
        <p:spPr bwMode="auto">
          <a:xfrm>
            <a:off x="7721566" y="4566723"/>
            <a:ext cx="1713648"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远程终端访问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58" name="直接连接符 51"/>
          <p:cNvCxnSpPr>
            <a:cxnSpLocks noChangeShapeType="1"/>
          </p:cNvCxnSpPr>
          <p:nvPr/>
        </p:nvCxnSpPr>
        <p:spPr bwMode="auto">
          <a:xfrm>
            <a:off x="7677268" y="4159855"/>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9" name="TextBox 7177"/>
          <p:cNvSpPr txBox="1">
            <a:spLocks noChangeArrowheads="1"/>
          </p:cNvSpPr>
          <p:nvPr/>
        </p:nvSpPr>
        <p:spPr bwMode="auto">
          <a:xfrm>
            <a:off x="5984045" y="1060096"/>
            <a:ext cx="979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zh-CN"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4</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0" name="TextBox 7177"/>
          <p:cNvSpPr txBox="1">
            <a:spLocks noChangeArrowheads="1"/>
          </p:cNvSpPr>
          <p:nvPr/>
        </p:nvSpPr>
        <p:spPr bwMode="auto">
          <a:xfrm>
            <a:off x="5943295" y="3783090"/>
            <a:ext cx="9970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5</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1" name="TextBox 7177"/>
          <p:cNvSpPr txBox="1">
            <a:spLocks noChangeArrowheads="1"/>
          </p:cNvSpPr>
          <p:nvPr/>
        </p:nvSpPr>
        <p:spPr bwMode="auto">
          <a:xfrm>
            <a:off x="7725608" y="3803149"/>
            <a:ext cx="15200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6</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2" name="矩形 28"/>
          <p:cNvSpPr>
            <a:spLocks noChangeArrowheads="1"/>
          </p:cNvSpPr>
          <p:nvPr/>
        </p:nvSpPr>
        <p:spPr bwMode="auto">
          <a:xfrm>
            <a:off x="5967195" y="1870892"/>
            <a:ext cx="178290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目录结构</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63" name="直接连接符 19"/>
          <p:cNvCxnSpPr/>
          <p:nvPr/>
        </p:nvCxnSpPr>
        <p:spPr bwMode="auto">
          <a:xfrm>
            <a:off x="6017699" y="4427930"/>
            <a:ext cx="1678967" cy="776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64" name="直接连接符 20"/>
          <p:cNvCxnSpPr/>
          <p:nvPr/>
        </p:nvCxnSpPr>
        <p:spPr bwMode="auto">
          <a:xfrm>
            <a:off x="7698294" y="4428744"/>
            <a:ext cx="183470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pic>
        <p:nvPicPr>
          <p:cNvPr id="66"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6064187" y="5280100"/>
            <a:ext cx="1538977" cy="104646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68" name="直接连接符 52"/>
          <p:cNvCxnSpPr>
            <a:cxnSpLocks noChangeShapeType="1"/>
          </p:cNvCxnSpPr>
          <p:nvPr/>
        </p:nvCxnSpPr>
        <p:spPr bwMode="auto">
          <a:xfrm>
            <a:off x="5993969" y="4173190"/>
            <a:ext cx="1" cy="296447"/>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69" name="矩形 1"/>
          <p:cNvSpPr>
            <a:spLocks noChangeArrowheads="1"/>
          </p:cNvSpPr>
          <p:nvPr/>
        </p:nvSpPr>
        <p:spPr bwMode="auto">
          <a:xfrm>
            <a:off x="9478906" y="4485614"/>
            <a:ext cx="1724177"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pic>
        <p:nvPicPr>
          <p:cNvPr id="70" name="Picture 5"/>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9634247" y="5321637"/>
            <a:ext cx="1457809" cy="99727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71" name="直接连接符 7167"/>
          <p:cNvCxnSpPr>
            <a:cxnSpLocks noChangeShapeType="1"/>
          </p:cNvCxnSpPr>
          <p:nvPr/>
        </p:nvCxnSpPr>
        <p:spPr bwMode="auto">
          <a:xfrm flipV="1">
            <a:off x="9454801" y="4419988"/>
            <a:ext cx="1993988" cy="875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72" name="直接连接符 7172"/>
          <p:cNvCxnSpPr>
            <a:cxnSpLocks noChangeShapeType="1"/>
          </p:cNvCxnSpPr>
          <p:nvPr/>
        </p:nvCxnSpPr>
        <p:spPr bwMode="auto">
          <a:xfrm>
            <a:off x="9453896" y="4074072"/>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73" name="TextBox 7177"/>
          <p:cNvSpPr txBox="1">
            <a:spLocks noChangeArrowheads="1"/>
          </p:cNvSpPr>
          <p:nvPr/>
        </p:nvSpPr>
        <p:spPr bwMode="auto">
          <a:xfrm>
            <a:off x="9497973" y="3751901"/>
            <a:ext cx="1504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7</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74" name="矩形 28"/>
          <p:cNvSpPr>
            <a:spLocks noChangeArrowheads="1"/>
          </p:cNvSpPr>
          <p:nvPr/>
        </p:nvSpPr>
        <p:spPr bwMode="auto">
          <a:xfrm>
            <a:off x="9478906" y="4402629"/>
            <a:ext cx="1699485"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b="1" dirty="0">
                <a:solidFill>
                  <a:srgbClr val="FFFFFF"/>
                </a:solidFill>
                <a:latin typeface="微软雅黑" panose="020B0503020204020204" pitchFamily="34" charset="-122"/>
                <a:ea typeface="微软雅黑" panose="020B0503020204020204" pitchFamily="34" charset="-122"/>
              </a:rPr>
              <a:t>SFTP</a:t>
            </a:r>
            <a:r>
              <a:rPr lang="zh-CN" altLang="en-US" b="1" dirty="0">
                <a:solidFill>
                  <a:srgbClr val="FFFFFF"/>
                </a:solidFill>
                <a:latin typeface="微软雅黑" panose="020B0503020204020204" pitchFamily="34" charset="-122"/>
                <a:ea typeface="微软雅黑" panose="020B0503020204020204" pitchFamily="34" charset="-122"/>
              </a:rPr>
              <a:t>远程文件管理</a:t>
            </a:r>
            <a:endParaRPr lang="zh-CN" altLang="en-US" b="1" dirty="0">
              <a:solidFill>
                <a:srgbClr val="FFFFFF"/>
              </a:solidFill>
              <a:latin typeface="微软雅黑" panose="020B0503020204020204" pitchFamily="34" charset="-122"/>
              <a:ea typeface="微软雅黑" panose="020B0503020204020204" pitchFamily="34" charset="-122"/>
            </a:endParaRPr>
          </a:p>
        </p:txBody>
      </p:sp>
      <p:pic>
        <p:nvPicPr>
          <p:cNvPr id="7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56" y="2597881"/>
            <a:ext cx="1520630" cy="106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0621" y="2594842"/>
            <a:ext cx="1611054" cy="108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1376" y="2624392"/>
            <a:ext cx="1528692" cy="1029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9757" y="5269244"/>
            <a:ext cx="1531780" cy="1012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29150" y="2604066"/>
            <a:ext cx="1364458" cy="104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44000">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14:bounceEnd="44000">
                                          <p:cBhvr additive="base">
                                            <p:cTn id="7" dur="500" fill="hold"/>
                                            <p:tgtEl>
                                              <p:spTgt spid="43"/>
                                            </p:tgtEl>
                                            <p:attrNameLst>
                                              <p:attrName>ppt_x</p:attrName>
                                            </p:attrNameLst>
                                          </p:cBhvr>
                                          <p:tavLst>
                                            <p:tav tm="0">
                                              <p:val>
                                                <p:strVal val="1+#ppt_w/2"/>
                                              </p:val>
                                            </p:tav>
                                            <p:tav tm="100000">
                                              <p:val>
                                                <p:strVal val="#ppt_x"/>
                                              </p:val>
                                            </p:tav>
                                          </p:tavLst>
                                        </p:anim>
                                        <p:anim calcmode="lin" valueType="num" p14:bounceEnd="44000">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44000">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14:bounceEnd="44000">
                                          <p:cBhvr additive="base">
                                            <p:cTn id="11" dur="500" fill="hold"/>
                                            <p:tgtEl>
                                              <p:spTgt spid="44"/>
                                            </p:tgtEl>
                                            <p:attrNameLst>
                                              <p:attrName>ppt_x</p:attrName>
                                            </p:attrNameLst>
                                          </p:cBhvr>
                                          <p:tavLst>
                                            <p:tav tm="0">
                                              <p:val>
                                                <p:strVal val="1+#ppt_w/2"/>
                                              </p:val>
                                            </p:tav>
                                            <p:tav tm="100000">
                                              <p:val>
                                                <p:strVal val="#ppt_x"/>
                                              </p:val>
                                            </p:tav>
                                          </p:tavLst>
                                        </p:anim>
                                        <p:anim calcmode="lin" valueType="num" p14:bounceEnd="44000">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44000">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14:bounceEnd="44000">
                                          <p:cBhvr additive="base">
                                            <p:cTn id="15" dur="500" fill="hold"/>
                                            <p:tgtEl>
                                              <p:spTgt spid="45"/>
                                            </p:tgtEl>
                                            <p:attrNameLst>
                                              <p:attrName>ppt_x</p:attrName>
                                            </p:attrNameLst>
                                          </p:cBhvr>
                                          <p:tavLst>
                                            <p:tav tm="0">
                                              <p:val>
                                                <p:strVal val="1+#ppt_w/2"/>
                                              </p:val>
                                            </p:tav>
                                            <p:tav tm="100000">
                                              <p:val>
                                                <p:strVal val="#ppt_x"/>
                                              </p:val>
                                            </p:tav>
                                          </p:tavLst>
                                        </p:anim>
                                        <p:anim calcmode="lin" valueType="num" p14:bounceEnd="44000">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44000">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14:bounceEnd="44000">
                                          <p:cBhvr additive="base">
                                            <p:cTn id="19" dur="500" fill="hold"/>
                                            <p:tgtEl>
                                              <p:spTgt spid="59"/>
                                            </p:tgtEl>
                                            <p:attrNameLst>
                                              <p:attrName>ppt_x</p:attrName>
                                            </p:attrNameLst>
                                          </p:cBhvr>
                                          <p:tavLst>
                                            <p:tav tm="0">
                                              <p:val>
                                                <p:strVal val="1+#ppt_w/2"/>
                                              </p:val>
                                            </p:tav>
                                            <p:tav tm="100000">
                                              <p:val>
                                                <p:strVal val="#ppt_x"/>
                                              </p:val>
                                            </p:tav>
                                          </p:tavLst>
                                        </p:anim>
                                        <p:anim calcmode="lin" valueType="num" p14:bounceEnd="44000">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44000">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14:bounceEnd="44000">
                                          <p:cBhvr additive="base">
                                            <p:cTn id="23" dur="500" fill="hold"/>
                                            <p:tgtEl>
                                              <p:spTgt spid="60"/>
                                            </p:tgtEl>
                                            <p:attrNameLst>
                                              <p:attrName>ppt_x</p:attrName>
                                            </p:attrNameLst>
                                          </p:cBhvr>
                                          <p:tavLst>
                                            <p:tav tm="0">
                                              <p:val>
                                                <p:strVal val="1+#ppt_w/2"/>
                                              </p:val>
                                            </p:tav>
                                            <p:tav tm="100000">
                                              <p:val>
                                                <p:strVal val="#ppt_x"/>
                                              </p:val>
                                            </p:tav>
                                          </p:tavLst>
                                        </p:anim>
                                        <p:anim calcmode="lin" valueType="num" p14:bounceEnd="44000">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44000">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14:bounceEnd="44000">
                                          <p:cBhvr additive="base">
                                            <p:cTn id="27" dur="500" fill="hold"/>
                                            <p:tgtEl>
                                              <p:spTgt spid="61"/>
                                            </p:tgtEl>
                                            <p:attrNameLst>
                                              <p:attrName>ppt_x</p:attrName>
                                            </p:attrNameLst>
                                          </p:cBhvr>
                                          <p:tavLst>
                                            <p:tav tm="0">
                                              <p:val>
                                                <p:strVal val="1+#ppt_w/2"/>
                                              </p:val>
                                            </p:tav>
                                            <p:tav tm="100000">
                                              <p:val>
                                                <p:strVal val="#ppt_x"/>
                                              </p:val>
                                            </p:tav>
                                          </p:tavLst>
                                        </p:anim>
                                        <p:anim calcmode="lin" valueType="num" p14:bounceEnd="44000">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44000">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14:bounceEnd="44000">
                                          <p:cBhvr additive="base">
                                            <p:cTn id="31" dur="500" fill="hold"/>
                                            <p:tgtEl>
                                              <p:spTgt spid="73"/>
                                            </p:tgtEl>
                                            <p:attrNameLst>
                                              <p:attrName>ppt_x</p:attrName>
                                            </p:attrNameLst>
                                          </p:cBhvr>
                                          <p:tavLst>
                                            <p:tav tm="0">
                                              <p:val>
                                                <p:strVal val="1+#ppt_w/2"/>
                                              </p:val>
                                            </p:tav>
                                            <p:tav tm="100000">
                                              <p:val>
                                                <p:strVal val="#ppt_x"/>
                                              </p:val>
                                            </p:tav>
                                          </p:tavLst>
                                        </p:anim>
                                        <p:anim calcmode="lin" valueType="num" p14:bounceEnd="44000">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1+#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1+#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1+#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1+#ppt_w/2"/>
                                              </p:val>
                                            </p:tav>
                                            <p:tav tm="100000">
                                              <p:val>
                                                <p:strVal val="#ppt_x"/>
                                              </p:val>
                                            </p:tav>
                                          </p:tavLst>
                                        </p:anim>
                                        <p:anim calcmode="lin" valueType="num">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500" fill="hold"/>
                                            <p:tgtEl>
                                              <p:spTgt spid="60"/>
                                            </p:tgtEl>
                                            <p:attrNameLst>
                                              <p:attrName>ppt_x</p:attrName>
                                            </p:attrNameLst>
                                          </p:cBhvr>
                                          <p:tavLst>
                                            <p:tav tm="0">
                                              <p:val>
                                                <p:strVal val="1+#ppt_w/2"/>
                                              </p:val>
                                            </p:tav>
                                            <p:tav tm="100000">
                                              <p:val>
                                                <p:strVal val="#ppt_x"/>
                                              </p:val>
                                            </p:tav>
                                          </p:tavLst>
                                        </p:anim>
                                        <p:anim calcmode="lin" valueType="num">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cBhvr additive="base">
                                            <p:cTn id="27" dur="500" fill="hold"/>
                                            <p:tgtEl>
                                              <p:spTgt spid="61"/>
                                            </p:tgtEl>
                                            <p:attrNameLst>
                                              <p:attrName>ppt_x</p:attrName>
                                            </p:attrNameLst>
                                          </p:cBhvr>
                                          <p:tavLst>
                                            <p:tav tm="0">
                                              <p:val>
                                                <p:strVal val="1+#ppt_w/2"/>
                                              </p:val>
                                            </p:tav>
                                            <p:tav tm="100000">
                                              <p:val>
                                                <p:strVal val="#ppt_x"/>
                                              </p:val>
                                            </p:tav>
                                          </p:tavLst>
                                        </p:anim>
                                        <p:anim calcmode="lin" valueType="num">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cBhvr additive="base">
                                            <p:cTn id="31" dur="500" fill="hold"/>
                                            <p:tgtEl>
                                              <p:spTgt spid="73"/>
                                            </p:tgtEl>
                                            <p:attrNameLst>
                                              <p:attrName>ppt_x</p:attrName>
                                            </p:attrNameLst>
                                          </p:cBhvr>
                                          <p:tavLst>
                                            <p:tav tm="0">
                                              <p:val>
                                                <p:strVal val="1+#ppt_w/2"/>
                                              </p:val>
                                            </p:tav>
                                            <p:tav tm="100000">
                                              <p:val>
                                                <p:strVal val="#ppt_x"/>
                                              </p:val>
                                            </p:tav>
                                          </p:tavLst>
                                        </p:anim>
                                        <p:anim calcmode="lin" valueType="num">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271515" y="46196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网络配置</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8" name="Text Box 44"/>
          <p:cNvSpPr txBox="1">
            <a:spLocks noChangeArrowheads="1"/>
          </p:cNvSpPr>
          <p:nvPr/>
        </p:nvSpPr>
        <p:spPr bwMode="auto">
          <a:xfrm>
            <a:off x="5376107" y="1701688"/>
            <a:ext cx="6119086" cy="378565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en-US" altLang="zh-CN" sz="2400" dirty="0" err="1">
                <a:solidFill>
                  <a:srgbClr val="FF0000"/>
                </a:solidFill>
              </a:rPr>
              <a:t>Vmware</a:t>
            </a:r>
            <a:r>
              <a:rPr lang="zh-CN" altLang="en-US" sz="2400" dirty="0">
                <a:solidFill>
                  <a:srgbClr val="FF0000"/>
                </a:solidFill>
              </a:rPr>
              <a:t>网络配置</a:t>
            </a:r>
            <a:endParaRPr lang="en-US" altLang="zh-CN" sz="2400" dirty="0">
              <a:solidFill>
                <a:srgbClr val="FF0000"/>
              </a:solidFill>
            </a:endParaRPr>
          </a:p>
          <a:p>
            <a:pPr indent="0">
              <a:lnSpc>
                <a:spcPct val="200000"/>
              </a:lnSpc>
            </a:pPr>
            <a:r>
              <a:rPr lang="en-US" altLang="zh-CN" sz="2400" dirty="0" err="1">
                <a:solidFill>
                  <a:srgbClr val="1353A2"/>
                </a:solidFill>
              </a:rPr>
              <a:t>Vmware</a:t>
            </a:r>
            <a:r>
              <a:rPr lang="zh-CN" altLang="en-US" sz="2400" dirty="0">
                <a:solidFill>
                  <a:srgbClr val="1353A2"/>
                </a:solidFill>
              </a:rPr>
              <a:t>提供了虚拟网络功能，可以很方便地进行网络环境部署。在</a:t>
            </a:r>
            <a:r>
              <a:rPr lang="en-US" altLang="zh-CN" sz="2400" dirty="0" err="1">
                <a:solidFill>
                  <a:srgbClr val="1353A2"/>
                </a:solidFill>
              </a:rPr>
              <a:t>Vmware</a:t>
            </a:r>
            <a:r>
              <a:rPr lang="zh-CN" altLang="en-US" sz="2400" dirty="0">
                <a:solidFill>
                  <a:srgbClr val="1353A2"/>
                </a:solidFill>
              </a:rPr>
              <a:t>主界面菜单栏中点击</a:t>
            </a:r>
            <a:r>
              <a:rPr lang="en-US" altLang="zh-CN" sz="2400" dirty="0">
                <a:solidFill>
                  <a:srgbClr val="1353A2"/>
                </a:solidFill>
              </a:rPr>
              <a:t>【</a:t>
            </a:r>
            <a:r>
              <a:rPr lang="zh-CN" altLang="en-US" sz="2400" dirty="0">
                <a:solidFill>
                  <a:srgbClr val="1353A2"/>
                </a:solidFill>
              </a:rPr>
              <a:t>编辑</a:t>
            </a:r>
            <a:r>
              <a:rPr lang="en-US" altLang="zh-CN" sz="2400" dirty="0">
                <a:solidFill>
                  <a:srgbClr val="1353A2"/>
                </a:solidFill>
              </a:rPr>
              <a:t>】-【</a:t>
            </a:r>
            <a:r>
              <a:rPr lang="zh-CN" altLang="en-US" sz="2400" dirty="0">
                <a:solidFill>
                  <a:srgbClr val="1353A2"/>
                </a:solidFill>
              </a:rPr>
              <a:t>虚拟网络配置</a:t>
            </a:r>
            <a:r>
              <a:rPr lang="en-US" altLang="zh-CN" sz="2400" dirty="0">
                <a:solidFill>
                  <a:srgbClr val="1353A2"/>
                </a:solidFill>
              </a:rPr>
              <a:t>】</a:t>
            </a:r>
            <a:r>
              <a:rPr lang="zh-CN" altLang="en-US" sz="2400" dirty="0">
                <a:solidFill>
                  <a:srgbClr val="1353A2"/>
                </a:solidFill>
              </a:rPr>
              <a:t>，可以查看网络配置。</a:t>
            </a:r>
            <a:endParaRPr lang="en-US" altLang="zh-CN" sz="2400" dirty="0">
              <a:solidFill>
                <a:srgbClr val="1353A2"/>
              </a:solidFill>
            </a:endParaRPr>
          </a:p>
        </p:txBody>
      </p:sp>
      <p:pic>
        <p:nvPicPr>
          <p:cNvPr id="1024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8993" y="2172810"/>
            <a:ext cx="4191000"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5"/>
          <p:cNvGrpSpPr/>
          <p:nvPr/>
        </p:nvGrpSpPr>
        <p:grpSpPr>
          <a:xfrm>
            <a:off x="840784" y="1268760"/>
            <a:ext cx="10654409" cy="1008112"/>
            <a:chOff x="395441" y="968316"/>
            <a:chExt cx="10210154" cy="1008112"/>
          </a:xfrm>
          <a:solidFill>
            <a:srgbClr val="1353A2"/>
          </a:solidFill>
        </p:grpSpPr>
        <p:sp>
          <p:nvSpPr>
            <p:cNvPr id="3"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4"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err="1">
                  <a:solidFill>
                    <a:schemeClr val="bg1"/>
                  </a:solidFill>
                </a:rPr>
                <a:t>Vmware</a:t>
              </a:r>
              <a:r>
                <a:rPr lang="zh-CN" altLang="en-US" sz="3200" b="1" dirty="0">
                  <a:solidFill>
                    <a:schemeClr val="bg1"/>
                  </a:solidFill>
                </a:rPr>
                <a:t>有三种网络模式</a:t>
              </a:r>
              <a:endParaRPr lang="en-US" altLang="zh-CN" sz="3200" b="1" dirty="0">
                <a:solidFill>
                  <a:schemeClr val="bg1"/>
                </a:solidFill>
              </a:endParaRPr>
            </a:p>
          </p:txBody>
        </p:sp>
        <p:pic>
          <p:nvPicPr>
            <p:cNvPr id="5" name="图片 4"/>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9" name="矩形 8"/>
          <p:cNvSpPr/>
          <p:nvPr/>
        </p:nvSpPr>
        <p:spPr>
          <a:xfrm>
            <a:off x="840784" y="2636602"/>
            <a:ext cx="1320221" cy="584775"/>
          </a:xfrm>
          <a:prstGeom prst="rect">
            <a:avLst/>
          </a:prstGeom>
          <a:solidFill>
            <a:srgbClr val="1353A2"/>
          </a:solidFill>
        </p:spPr>
        <p:txBody>
          <a:bodyPr wrap="squar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①</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7" name="对象 6"/>
          <p:cNvGraphicFramePr>
            <a:graphicFrameLocks noChangeAspect="1"/>
          </p:cNvGraphicFramePr>
          <p:nvPr/>
        </p:nvGraphicFramePr>
        <p:xfrm>
          <a:off x="2492679" y="2561446"/>
          <a:ext cx="5862181" cy="3105146"/>
        </p:xfrm>
        <a:graphic>
          <a:graphicData uri="http://schemas.openxmlformats.org/presentationml/2006/ole">
            <mc:AlternateContent xmlns:mc="http://schemas.openxmlformats.org/markup-compatibility/2006">
              <mc:Choice xmlns:v="urn:schemas-microsoft-com:vml" Requires="v">
                <p:oleObj spid="_x0000_s8" name="Visio" r:id="rId2" imgW="5359400" imgH="2844800" progId="Visio.Drawing.11">
                  <p:embed/>
                </p:oleObj>
              </mc:Choice>
              <mc:Fallback>
                <p:oleObj name="Visio" r:id="rId2" imgW="5359400" imgH="2844800" progId="Visio.Drawing.11">
                  <p:embed/>
                  <p:pic>
                    <p:nvPicPr>
                      <p:cNvPr id="0"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679" y="2561446"/>
                        <a:ext cx="5862181" cy="3105146"/>
                      </a:xfrm>
                      <a:prstGeom prst="rect">
                        <a:avLst/>
                      </a:prstGeom>
                      <a:noFill/>
                    </p:spPr>
                  </p:pic>
                </p:oleObj>
              </mc:Fallback>
            </mc:AlternateContent>
          </a:graphicData>
        </a:graphic>
      </p:graphicFrame>
      <p:sp>
        <p:nvSpPr>
          <p:cNvPr id="15" name="Text Box 44"/>
          <p:cNvSpPr txBox="1">
            <a:spLocks noChangeArrowheads="1"/>
          </p:cNvSpPr>
          <p:nvPr/>
        </p:nvSpPr>
        <p:spPr bwMode="auto">
          <a:xfrm>
            <a:off x="7971334" y="2390380"/>
            <a:ext cx="3214408" cy="71955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zh-CN" altLang="en-US" sz="2400" dirty="0">
                <a:solidFill>
                  <a:srgbClr val="FF0000"/>
                </a:solidFill>
              </a:rPr>
              <a:t>桥接模式</a:t>
            </a:r>
            <a:r>
              <a:rPr lang="en-US" altLang="zh-CN" sz="2400" dirty="0">
                <a:solidFill>
                  <a:srgbClr val="FF0000"/>
                </a:solidFill>
              </a:rPr>
              <a:t> VMnet0</a:t>
            </a:r>
            <a:endParaRPr lang="en-US" altLang="zh-CN" sz="2400" dirty="0">
              <a:solidFill>
                <a:srgbClr val="FF0000"/>
              </a:solidFill>
            </a:endParaRPr>
          </a:p>
        </p:txBody>
      </p:sp>
      <p:sp>
        <p:nvSpPr>
          <p:cNvPr id="10"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4"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TextBox 1"/>
          <p:cNvSpPr txBox="1"/>
          <p:nvPr/>
        </p:nvSpPr>
        <p:spPr>
          <a:xfrm>
            <a:off x="2271515" y="46196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1.3.1</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网络模式</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11" name="矩形 10"/>
          <p:cNvSpPr/>
          <p:nvPr/>
        </p:nvSpPr>
        <p:spPr>
          <a:xfrm>
            <a:off x="5898515" y="5243195"/>
            <a:ext cx="5193030" cy="92202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虚拟机物理机连接</a:t>
            </a:r>
            <a:r>
              <a:rPr lang="zh-CN" altLang="en-US" dirty="0">
                <a:solidFill>
                  <a:srgbClr val="FF0000"/>
                </a:solidFill>
                <a:latin typeface="微软雅黑" panose="020B0503020204020204" pitchFamily="34" charset="-122"/>
                <a:ea typeface="微软雅黑" panose="020B0503020204020204" pitchFamily="34" charset="-122"/>
              </a:rPr>
              <a:t>同一局域网（</a:t>
            </a:r>
            <a:r>
              <a:rPr lang="zh-CN" altLang="en-US" dirty="0">
                <a:solidFill>
                  <a:srgbClr val="FF0000"/>
                </a:solidFill>
                <a:latin typeface="微软雅黑" panose="020B0503020204020204" pitchFamily="34" charset="-122"/>
                <a:ea typeface="微软雅黑" panose="020B0503020204020204" pitchFamily="34" charset="-122"/>
              </a:rPr>
              <a:t>一个网络）</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indent="457200" defTabSz="720725">
              <a:lnSpc>
                <a:spcPct val="150000"/>
              </a:lnSpc>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2.IP</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地址处于</a:t>
            </a:r>
            <a:r>
              <a:rPr lang="zh-CN" altLang="en-US" dirty="0">
                <a:solidFill>
                  <a:srgbClr val="FF0000"/>
                </a:solidFill>
                <a:latin typeface="微软雅黑" panose="020B0503020204020204" pitchFamily="34" charset="-122"/>
                <a:ea typeface="微软雅黑" panose="020B0503020204020204" pitchFamily="34" charset="-122"/>
              </a:rPr>
              <a:t>同一网段</a:t>
            </a:r>
            <a:endParaRPr lang="zh-CN" altLang="en-US"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15"/>
                                        </p:tgtEl>
                                      </p:cBhvr>
                                    </p:animEffect>
                                    <p:animScale>
                                      <p:cBhvr>
                                        <p:cTn id="10" dur="250" autoRev="1" fill="hold"/>
                                        <p:tgtEl>
                                          <p:spTgt spid="15"/>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9"/>
                                        </p:tgtEl>
                                      </p:cBhvr>
                                    </p:animEffect>
                                    <p:animScale>
                                      <p:cBhvr>
                                        <p:cTn id="13" dur="250" autoRev="1" fill="hold"/>
                                        <p:tgtEl>
                                          <p:spTgt spid="9"/>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7"/>
                                        </p:tgtEl>
                                        <p:attrNameLst>
                                          <p:attrName>style.visibility</p:attrName>
                                        </p:attrNameLst>
                                      </p:cBhvr>
                                      <p:to>
                                        <p:strVal val="hidden"/>
                                      </p:to>
                                    </p:set>
                                  </p:childTnLst>
                                </p:cTn>
                              </p:par>
                              <p:par>
                                <p:cTn id="18" presetID="1" presetClass="exit" presetSubtype="0" fill="hold" grpId="1" nodeType="withEffect">
                                  <p:stCondLst>
                                    <p:cond delay="0"/>
                                  </p:stCondLst>
                                  <p:childTnLst>
                                    <p:set>
                                      <p:cBhvr>
                                        <p:cTn id="19"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p:bldP spid="15"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5"/>
          <p:cNvGrpSpPr/>
          <p:nvPr/>
        </p:nvGrpSpPr>
        <p:grpSpPr>
          <a:xfrm>
            <a:off x="840784" y="1268760"/>
            <a:ext cx="10654409" cy="1008112"/>
            <a:chOff x="395441" y="968316"/>
            <a:chExt cx="10210154" cy="1008112"/>
          </a:xfrm>
          <a:solidFill>
            <a:srgbClr val="1353A2"/>
          </a:solidFill>
        </p:grpSpPr>
        <p:sp>
          <p:nvSpPr>
            <p:cNvPr id="3"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4"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err="1">
                  <a:solidFill>
                    <a:schemeClr val="bg1"/>
                  </a:solidFill>
                </a:rPr>
                <a:t>Vmware</a:t>
              </a:r>
              <a:r>
                <a:rPr lang="zh-CN" altLang="en-US" sz="3200" b="1" dirty="0">
                  <a:solidFill>
                    <a:schemeClr val="bg1"/>
                  </a:solidFill>
                </a:rPr>
                <a:t>有三种网络模式</a:t>
              </a:r>
              <a:endParaRPr lang="en-US" altLang="zh-CN" sz="3200" b="1" dirty="0">
                <a:solidFill>
                  <a:schemeClr val="bg1"/>
                </a:solidFill>
              </a:endParaRPr>
            </a:p>
          </p:txBody>
        </p:sp>
        <p:pic>
          <p:nvPicPr>
            <p:cNvPr id="5" name="图片 4"/>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11" name="矩形 10"/>
          <p:cNvSpPr/>
          <p:nvPr/>
        </p:nvSpPr>
        <p:spPr>
          <a:xfrm>
            <a:off x="835565" y="3835472"/>
            <a:ext cx="1320221" cy="584775"/>
          </a:xfrm>
          <a:prstGeom prst="rect">
            <a:avLst/>
          </a:prstGeom>
          <a:solidFill>
            <a:srgbClr val="1353A2"/>
          </a:solidFill>
        </p:spPr>
        <p:txBody>
          <a:bodyPr wrap="squar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②</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4"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TextBox 1"/>
          <p:cNvSpPr txBox="1"/>
          <p:nvPr/>
        </p:nvSpPr>
        <p:spPr>
          <a:xfrm>
            <a:off x="2271515" y="46196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1.3.1</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网络模式</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aphicFrame>
        <p:nvGraphicFramePr>
          <p:cNvPr id="10" name="对象 9"/>
          <p:cNvGraphicFramePr>
            <a:graphicFrameLocks noChangeAspect="1"/>
          </p:cNvGraphicFramePr>
          <p:nvPr/>
        </p:nvGraphicFramePr>
        <p:xfrm>
          <a:off x="2447741" y="2805878"/>
          <a:ext cx="6784470" cy="2619240"/>
        </p:xfrm>
        <a:graphic>
          <a:graphicData uri="http://schemas.openxmlformats.org/presentationml/2006/ole">
            <mc:AlternateContent xmlns:mc="http://schemas.openxmlformats.org/markup-compatibility/2006">
              <mc:Choice xmlns:v="urn:schemas-microsoft-com:vml" Requires="v">
                <p:oleObj spid="_x0000_s7" name="Visio" r:id="rId2" imgW="6769100" imgH="2616200" progId="Visio.Drawing.11">
                  <p:embed/>
                </p:oleObj>
              </mc:Choice>
              <mc:Fallback>
                <p:oleObj name="Visio" r:id="rId2" imgW="6769100" imgH="2616200" progId="Visio.Drawing.11">
                  <p:embed/>
                  <p:pic>
                    <p:nvPicPr>
                      <p:cNvPr id="0" name="对象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7741" y="2805878"/>
                        <a:ext cx="6784470" cy="2619240"/>
                      </a:xfrm>
                      <a:prstGeom prst="rect">
                        <a:avLst/>
                      </a:prstGeom>
                      <a:noFill/>
                    </p:spPr>
                  </p:pic>
                </p:oleObj>
              </mc:Fallback>
            </mc:AlternateContent>
          </a:graphicData>
        </a:graphic>
      </p:graphicFrame>
      <p:sp>
        <p:nvSpPr>
          <p:cNvPr id="13" name="Text Box 44"/>
          <p:cNvSpPr txBox="1">
            <a:spLocks noChangeArrowheads="1"/>
          </p:cNvSpPr>
          <p:nvPr/>
        </p:nvSpPr>
        <p:spPr bwMode="auto">
          <a:xfrm>
            <a:off x="7971334" y="3647680"/>
            <a:ext cx="3214408" cy="71955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en-US" altLang="zh-CN" sz="2400" dirty="0">
                <a:solidFill>
                  <a:srgbClr val="FF0000"/>
                </a:solidFill>
              </a:rPr>
              <a:t>NAT</a:t>
            </a:r>
            <a:r>
              <a:rPr lang="zh-CN" altLang="en-US" sz="2400" dirty="0">
                <a:solidFill>
                  <a:srgbClr val="FF0000"/>
                </a:solidFill>
              </a:rPr>
              <a:t>模式 </a:t>
            </a:r>
            <a:r>
              <a:rPr lang="en-US" altLang="zh-CN" sz="2400" dirty="0">
                <a:solidFill>
                  <a:srgbClr val="FF0000"/>
                </a:solidFill>
              </a:rPr>
              <a:t>VMnet8</a:t>
            </a:r>
            <a:endParaRPr lang="en-US" altLang="zh-CN" sz="2400" dirty="0">
              <a:solidFill>
                <a:srgbClr val="FF0000"/>
              </a:solidFill>
            </a:endParaRPr>
          </a:p>
        </p:txBody>
      </p:sp>
      <p:sp>
        <p:nvSpPr>
          <p:cNvPr id="16" name="矩形 15"/>
          <p:cNvSpPr/>
          <p:nvPr/>
        </p:nvSpPr>
        <p:spPr>
          <a:xfrm>
            <a:off x="807720" y="5514340"/>
            <a:ext cx="10461625" cy="92202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虚拟网卡</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VMnet8</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和虚拟</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NAT</a:t>
            </a:r>
            <a:r>
              <a:rPr lang="zh-CN" altLang="en-US" dirty="0">
                <a:solidFill>
                  <a:srgbClr val="FF0000"/>
                </a:solidFill>
                <a:latin typeface="微软雅黑" panose="020B0503020204020204" pitchFamily="34" charset="-122"/>
                <a:ea typeface="微软雅黑" panose="020B0503020204020204" pitchFamily="34" charset="-122"/>
              </a:rPr>
              <a:t>共享同一</a:t>
            </a:r>
            <a:r>
              <a:rPr lang="en-US" altLang="zh-CN" dirty="0">
                <a:solidFill>
                  <a:srgbClr val="FF0000"/>
                </a:solidFill>
                <a:latin typeface="微软雅黑" panose="020B0503020204020204" pitchFamily="34" charset="-122"/>
                <a:ea typeface="微软雅黑" panose="020B0503020204020204" pitchFamily="34" charset="-122"/>
              </a:rPr>
              <a:t>IP</a:t>
            </a:r>
            <a:r>
              <a:rPr lang="zh-CN" altLang="en-US" dirty="0">
                <a:solidFill>
                  <a:srgbClr val="FF0000"/>
                </a:solidFill>
                <a:latin typeface="微软雅黑" panose="020B0503020204020204" pitchFamily="34" charset="-122"/>
                <a:ea typeface="微软雅黑" panose="020B0503020204020204" pitchFamily="34" charset="-122"/>
              </a:rPr>
              <a:t>地址</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；物理机可上网则虚拟机可上网；</a:t>
            </a:r>
            <a:r>
              <a:rPr lang="zh-CN" altLang="en-US" dirty="0">
                <a:solidFill>
                  <a:srgbClr val="FF0000"/>
                </a:solidFill>
                <a:latin typeface="微软雅黑" panose="020B0503020204020204" pitchFamily="34" charset="-122"/>
                <a:ea typeface="微软雅黑" panose="020B0503020204020204" pitchFamily="34" charset="-122"/>
              </a:rPr>
              <a:t>（两个网络）</a:t>
            </a:r>
            <a:endParaRPr lang="en-US" altLang="zh-CN" dirty="0">
              <a:solidFill>
                <a:srgbClr val="FF0000"/>
              </a:solidFill>
              <a:latin typeface="微软雅黑" panose="020B0503020204020204" pitchFamily="34" charset="-122"/>
              <a:ea typeface="微软雅黑" panose="020B0503020204020204" pitchFamily="34" charset="-122"/>
            </a:endParaRPr>
          </a:p>
          <a:p>
            <a:pPr indent="457200" defTabSz="720725">
              <a:lnSpc>
                <a:spcPct val="150000"/>
              </a:lnSpc>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两条访问通路，虚拟机访问网络（</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NAT</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）；虚拟机物理机直接相互访问（虚拟网卡</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VMnet8</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par>
                                <p:cTn id="15" presetID="26" presetClass="emph" presetSubtype="0" fill="hold" grpId="0" nodeType="withEffect">
                                  <p:stCondLst>
                                    <p:cond delay="0"/>
                                  </p:stCondLst>
                                  <p:childTnLst>
                                    <p:animEffect transition="out" filter="fade">
                                      <p:cBhvr>
                                        <p:cTn id="16" dur="500" tmFilter="0, 0; .2, .5; .8, .5; 1, 0"/>
                                        <p:tgtEl>
                                          <p:spTgt spid="13"/>
                                        </p:tgtEl>
                                      </p:cBhvr>
                                    </p:animEffect>
                                    <p:animScale>
                                      <p:cBhvr>
                                        <p:cTn id="17" dur="250" autoRev="1" fill="hold"/>
                                        <p:tgtEl>
                                          <p:spTgt spid="13"/>
                                        </p:tgtEl>
                                      </p:cBhvr>
                                      <p:by x="105000" y="105000"/>
                                    </p:animScale>
                                  </p:childTnLst>
                                </p:cTn>
                              </p:par>
                              <p:par>
                                <p:cTn id="18" presetID="1" presetClass="exit" presetSubtype="0" fill="hold" grpId="1" nodeType="withEffect">
                                  <p:stCondLst>
                                    <p:cond delay="0"/>
                                  </p:stCondLst>
                                  <p:childTnLst>
                                    <p:set>
                                      <p:cBhvr>
                                        <p:cTn id="19"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13"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5"/>
          <p:cNvGrpSpPr/>
          <p:nvPr/>
        </p:nvGrpSpPr>
        <p:grpSpPr>
          <a:xfrm>
            <a:off x="840784" y="1268760"/>
            <a:ext cx="10654409" cy="1008112"/>
            <a:chOff x="395441" y="968316"/>
            <a:chExt cx="10210154" cy="1008112"/>
          </a:xfrm>
          <a:solidFill>
            <a:srgbClr val="1353A2"/>
          </a:solidFill>
        </p:grpSpPr>
        <p:sp>
          <p:nvSpPr>
            <p:cNvPr id="3"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4"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err="1">
                  <a:solidFill>
                    <a:schemeClr val="bg1"/>
                  </a:solidFill>
                </a:rPr>
                <a:t>Vmware</a:t>
              </a:r>
              <a:r>
                <a:rPr lang="zh-CN" altLang="en-US" sz="3200" b="1" dirty="0">
                  <a:solidFill>
                    <a:schemeClr val="bg1"/>
                  </a:solidFill>
                </a:rPr>
                <a:t>有三种网络模式</a:t>
              </a:r>
              <a:endParaRPr lang="en-US" altLang="zh-CN" sz="3200" b="1" dirty="0">
                <a:solidFill>
                  <a:schemeClr val="bg1"/>
                </a:solidFill>
              </a:endParaRPr>
            </a:p>
          </p:txBody>
        </p:sp>
        <p:pic>
          <p:nvPicPr>
            <p:cNvPr id="5" name="图片 4"/>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12" name="矩形 11"/>
          <p:cNvSpPr/>
          <p:nvPr/>
        </p:nvSpPr>
        <p:spPr>
          <a:xfrm>
            <a:off x="840784" y="4963455"/>
            <a:ext cx="1320221" cy="584775"/>
          </a:xfrm>
          <a:prstGeom prst="rect">
            <a:avLst/>
          </a:prstGeom>
          <a:solidFill>
            <a:srgbClr val="1353A2"/>
          </a:solidFill>
        </p:spPr>
        <p:txBody>
          <a:bodyPr wrap="squar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③</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Text Box 44"/>
          <p:cNvSpPr txBox="1">
            <a:spLocks noChangeArrowheads="1"/>
          </p:cNvSpPr>
          <p:nvPr/>
        </p:nvSpPr>
        <p:spPr bwMode="auto">
          <a:xfrm>
            <a:off x="7634252" y="5126529"/>
            <a:ext cx="3675098" cy="71955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zh-CN" altLang="en-US" sz="2400" dirty="0">
                <a:solidFill>
                  <a:srgbClr val="FF0000"/>
                </a:solidFill>
              </a:rPr>
              <a:t>仅主机模式 </a:t>
            </a:r>
            <a:r>
              <a:rPr lang="en-US" altLang="zh-CN" sz="2400" dirty="0">
                <a:solidFill>
                  <a:srgbClr val="FF0000"/>
                </a:solidFill>
              </a:rPr>
              <a:t>VMnet1</a:t>
            </a:r>
            <a:endParaRPr lang="en-US" altLang="zh-CN" sz="2400" dirty="0">
              <a:solidFill>
                <a:srgbClr val="FF0000"/>
              </a:solidFill>
            </a:endParaRPr>
          </a:p>
        </p:txBody>
      </p:sp>
      <p:sp>
        <p:nvSpPr>
          <p:cNvPr id="8"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4"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1" name="TextBox 1"/>
          <p:cNvSpPr txBox="1"/>
          <p:nvPr/>
        </p:nvSpPr>
        <p:spPr>
          <a:xfrm>
            <a:off x="2271515" y="46196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1.3.1</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网络模式</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aphicFrame>
        <p:nvGraphicFramePr>
          <p:cNvPr id="10" name="对象 9"/>
          <p:cNvGraphicFramePr>
            <a:graphicFrameLocks noChangeAspect="1"/>
          </p:cNvGraphicFramePr>
          <p:nvPr/>
        </p:nvGraphicFramePr>
        <p:xfrm>
          <a:off x="2309955" y="3225975"/>
          <a:ext cx="7059655" cy="2322255"/>
        </p:xfrm>
        <a:graphic>
          <a:graphicData uri="http://schemas.openxmlformats.org/presentationml/2006/ole">
            <mc:AlternateContent xmlns:mc="http://schemas.openxmlformats.org/markup-compatibility/2006">
              <mc:Choice xmlns:v="urn:schemas-microsoft-com:vml" Requires="v">
                <p:oleObj spid="_x0000_s7" name="Visio" r:id="rId2" imgW="6769100" imgH="2235200" progId="Visio.Drawing.11">
                  <p:embed/>
                </p:oleObj>
              </mc:Choice>
              <mc:Fallback>
                <p:oleObj name="Visio" r:id="rId2" imgW="6769100" imgH="2235200" progId="Visio.Drawing.11">
                  <p:embed/>
                  <p:pic>
                    <p:nvPicPr>
                      <p:cNvPr id="0" name="对象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9955" y="3225975"/>
                        <a:ext cx="7059655" cy="2322255"/>
                      </a:xfrm>
                      <a:prstGeom prst="rect">
                        <a:avLst/>
                      </a:prstGeom>
                      <a:noFill/>
                    </p:spPr>
                  </p:pic>
                </p:oleObj>
              </mc:Fallback>
            </mc:AlternateContent>
          </a:graphicData>
        </a:graphic>
      </p:graphicFrame>
      <p:sp>
        <p:nvSpPr>
          <p:cNvPr id="13" name="矩形 12"/>
          <p:cNvSpPr/>
          <p:nvPr/>
        </p:nvSpPr>
        <p:spPr>
          <a:xfrm>
            <a:off x="6927215" y="2472690"/>
            <a:ext cx="4850765" cy="1337945"/>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与</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NAT</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相似，但无</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NAT</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（两个网络）</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indent="457200" defTabSz="720725">
              <a:lnSpc>
                <a:spcPct val="150000"/>
              </a:lnSpc>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物理机能上网，但虚拟机无法上网</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a:p>
            <a:pPr indent="457200" defTabSz="720725">
              <a:lnSpc>
                <a:spcPct val="150000"/>
              </a:lnSpc>
            </a:pP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 在</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rPr>
              <a:t>VMnet1</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内相互访问</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down)">
                                      <p:cBhvr>
                                        <p:cTn id="10" dur="500"/>
                                        <p:tgtEl>
                                          <p:spTgt spid="18"/>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95705" y="474064"/>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1.3.2</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模式更改</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8" name="TextBox 30"/>
          <p:cNvSpPr txBox="1"/>
          <p:nvPr/>
        </p:nvSpPr>
        <p:spPr>
          <a:xfrm>
            <a:off x="622693" y="1181485"/>
            <a:ext cx="3558883" cy="5026889"/>
          </a:xfrm>
          <a:prstGeom prst="rect">
            <a:avLst/>
          </a:prstGeom>
          <a:noFill/>
        </p:spPr>
        <p:txBody>
          <a:bodyPr wrap="square" lIns="0" rtlCol="0">
            <a:spAutoFit/>
          </a:bodyPr>
          <a:lstStyle/>
          <a:p>
            <a:pPr indent="457200">
              <a:lnSpc>
                <a:spcPct val="135000"/>
              </a:lnSpc>
            </a:pPr>
            <a:r>
              <a:rPr lang="zh-CN" altLang="en-US" sz="2400" dirty="0">
                <a:solidFill>
                  <a:srgbClr val="1353A2"/>
                </a:solidFill>
                <a:latin typeface="微软雅黑" panose="020B0503020204020204" pitchFamily="34" charset="-122"/>
                <a:ea typeface="微软雅黑" panose="020B0503020204020204" pitchFamily="34" charset="-122"/>
              </a:rPr>
              <a:t>在</a:t>
            </a:r>
            <a:r>
              <a:rPr lang="en-US" altLang="zh-CN" sz="2400" dirty="0" err="1">
                <a:solidFill>
                  <a:srgbClr val="1353A2"/>
                </a:solidFill>
                <a:latin typeface="微软雅黑" panose="020B0503020204020204" pitchFamily="34" charset="-122"/>
                <a:ea typeface="微软雅黑" panose="020B0503020204020204" pitchFamily="34" charset="-122"/>
              </a:rPr>
              <a:t>Vmware</a:t>
            </a:r>
            <a:r>
              <a:rPr lang="zh-CN" altLang="en-US" sz="2400" dirty="0">
                <a:solidFill>
                  <a:srgbClr val="1353A2"/>
                </a:solidFill>
                <a:latin typeface="微软雅黑" panose="020B0503020204020204" pitchFamily="34" charset="-122"/>
                <a:ea typeface="微软雅黑" panose="020B0503020204020204" pitchFamily="34" charset="-122"/>
              </a:rPr>
              <a:t>中，桥接、</a:t>
            </a:r>
            <a:r>
              <a:rPr lang="en-US" altLang="zh-CN" sz="2400" dirty="0">
                <a:solidFill>
                  <a:srgbClr val="1353A2"/>
                </a:solidFill>
                <a:latin typeface="微软雅黑" panose="020B0503020204020204" pitchFamily="34" charset="-122"/>
                <a:ea typeface="微软雅黑" panose="020B0503020204020204" pitchFamily="34" charset="-122"/>
              </a:rPr>
              <a:t>NAT</a:t>
            </a:r>
            <a:r>
              <a:rPr lang="zh-CN" altLang="en-US" sz="2400" dirty="0">
                <a:solidFill>
                  <a:srgbClr val="1353A2"/>
                </a:solidFill>
                <a:latin typeface="微软雅黑" panose="020B0503020204020204" pitchFamily="34" charset="-122"/>
                <a:ea typeface="微软雅黑" panose="020B0503020204020204" pitchFamily="34" charset="-122"/>
              </a:rPr>
              <a:t>和仅主机三种模式是共存的，但一台虚拟机只能使用一种模式。用户可在</a:t>
            </a:r>
            <a:r>
              <a:rPr lang="en-US" altLang="zh-CN" sz="2400" dirty="0" err="1">
                <a:solidFill>
                  <a:srgbClr val="1353A2"/>
                </a:solidFill>
                <a:latin typeface="微软雅黑" panose="020B0503020204020204" pitchFamily="34" charset="-122"/>
                <a:ea typeface="微软雅黑" panose="020B0503020204020204" pitchFamily="34" charset="-122"/>
              </a:rPr>
              <a:t>Vmware</a:t>
            </a:r>
            <a:r>
              <a:rPr lang="zh-CN" altLang="en-US" sz="2400" dirty="0">
                <a:solidFill>
                  <a:srgbClr val="1353A2"/>
                </a:solidFill>
                <a:latin typeface="微软雅黑" panose="020B0503020204020204" pitchFamily="34" charset="-122"/>
                <a:ea typeface="微软雅黑" panose="020B0503020204020204" pitchFamily="34" charset="-122"/>
              </a:rPr>
              <a:t>菜单中执行</a:t>
            </a:r>
            <a:r>
              <a:rPr lang="en-US" altLang="zh-CN" sz="2400" dirty="0">
                <a:solidFill>
                  <a:srgbClr val="1353A2"/>
                </a:solidFill>
                <a:latin typeface="微软雅黑" panose="020B0503020204020204" pitchFamily="34" charset="-122"/>
                <a:ea typeface="微软雅黑" panose="020B0503020204020204" pitchFamily="34" charset="-122"/>
              </a:rPr>
              <a:t>【</a:t>
            </a:r>
            <a:r>
              <a:rPr lang="zh-CN" altLang="en-US" sz="2400" dirty="0">
                <a:solidFill>
                  <a:srgbClr val="1353A2"/>
                </a:solidFill>
                <a:latin typeface="微软雅黑" panose="020B0503020204020204" pitchFamily="34" charset="-122"/>
                <a:ea typeface="微软雅黑" panose="020B0503020204020204" pitchFamily="34" charset="-122"/>
              </a:rPr>
              <a:t>虚拟机</a:t>
            </a:r>
            <a:r>
              <a:rPr lang="en-US" altLang="zh-CN" sz="2400" dirty="0">
                <a:solidFill>
                  <a:srgbClr val="1353A2"/>
                </a:solidFill>
                <a:latin typeface="微软雅黑" panose="020B0503020204020204" pitchFamily="34" charset="-122"/>
                <a:ea typeface="微软雅黑" panose="020B0503020204020204" pitchFamily="34" charset="-122"/>
              </a:rPr>
              <a:t>】-【</a:t>
            </a:r>
            <a:r>
              <a:rPr lang="zh-CN" altLang="en-US" sz="2400" dirty="0">
                <a:solidFill>
                  <a:srgbClr val="1353A2"/>
                </a:solidFill>
                <a:latin typeface="微软雅黑" panose="020B0503020204020204" pitchFamily="34" charset="-122"/>
                <a:ea typeface="微软雅黑" panose="020B0503020204020204" pitchFamily="34" charset="-122"/>
              </a:rPr>
              <a:t>设置</a:t>
            </a:r>
            <a:r>
              <a:rPr lang="en-US" altLang="zh-CN" sz="2400" dirty="0">
                <a:solidFill>
                  <a:srgbClr val="1353A2"/>
                </a:solidFill>
                <a:latin typeface="微软雅黑" panose="020B0503020204020204" pitchFamily="34" charset="-122"/>
                <a:ea typeface="微软雅黑" panose="020B0503020204020204" pitchFamily="34" charset="-122"/>
              </a:rPr>
              <a:t>】</a:t>
            </a:r>
            <a:r>
              <a:rPr lang="zh-CN" altLang="en-US" sz="2400" dirty="0">
                <a:solidFill>
                  <a:srgbClr val="1353A2"/>
                </a:solidFill>
                <a:latin typeface="微软雅黑" panose="020B0503020204020204" pitchFamily="34" charset="-122"/>
                <a:ea typeface="微软雅黑" panose="020B0503020204020204" pitchFamily="34" charset="-122"/>
              </a:rPr>
              <a:t>，在弹出的“</a:t>
            </a:r>
            <a:r>
              <a:rPr lang="zh-CN" altLang="en-US" sz="2400" dirty="0">
                <a:solidFill>
                  <a:srgbClr val="FF0000"/>
                </a:solidFill>
                <a:latin typeface="微软雅黑" panose="020B0503020204020204" pitchFamily="34" charset="-122"/>
                <a:ea typeface="微软雅黑" panose="020B0503020204020204" pitchFamily="34" charset="-122"/>
              </a:rPr>
              <a:t>虚拟机设置</a:t>
            </a:r>
            <a:r>
              <a:rPr lang="zh-CN" altLang="en-US" sz="2400" dirty="0">
                <a:solidFill>
                  <a:srgbClr val="1353A2"/>
                </a:solidFill>
                <a:latin typeface="微软雅黑" panose="020B0503020204020204" pitchFamily="34" charset="-122"/>
                <a:ea typeface="微软雅黑" panose="020B0503020204020204" pitchFamily="34" charset="-122"/>
              </a:rPr>
              <a:t>”对话框中选择</a:t>
            </a:r>
            <a:r>
              <a:rPr lang="en-US" altLang="zh-CN" sz="2400" dirty="0">
                <a:solidFill>
                  <a:srgbClr val="1353A2"/>
                </a:solidFill>
                <a:latin typeface="微软雅黑" panose="020B0503020204020204" pitchFamily="34" charset="-122"/>
                <a:ea typeface="微软雅黑" panose="020B0503020204020204" pitchFamily="34" charset="-122"/>
              </a:rPr>
              <a:t>【</a:t>
            </a:r>
            <a:r>
              <a:rPr lang="zh-CN" altLang="en-US" sz="2400" dirty="0">
                <a:solidFill>
                  <a:srgbClr val="1353A2"/>
                </a:solidFill>
                <a:latin typeface="微软雅黑" panose="020B0503020204020204" pitchFamily="34" charset="-122"/>
                <a:ea typeface="微软雅黑" panose="020B0503020204020204" pitchFamily="34" charset="-122"/>
              </a:rPr>
              <a:t>网络适配器</a:t>
            </a:r>
            <a:r>
              <a:rPr lang="en-US" altLang="zh-CN" sz="2400" dirty="0">
                <a:solidFill>
                  <a:srgbClr val="1353A2"/>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查看</a:t>
            </a:r>
            <a:r>
              <a:rPr lang="zh-CN" altLang="en-US" sz="2400" dirty="0">
                <a:solidFill>
                  <a:srgbClr val="1353A2"/>
                </a:solidFill>
                <a:latin typeface="微软雅黑" panose="020B0503020204020204" pitchFamily="34" charset="-122"/>
                <a:ea typeface="微软雅黑" panose="020B0503020204020204" pitchFamily="34" charset="-122"/>
              </a:rPr>
              <a:t>或</a:t>
            </a:r>
            <a:r>
              <a:rPr lang="zh-CN" altLang="en-US" sz="2400" dirty="0">
                <a:solidFill>
                  <a:srgbClr val="FF0000"/>
                </a:solidFill>
                <a:latin typeface="微软雅黑" panose="020B0503020204020204" pitchFamily="34" charset="-122"/>
                <a:ea typeface="微软雅黑" panose="020B0503020204020204" pitchFamily="34" charset="-122"/>
              </a:rPr>
              <a:t>更改</a:t>
            </a:r>
            <a:r>
              <a:rPr lang="zh-CN" altLang="en-US" sz="2400" dirty="0">
                <a:solidFill>
                  <a:srgbClr val="1353A2"/>
                </a:solidFill>
                <a:latin typeface="微软雅黑" panose="020B0503020204020204" pitchFamily="34" charset="-122"/>
                <a:ea typeface="微软雅黑" panose="020B0503020204020204" pitchFamily="34" charset="-122"/>
              </a:rPr>
              <a:t>网络模式。</a:t>
            </a:r>
            <a:r>
              <a:rPr lang="en-US" altLang="zh-CN" sz="2400" dirty="0">
                <a:solidFill>
                  <a:srgbClr val="1353A2"/>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虚拟机关机下操作</a:t>
            </a:r>
            <a:r>
              <a:rPr lang="en-US" altLang="zh-CN" sz="2400" dirty="0">
                <a:solidFill>
                  <a:srgbClr val="1353A2"/>
                </a:solidFill>
                <a:latin typeface="微软雅黑" panose="020B0503020204020204" pitchFamily="34" charset="-122"/>
                <a:ea typeface="微软雅黑" panose="020B0503020204020204" pitchFamily="34" charset="-122"/>
              </a:rPr>
              <a:t>)</a:t>
            </a:r>
            <a:endParaRPr lang="zh-CN" altLang="en-US" sz="2400" dirty="0">
              <a:solidFill>
                <a:srgbClr val="1353A2"/>
              </a:solidFill>
              <a:latin typeface="微软雅黑" panose="020B0503020204020204" pitchFamily="34" charset="-122"/>
              <a:ea typeface="微软雅黑" panose="020B0503020204020204" pitchFamily="34" charset="-122"/>
            </a:endParaRPr>
          </a:p>
        </p:txBody>
      </p:sp>
      <p:sp>
        <p:nvSpPr>
          <p:cNvPr id="11" name="虚尾箭头 10"/>
          <p:cNvSpPr/>
          <p:nvPr/>
        </p:nvSpPr>
        <p:spPr>
          <a:xfrm>
            <a:off x="4271853" y="3104964"/>
            <a:ext cx="593343" cy="648072"/>
          </a:xfrm>
          <a:prstGeom prst="stripedRightArrow">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pic>
        <p:nvPicPr>
          <p:cNvPr id="4" name="图片 3"/>
          <p:cNvPicPr>
            <a:picLocks noChangeAspect="1"/>
          </p:cNvPicPr>
          <p:nvPr/>
        </p:nvPicPr>
        <p:blipFill>
          <a:blip r:embed="rId1"/>
          <a:stretch>
            <a:fillRect/>
          </a:stretch>
        </p:blipFill>
        <p:spPr>
          <a:xfrm>
            <a:off x="4955472" y="1349324"/>
            <a:ext cx="6712295" cy="4375375"/>
          </a:xfrm>
          <a:prstGeom prst="rect">
            <a:avLst/>
          </a:prstGeom>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iterate type="wd">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450" decel="100000" fill="hold"/>
                                        <p:tgtEl>
                                          <p:spTgt spid="8"/>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par>
                          <p:cTn id="11" fill="hold">
                            <p:stCondLst>
                              <p:cond delay="6099"/>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32422"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网络配置</a:t>
            </a:r>
            <a:endParaRPr lang="zh-CN" altLang="en-US" sz="24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4" name="Text Box 44"/>
          <p:cNvSpPr txBox="1">
            <a:spLocks noChangeArrowheads="1"/>
          </p:cNvSpPr>
          <p:nvPr/>
        </p:nvSpPr>
        <p:spPr bwMode="auto">
          <a:xfrm>
            <a:off x="578636" y="1339394"/>
            <a:ext cx="4319039" cy="145822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lnSpc>
                <a:spcPct val="200000"/>
              </a:lnSpc>
            </a:pPr>
            <a:r>
              <a:rPr lang="zh-CN" altLang="en-US" sz="2400" dirty="0">
                <a:solidFill>
                  <a:srgbClr val="1353A2"/>
                </a:solidFill>
              </a:rPr>
              <a:t>①用户可通过“</a:t>
            </a:r>
            <a:r>
              <a:rPr lang="en-US" altLang="zh-CN" sz="2400" dirty="0" err="1">
                <a:solidFill>
                  <a:srgbClr val="FF0000"/>
                </a:solidFill>
              </a:rPr>
              <a:t>ifconfig</a:t>
            </a:r>
            <a:r>
              <a:rPr lang="zh-CN" altLang="en-US" sz="2400" dirty="0">
                <a:solidFill>
                  <a:srgbClr val="1353A2"/>
                </a:solidFill>
              </a:rPr>
              <a:t>”命令查看网卡。</a:t>
            </a:r>
            <a:endParaRPr lang="en-US" altLang="zh-CN" sz="2400" dirty="0">
              <a:solidFill>
                <a:srgbClr val="1353A2"/>
              </a:solidFill>
            </a:endParaRPr>
          </a:p>
        </p:txBody>
      </p:sp>
      <p:sp>
        <p:nvSpPr>
          <p:cNvPr id="11" name="矩形 10"/>
          <p:cNvSpPr/>
          <p:nvPr/>
        </p:nvSpPr>
        <p:spPr>
          <a:xfrm>
            <a:off x="578636" y="2614618"/>
            <a:ext cx="4205456" cy="156966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20725">
              <a:lnSpc>
                <a:spcPct val="200000"/>
              </a:lnSpc>
            </a:pPr>
            <a:r>
              <a:rPr lang="zh-CN" altLang="en-US" sz="2400" dirty="0">
                <a:solidFill>
                  <a:srgbClr val="1353A2"/>
                </a:solidFill>
                <a:latin typeface="微软雅黑" panose="020B0503020204020204" pitchFamily="34" charset="-122"/>
                <a:ea typeface="微软雅黑" panose="020B0503020204020204" pitchFamily="34" charset="-122"/>
              </a:rPr>
              <a:t>②由图可知，目前系统中有</a:t>
            </a:r>
            <a:r>
              <a:rPr lang="en-US" altLang="zh-CN" sz="2400" dirty="0">
                <a:solidFill>
                  <a:srgbClr val="1353A2"/>
                </a:solidFill>
                <a:latin typeface="微软雅黑" panose="020B0503020204020204" pitchFamily="34" charset="-122"/>
                <a:ea typeface="微软雅黑" panose="020B0503020204020204" pitchFamily="34" charset="-122"/>
              </a:rPr>
              <a:t>3</a:t>
            </a:r>
            <a:r>
              <a:rPr lang="zh-CN" altLang="en-US" sz="2400" dirty="0">
                <a:solidFill>
                  <a:srgbClr val="1353A2"/>
                </a:solidFill>
                <a:latin typeface="微软雅黑" panose="020B0503020204020204" pitchFamily="34" charset="-122"/>
                <a:ea typeface="微软雅黑" panose="020B0503020204020204" pitchFamily="34" charset="-122"/>
              </a:rPr>
              <a:t>个网卡。</a:t>
            </a:r>
            <a:endParaRPr lang="en-US" altLang="zh-CN" sz="2400" dirty="0">
              <a:solidFill>
                <a:srgbClr val="1353A2"/>
              </a:solidFill>
              <a:latin typeface="微软雅黑" panose="020B0503020204020204" pitchFamily="34" charset="-122"/>
              <a:ea typeface="微软雅黑" panose="020B0503020204020204" pitchFamily="34" charset="-122"/>
            </a:endParaRPr>
          </a:p>
        </p:txBody>
      </p:sp>
      <p:sp>
        <p:nvSpPr>
          <p:cNvPr id="12" name="矩形 11"/>
          <p:cNvSpPr/>
          <p:nvPr/>
        </p:nvSpPr>
        <p:spPr>
          <a:xfrm>
            <a:off x="578637" y="5096046"/>
            <a:ext cx="9566595" cy="830997"/>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20725">
              <a:lnSpc>
                <a:spcPct val="200000"/>
              </a:lnSpc>
            </a:pPr>
            <a:r>
              <a:rPr lang="zh-CN" altLang="en-US" sz="2400" dirty="0">
                <a:solidFill>
                  <a:srgbClr val="1353A2"/>
                </a:solidFill>
                <a:latin typeface="微软雅黑" panose="020B0503020204020204" pitchFamily="34" charset="-122"/>
                <a:ea typeface="微软雅黑" panose="020B0503020204020204" pitchFamily="34" charset="-122"/>
              </a:rPr>
              <a:t>④</a:t>
            </a:r>
            <a:r>
              <a:rPr lang="en-US" altLang="zh-CN" sz="2400" dirty="0">
                <a:solidFill>
                  <a:srgbClr val="1353A2"/>
                </a:solidFill>
                <a:latin typeface="微软雅黑" panose="020B0503020204020204" pitchFamily="34" charset="-122"/>
                <a:ea typeface="微软雅黑" panose="020B0503020204020204" pitchFamily="34" charset="-122"/>
              </a:rPr>
              <a:t>lo</a:t>
            </a:r>
            <a:r>
              <a:rPr lang="zh-CN" altLang="en-US" sz="2400" dirty="0">
                <a:solidFill>
                  <a:srgbClr val="1353A2"/>
                </a:solidFill>
                <a:latin typeface="微软雅黑" panose="020B0503020204020204" pitchFamily="34" charset="-122"/>
                <a:ea typeface="微软雅黑" panose="020B0503020204020204" pitchFamily="34" charset="-122"/>
              </a:rPr>
              <a:t>网卡用实现本机内部访问，</a:t>
            </a:r>
            <a:r>
              <a:rPr lang="en-US" altLang="zh-CN" sz="2400" dirty="0">
                <a:solidFill>
                  <a:srgbClr val="1353A2"/>
                </a:solidFill>
                <a:latin typeface="微软雅黑" panose="020B0503020204020204" pitchFamily="34" charset="-122"/>
                <a:ea typeface="微软雅黑" panose="020B0503020204020204" pitchFamily="34" charset="-122"/>
              </a:rPr>
              <a:t>IP</a:t>
            </a:r>
            <a:r>
              <a:rPr lang="zh-CN" altLang="en-US" sz="2400" dirty="0">
                <a:solidFill>
                  <a:srgbClr val="1353A2"/>
                </a:solidFill>
                <a:latin typeface="微软雅黑" panose="020B0503020204020204" pitchFamily="34" charset="-122"/>
                <a:ea typeface="微软雅黑" panose="020B0503020204020204" pitchFamily="34" charset="-122"/>
              </a:rPr>
              <a:t>地址为</a:t>
            </a:r>
            <a:r>
              <a:rPr lang="en-US" altLang="zh-CN" sz="2400" dirty="0">
                <a:solidFill>
                  <a:srgbClr val="FF0000"/>
                </a:solidFill>
                <a:latin typeface="微软雅黑" panose="020B0503020204020204" pitchFamily="34" charset="-122"/>
                <a:ea typeface="微软雅黑" panose="020B0503020204020204" pitchFamily="34" charset="-122"/>
              </a:rPr>
              <a:t>127.0.0.1</a:t>
            </a:r>
            <a:r>
              <a:rPr lang="zh-CN" altLang="en-US" sz="2400" dirty="0">
                <a:solidFill>
                  <a:srgbClr val="1353A2"/>
                </a:solidFill>
                <a:latin typeface="微软雅黑" panose="020B0503020204020204" pitchFamily="34" charset="-122"/>
                <a:ea typeface="微软雅黑" panose="020B0503020204020204" pitchFamily="34" charset="-122"/>
              </a:rPr>
              <a:t>（本机回送地址）</a:t>
            </a:r>
            <a:endParaRPr lang="en-US" altLang="zh-CN" sz="2400" dirty="0">
              <a:solidFill>
                <a:srgbClr val="1353A2"/>
              </a:solidFill>
              <a:latin typeface="微软雅黑" panose="020B0503020204020204" pitchFamily="34" charset="-122"/>
              <a:ea typeface="微软雅黑" panose="020B0503020204020204" pitchFamily="34" charset="-122"/>
            </a:endParaRPr>
          </a:p>
        </p:txBody>
      </p:sp>
      <p:sp>
        <p:nvSpPr>
          <p:cNvPr id="20" name="矩形 19"/>
          <p:cNvSpPr/>
          <p:nvPr/>
        </p:nvSpPr>
        <p:spPr>
          <a:xfrm>
            <a:off x="578636" y="3793104"/>
            <a:ext cx="4205456" cy="1569660"/>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20725">
              <a:lnSpc>
                <a:spcPct val="200000"/>
              </a:lnSpc>
            </a:pPr>
            <a:r>
              <a:rPr lang="zh-CN" altLang="en-US" sz="2400" dirty="0">
                <a:solidFill>
                  <a:srgbClr val="1353A2"/>
                </a:solidFill>
                <a:latin typeface="微软雅黑" panose="020B0503020204020204" pitchFamily="34" charset="-122"/>
                <a:ea typeface="微软雅黑" panose="020B0503020204020204" pitchFamily="34" charset="-122"/>
              </a:rPr>
              <a:t>③</a:t>
            </a:r>
            <a:r>
              <a:rPr lang="en-US" altLang="zh-CN" sz="2400" dirty="0">
                <a:solidFill>
                  <a:srgbClr val="1353A2"/>
                </a:solidFill>
                <a:latin typeface="微软雅黑" panose="020B0503020204020204" pitchFamily="34" charset="-122"/>
                <a:ea typeface="微软雅黑" panose="020B0503020204020204" pitchFamily="34" charset="-122"/>
              </a:rPr>
              <a:t>ens33</a:t>
            </a:r>
            <a:r>
              <a:rPr lang="zh-CN" altLang="en-US" sz="2400" dirty="0">
                <a:solidFill>
                  <a:srgbClr val="1353A2"/>
                </a:solidFill>
                <a:latin typeface="微软雅黑" panose="020B0503020204020204" pitchFamily="34" charset="-122"/>
                <a:ea typeface="微软雅黑" panose="020B0503020204020204" pitchFamily="34" charset="-122"/>
              </a:rPr>
              <a:t>用于访问</a:t>
            </a:r>
            <a:r>
              <a:rPr lang="zh-CN" altLang="en-US" sz="2400" dirty="0">
                <a:solidFill>
                  <a:srgbClr val="FF0000"/>
                </a:solidFill>
                <a:latin typeface="微软雅黑" panose="020B0503020204020204" pitchFamily="34" charset="-122"/>
                <a:ea typeface="微软雅黑" panose="020B0503020204020204" pitchFamily="34" charset="-122"/>
              </a:rPr>
              <a:t>外部</a:t>
            </a:r>
            <a:r>
              <a:rPr lang="zh-CN" altLang="en-US" sz="2400" dirty="0">
                <a:solidFill>
                  <a:srgbClr val="1353A2"/>
                </a:solidFill>
                <a:latin typeface="微软雅黑" panose="020B0503020204020204" pitchFamily="34" charset="-122"/>
                <a:ea typeface="微软雅黑" panose="020B0503020204020204" pitchFamily="34" charset="-122"/>
              </a:rPr>
              <a:t>网络，默认情况下关闭。</a:t>
            </a:r>
            <a:endParaRPr lang="en-US" altLang="zh-CN" sz="2400" dirty="0">
              <a:solidFill>
                <a:srgbClr val="1353A2"/>
              </a:solidFill>
              <a:latin typeface="微软雅黑" panose="020B0503020204020204" pitchFamily="34" charset="-122"/>
              <a:ea typeface="微软雅黑" panose="020B0503020204020204" pitchFamily="34" charset="-122"/>
            </a:endParaRPr>
          </a:p>
        </p:txBody>
      </p:sp>
      <p:sp>
        <p:nvSpPr>
          <p:cNvPr id="21" name="矩形 20"/>
          <p:cNvSpPr/>
          <p:nvPr/>
        </p:nvSpPr>
        <p:spPr>
          <a:xfrm>
            <a:off x="578637" y="5793525"/>
            <a:ext cx="9566595" cy="719556"/>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20725">
              <a:lnSpc>
                <a:spcPct val="200000"/>
              </a:lnSpc>
            </a:pPr>
            <a:r>
              <a:rPr lang="zh-CN" altLang="en-US" sz="2400" dirty="0">
                <a:solidFill>
                  <a:srgbClr val="1353A2"/>
                </a:solidFill>
                <a:latin typeface="微软雅黑" panose="020B0503020204020204" pitchFamily="34" charset="-122"/>
                <a:ea typeface="微软雅黑" panose="020B0503020204020204" pitchFamily="34" charset="-122"/>
              </a:rPr>
              <a:t>⑤</a:t>
            </a:r>
            <a:r>
              <a:rPr lang="en-US" altLang="zh-CN" sz="2400" dirty="0">
                <a:solidFill>
                  <a:srgbClr val="1353A2"/>
                </a:solidFill>
                <a:latin typeface="微软雅黑" panose="020B0503020204020204" pitchFamily="34" charset="-122"/>
                <a:ea typeface="微软雅黑" panose="020B0503020204020204" pitchFamily="34" charset="-122"/>
              </a:rPr>
              <a:t>virbr0</a:t>
            </a:r>
            <a:r>
              <a:rPr lang="zh-CN" altLang="en-US" sz="2400" dirty="0">
                <a:solidFill>
                  <a:srgbClr val="1353A2"/>
                </a:solidFill>
                <a:latin typeface="微软雅黑" panose="020B0503020204020204" pitchFamily="34" charset="-122"/>
                <a:ea typeface="微软雅黑" panose="020B0503020204020204" pitchFamily="34" charset="-122"/>
              </a:rPr>
              <a:t>是一个虚拟的网络连接端口</a:t>
            </a:r>
            <a:endParaRPr lang="en-US" altLang="zh-CN" sz="2400" dirty="0">
              <a:solidFill>
                <a:srgbClr val="1353A2"/>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5243745" y="641446"/>
            <a:ext cx="6385961" cy="4673840"/>
            <a:chOff x="5243745" y="641446"/>
            <a:chExt cx="6385961" cy="4673840"/>
          </a:xfrm>
        </p:grpSpPr>
        <p:pic>
          <p:nvPicPr>
            <p:cNvPr id="27" name="图片 26"/>
            <p:cNvPicPr>
              <a:picLocks noChangeAspect="1"/>
            </p:cNvPicPr>
            <p:nvPr/>
          </p:nvPicPr>
          <p:blipFill>
            <a:blip r:embed="rId1"/>
            <a:stretch>
              <a:fillRect/>
            </a:stretch>
          </p:blipFill>
          <p:spPr>
            <a:xfrm>
              <a:off x="5361934" y="641446"/>
              <a:ext cx="6267772" cy="4673840"/>
            </a:xfrm>
            <a:prstGeom prst="rect">
              <a:avLst/>
            </a:prstGeom>
          </p:spPr>
        </p:pic>
        <p:cxnSp>
          <p:nvCxnSpPr>
            <p:cNvPr id="14" name="直接连接符 13"/>
            <p:cNvCxnSpPr/>
            <p:nvPr/>
          </p:nvCxnSpPr>
          <p:spPr>
            <a:xfrm flipH="1">
              <a:off x="7372588" y="1196805"/>
              <a:ext cx="96450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5928094" y="2864528"/>
              <a:ext cx="115239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5243745" y="1162099"/>
              <a:ext cx="640370" cy="22546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5253129" y="2525784"/>
              <a:ext cx="423772" cy="22546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5314841" y="3845014"/>
              <a:ext cx="556103" cy="29455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flipH="1">
              <a:off x="5946396" y="1499278"/>
              <a:ext cx="157200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5952746" y="4236128"/>
              <a:ext cx="141984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arn(inVertic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arn(inVertical)">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20" grpId="0"/>
      <p:bldP spid="2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4"/>
          <p:cNvSpPr txBox="1">
            <a:spLocks noChangeArrowheads="1"/>
          </p:cNvSpPr>
          <p:nvPr/>
        </p:nvSpPr>
        <p:spPr bwMode="auto">
          <a:xfrm>
            <a:off x="643156" y="1215731"/>
            <a:ext cx="10968472" cy="113505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150000"/>
              </a:lnSpc>
            </a:pPr>
            <a:r>
              <a:rPr lang="zh-CN" altLang="en-US" sz="2400" dirty="0"/>
              <a:t>若使用</a:t>
            </a:r>
            <a:r>
              <a:rPr lang="en-US" altLang="zh-CN" sz="2400" dirty="0" err="1"/>
              <a:t>Vmware</a:t>
            </a:r>
            <a:r>
              <a:rPr lang="zh-CN" altLang="en-US" sz="2400" dirty="0"/>
              <a:t>的</a:t>
            </a:r>
            <a:r>
              <a:rPr lang="en-US" altLang="zh-CN" sz="2400" dirty="0"/>
              <a:t>NAT</a:t>
            </a:r>
            <a:r>
              <a:rPr lang="zh-CN" altLang="en-US" sz="2400" dirty="0"/>
              <a:t>或仅主机模式，那么网络中的虚拟机可以通过</a:t>
            </a:r>
            <a:r>
              <a:rPr lang="en-US" altLang="zh-CN" sz="2400" dirty="0">
                <a:solidFill>
                  <a:srgbClr val="1353A2"/>
                </a:solidFill>
              </a:rPr>
              <a:t>DHCP</a:t>
            </a:r>
            <a:r>
              <a:rPr lang="zh-CN" altLang="en-US" sz="2400" dirty="0">
                <a:solidFill>
                  <a:srgbClr val="FF0000"/>
                </a:solidFill>
              </a:rPr>
              <a:t>自动</a:t>
            </a:r>
            <a:r>
              <a:rPr lang="zh-CN" altLang="en-US" sz="2400" dirty="0"/>
              <a:t>获取</a:t>
            </a:r>
            <a:r>
              <a:rPr lang="en-US" altLang="zh-CN" sz="2400" dirty="0"/>
              <a:t>IP</a:t>
            </a:r>
            <a:r>
              <a:rPr lang="zh-CN" altLang="en-US" sz="2400" dirty="0"/>
              <a:t>地址</a:t>
            </a:r>
            <a:r>
              <a:rPr lang="en-US" altLang="zh-CN" sz="2400" dirty="0"/>
              <a:t>.</a:t>
            </a:r>
            <a:endParaRPr lang="en-US" altLang="zh-CN" sz="2400" b="1" dirty="0">
              <a:solidFill>
                <a:srgbClr val="F05425"/>
              </a:solidFill>
            </a:endParaRPr>
          </a:p>
        </p:txBody>
      </p:sp>
      <p:grpSp>
        <p:nvGrpSpPr>
          <p:cNvPr id="5" name="组合 8"/>
          <p:cNvGrpSpPr/>
          <p:nvPr/>
        </p:nvGrpSpPr>
        <p:grpSpPr>
          <a:xfrm>
            <a:off x="5538425" y="1895884"/>
            <a:ext cx="6073203" cy="4414644"/>
            <a:chOff x="1041101" y="1553377"/>
            <a:chExt cx="4066827" cy="4222005"/>
          </a:xfrm>
        </p:grpSpPr>
        <p:sp>
          <p:nvSpPr>
            <p:cNvPr id="6" name="矩形 5"/>
            <p:cNvSpPr/>
            <p:nvPr/>
          </p:nvSpPr>
          <p:spPr>
            <a:xfrm>
              <a:off x="1052128" y="2826031"/>
              <a:ext cx="3983792" cy="2949351"/>
            </a:xfrm>
            <a:prstGeom prst="rect">
              <a:avLst/>
            </a:prstGeom>
            <a:solidFill>
              <a:schemeClr val="tx1">
                <a:lumMod val="85000"/>
                <a:lumOff val="1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17"/>
            <p:cNvSpPr/>
            <p:nvPr/>
          </p:nvSpPr>
          <p:spPr bwMode="auto">
            <a:xfrm>
              <a:off x="1041101" y="1673904"/>
              <a:ext cx="3992428" cy="1008112"/>
            </a:xfrm>
            <a:prstGeom prst="rect">
              <a:avLst/>
            </a:prstGeom>
            <a:solidFill>
              <a:srgbClr val="1353A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lstStyle/>
            <a:p>
              <a:pPr algn="ctr" defTabSz="685165"/>
              <a:endParaRPr lang="en-US" sz="1700" dirty="0">
                <a:solidFill>
                  <a:srgbClr val="FFFFFF">
                    <a:alpha val="98824"/>
                  </a:srgbClr>
                </a:solidFill>
                <a:ea typeface="Segoe UI" panose="020B0502040204020203" pitchFamily="34" charset="0"/>
                <a:cs typeface="Segoe UI" panose="020B0502040204020203" pitchFamily="34" charset="0"/>
              </a:endParaRPr>
            </a:p>
          </p:txBody>
        </p:sp>
        <p:sp>
          <p:nvSpPr>
            <p:cNvPr id="10" name="Text Box 44"/>
            <p:cNvSpPr txBox="1">
              <a:spLocks noChangeArrowheads="1"/>
            </p:cNvSpPr>
            <p:nvPr/>
          </p:nvSpPr>
          <p:spPr bwMode="auto">
            <a:xfrm>
              <a:off x="1147488" y="2826032"/>
              <a:ext cx="3960440" cy="294935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marL="285750" indent="-285750">
                <a:buFont typeface="Wingdings" panose="05000000000000000000" pitchFamily="2" charset="2"/>
                <a:buChar char=""/>
              </a:pPr>
              <a:r>
                <a:rPr lang="zh-CN" altLang="en-US" sz="1800" b="1" dirty="0">
                  <a:solidFill>
                    <a:schemeClr val="bg1"/>
                  </a:solidFill>
                </a:rPr>
                <a:t>通过“</a:t>
              </a:r>
              <a:r>
                <a:rPr lang="en-US" altLang="zh-CN" sz="1800" b="1" dirty="0" err="1">
                  <a:solidFill>
                    <a:schemeClr val="bg1"/>
                  </a:solidFill>
                </a:rPr>
                <a:t>ifup</a:t>
              </a:r>
              <a:r>
                <a:rPr lang="en-US" altLang="zh-CN" sz="1800" b="1" dirty="0">
                  <a:solidFill>
                    <a:schemeClr val="bg1"/>
                  </a:solidFill>
                </a:rPr>
                <a:t> ens33</a:t>
              </a:r>
              <a:r>
                <a:rPr lang="zh-CN" altLang="en-US" sz="1800" b="1" dirty="0">
                  <a:solidFill>
                    <a:schemeClr val="bg1"/>
                  </a:solidFill>
                </a:rPr>
                <a:t>”命令临时启动网卡。</a:t>
              </a:r>
              <a:endParaRPr lang="zh-TW" altLang="en-US" sz="1800" b="1" dirty="0">
                <a:solidFill>
                  <a:schemeClr val="bg1"/>
                </a:solidFill>
              </a:endParaRPr>
            </a:p>
            <a:p>
              <a:pPr marL="285750" indent="-285750">
                <a:buFont typeface="Wingdings" panose="05000000000000000000" pitchFamily="2" charset="2"/>
                <a:buChar char=""/>
              </a:pPr>
              <a:r>
                <a:rPr lang="zh-CN" altLang="en-US" sz="1800" b="1" dirty="0">
                  <a:solidFill>
                    <a:schemeClr val="bg1"/>
                  </a:solidFill>
                </a:rPr>
                <a:t>通过“</a:t>
              </a:r>
              <a:r>
                <a:rPr lang="en-US" altLang="zh-CN" sz="1800" b="1" dirty="0">
                  <a:solidFill>
                    <a:srgbClr val="FF0000"/>
                  </a:solidFill>
                </a:rPr>
                <a:t>cd /</a:t>
              </a:r>
              <a:r>
                <a:rPr lang="en-US" altLang="zh-CN" sz="1800" b="1" dirty="0" err="1">
                  <a:solidFill>
                    <a:srgbClr val="FF0000"/>
                  </a:solidFill>
                </a:rPr>
                <a:t>etc</a:t>
              </a:r>
              <a:r>
                <a:rPr lang="en-US" altLang="zh-CN" sz="1800" b="1" dirty="0">
                  <a:solidFill>
                    <a:srgbClr val="FF0000"/>
                  </a:solidFill>
                </a:rPr>
                <a:t>/</a:t>
              </a:r>
              <a:r>
                <a:rPr lang="en-US" altLang="zh-CN" sz="1800" b="1" dirty="0" err="1">
                  <a:solidFill>
                    <a:srgbClr val="FF0000"/>
                  </a:solidFill>
                </a:rPr>
                <a:t>sysconfig</a:t>
              </a:r>
              <a:r>
                <a:rPr lang="en-US" altLang="zh-CN" sz="1800" b="1" dirty="0">
                  <a:solidFill>
                    <a:srgbClr val="FF0000"/>
                  </a:solidFill>
                </a:rPr>
                <a:t>/network-scripts</a:t>
              </a:r>
              <a:r>
                <a:rPr lang="zh-CN" altLang="en-US" sz="1800" b="1" dirty="0">
                  <a:solidFill>
                    <a:schemeClr val="bg1"/>
                  </a:solidFill>
                </a:rPr>
                <a:t>”切换到网卡配置文件</a:t>
              </a:r>
              <a:r>
                <a:rPr lang="en-US" altLang="zh-CN" sz="1800" b="1" dirty="0">
                  <a:solidFill>
                    <a:schemeClr val="bg1"/>
                  </a:solidFill>
                </a:rPr>
                <a:t>ifcfg-ens33</a:t>
              </a:r>
              <a:r>
                <a:rPr lang="zh-CN" altLang="en-US" sz="1800" b="1" dirty="0">
                  <a:solidFill>
                    <a:schemeClr val="bg1"/>
                  </a:solidFill>
                </a:rPr>
                <a:t>所在目录。</a:t>
              </a:r>
              <a:endParaRPr lang="en-US" altLang="zh-CN" sz="1800" b="1" dirty="0">
                <a:solidFill>
                  <a:schemeClr val="bg1"/>
                </a:solidFill>
              </a:endParaRPr>
            </a:p>
            <a:p>
              <a:pPr marL="285750" indent="-285750">
                <a:buFont typeface="Wingdings" panose="05000000000000000000" pitchFamily="2" charset="2"/>
                <a:buChar char=""/>
              </a:pPr>
              <a:r>
                <a:rPr lang="zh-CN" altLang="en-US" sz="1800" b="1" dirty="0">
                  <a:solidFill>
                    <a:schemeClr val="bg1"/>
                  </a:solidFill>
                </a:rPr>
                <a:t>备份配置文件</a:t>
              </a:r>
              <a:r>
                <a:rPr lang="en-US" altLang="zh-CN" sz="1800" b="1" dirty="0">
                  <a:solidFill>
                    <a:schemeClr val="bg1"/>
                  </a:solidFill>
                </a:rPr>
                <a:t>ifcfg-ens33</a:t>
              </a:r>
              <a:r>
                <a:rPr lang="zh-CN" altLang="en-US" sz="1800" b="1" dirty="0">
                  <a:solidFill>
                    <a:schemeClr val="bg1"/>
                  </a:solidFill>
                </a:rPr>
                <a:t>，避免配置出错。</a:t>
              </a:r>
              <a:endParaRPr lang="en-US" altLang="zh-CN" sz="1800" b="1" dirty="0">
                <a:solidFill>
                  <a:schemeClr val="bg1"/>
                </a:solidFill>
              </a:endParaRPr>
            </a:p>
            <a:p>
              <a:pPr marL="285750" indent="-285750">
                <a:buFont typeface="Wingdings" panose="05000000000000000000" pitchFamily="2" charset="2"/>
                <a:buChar char=""/>
              </a:pPr>
              <a:r>
                <a:rPr lang="zh-CN" altLang="en-US" sz="1800" b="1" dirty="0">
                  <a:solidFill>
                    <a:schemeClr val="bg1"/>
                  </a:solidFill>
                </a:rPr>
                <a:t>使用</a:t>
              </a:r>
              <a:r>
                <a:rPr lang="en-US" altLang="zh-CN" sz="1800" b="1" dirty="0">
                  <a:solidFill>
                    <a:srgbClr val="FF0000"/>
                  </a:solidFill>
                </a:rPr>
                <a:t>vi</a:t>
              </a:r>
              <a:r>
                <a:rPr lang="zh-CN" altLang="en-US" sz="1800" b="1" dirty="0">
                  <a:solidFill>
                    <a:srgbClr val="FF0000"/>
                  </a:solidFill>
                </a:rPr>
                <a:t>编辑器修改网卡配置文件</a:t>
              </a:r>
              <a:endParaRPr lang="en-US" altLang="zh-CN" sz="1800" b="1" dirty="0">
                <a:solidFill>
                  <a:srgbClr val="FF0000"/>
                </a:solidFill>
              </a:endParaRPr>
            </a:p>
            <a:p>
              <a:pPr marL="285750" indent="-285750">
                <a:buFont typeface="Wingdings" panose="05000000000000000000" pitchFamily="2" charset="2"/>
                <a:buChar char=""/>
              </a:pPr>
              <a:r>
                <a:rPr lang="zh-CN" altLang="en-US" sz="1800" b="1" dirty="0">
                  <a:solidFill>
                    <a:schemeClr val="bg1"/>
                  </a:solidFill>
                </a:rPr>
                <a:t>保存退出</a:t>
              </a:r>
              <a:endParaRPr lang="en-US" altLang="zh-CN" sz="1800" b="1" dirty="0">
                <a:solidFill>
                  <a:schemeClr val="bg1"/>
                </a:solidFill>
              </a:endParaRPr>
            </a:p>
            <a:p>
              <a:pPr marL="285750" indent="-285750">
                <a:buFont typeface="Wingdings" panose="05000000000000000000" pitchFamily="2" charset="2"/>
                <a:buChar char=""/>
              </a:pPr>
              <a:r>
                <a:rPr lang="zh-CN" altLang="en-US" sz="1800" b="1" dirty="0">
                  <a:solidFill>
                    <a:schemeClr val="bg1"/>
                  </a:solidFill>
                </a:rPr>
                <a:t>使用“</a:t>
              </a:r>
              <a:r>
                <a:rPr lang="en-US" altLang="zh-CN" sz="1800" b="1" dirty="0" err="1">
                  <a:solidFill>
                    <a:srgbClr val="FF0000"/>
                  </a:solidFill>
                </a:rPr>
                <a:t>systemctl</a:t>
              </a:r>
              <a:r>
                <a:rPr lang="en-US" altLang="zh-CN" sz="1800" b="1" dirty="0">
                  <a:solidFill>
                    <a:srgbClr val="FF0000"/>
                  </a:solidFill>
                </a:rPr>
                <a:t> restart network</a:t>
              </a:r>
              <a:r>
                <a:rPr lang="zh-CN" altLang="en-US" sz="1800" b="1" dirty="0">
                  <a:solidFill>
                    <a:schemeClr val="bg1"/>
                  </a:solidFill>
                </a:rPr>
                <a:t>”命令</a:t>
              </a:r>
              <a:r>
                <a:rPr lang="zh-CN" altLang="en-US" sz="1800" b="1" dirty="0">
                  <a:solidFill>
                    <a:srgbClr val="FF0000"/>
                  </a:solidFill>
                </a:rPr>
                <a:t>重启网络服务</a:t>
              </a:r>
              <a:endParaRPr lang="en-US" altLang="zh-CN" sz="1800" b="1" dirty="0">
                <a:solidFill>
                  <a:srgbClr val="FF0000"/>
                </a:solidFill>
              </a:endParaRPr>
            </a:p>
          </p:txBody>
        </p:sp>
        <p:pic>
          <p:nvPicPr>
            <p:cNvPr id="11" name="Picture 7" descr="\\MAGNUM\Projects\Microsoft\Cloud Power FY12\Design\ICONS_PNG\Application.png"/>
            <p:cNvPicPr>
              <a:picLocks noChangeAspect="1" noChangeArrowheads="1"/>
            </p:cNvPicPr>
            <p:nvPr/>
          </p:nvPicPr>
          <p:blipFill>
            <a:blip r:embed="rId1" cstate="email">
              <a:lum bright="100000"/>
            </a:blip>
            <a:srcRect/>
            <a:stretch>
              <a:fillRect/>
            </a:stretch>
          </p:blipFill>
          <p:spPr bwMode="auto">
            <a:xfrm>
              <a:off x="4149193" y="1553377"/>
              <a:ext cx="868412" cy="1246837"/>
            </a:xfrm>
            <a:prstGeom prst="rect">
              <a:avLst/>
            </a:prstGeom>
            <a:noFill/>
          </p:spPr>
        </p:pic>
      </p:grpSp>
      <p:sp>
        <p:nvSpPr>
          <p:cNvPr id="17" name="TextBox 16"/>
          <p:cNvSpPr txBox="1"/>
          <p:nvPr/>
        </p:nvSpPr>
        <p:spPr>
          <a:xfrm>
            <a:off x="2332422"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网络配置</a:t>
            </a:r>
            <a:endParaRPr lang="zh-CN" altLang="en-US" sz="24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15" name="Content Placeholder 4"/>
          <p:cNvSpPr txBox="1"/>
          <p:nvPr/>
        </p:nvSpPr>
        <p:spPr>
          <a:xfrm>
            <a:off x="8146540" y="2238531"/>
            <a:ext cx="2795863" cy="451406"/>
          </a:xfrm>
          <a:prstGeom prst="rect">
            <a:avLst/>
          </a:prstGeom>
        </p:spPr>
        <p:txBody>
          <a:bodyPr vert="horz" wrap="square" lIns="0" tIns="0" rIns="0" bIns="0" rtlCol="0" anchor="ctr">
            <a:spAutoFit/>
          </a:bodyPr>
          <a:lstStyle>
            <a:lvl1pPr marL="347980" indent="-347980" algn="l" defTabSz="914400" rtl="0" eaLnBrk="1" latinLnBrk="0" hangingPunct="1">
              <a:lnSpc>
                <a:spcPct val="90000"/>
              </a:lnSpc>
              <a:spcBef>
                <a:spcPct val="20000"/>
              </a:spcBef>
              <a:buSzPct val="90000"/>
              <a:buFontTx/>
              <a:buBlip>
                <a:blip r:embed="rId2"/>
              </a:buBlip>
              <a:defRPr sz="2800" kern="1200">
                <a:gradFill>
                  <a:gsLst>
                    <a:gs pos="0">
                      <a:schemeClr val="tx1"/>
                    </a:gs>
                    <a:gs pos="86000">
                      <a:schemeClr val="tx1"/>
                    </a:gs>
                  </a:gsLst>
                  <a:lin ang="5400000" scaled="0"/>
                </a:gradFill>
                <a:latin typeface="+mn-lt"/>
                <a:ea typeface="+mn-ea"/>
                <a:cs typeface="+mn-cs"/>
              </a:defRPr>
            </a:lvl1pPr>
            <a:lvl2pPr marL="673100" indent="-339725" algn="l" defTabSz="914400" rtl="0" eaLnBrk="1" latinLnBrk="0" hangingPunct="1">
              <a:lnSpc>
                <a:spcPct val="90000"/>
              </a:lnSpc>
              <a:spcBef>
                <a:spcPct val="20000"/>
              </a:spcBef>
              <a:buSzPct val="90000"/>
              <a:buFontTx/>
              <a:buBlip>
                <a:blip r:embed="rId2"/>
              </a:buBlip>
              <a:defRPr sz="2400" kern="1200">
                <a:gradFill>
                  <a:gsLst>
                    <a:gs pos="0">
                      <a:schemeClr val="tx1"/>
                    </a:gs>
                    <a:gs pos="86000">
                      <a:schemeClr val="tx1"/>
                    </a:gs>
                  </a:gsLst>
                  <a:lin ang="5400000" scaled="0"/>
                </a:gradFill>
                <a:latin typeface="+mn-lt"/>
                <a:ea typeface="+mn-ea"/>
                <a:cs typeface="+mn-cs"/>
              </a:defRPr>
            </a:lvl2pPr>
            <a:lvl3pPr marL="962025" indent="-302895" algn="l" defTabSz="914400" rtl="0" eaLnBrk="1" latinLnBrk="0" hangingPunct="1">
              <a:lnSpc>
                <a:spcPct val="90000"/>
              </a:lnSpc>
              <a:spcBef>
                <a:spcPct val="20000"/>
              </a:spcBef>
              <a:buSzPct val="90000"/>
              <a:buFontTx/>
              <a:buBlip>
                <a:blip r:embed="rId2"/>
              </a:buBlip>
              <a:defRPr sz="2000" kern="1200">
                <a:gradFill>
                  <a:gsLst>
                    <a:gs pos="0">
                      <a:schemeClr val="tx1"/>
                    </a:gs>
                    <a:gs pos="86000">
                      <a:schemeClr val="tx1"/>
                    </a:gs>
                  </a:gsLst>
                  <a:lin ang="5400000" scaled="0"/>
                </a:gradFill>
                <a:latin typeface="+mn-lt"/>
                <a:ea typeface="+mn-ea"/>
                <a:cs typeface="+mn-cs"/>
              </a:defRPr>
            </a:lvl3pPr>
            <a:lvl4pPr marL="1227455" indent="-266065" algn="l" defTabSz="914400" rtl="0" eaLnBrk="1" latinLnBrk="0" hangingPunct="1">
              <a:lnSpc>
                <a:spcPct val="90000"/>
              </a:lnSpc>
              <a:spcBef>
                <a:spcPct val="20000"/>
              </a:spcBef>
              <a:buSzPct val="90000"/>
              <a:buFontTx/>
              <a:buBlip>
                <a:blip r:embed="rId2"/>
              </a:buBlip>
              <a:defRPr sz="1800" kern="1200">
                <a:gradFill>
                  <a:gsLst>
                    <a:gs pos="0">
                      <a:schemeClr val="tx1"/>
                    </a:gs>
                    <a:gs pos="86000">
                      <a:schemeClr val="tx1"/>
                    </a:gs>
                  </a:gsLst>
                  <a:lin ang="5400000" scaled="0"/>
                </a:gradFill>
                <a:latin typeface="+mn-lt"/>
                <a:ea typeface="+mn-ea"/>
                <a:cs typeface="+mn-cs"/>
              </a:defRPr>
            </a:lvl4pPr>
            <a:lvl5pPr marL="1515745" indent="-273685" algn="l" defTabSz="914400" rtl="0" eaLnBrk="1" latinLnBrk="0" hangingPunct="1">
              <a:lnSpc>
                <a:spcPct val="90000"/>
              </a:lnSpc>
              <a:spcBef>
                <a:spcPct val="20000"/>
              </a:spcBef>
              <a:buSzPct val="90000"/>
              <a:buFontTx/>
              <a:buBlip>
                <a:blip r:embed="rId2"/>
              </a:buBlip>
              <a:defRPr sz="1800" kern="1200">
                <a:gradFill>
                  <a:gsLst>
                    <a:gs pos="0">
                      <a:schemeClr val="tx1"/>
                    </a:gs>
                    <a:gs pos="86000">
                      <a:schemeClr val="tx1"/>
                    </a:gs>
                  </a:gsLst>
                  <a:lin ang="5400000" scaled="0"/>
                </a:gra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配置动态</a:t>
            </a:r>
            <a:r>
              <a:rPr lang="en-US" altLang="zh-CN" sz="320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IP</a:t>
            </a:r>
            <a:endParaRPr lang="en-US" sz="320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715256" y="2322248"/>
            <a:ext cx="6559887" cy="749339"/>
            <a:chOff x="715256" y="2322248"/>
            <a:chExt cx="6559887" cy="749339"/>
          </a:xfrm>
        </p:grpSpPr>
        <p:pic>
          <p:nvPicPr>
            <p:cNvPr id="14" name="图片 13"/>
            <p:cNvPicPr>
              <a:picLocks noChangeAspect="1"/>
            </p:cNvPicPr>
            <p:nvPr/>
          </p:nvPicPr>
          <p:blipFill>
            <a:blip r:embed="rId3"/>
            <a:stretch>
              <a:fillRect/>
            </a:stretch>
          </p:blipFill>
          <p:spPr>
            <a:xfrm>
              <a:off x="715256" y="2322248"/>
              <a:ext cx="6559887" cy="749339"/>
            </a:xfrm>
            <a:prstGeom prst="rect">
              <a:avLst/>
            </a:prstGeom>
          </p:spPr>
        </p:pic>
        <p:sp>
          <p:nvSpPr>
            <p:cNvPr id="2" name="矩形 1"/>
            <p:cNvSpPr/>
            <p:nvPr/>
          </p:nvSpPr>
          <p:spPr>
            <a:xfrm>
              <a:off x="3634556" y="2721683"/>
              <a:ext cx="3553943" cy="2347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p:cNvGrpSpPr/>
          <p:nvPr/>
        </p:nvGrpSpPr>
        <p:grpSpPr>
          <a:xfrm>
            <a:off x="674977" y="3141715"/>
            <a:ext cx="4320399" cy="3168813"/>
            <a:chOff x="674977" y="3141715"/>
            <a:chExt cx="4320399" cy="3168813"/>
          </a:xfrm>
        </p:grpSpPr>
        <p:pic>
          <p:nvPicPr>
            <p:cNvPr id="12" name="图片 11"/>
            <p:cNvPicPr>
              <a:picLocks noChangeAspect="1"/>
            </p:cNvPicPr>
            <p:nvPr/>
          </p:nvPicPr>
          <p:blipFill>
            <a:blip r:embed="rId4"/>
            <a:stretch>
              <a:fillRect/>
            </a:stretch>
          </p:blipFill>
          <p:spPr>
            <a:xfrm>
              <a:off x="715256" y="3141715"/>
              <a:ext cx="4280120" cy="3168813"/>
            </a:xfrm>
            <a:prstGeom prst="rect">
              <a:avLst/>
            </a:prstGeom>
          </p:spPr>
        </p:pic>
        <p:sp>
          <p:nvSpPr>
            <p:cNvPr id="3" name="矩形 2"/>
            <p:cNvSpPr/>
            <p:nvPr/>
          </p:nvSpPr>
          <p:spPr>
            <a:xfrm>
              <a:off x="687905" y="3683780"/>
              <a:ext cx="1238617" cy="2181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p:cNvSpPr/>
            <p:nvPr/>
          </p:nvSpPr>
          <p:spPr>
            <a:xfrm>
              <a:off x="674977" y="5993047"/>
              <a:ext cx="867638" cy="2181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style.rotation</p:attrName>
                                        </p:attrNameLst>
                                      </p:cBhvr>
                                      <p:tavLst>
                                        <p:tav tm="0">
                                          <p:val>
                                            <p:fltVal val="90"/>
                                          </p:val>
                                        </p:tav>
                                        <p:tav tm="100000">
                                          <p:val>
                                            <p:fltVal val="0"/>
                                          </p:val>
                                        </p:tav>
                                      </p:tavLst>
                                    </p:anim>
                                    <p:animEffect transition="in" filter="fade">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4"/>
          <p:cNvSpPr txBox="1">
            <a:spLocks noChangeArrowheads="1"/>
          </p:cNvSpPr>
          <p:nvPr/>
        </p:nvSpPr>
        <p:spPr bwMode="auto">
          <a:xfrm>
            <a:off x="643156" y="1215731"/>
            <a:ext cx="10968472" cy="113505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150000"/>
              </a:lnSpc>
            </a:pPr>
            <a:r>
              <a:rPr lang="zh-CN" altLang="en-US" sz="2400" dirty="0"/>
              <a:t>若使用</a:t>
            </a:r>
            <a:r>
              <a:rPr lang="en-US" altLang="zh-CN" sz="2400" dirty="0" err="1"/>
              <a:t>Vmware</a:t>
            </a:r>
            <a:r>
              <a:rPr lang="zh-CN" altLang="en-US" sz="2400" dirty="0"/>
              <a:t>的</a:t>
            </a:r>
            <a:r>
              <a:rPr lang="en-US" altLang="zh-CN" sz="2400" dirty="0"/>
              <a:t>NAT</a:t>
            </a:r>
            <a:r>
              <a:rPr lang="zh-CN" altLang="en-US" sz="2400" dirty="0"/>
              <a:t>或仅主机模式，那么网络中的虚拟机可以通过</a:t>
            </a:r>
            <a:r>
              <a:rPr lang="en-US" altLang="zh-CN" sz="2400" dirty="0">
                <a:solidFill>
                  <a:srgbClr val="1353A2"/>
                </a:solidFill>
              </a:rPr>
              <a:t>DHCP</a:t>
            </a:r>
            <a:r>
              <a:rPr lang="zh-CN" altLang="en-US" sz="2400" dirty="0">
                <a:solidFill>
                  <a:srgbClr val="FF0000"/>
                </a:solidFill>
              </a:rPr>
              <a:t>自动</a:t>
            </a:r>
            <a:r>
              <a:rPr lang="zh-CN" altLang="en-US" sz="2400" dirty="0"/>
              <a:t>获取</a:t>
            </a:r>
            <a:r>
              <a:rPr lang="en-US" altLang="zh-CN" sz="2400" dirty="0"/>
              <a:t>IP</a:t>
            </a:r>
            <a:r>
              <a:rPr lang="zh-CN" altLang="en-US" sz="2400" dirty="0"/>
              <a:t>地址</a:t>
            </a:r>
            <a:r>
              <a:rPr lang="en-US" altLang="zh-CN" sz="2400" dirty="0"/>
              <a:t>.</a:t>
            </a:r>
            <a:endParaRPr lang="en-US" altLang="zh-CN" sz="2400" b="1" dirty="0">
              <a:solidFill>
                <a:srgbClr val="F05425"/>
              </a:solidFill>
            </a:endParaRPr>
          </a:p>
        </p:txBody>
      </p:sp>
      <p:grpSp>
        <p:nvGrpSpPr>
          <p:cNvPr id="5" name="组合 8"/>
          <p:cNvGrpSpPr/>
          <p:nvPr/>
        </p:nvGrpSpPr>
        <p:grpSpPr>
          <a:xfrm>
            <a:off x="1559058" y="1895884"/>
            <a:ext cx="9917686" cy="2364105"/>
            <a:chOff x="-1623621" y="1553377"/>
            <a:chExt cx="6641226" cy="2260944"/>
          </a:xfrm>
        </p:grpSpPr>
        <p:sp>
          <p:nvSpPr>
            <p:cNvPr id="10" name="Text Box 44"/>
            <p:cNvSpPr txBox="1">
              <a:spLocks noChangeArrowheads="1"/>
            </p:cNvSpPr>
            <p:nvPr/>
          </p:nvSpPr>
          <p:spPr bwMode="auto">
            <a:xfrm>
              <a:off x="-1623621" y="2137591"/>
              <a:ext cx="6259634" cy="167673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buFont typeface="Wingdings" panose="05000000000000000000" pitchFamily="2" charset="2"/>
                <a:buNone/>
              </a:pPr>
              <a:r>
                <a:rPr lang="zh-CN" altLang="en-US" sz="2000" b="1" dirty="0">
                  <a:solidFill>
                    <a:srgbClr val="FF0000"/>
                  </a:solidFill>
                </a:rPr>
                <a:t>问题：通过“</a:t>
              </a:r>
              <a:r>
                <a:rPr lang="en-US" altLang="zh-CN" sz="2000" b="1" dirty="0" err="1">
                  <a:solidFill>
                    <a:srgbClr val="FF0000"/>
                  </a:solidFill>
                </a:rPr>
                <a:t>ifup</a:t>
              </a:r>
              <a:r>
                <a:rPr lang="en-US" altLang="zh-CN" sz="2000" b="1" dirty="0">
                  <a:solidFill>
                    <a:srgbClr val="FF0000"/>
                  </a:solidFill>
                </a:rPr>
                <a:t> ens33</a:t>
              </a:r>
              <a:r>
                <a:rPr lang="zh-CN" altLang="en-US" sz="2000" b="1" dirty="0">
                  <a:solidFill>
                    <a:srgbClr val="FF0000"/>
                  </a:solidFill>
                </a:rPr>
                <a:t>”命令临时启动网卡时显示</a:t>
              </a:r>
              <a:r>
                <a:rPr lang="zh-CN" altLang="en-US" sz="2000" b="1" dirty="0">
                  <a:solidFill>
                    <a:srgbClr val="FF0000"/>
                  </a:solidFill>
                </a:rPr>
                <a:t>以下内容：</a:t>
              </a:r>
              <a:endParaRPr lang="zh-CN" altLang="en-US" sz="2000" b="1" dirty="0">
                <a:solidFill>
                  <a:srgbClr val="FF0000"/>
                </a:solidFill>
              </a:endParaRPr>
            </a:p>
            <a:p>
              <a:pPr>
                <a:buFont typeface="Wingdings" panose="05000000000000000000" pitchFamily="2" charset="2"/>
                <a:buNone/>
              </a:pPr>
              <a:r>
                <a:rPr lang="zh-CN" altLang="en-US" sz="2000" b="1" dirty="0">
                  <a:solidFill>
                    <a:srgbClr val="FF0000"/>
                  </a:solidFill>
                  <a:sym typeface="+mn-ea"/>
                </a:rPr>
                <a:t>错误：激活连接失败：No suitable device found for this connection.</a:t>
              </a:r>
              <a:endParaRPr lang="zh-CN" altLang="en-US" sz="2000" b="1" dirty="0">
                <a:solidFill>
                  <a:srgbClr val="FF0000"/>
                </a:solidFill>
              </a:endParaRPr>
            </a:p>
            <a:p>
              <a:pPr indent="0">
                <a:buFont typeface="Wingdings" panose="05000000000000000000" pitchFamily="2" charset="2"/>
                <a:buNone/>
              </a:pPr>
              <a:r>
                <a:rPr lang="zh-CN" altLang="en-US" sz="2000" b="1" dirty="0">
                  <a:solidFill>
                    <a:srgbClr val="FF0000"/>
                  </a:solidFill>
                </a:rPr>
                <a:t>方案：</a:t>
              </a:r>
              <a:endParaRPr lang="zh-CN" altLang="en-US" sz="2000" b="1" dirty="0">
                <a:solidFill>
                  <a:srgbClr val="FF0000"/>
                </a:solidFill>
              </a:endParaRPr>
            </a:p>
            <a:p>
              <a:pPr>
                <a:buFont typeface="Wingdings" panose="05000000000000000000" pitchFamily="2" charset="2"/>
                <a:buNone/>
              </a:pPr>
              <a:r>
                <a:rPr lang="en-US" altLang="zh-CN" sz="2000" b="1" dirty="0">
                  <a:solidFill>
                    <a:srgbClr val="FF0000"/>
                  </a:solidFill>
                </a:rPr>
                <a:t>window</a:t>
              </a:r>
              <a:r>
                <a:rPr lang="zh-CN" altLang="en-US" sz="2000" b="1" dirty="0">
                  <a:solidFill>
                    <a:srgbClr val="FF0000"/>
                  </a:solidFill>
                </a:rPr>
                <a:t>中开启以下</a:t>
              </a:r>
              <a:r>
                <a:rPr lang="zh-CN" altLang="en-US" sz="2000" b="1" dirty="0">
                  <a:solidFill>
                    <a:srgbClr val="FF0000"/>
                  </a:solidFill>
                </a:rPr>
                <a:t>服务</a:t>
              </a:r>
              <a:endParaRPr lang="zh-CN" altLang="en-US" sz="2000" b="1" dirty="0">
                <a:solidFill>
                  <a:srgbClr val="FF0000"/>
                </a:solidFill>
              </a:endParaRPr>
            </a:p>
          </p:txBody>
        </p:sp>
        <p:pic>
          <p:nvPicPr>
            <p:cNvPr id="11" name="Picture 7" descr="\\MAGNUM\Projects\Microsoft\Cloud Power FY12\Design\ICONS_PNG\Application.png"/>
            <p:cNvPicPr>
              <a:picLocks noChangeAspect="1" noChangeArrowheads="1"/>
            </p:cNvPicPr>
            <p:nvPr/>
          </p:nvPicPr>
          <p:blipFill>
            <a:blip r:embed="rId1" cstate="email">
              <a:lum bright="100000"/>
            </a:blip>
            <a:srcRect/>
            <a:stretch>
              <a:fillRect/>
            </a:stretch>
          </p:blipFill>
          <p:spPr bwMode="auto">
            <a:xfrm>
              <a:off x="4149193" y="1553377"/>
              <a:ext cx="868412" cy="1246837"/>
            </a:xfrm>
            <a:prstGeom prst="rect">
              <a:avLst/>
            </a:prstGeom>
            <a:noFill/>
          </p:spPr>
        </p:pic>
      </p:grpSp>
      <p:sp>
        <p:nvSpPr>
          <p:cNvPr id="17" name="TextBox 16"/>
          <p:cNvSpPr txBox="1"/>
          <p:nvPr/>
        </p:nvSpPr>
        <p:spPr>
          <a:xfrm>
            <a:off x="2332422"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网络配置</a:t>
            </a:r>
            <a:endParaRPr lang="zh-CN" altLang="en-US" sz="2400" kern="1200" dirty="0">
              <a:solidFill>
                <a:srgbClr val="1353A2"/>
              </a:solidFill>
              <a:latin typeface="微软雅黑" panose="020B0503020204020204" pitchFamily="34" charset="-122"/>
              <a:ea typeface="微软雅黑" panose="020B0503020204020204" pitchFamily="34" charset="-122"/>
              <a:cs typeface="+mn-cs"/>
            </a:endParaRPr>
          </a:p>
        </p:txBody>
      </p:sp>
      <p:pic>
        <p:nvPicPr>
          <p:cNvPr id="18" name="图片 17"/>
          <p:cNvPicPr>
            <a:picLocks noChangeAspect="1"/>
          </p:cNvPicPr>
          <p:nvPr>
            <p:custDataLst>
              <p:tags r:id="rId2"/>
            </p:custDataLst>
          </p:nvPr>
        </p:nvPicPr>
        <p:blipFill>
          <a:blip r:embed="rId3"/>
          <a:stretch>
            <a:fillRect/>
          </a:stretch>
        </p:blipFill>
        <p:spPr>
          <a:xfrm>
            <a:off x="1612900" y="4416425"/>
            <a:ext cx="9029700" cy="12890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style.rotation</p:attrName>
                                        </p:attrNameLst>
                                      </p:cBhvr>
                                      <p:tavLst>
                                        <p:tav tm="0">
                                          <p:val>
                                            <p:fltVal val="90"/>
                                          </p:val>
                                        </p:tav>
                                        <p:tav tm="100000">
                                          <p:val>
                                            <p:fltVal val="0"/>
                                          </p:val>
                                        </p:tav>
                                      </p:tavLst>
                                    </p:anim>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4"/>
          <p:cNvSpPr txBox="1">
            <a:spLocks noChangeArrowheads="1"/>
          </p:cNvSpPr>
          <p:nvPr/>
        </p:nvSpPr>
        <p:spPr bwMode="auto">
          <a:xfrm>
            <a:off x="643155" y="1557757"/>
            <a:ext cx="4895269" cy="168905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150000"/>
              </a:lnSpc>
            </a:pPr>
            <a:r>
              <a:rPr lang="zh-CN" altLang="en-US" sz="2400" dirty="0"/>
              <a:t>但在真实环境中，应为所有的服务器配置</a:t>
            </a:r>
            <a:r>
              <a:rPr lang="zh-CN" altLang="en-US" sz="2400" dirty="0">
                <a:solidFill>
                  <a:srgbClr val="FF0000"/>
                </a:solidFill>
              </a:rPr>
              <a:t>静态</a:t>
            </a:r>
            <a:r>
              <a:rPr lang="en-US" altLang="zh-CN" sz="2400" dirty="0"/>
              <a:t>IP</a:t>
            </a:r>
            <a:r>
              <a:rPr lang="zh-CN" altLang="en-US" sz="2400" dirty="0"/>
              <a:t>地址，确保通过一个</a:t>
            </a:r>
            <a:r>
              <a:rPr lang="en-US" altLang="zh-CN" sz="2400" dirty="0"/>
              <a:t>IP</a:t>
            </a:r>
            <a:r>
              <a:rPr lang="zh-CN" altLang="en-US" sz="2400" dirty="0"/>
              <a:t>地址便能找到一台服务器。</a:t>
            </a:r>
            <a:endParaRPr lang="en-US" altLang="zh-CN" sz="2400" b="1" dirty="0">
              <a:solidFill>
                <a:srgbClr val="F05425"/>
              </a:solidFill>
            </a:endParaRPr>
          </a:p>
        </p:txBody>
      </p:sp>
      <p:sp>
        <p:nvSpPr>
          <p:cNvPr id="17" name="TextBox 16"/>
          <p:cNvSpPr txBox="1"/>
          <p:nvPr/>
        </p:nvSpPr>
        <p:spPr>
          <a:xfrm>
            <a:off x="2332422"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网络配置</a:t>
            </a:r>
            <a:endParaRPr lang="zh-CN" altLang="en-US" sz="24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2" name="组合 1"/>
          <p:cNvGrpSpPr/>
          <p:nvPr/>
        </p:nvGrpSpPr>
        <p:grpSpPr>
          <a:xfrm>
            <a:off x="5542366" y="1652698"/>
            <a:ext cx="6073203" cy="3151282"/>
            <a:chOff x="5542365" y="1258148"/>
            <a:chExt cx="6073203" cy="3151282"/>
          </a:xfrm>
        </p:grpSpPr>
        <p:grpSp>
          <p:nvGrpSpPr>
            <p:cNvPr id="8" name="组合 8"/>
            <p:cNvGrpSpPr/>
            <p:nvPr/>
          </p:nvGrpSpPr>
          <p:grpSpPr>
            <a:xfrm>
              <a:off x="5542365" y="1433469"/>
              <a:ext cx="6073203" cy="2975961"/>
              <a:chOff x="1041101" y="1673904"/>
              <a:chExt cx="4066827" cy="2846101"/>
            </a:xfrm>
          </p:grpSpPr>
          <p:sp>
            <p:nvSpPr>
              <p:cNvPr id="20" name="矩形 19"/>
              <p:cNvSpPr/>
              <p:nvPr/>
            </p:nvSpPr>
            <p:spPr>
              <a:xfrm>
                <a:off x="1052128" y="2826031"/>
                <a:ext cx="3983792" cy="1693974"/>
              </a:xfrm>
              <a:prstGeom prst="rect">
                <a:avLst/>
              </a:prstGeom>
              <a:solidFill>
                <a:schemeClr val="tx1">
                  <a:lumMod val="85000"/>
                  <a:lumOff val="1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ctangle 17"/>
              <p:cNvSpPr/>
              <p:nvPr/>
            </p:nvSpPr>
            <p:spPr bwMode="auto">
              <a:xfrm>
                <a:off x="1041101" y="1673904"/>
                <a:ext cx="3992428" cy="1008112"/>
              </a:xfrm>
              <a:prstGeom prst="rect">
                <a:avLst/>
              </a:prstGeom>
              <a:solidFill>
                <a:srgbClr val="1353A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lstStyle/>
              <a:p>
                <a:pPr algn="ctr" defTabSz="685165"/>
                <a:endParaRPr lang="en-US" sz="1700" dirty="0">
                  <a:solidFill>
                    <a:srgbClr val="FFFFFF">
                      <a:alpha val="98824"/>
                    </a:srgbClr>
                  </a:solidFill>
                  <a:ea typeface="Segoe UI" panose="020B0502040204020203" pitchFamily="34" charset="0"/>
                  <a:cs typeface="Segoe UI" panose="020B0502040204020203" pitchFamily="34" charset="0"/>
                </a:endParaRPr>
              </a:p>
            </p:txBody>
          </p:sp>
          <p:sp>
            <p:nvSpPr>
              <p:cNvPr id="22" name="Content Placeholder 4"/>
              <p:cNvSpPr txBox="1"/>
              <p:nvPr/>
            </p:nvSpPr>
            <p:spPr>
              <a:xfrm>
                <a:off x="2073145" y="2009484"/>
                <a:ext cx="1872207" cy="431708"/>
              </a:xfrm>
              <a:prstGeom prst="rect">
                <a:avLst/>
              </a:prstGeom>
            </p:spPr>
            <p:txBody>
              <a:bodyPr vert="horz" wrap="square" lIns="0" tIns="0" rIns="0" bIns="0" rtlCol="0" anchor="ctr">
                <a:spAutoFit/>
              </a:bodyPr>
              <a:lstStyle>
                <a:lvl1pPr marL="347980" indent="-347980" algn="l" defTabSz="914400" rtl="0" eaLnBrk="1" latinLnBrk="0" hangingPunct="1">
                  <a:lnSpc>
                    <a:spcPct val="90000"/>
                  </a:lnSpc>
                  <a:spcBef>
                    <a:spcPct val="20000"/>
                  </a:spcBef>
                  <a:buSzPct val="90000"/>
                  <a:buFontTx/>
                  <a:buBlip>
                    <a:blip r:embed="rId1"/>
                  </a:buBlip>
                  <a:defRPr sz="2800" kern="1200">
                    <a:gradFill>
                      <a:gsLst>
                        <a:gs pos="0">
                          <a:schemeClr val="tx1"/>
                        </a:gs>
                        <a:gs pos="86000">
                          <a:schemeClr val="tx1"/>
                        </a:gs>
                      </a:gsLst>
                      <a:lin ang="5400000" scaled="0"/>
                    </a:gradFill>
                    <a:latin typeface="+mn-lt"/>
                    <a:ea typeface="+mn-ea"/>
                    <a:cs typeface="+mn-cs"/>
                  </a:defRPr>
                </a:lvl1pPr>
                <a:lvl2pPr marL="673100" indent="-339725" algn="l" defTabSz="914400" rtl="0" eaLnBrk="1" latinLnBrk="0" hangingPunct="1">
                  <a:lnSpc>
                    <a:spcPct val="90000"/>
                  </a:lnSpc>
                  <a:spcBef>
                    <a:spcPct val="20000"/>
                  </a:spcBef>
                  <a:buSzPct val="90000"/>
                  <a:buFontTx/>
                  <a:buBlip>
                    <a:blip r:embed="rId1"/>
                  </a:buBlip>
                  <a:defRPr sz="2400" kern="1200">
                    <a:gradFill>
                      <a:gsLst>
                        <a:gs pos="0">
                          <a:schemeClr val="tx1"/>
                        </a:gs>
                        <a:gs pos="86000">
                          <a:schemeClr val="tx1"/>
                        </a:gs>
                      </a:gsLst>
                      <a:lin ang="5400000" scaled="0"/>
                    </a:gradFill>
                    <a:latin typeface="+mn-lt"/>
                    <a:ea typeface="+mn-ea"/>
                    <a:cs typeface="+mn-cs"/>
                  </a:defRPr>
                </a:lvl2pPr>
                <a:lvl3pPr marL="962025" indent="-302895" algn="l" defTabSz="914400" rtl="0" eaLnBrk="1" latinLnBrk="0" hangingPunct="1">
                  <a:lnSpc>
                    <a:spcPct val="90000"/>
                  </a:lnSpc>
                  <a:spcBef>
                    <a:spcPct val="20000"/>
                  </a:spcBef>
                  <a:buSzPct val="90000"/>
                  <a:buFontTx/>
                  <a:buBlip>
                    <a:blip r:embed="rId1"/>
                  </a:buBlip>
                  <a:defRPr sz="2000" kern="1200">
                    <a:gradFill>
                      <a:gsLst>
                        <a:gs pos="0">
                          <a:schemeClr val="tx1"/>
                        </a:gs>
                        <a:gs pos="86000">
                          <a:schemeClr val="tx1"/>
                        </a:gs>
                      </a:gsLst>
                      <a:lin ang="5400000" scaled="0"/>
                    </a:gradFill>
                    <a:latin typeface="+mn-lt"/>
                    <a:ea typeface="+mn-ea"/>
                    <a:cs typeface="+mn-cs"/>
                  </a:defRPr>
                </a:lvl3pPr>
                <a:lvl4pPr marL="1227455" indent="-266065" algn="l" defTabSz="914400" rtl="0" eaLnBrk="1" latinLnBrk="0" hangingPunct="1">
                  <a:lnSpc>
                    <a:spcPct val="90000"/>
                  </a:lnSpc>
                  <a:spcBef>
                    <a:spcPct val="20000"/>
                  </a:spcBef>
                  <a:buSzPct val="90000"/>
                  <a:buFontTx/>
                  <a:buBlip>
                    <a:blip r:embed="rId1"/>
                  </a:buBlip>
                  <a:defRPr sz="1800" kern="1200">
                    <a:gradFill>
                      <a:gsLst>
                        <a:gs pos="0">
                          <a:schemeClr val="tx1"/>
                        </a:gs>
                        <a:gs pos="86000">
                          <a:schemeClr val="tx1"/>
                        </a:gs>
                      </a:gsLst>
                      <a:lin ang="5400000" scaled="0"/>
                    </a:gradFill>
                    <a:latin typeface="+mn-lt"/>
                    <a:ea typeface="+mn-ea"/>
                    <a:cs typeface="+mn-cs"/>
                  </a:defRPr>
                </a:lvl4pPr>
                <a:lvl5pPr marL="1515745" indent="-273685" algn="l" defTabSz="914400" rtl="0" eaLnBrk="1" latinLnBrk="0" hangingPunct="1">
                  <a:lnSpc>
                    <a:spcPct val="90000"/>
                  </a:lnSpc>
                  <a:spcBef>
                    <a:spcPct val="20000"/>
                  </a:spcBef>
                  <a:buSzPct val="90000"/>
                  <a:buFontTx/>
                  <a:buBlip>
                    <a:blip r:embed="rId1"/>
                  </a:buBlip>
                  <a:defRPr sz="1800" kern="1200">
                    <a:gradFill>
                      <a:gsLst>
                        <a:gs pos="0">
                          <a:schemeClr val="tx1"/>
                        </a:gs>
                        <a:gs pos="86000">
                          <a:schemeClr val="tx1"/>
                        </a:gs>
                      </a:gsLst>
                      <a:lin ang="5400000" scaled="0"/>
                    </a:gra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配置静态</a:t>
                </a:r>
                <a:r>
                  <a:rPr lang="en-US" altLang="zh-CN" sz="320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rPr>
                  <a:t>IP</a:t>
                </a:r>
                <a:endParaRPr lang="en-US" sz="3200" dirty="0">
                  <a:gradFill>
                    <a:gsLst>
                      <a:gs pos="0">
                        <a:srgbClr val="FFFFFF"/>
                      </a:gs>
                      <a:gs pos="86000">
                        <a:srgbClr val="FFFFFF"/>
                      </a:gs>
                    </a:gsLst>
                    <a:lin ang="5400000" scaled="0"/>
                  </a:gradFill>
                  <a:latin typeface="微软雅黑" panose="020B0503020204020204" pitchFamily="34" charset="-122"/>
                  <a:ea typeface="微软雅黑" panose="020B0503020204020204" pitchFamily="34" charset="-122"/>
                </a:endParaRPr>
              </a:p>
            </p:txBody>
          </p:sp>
          <p:sp>
            <p:nvSpPr>
              <p:cNvPr id="23" name="Text Box 44"/>
              <p:cNvSpPr txBox="1">
                <a:spLocks noChangeArrowheads="1"/>
              </p:cNvSpPr>
              <p:nvPr/>
            </p:nvSpPr>
            <p:spPr bwMode="auto">
              <a:xfrm>
                <a:off x="1147488" y="2826032"/>
                <a:ext cx="3960440" cy="151882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marL="285750" indent="-285750">
                  <a:buFont typeface="Wingdings" panose="05000000000000000000" pitchFamily="2" charset="2"/>
                  <a:buChar char=""/>
                </a:pPr>
                <a:r>
                  <a:rPr lang="zh-CN" altLang="en-US" sz="1800" b="1" dirty="0">
                    <a:solidFill>
                      <a:schemeClr val="bg1"/>
                    </a:solidFill>
                  </a:rPr>
                  <a:t>设置配置文件“</a:t>
                </a:r>
                <a:r>
                  <a:rPr lang="en-US" altLang="zh-CN" sz="1800" b="1" dirty="0">
                    <a:solidFill>
                      <a:srgbClr val="FF0000"/>
                    </a:solidFill>
                  </a:rPr>
                  <a:t>ifcfg-ens33</a:t>
                </a:r>
                <a:r>
                  <a:rPr lang="zh-CN" altLang="en-US" sz="1800" b="1" dirty="0">
                    <a:solidFill>
                      <a:schemeClr val="bg1"/>
                    </a:solidFill>
                  </a:rPr>
                  <a:t>”中</a:t>
                </a:r>
                <a:r>
                  <a:rPr lang="en-US" altLang="zh-CN" sz="1800" b="1" dirty="0">
                    <a:solidFill>
                      <a:schemeClr val="bg1"/>
                    </a:solidFill>
                  </a:rPr>
                  <a:t>BOOTPROTO</a:t>
                </a:r>
                <a:r>
                  <a:rPr lang="zh-CN" altLang="en-US" sz="1800" b="1" dirty="0">
                    <a:solidFill>
                      <a:schemeClr val="bg1"/>
                    </a:solidFill>
                  </a:rPr>
                  <a:t>值为</a:t>
                </a:r>
                <a:r>
                  <a:rPr lang="en-US" altLang="zh-CN" sz="1800" b="1" dirty="0">
                    <a:solidFill>
                      <a:srgbClr val="FF0000"/>
                    </a:solidFill>
                  </a:rPr>
                  <a:t>static</a:t>
                </a:r>
                <a:r>
                  <a:rPr lang="zh-CN" altLang="en-US" sz="1800" b="1" dirty="0">
                    <a:solidFill>
                      <a:schemeClr val="bg1"/>
                    </a:solidFill>
                  </a:rPr>
                  <a:t>。</a:t>
                </a:r>
                <a:endParaRPr lang="zh-TW" altLang="en-US" sz="1800" b="1" dirty="0">
                  <a:solidFill>
                    <a:schemeClr val="bg1"/>
                  </a:solidFill>
                </a:endParaRPr>
              </a:p>
              <a:p>
                <a:pPr marL="285750" indent="-285750">
                  <a:buFont typeface="Wingdings" panose="05000000000000000000" pitchFamily="2" charset="2"/>
                  <a:buChar char=""/>
                </a:pPr>
                <a:r>
                  <a:rPr lang="zh-CN" altLang="en-US" sz="1800" b="1" dirty="0">
                    <a:solidFill>
                      <a:schemeClr val="bg1"/>
                    </a:solidFill>
                  </a:rPr>
                  <a:t>将</a:t>
                </a:r>
                <a:r>
                  <a:rPr lang="en-US" altLang="zh-CN" sz="1800" b="1" dirty="0">
                    <a:solidFill>
                      <a:schemeClr val="bg1"/>
                    </a:solidFill>
                  </a:rPr>
                  <a:t>IPADDR</a:t>
                </a:r>
                <a:r>
                  <a:rPr lang="zh-CN" altLang="en-US" sz="1800" b="1" dirty="0">
                    <a:solidFill>
                      <a:schemeClr val="bg1"/>
                    </a:solidFill>
                  </a:rPr>
                  <a:t>值设置为其所在子网中正确的、无冲突的</a:t>
                </a:r>
                <a:r>
                  <a:rPr lang="en-US" altLang="zh-CN" sz="1800" b="1" dirty="0">
                    <a:solidFill>
                      <a:schemeClr val="bg1"/>
                    </a:solidFill>
                  </a:rPr>
                  <a:t>IP</a:t>
                </a:r>
                <a:r>
                  <a:rPr lang="zh-CN" altLang="en-US" sz="1800" b="1" dirty="0">
                    <a:solidFill>
                      <a:schemeClr val="bg1"/>
                    </a:solidFill>
                  </a:rPr>
                  <a:t>地址</a:t>
                </a:r>
                <a:endParaRPr lang="en-US" altLang="zh-CN" sz="1800" b="1" dirty="0">
                  <a:solidFill>
                    <a:schemeClr val="bg1"/>
                  </a:solidFill>
                </a:endParaRPr>
              </a:p>
            </p:txBody>
          </p:sp>
        </p:grpSp>
        <p:pic>
          <p:nvPicPr>
            <p:cNvPr id="19" name="Picture 10" descr="Private_to_Partner.png"/>
            <p:cNvPicPr>
              <a:picLocks noChangeAspect="1"/>
            </p:cNvPicPr>
            <p:nvPr/>
          </p:nvPicPr>
          <p:blipFill>
            <a:blip r:embed="rId2" cstate="email">
              <a:lum bright="100000"/>
            </a:blip>
            <a:stretch>
              <a:fillRect/>
            </a:stretch>
          </p:blipFill>
          <p:spPr>
            <a:xfrm>
              <a:off x="5621462" y="1258148"/>
              <a:ext cx="1372391" cy="1528659"/>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par>
                                <p:cTn id="10" presetID="26"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80">
                                          <p:stCondLst>
                                            <p:cond delay="0"/>
                                          </p:stCondLst>
                                        </p:cTn>
                                        <p:tgtEl>
                                          <p:spTgt spid="2"/>
                                        </p:tgtEl>
                                      </p:cBhvr>
                                    </p:animEffect>
                                    <p:anim calcmode="lin" valueType="num">
                                      <p:cBhvr>
                                        <p:cTn id="13"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8" dur="26">
                                          <p:stCondLst>
                                            <p:cond delay="650"/>
                                          </p:stCondLst>
                                        </p:cTn>
                                        <p:tgtEl>
                                          <p:spTgt spid="2"/>
                                        </p:tgtEl>
                                      </p:cBhvr>
                                      <p:to x="100000" y="60000"/>
                                    </p:animScale>
                                    <p:animScale>
                                      <p:cBhvr>
                                        <p:cTn id="19" dur="166" decel="50000">
                                          <p:stCondLst>
                                            <p:cond delay="676"/>
                                          </p:stCondLst>
                                        </p:cTn>
                                        <p:tgtEl>
                                          <p:spTgt spid="2"/>
                                        </p:tgtEl>
                                      </p:cBhvr>
                                      <p:to x="100000" y="100000"/>
                                    </p:animScale>
                                    <p:animScale>
                                      <p:cBhvr>
                                        <p:cTn id="20" dur="26">
                                          <p:stCondLst>
                                            <p:cond delay="1312"/>
                                          </p:stCondLst>
                                        </p:cTn>
                                        <p:tgtEl>
                                          <p:spTgt spid="2"/>
                                        </p:tgtEl>
                                      </p:cBhvr>
                                      <p:to x="100000" y="80000"/>
                                    </p:animScale>
                                    <p:animScale>
                                      <p:cBhvr>
                                        <p:cTn id="21" dur="166" decel="50000">
                                          <p:stCondLst>
                                            <p:cond delay="1338"/>
                                          </p:stCondLst>
                                        </p:cTn>
                                        <p:tgtEl>
                                          <p:spTgt spid="2"/>
                                        </p:tgtEl>
                                      </p:cBhvr>
                                      <p:to x="100000" y="100000"/>
                                    </p:animScale>
                                    <p:animScale>
                                      <p:cBhvr>
                                        <p:cTn id="22" dur="26">
                                          <p:stCondLst>
                                            <p:cond delay="1642"/>
                                          </p:stCondLst>
                                        </p:cTn>
                                        <p:tgtEl>
                                          <p:spTgt spid="2"/>
                                        </p:tgtEl>
                                      </p:cBhvr>
                                      <p:to x="100000" y="90000"/>
                                    </p:animScale>
                                    <p:animScale>
                                      <p:cBhvr>
                                        <p:cTn id="23" dur="166" decel="50000">
                                          <p:stCondLst>
                                            <p:cond delay="1668"/>
                                          </p:stCondLst>
                                        </p:cTn>
                                        <p:tgtEl>
                                          <p:spTgt spid="2"/>
                                        </p:tgtEl>
                                      </p:cBhvr>
                                      <p:to x="100000" y="100000"/>
                                    </p:animScale>
                                    <p:animScale>
                                      <p:cBhvr>
                                        <p:cTn id="24" dur="26">
                                          <p:stCondLst>
                                            <p:cond delay="1808"/>
                                          </p:stCondLst>
                                        </p:cTn>
                                        <p:tgtEl>
                                          <p:spTgt spid="2"/>
                                        </p:tgtEl>
                                      </p:cBhvr>
                                      <p:to x="100000" y="95000"/>
                                    </p:animScale>
                                    <p:animScale>
                                      <p:cBhvr>
                                        <p:cTn id="25"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2332422"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网络配置</a:t>
            </a:r>
            <a:endParaRPr lang="zh-CN" altLang="en-US" sz="2400" kern="1200" dirty="0">
              <a:solidFill>
                <a:srgbClr val="1353A2"/>
              </a:solidFill>
              <a:latin typeface="微软雅黑" panose="020B0503020204020204" pitchFamily="34" charset="-122"/>
              <a:ea typeface="微软雅黑" panose="020B0503020204020204" pitchFamily="34" charset="-122"/>
              <a:cs typeface="+mn-cs"/>
            </a:endParaRPr>
          </a:p>
        </p:txBody>
      </p:sp>
      <p:pic>
        <p:nvPicPr>
          <p:cNvPr id="7" name="图片 6"/>
          <p:cNvPicPr>
            <a:picLocks noChangeAspect="1"/>
          </p:cNvPicPr>
          <p:nvPr/>
        </p:nvPicPr>
        <p:blipFill>
          <a:blip r:embed="rId1"/>
          <a:stretch>
            <a:fillRect/>
          </a:stretch>
        </p:blipFill>
        <p:spPr>
          <a:xfrm>
            <a:off x="596050" y="1226410"/>
            <a:ext cx="5708943" cy="5200917"/>
          </a:xfrm>
          <a:prstGeom prst="rect">
            <a:avLst/>
          </a:prstGeom>
        </p:spPr>
      </p:pic>
      <p:pic>
        <p:nvPicPr>
          <p:cNvPr id="10" name="图片 9"/>
          <p:cNvPicPr>
            <a:picLocks noChangeAspect="1"/>
          </p:cNvPicPr>
          <p:nvPr/>
        </p:nvPicPr>
        <p:blipFill rotWithShape="1">
          <a:blip r:embed="rId2"/>
          <a:srcRect b="54210"/>
          <a:stretch>
            <a:fillRect/>
          </a:stretch>
        </p:blipFill>
        <p:spPr>
          <a:xfrm>
            <a:off x="6691373" y="1291559"/>
            <a:ext cx="4686541" cy="1081694"/>
          </a:xfrm>
          <a:prstGeom prst="rect">
            <a:avLst/>
          </a:prstGeom>
        </p:spPr>
      </p:pic>
      <p:pic>
        <p:nvPicPr>
          <p:cNvPr id="12" name="图片 11"/>
          <p:cNvPicPr>
            <a:picLocks noChangeAspect="1"/>
          </p:cNvPicPr>
          <p:nvPr/>
        </p:nvPicPr>
        <p:blipFill rotWithShape="1">
          <a:blip r:embed="rId3"/>
          <a:srcRect b="41440"/>
          <a:stretch>
            <a:fillRect/>
          </a:stretch>
        </p:blipFill>
        <p:spPr>
          <a:xfrm>
            <a:off x="6691373" y="2481475"/>
            <a:ext cx="3486329" cy="153211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2332422"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1.3.3</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网络配置</a:t>
            </a:r>
            <a:endParaRPr lang="zh-CN" altLang="en-US" sz="24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9" name="组合 8"/>
          <p:cNvGrpSpPr/>
          <p:nvPr/>
        </p:nvGrpSpPr>
        <p:grpSpPr>
          <a:xfrm>
            <a:off x="6585890" y="2593153"/>
            <a:ext cx="5287350" cy="2890600"/>
            <a:chOff x="695422" y="2286028"/>
            <a:chExt cx="5349390" cy="2890600"/>
          </a:xfrm>
        </p:grpSpPr>
        <p:sp>
          <p:nvSpPr>
            <p:cNvPr id="2" name="矩形 1"/>
            <p:cNvSpPr/>
            <p:nvPr/>
          </p:nvSpPr>
          <p:spPr>
            <a:xfrm>
              <a:off x="695422" y="2286028"/>
              <a:ext cx="5349390" cy="2890600"/>
            </a:xfrm>
            <a:prstGeom prst="rect">
              <a:avLst/>
            </a:prstGeom>
            <a:solidFill>
              <a:schemeClr val="tx1">
                <a:lumMod val="85000"/>
                <a:lumOff val="1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44"/>
            <p:cNvSpPr txBox="1">
              <a:spLocks noChangeArrowheads="1"/>
            </p:cNvSpPr>
            <p:nvPr/>
          </p:nvSpPr>
          <p:spPr bwMode="auto">
            <a:xfrm>
              <a:off x="802304" y="2369600"/>
              <a:ext cx="5242508" cy="271651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marL="285750" indent="-285750">
                <a:buFont typeface="Wingdings" panose="05000000000000000000" pitchFamily="2" charset="2"/>
                <a:buChar char=""/>
              </a:pPr>
              <a:r>
                <a:rPr lang="zh-CN" altLang="en-US" b="1" dirty="0">
                  <a:solidFill>
                    <a:schemeClr val="bg1"/>
                  </a:solidFill>
                  <a:latin typeface="Times New Roman" panose="02020603050405020304" pitchFamily="18" charset="0"/>
                  <a:cs typeface="Times New Roman" panose="02020603050405020304" pitchFamily="18" charset="0"/>
                </a:rPr>
                <a:t>子网</a:t>
              </a:r>
              <a:r>
                <a:rPr lang="en-US" altLang="zh-CN" b="1" dirty="0">
                  <a:solidFill>
                    <a:schemeClr val="bg1"/>
                  </a:solidFill>
                  <a:latin typeface="Times New Roman" panose="02020603050405020304" pitchFamily="18" charset="0"/>
                  <a:cs typeface="Times New Roman" panose="02020603050405020304" pitchFamily="18" charset="0"/>
                </a:rPr>
                <a:t>IP</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192.168.234.0</a:t>
              </a:r>
              <a:endParaRPr lang="en-US" altLang="zh-CN"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zh-CN" altLang="en-US" b="1" dirty="0">
                  <a:solidFill>
                    <a:schemeClr val="bg1"/>
                  </a:solidFill>
                  <a:latin typeface="Times New Roman" panose="02020603050405020304" pitchFamily="18" charset="0"/>
                  <a:cs typeface="Times New Roman" panose="02020603050405020304" pitchFamily="18" charset="0"/>
                </a:rPr>
                <a:t>子网掩码：</a:t>
              </a:r>
              <a:r>
                <a:rPr lang="en-US" altLang="zh-CN" b="1" dirty="0">
                  <a:solidFill>
                    <a:schemeClr val="bg1"/>
                  </a:solidFill>
                  <a:latin typeface="Times New Roman" panose="02020603050405020304" pitchFamily="18" charset="0"/>
                  <a:cs typeface="Times New Roman" panose="02020603050405020304" pitchFamily="18" charset="0"/>
                </a:rPr>
                <a:t>255.255.255.0</a:t>
              </a:r>
              <a:endParaRPr lang="en-US" altLang="zh-CN"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zh-CN" altLang="en-US" b="1" dirty="0">
                  <a:solidFill>
                    <a:schemeClr val="bg1"/>
                  </a:solidFill>
                  <a:latin typeface="Times New Roman" panose="02020603050405020304" pitchFamily="18" charset="0"/>
                  <a:cs typeface="Times New Roman" panose="02020603050405020304" pitchFamily="18" charset="0"/>
                </a:rPr>
                <a:t>网关</a:t>
              </a:r>
              <a:r>
                <a:rPr lang="en-US" altLang="zh-CN" b="1" dirty="0">
                  <a:solidFill>
                    <a:schemeClr val="bg1"/>
                  </a:solidFill>
                  <a:latin typeface="Times New Roman" panose="02020603050405020304" pitchFamily="18" charset="0"/>
                  <a:cs typeface="Times New Roman" panose="02020603050405020304" pitchFamily="18" charset="0"/>
                </a:rPr>
                <a:t>IP</a:t>
              </a:r>
              <a:r>
                <a:rPr lang="zh-CN" altLang="en-US" b="1" dirty="0">
                  <a:solidFill>
                    <a:schemeClr val="bg1"/>
                  </a:solidFill>
                  <a:latin typeface="Times New Roman" panose="02020603050405020304" pitchFamily="18" charset="0"/>
                  <a:cs typeface="Times New Roman" panose="02020603050405020304" pitchFamily="18" charset="0"/>
                </a:rPr>
                <a:t>：</a:t>
              </a:r>
              <a:r>
                <a:rPr lang="en-US" altLang="zh-CN" b="1" dirty="0">
                  <a:solidFill>
                    <a:schemeClr val="bg1"/>
                  </a:solidFill>
                  <a:latin typeface="Times New Roman" panose="02020603050405020304" pitchFamily="18" charset="0"/>
                  <a:cs typeface="Times New Roman" panose="02020603050405020304" pitchFamily="18" charset="0"/>
                </a:rPr>
                <a:t>192.168.234.2</a:t>
              </a:r>
              <a:endParaRPr lang="en-US" altLang="zh-CN"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CN" b="1" dirty="0">
                  <a:solidFill>
                    <a:schemeClr val="bg1"/>
                  </a:solidFill>
                  <a:latin typeface="Times New Roman" panose="02020603050405020304" pitchFamily="18" charset="0"/>
                  <a:cs typeface="Times New Roman" panose="02020603050405020304" pitchFamily="18" charset="0"/>
                </a:rPr>
                <a:t>DHCP</a:t>
              </a:r>
              <a:r>
                <a:rPr lang="zh-CN" altLang="en-US" b="1" dirty="0">
                  <a:solidFill>
                    <a:schemeClr val="bg1"/>
                  </a:solidFill>
                  <a:latin typeface="Times New Roman" panose="02020603050405020304" pitchFamily="18" charset="0"/>
                  <a:cs typeface="Times New Roman" panose="02020603050405020304" pitchFamily="18" charset="0"/>
                </a:rPr>
                <a:t>地址范围：</a:t>
              </a:r>
              <a:r>
                <a:rPr lang="en-US" altLang="zh-CN" b="1" dirty="0">
                  <a:solidFill>
                    <a:schemeClr val="bg1"/>
                  </a:solidFill>
                  <a:latin typeface="Times New Roman" panose="02020603050405020304" pitchFamily="18" charset="0"/>
                  <a:cs typeface="Times New Roman" panose="02020603050405020304" pitchFamily="18" charset="0"/>
                </a:rPr>
                <a:t>192.168.234.128 – 192.168.234.254</a:t>
              </a:r>
              <a:endParaRPr lang="en-US" altLang="zh-CN"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zh-CN" altLang="en-US" b="1" dirty="0">
                  <a:solidFill>
                    <a:srgbClr val="FF0000"/>
                  </a:solidFill>
                  <a:latin typeface="Times New Roman" panose="02020603050405020304" pitchFamily="18" charset="0"/>
                  <a:cs typeface="Times New Roman" panose="02020603050405020304" pitchFamily="18" charset="0"/>
                </a:rPr>
                <a:t>静态</a:t>
              </a:r>
              <a:r>
                <a:rPr lang="en-US" altLang="zh-CN" b="1" dirty="0">
                  <a:solidFill>
                    <a:srgbClr val="FF0000"/>
                  </a:solidFill>
                  <a:latin typeface="Times New Roman" panose="02020603050405020304" pitchFamily="18" charset="0"/>
                  <a:cs typeface="Times New Roman" panose="02020603050405020304" pitchFamily="18" charset="0"/>
                </a:rPr>
                <a:t>IP</a:t>
              </a:r>
              <a:r>
                <a:rPr lang="zh-CN" altLang="en-US" b="1" dirty="0">
                  <a:solidFill>
                    <a:schemeClr val="bg1"/>
                  </a:solidFill>
                  <a:latin typeface="Times New Roman" panose="02020603050405020304" pitchFamily="18" charset="0"/>
                  <a:cs typeface="Times New Roman" panose="02020603050405020304" pitchFamily="18" charset="0"/>
                </a:rPr>
                <a:t>可用范围：</a:t>
              </a:r>
              <a:r>
                <a:rPr lang="en-US" altLang="zh-CN" b="1" dirty="0">
                  <a:solidFill>
                    <a:srgbClr val="FF0000"/>
                  </a:solidFill>
                  <a:latin typeface="Times New Roman" panose="02020603050405020304" pitchFamily="18" charset="0"/>
                  <a:cs typeface="Times New Roman" panose="02020603050405020304" pitchFamily="18" charset="0"/>
                </a:rPr>
                <a:t>192.168.234.3 – 192.168.234.127</a:t>
              </a:r>
              <a:endParaRPr lang="en-US" altLang="zh-CN" b="1" dirty="0">
                <a:solidFill>
                  <a:srgbClr val="FF00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altLang="zh-CN" b="1" dirty="0">
                <a:solidFill>
                  <a:srgbClr val="FF00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CN" b="1" dirty="0">
                  <a:solidFill>
                    <a:srgbClr val="00B050"/>
                  </a:solidFill>
                  <a:latin typeface="Times New Roman" panose="02020603050405020304" pitchFamily="18" charset="0"/>
                  <a:cs typeface="Times New Roman" panose="02020603050405020304" pitchFamily="18" charset="0"/>
                </a:rPr>
                <a:t>BOOTPROTO=static</a:t>
              </a:r>
              <a:endParaRPr lang="en-US" altLang="zh-CN" b="1" dirty="0">
                <a:solidFill>
                  <a:srgbClr val="00B05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altLang="zh-CN" b="1" dirty="0">
                  <a:solidFill>
                    <a:srgbClr val="00B050"/>
                  </a:solidFill>
                  <a:latin typeface="Times New Roman" panose="02020603050405020304" pitchFamily="18" charset="0"/>
                  <a:cs typeface="Times New Roman" panose="02020603050405020304" pitchFamily="18" charset="0"/>
                </a:rPr>
                <a:t>ONBOOT=yes</a:t>
              </a:r>
              <a:endParaRPr lang="en-US" altLang="zh-CN" b="1" dirty="0">
                <a:solidFill>
                  <a:srgbClr val="00B050"/>
                </a:solidFill>
                <a:latin typeface="Times New Roman" panose="02020603050405020304" pitchFamily="18" charset="0"/>
                <a:cs typeface="Times New Roman" panose="02020603050405020304" pitchFamily="18" charset="0"/>
              </a:endParaRPr>
            </a:p>
          </p:txBody>
        </p:sp>
      </p:grpSp>
      <p:pic>
        <p:nvPicPr>
          <p:cNvPr id="5" name="图片 4"/>
          <p:cNvPicPr>
            <a:picLocks noChangeAspect="1"/>
          </p:cNvPicPr>
          <p:nvPr/>
        </p:nvPicPr>
        <p:blipFill>
          <a:blip r:embed="rId1"/>
          <a:stretch>
            <a:fillRect/>
          </a:stretch>
        </p:blipFill>
        <p:spPr>
          <a:xfrm>
            <a:off x="562018" y="2474492"/>
            <a:ext cx="5804198" cy="3753043"/>
          </a:xfrm>
          <a:prstGeom prst="rect">
            <a:avLst/>
          </a:prstGeom>
        </p:spPr>
      </p:pic>
      <p:pic>
        <p:nvPicPr>
          <p:cNvPr id="8" name="图片 7"/>
          <p:cNvPicPr>
            <a:picLocks noChangeAspect="1"/>
          </p:cNvPicPr>
          <p:nvPr/>
        </p:nvPicPr>
        <p:blipFill>
          <a:blip r:embed="rId2"/>
          <a:stretch>
            <a:fillRect/>
          </a:stretch>
        </p:blipFill>
        <p:spPr>
          <a:xfrm>
            <a:off x="562018" y="1374247"/>
            <a:ext cx="6782149" cy="86999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5"/>
          <p:cNvGrpSpPr/>
          <p:nvPr/>
        </p:nvGrpSpPr>
        <p:grpSpPr>
          <a:xfrm>
            <a:off x="840784" y="1268760"/>
            <a:ext cx="10654409" cy="1008112"/>
            <a:chOff x="395441" y="968316"/>
            <a:chExt cx="10210154" cy="1008112"/>
          </a:xfrm>
          <a:solidFill>
            <a:srgbClr val="1353A2"/>
          </a:solidFill>
        </p:grpSpPr>
        <p:sp>
          <p:nvSpPr>
            <p:cNvPr id="3"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4"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zh-CN" altLang="en-US" sz="3200" b="1" dirty="0">
                  <a:solidFill>
                    <a:schemeClr val="bg1"/>
                  </a:solidFill>
                </a:rPr>
                <a:t>访问测试</a:t>
              </a:r>
              <a:endParaRPr lang="en-US" altLang="zh-CN" sz="3200" b="1" dirty="0">
                <a:solidFill>
                  <a:schemeClr val="bg1"/>
                </a:solidFill>
              </a:endParaRPr>
            </a:p>
          </p:txBody>
        </p:sp>
        <p:pic>
          <p:nvPicPr>
            <p:cNvPr id="5" name="图片 4"/>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13" name="矩形 12"/>
          <p:cNvSpPr/>
          <p:nvPr/>
        </p:nvSpPr>
        <p:spPr>
          <a:xfrm>
            <a:off x="832653" y="2420888"/>
            <a:ext cx="2954603" cy="3761804"/>
          </a:xfrm>
          <a:prstGeom prst="rect">
            <a:avLst/>
          </a:prstGeom>
          <a:solidFill>
            <a:srgbClr val="1353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40000"/>
              </a:lnSpc>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无论是</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Windows</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还是</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Linux</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系统，都可以使用</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ping</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命令检测网络状况，通过</a:t>
            </a:r>
            <a:r>
              <a:rPr lang="en-US" altLang="zh-CN" sz="240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Ctrl+C</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等组合键停止检测。</a:t>
            </a:r>
            <a:endParaRPr kumimoji="1" lang="zh-CN" altLang="en-US" dirty="0"/>
          </a:p>
        </p:txBody>
      </p:sp>
      <p:sp>
        <p:nvSpPr>
          <p:cNvPr id="15" name="TextBox 14"/>
          <p:cNvSpPr txBox="1"/>
          <p:nvPr/>
        </p:nvSpPr>
        <p:spPr>
          <a:xfrm>
            <a:off x="2332422"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1.3.4</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访问测试</a:t>
            </a:r>
            <a:endParaRPr lang="zh-CN" altLang="en-US" sz="24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12" name="矩形 11"/>
          <p:cNvSpPr/>
          <p:nvPr/>
        </p:nvSpPr>
        <p:spPr>
          <a:xfrm>
            <a:off x="8789247" y="2871738"/>
            <a:ext cx="2768253" cy="719556"/>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20725">
              <a:lnSpc>
                <a:spcPct val="200000"/>
              </a:lnSpc>
            </a:pPr>
            <a:r>
              <a:rPr lang="zh-CN" altLang="en-US" sz="2400" dirty="0">
                <a:solidFill>
                  <a:srgbClr val="FF0000"/>
                </a:solidFill>
                <a:latin typeface="微软雅黑" panose="020B0503020204020204" pitchFamily="34" charset="-122"/>
                <a:ea typeface="微软雅黑" panose="020B0503020204020204" pitchFamily="34" charset="-122"/>
              </a:rPr>
              <a:t>物理机</a:t>
            </a:r>
            <a:r>
              <a:rPr lang="en-US" altLang="zh-CN" sz="2400" dirty="0">
                <a:solidFill>
                  <a:srgbClr val="FF0000"/>
                </a:solidFill>
                <a:latin typeface="微软雅黑" panose="020B0503020204020204" pitchFamily="34" charset="-122"/>
                <a:ea typeface="微软雅黑" panose="020B0503020204020204" pitchFamily="34" charset="-122"/>
              </a:rPr>
              <a:t>ping</a:t>
            </a:r>
            <a:r>
              <a:rPr lang="zh-CN" altLang="en-US" sz="2400" dirty="0">
                <a:solidFill>
                  <a:srgbClr val="FF0000"/>
                </a:solidFill>
                <a:latin typeface="微软雅黑" panose="020B0503020204020204" pitchFamily="34" charset="-122"/>
                <a:ea typeface="微软雅黑" panose="020B0503020204020204" pitchFamily="34" charset="-122"/>
              </a:rPr>
              <a:t>虚拟机</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17" name="矩形 16"/>
          <p:cNvSpPr/>
          <p:nvPr/>
        </p:nvSpPr>
        <p:spPr>
          <a:xfrm>
            <a:off x="8789247" y="4666121"/>
            <a:ext cx="2768253" cy="830997"/>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20725">
              <a:lnSpc>
                <a:spcPct val="200000"/>
              </a:lnSpc>
            </a:pPr>
            <a:r>
              <a:rPr lang="zh-CN" altLang="en-US" sz="2400" dirty="0">
                <a:solidFill>
                  <a:srgbClr val="FF0000"/>
                </a:solidFill>
                <a:latin typeface="微软雅黑" panose="020B0503020204020204" pitchFamily="34" charset="-122"/>
                <a:ea typeface="微软雅黑" panose="020B0503020204020204" pitchFamily="34" charset="-122"/>
              </a:rPr>
              <a:t>虚拟机</a:t>
            </a:r>
            <a:r>
              <a:rPr lang="en-US" altLang="zh-CN" sz="2400" dirty="0">
                <a:solidFill>
                  <a:srgbClr val="FF0000"/>
                </a:solidFill>
                <a:latin typeface="微软雅黑" panose="020B0503020204020204" pitchFamily="34" charset="-122"/>
                <a:ea typeface="微软雅黑" panose="020B0503020204020204" pitchFamily="34" charset="-122"/>
              </a:rPr>
              <a:t>ping</a:t>
            </a:r>
            <a:r>
              <a:rPr lang="zh-CN" altLang="en-US" sz="2400" dirty="0">
                <a:solidFill>
                  <a:srgbClr val="FF0000"/>
                </a:solidFill>
                <a:latin typeface="微软雅黑" panose="020B0503020204020204" pitchFamily="34" charset="-122"/>
                <a:ea typeface="微软雅黑" panose="020B0503020204020204" pitchFamily="34" charset="-122"/>
              </a:rPr>
              <a:t>物理机</a:t>
            </a:r>
            <a:endParaRPr lang="en-US" altLang="zh-CN" sz="2400" dirty="0">
              <a:solidFill>
                <a:srgbClr val="FF0000"/>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3968578" y="2420888"/>
            <a:ext cx="4820669" cy="1847771"/>
          </a:xfrm>
          <a:prstGeom prst="rect">
            <a:avLst/>
          </a:prstGeom>
        </p:spPr>
      </p:pic>
      <p:pic>
        <p:nvPicPr>
          <p:cNvPr id="7" name="图片 6"/>
          <p:cNvPicPr>
            <a:picLocks noChangeAspect="1"/>
          </p:cNvPicPr>
          <p:nvPr/>
        </p:nvPicPr>
        <p:blipFill>
          <a:blip r:embed="rId3"/>
          <a:stretch>
            <a:fillRect/>
          </a:stretch>
        </p:blipFill>
        <p:spPr>
          <a:xfrm>
            <a:off x="3968578" y="4480569"/>
            <a:ext cx="4820669" cy="1584649"/>
          </a:xfrm>
          <a:prstGeom prst="rect">
            <a:avLst/>
          </a:prstGeom>
        </p:spPr>
      </p:pic>
    </p:spTree>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5"/>
          <p:cNvGrpSpPr/>
          <p:nvPr/>
        </p:nvGrpSpPr>
        <p:grpSpPr>
          <a:xfrm>
            <a:off x="840784" y="1268760"/>
            <a:ext cx="10654409" cy="1008112"/>
            <a:chOff x="395441" y="968316"/>
            <a:chExt cx="10210154" cy="1008112"/>
          </a:xfrm>
          <a:solidFill>
            <a:srgbClr val="1353A2"/>
          </a:solidFill>
        </p:grpSpPr>
        <p:sp>
          <p:nvSpPr>
            <p:cNvPr id="3"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4"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zh-CN" altLang="en-US" sz="3200" b="1" dirty="0">
                  <a:solidFill>
                    <a:schemeClr val="bg1"/>
                  </a:solidFill>
                </a:rPr>
                <a:t>访问测试</a:t>
              </a:r>
              <a:endParaRPr lang="en-US" altLang="zh-CN" sz="3200" b="1" dirty="0">
                <a:solidFill>
                  <a:schemeClr val="bg1"/>
                </a:solidFill>
              </a:endParaRPr>
            </a:p>
          </p:txBody>
        </p:sp>
        <p:pic>
          <p:nvPicPr>
            <p:cNvPr id="5" name="图片 4"/>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13" name="矩形 12"/>
          <p:cNvSpPr/>
          <p:nvPr/>
        </p:nvSpPr>
        <p:spPr>
          <a:xfrm>
            <a:off x="832653" y="2420888"/>
            <a:ext cx="2954603" cy="3761804"/>
          </a:xfrm>
          <a:prstGeom prst="rect">
            <a:avLst/>
          </a:prstGeom>
          <a:solidFill>
            <a:srgbClr val="1353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nSpc>
                <a:spcPct val="140000"/>
              </a:lnSpc>
            </a:pP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无论是</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Windows</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还是</a:t>
            </a:r>
            <a:r>
              <a:rPr lang="en-US" altLang="zh-CN"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Linux</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系统，都可以使用</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ping</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命令检测网络状况，通过</a:t>
            </a:r>
            <a:r>
              <a:rPr lang="en-US" altLang="zh-CN" sz="2400"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Ctrl+C</a:t>
            </a:r>
            <a:r>
              <a:rPr lang="zh-CN" altLang="en-US" sz="24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等组合键停止检测。</a:t>
            </a:r>
            <a:endParaRPr kumimoji="1" lang="zh-CN" altLang="en-US" dirty="0"/>
          </a:p>
        </p:txBody>
      </p:sp>
      <p:sp>
        <p:nvSpPr>
          <p:cNvPr id="15" name="TextBox 14"/>
          <p:cNvSpPr txBox="1"/>
          <p:nvPr/>
        </p:nvSpPr>
        <p:spPr>
          <a:xfrm>
            <a:off x="2332422" y="500839"/>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1.3.4</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访问测试</a:t>
            </a:r>
            <a:endParaRPr lang="zh-CN" altLang="en-US" sz="24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8" name="矩形 7"/>
          <p:cNvSpPr/>
          <p:nvPr/>
        </p:nvSpPr>
        <p:spPr>
          <a:xfrm>
            <a:off x="10173373" y="4301790"/>
            <a:ext cx="1107996" cy="1689052"/>
          </a:xfrm>
          <a:prstGeom prst="rect">
            <a:avLst/>
          </a:prstGeom>
        </p:spPr>
        <p:txBody>
          <a:bodyPr wrap="none">
            <a:spAutoFit/>
          </a:bodyPr>
          <a:lstStyle/>
          <a:p>
            <a:pPr algn="ctr" defTabSz="720725">
              <a:lnSpc>
                <a:spcPct val="150000"/>
              </a:lnSpc>
            </a:pPr>
            <a:r>
              <a:rPr lang="zh-CN" altLang="en-US" sz="2400" dirty="0">
                <a:solidFill>
                  <a:srgbClr val="FF0000"/>
                </a:solidFill>
                <a:latin typeface="微软雅黑" panose="020B0503020204020204" pitchFamily="34" charset="-122"/>
                <a:ea typeface="微软雅黑" panose="020B0503020204020204" pitchFamily="34" charset="-122"/>
              </a:rPr>
              <a:t>虚拟机</a:t>
            </a:r>
            <a:endParaRPr lang="en-US" altLang="zh-CN" sz="2400" dirty="0">
              <a:solidFill>
                <a:srgbClr val="FF0000"/>
              </a:solidFill>
              <a:latin typeface="微软雅黑" panose="020B0503020204020204" pitchFamily="34" charset="-122"/>
              <a:ea typeface="微软雅黑" panose="020B0503020204020204" pitchFamily="34" charset="-122"/>
            </a:endParaRPr>
          </a:p>
          <a:p>
            <a:pPr algn="ctr" defTabSz="720725">
              <a:lnSpc>
                <a:spcPct val="150000"/>
              </a:lnSpc>
            </a:pPr>
            <a:r>
              <a:rPr lang="en-US" altLang="zh-CN" sz="2400" dirty="0">
                <a:solidFill>
                  <a:srgbClr val="FF0000"/>
                </a:solidFill>
                <a:latin typeface="微软雅黑" panose="020B0503020204020204" pitchFamily="34" charset="-122"/>
                <a:ea typeface="微软雅黑" panose="020B0503020204020204" pitchFamily="34" charset="-122"/>
              </a:rPr>
              <a:t>Ping</a:t>
            </a:r>
            <a:endParaRPr lang="en-US" altLang="zh-CN" sz="2400" dirty="0">
              <a:solidFill>
                <a:srgbClr val="FF0000"/>
              </a:solidFill>
              <a:latin typeface="微软雅黑" panose="020B0503020204020204" pitchFamily="34" charset="-122"/>
              <a:ea typeface="微软雅黑" panose="020B0503020204020204" pitchFamily="34" charset="-122"/>
            </a:endParaRPr>
          </a:p>
          <a:p>
            <a:pPr algn="ctr" defTabSz="720725">
              <a:lnSpc>
                <a:spcPct val="150000"/>
              </a:lnSpc>
            </a:pPr>
            <a:r>
              <a:rPr lang="zh-CN" altLang="en-US" sz="2400" dirty="0">
                <a:solidFill>
                  <a:srgbClr val="FF0000"/>
                </a:solidFill>
                <a:latin typeface="微软雅黑" panose="020B0503020204020204" pitchFamily="34" charset="-122"/>
                <a:ea typeface="微软雅黑" panose="020B0503020204020204" pitchFamily="34" charset="-122"/>
              </a:rPr>
              <a:t>外网</a:t>
            </a:r>
            <a:endParaRPr lang="en-US" altLang="zh-CN" sz="2400" dirty="0">
              <a:solidFill>
                <a:srgbClr val="FF0000"/>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3897240" y="4366499"/>
            <a:ext cx="6109014" cy="1816193"/>
          </a:xfrm>
          <a:prstGeom prst="rect">
            <a:avLst/>
          </a:prstGeom>
        </p:spPr>
      </p:pic>
      <p:sp>
        <p:nvSpPr>
          <p:cNvPr id="11" name="矩形 10"/>
          <p:cNvSpPr/>
          <p:nvPr/>
        </p:nvSpPr>
        <p:spPr>
          <a:xfrm>
            <a:off x="8789247" y="2871738"/>
            <a:ext cx="2768253" cy="719556"/>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20725">
              <a:lnSpc>
                <a:spcPct val="200000"/>
              </a:lnSpc>
            </a:pPr>
            <a:r>
              <a:rPr lang="zh-CN" altLang="en-US" sz="2400" dirty="0">
                <a:solidFill>
                  <a:srgbClr val="FF0000"/>
                </a:solidFill>
                <a:latin typeface="微软雅黑" panose="020B0503020204020204" pitchFamily="34" charset="-122"/>
                <a:ea typeface="微软雅黑" panose="020B0503020204020204" pitchFamily="34" charset="-122"/>
              </a:rPr>
              <a:t>物理机</a:t>
            </a:r>
            <a:r>
              <a:rPr lang="en-US" altLang="zh-CN" sz="2400" dirty="0">
                <a:solidFill>
                  <a:srgbClr val="FF0000"/>
                </a:solidFill>
                <a:latin typeface="微软雅黑" panose="020B0503020204020204" pitchFamily="34" charset="-122"/>
                <a:ea typeface="微软雅黑" panose="020B0503020204020204" pitchFamily="34" charset="-122"/>
              </a:rPr>
              <a:t>ping</a:t>
            </a:r>
            <a:r>
              <a:rPr lang="zh-CN" altLang="en-US" sz="2400" dirty="0">
                <a:solidFill>
                  <a:srgbClr val="FF0000"/>
                </a:solidFill>
                <a:latin typeface="微软雅黑" panose="020B0503020204020204" pitchFamily="34" charset="-122"/>
                <a:ea typeface="微软雅黑" panose="020B0503020204020204" pitchFamily="34" charset="-122"/>
              </a:rPr>
              <a:t>虚拟机</a:t>
            </a:r>
            <a:endParaRPr lang="en-US" altLang="zh-CN" sz="2400" dirty="0">
              <a:solidFill>
                <a:srgbClr val="FF0000"/>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3"/>
          <a:stretch>
            <a:fillRect/>
          </a:stretch>
        </p:blipFill>
        <p:spPr>
          <a:xfrm>
            <a:off x="3968578" y="2420888"/>
            <a:ext cx="4820669" cy="18477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3"/>
                                        </p:tgtEl>
                                      </p:cBhvr>
                                    </p:animEffect>
                                    <p:animScale>
                                      <p:cBhvr>
                                        <p:cTn id="7"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5132" y="447215"/>
            <a:ext cx="3167527" cy="646331"/>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600" kern="1200" dirty="0">
                <a:solidFill>
                  <a:srgbClr val="1353A2"/>
                </a:solidFill>
                <a:latin typeface="微软雅黑" panose="020B0503020204020204" pitchFamily="34" charset="-122"/>
                <a:ea typeface="微软雅黑" panose="020B0503020204020204" pitchFamily="34" charset="-122"/>
                <a:cs typeface="+mn-cs"/>
              </a:rPr>
              <a:t>目录页</a:t>
            </a:r>
            <a:endParaRPr lang="zh-CN" altLang="en-US" sz="3600" kern="1200" dirty="0">
              <a:solidFill>
                <a:srgbClr val="1353A2"/>
              </a:solidFill>
              <a:latin typeface="微软雅黑" panose="020B0503020204020204" pitchFamily="34" charset="-122"/>
              <a:ea typeface="微软雅黑" panose="020B0503020204020204" pitchFamily="34" charset="-122"/>
              <a:cs typeface="+mn-cs"/>
            </a:endParaRPr>
          </a:p>
        </p:txBody>
      </p:sp>
      <p:cxnSp>
        <p:nvCxnSpPr>
          <p:cNvPr id="50"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29"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31" name="矩形 1"/>
          <p:cNvSpPr>
            <a:spLocks noChangeArrowheads="1"/>
          </p:cNvSpPr>
          <p:nvPr/>
        </p:nvSpPr>
        <p:spPr bwMode="auto">
          <a:xfrm>
            <a:off x="264393" y="1769173"/>
            <a:ext cx="1888804"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4" name="矩形 21"/>
          <p:cNvSpPr>
            <a:spLocks noChangeArrowheads="1"/>
          </p:cNvSpPr>
          <p:nvPr/>
        </p:nvSpPr>
        <p:spPr bwMode="auto">
          <a:xfrm>
            <a:off x="2165681" y="1769173"/>
            <a:ext cx="1888803"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5" name="矩形 22"/>
          <p:cNvSpPr>
            <a:spLocks noChangeArrowheads="1"/>
          </p:cNvSpPr>
          <p:nvPr/>
        </p:nvSpPr>
        <p:spPr bwMode="auto">
          <a:xfrm>
            <a:off x="4053100" y="1769173"/>
            <a:ext cx="1892565"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6" name="矩形 28"/>
          <p:cNvSpPr>
            <a:spLocks noChangeArrowheads="1"/>
          </p:cNvSpPr>
          <p:nvPr/>
        </p:nvSpPr>
        <p:spPr bwMode="auto">
          <a:xfrm>
            <a:off x="2099550" y="1841570"/>
            <a:ext cx="20331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安装</a:t>
            </a: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7" name="矩形 29"/>
          <p:cNvSpPr>
            <a:spLocks noChangeArrowheads="1"/>
          </p:cNvSpPr>
          <p:nvPr/>
        </p:nvSpPr>
        <p:spPr bwMode="auto">
          <a:xfrm>
            <a:off x="4070327" y="1841570"/>
            <a:ext cx="1811231"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网络配置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38" name="直接连接符 7167"/>
          <p:cNvCxnSpPr>
            <a:cxnSpLocks noChangeShapeType="1"/>
          </p:cNvCxnSpPr>
          <p:nvPr/>
        </p:nvCxnSpPr>
        <p:spPr bwMode="auto">
          <a:xfrm>
            <a:off x="240288" y="1688477"/>
            <a:ext cx="190178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39" name="直接连接符 7172"/>
          <p:cNvCxnSpPr>
            <a:cxnSpLocks noChangeShapeType="1"/>
          </p:cNvCxnSpPr>
          <p:nvPr/>
        </p:nvCxnSpPr>
        <p:spPr bwMode="auto">
          <a:xfrm>
            <a:off x="240288"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0" name="直接连接符 50"/>
          <p:cNvCxnSpPr>
            <a:cxnSpLocks noChangeShapeType="1"/>
          </p:cNvCxnSpPr>
          <p:nvPr/>
        </p:nvCxnSpPr>
        <p:spPr bwMode="auto">
          <a:xfrm>
            <a:off x="2130757"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1" name="直接连接符 51"/>
          <p:cNvCxnSpPr>
            <a:cxnSpLocks noChangeShapeType="1"/>
          </p:cNvCxnSpPr>
          <p:nvPr/>
        </p:nvCxnSpPr>
        <p:spPr bwMode="auto">
          <a:xfrm>
            <a:off x="4011601"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2" name="直接连接符 52"/>
          <p:cNvCxnSpPr>
            <a:cxnSpLocks noChangeShapeType="1"/>
          </p:cNvCxnSpPr>
          <p:nvPr/>
        </p:nvCxnSpPr>
        <p:spPr bwMode="auto">
          <a:xfrm>
            <a:off x="5950178" y="1359415"/>
            <a:ext cx="1" cy="24837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43" name="TextBox 7177"/>
          <p:cNvSpPr txBox="1">
            <a:spLocks noChangeArrowheads="1"/>
          </p:cNvSpPr>
          <p:nvPr/>
        </p:nvSpPr>
        <p:spPr bwMode="auto">
          <a:xfrm>
            <a:off x="240288" y="1049095"/>
            <a:ext cx="14722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1</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4" name="TextBox 7177"/>
          <p:cNvSpPr txBox="1">
            <a:spLocks noChangeArrowheads="1"/>
          </p:cNvSpPr>
          <p:nvPr/>
        </p:nvSpPr>
        <p:spPr bwMode="auto">
          <a:xfrm>
            <a:off x="2142942" y="1049096"/>
            <a:ext cx="1397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2</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5" name="TextBox 7177"/>
          <p:cNvSpPr txBox="1">
            <a:spLocks noChangeArrowheads="1"/>
          </p:cNvSpPr>
          <p:nvPr/>
        </p:nvSpPr>
        <p:spPr bwMode="auto">
          <a:xfrm>
            <a:off x="3961241" y="1049095"/>
            <a:ext cx="1724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5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3</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6" name="矩形 28"/>
          <p:cNvSpPr>
            <a:spLocks noChangeArrowheads="1"/>
          </p:cNvSpPr>
          <p:nvPr/>
        </p:nvSpPr>
        <p:spPr bwMode="auto">
          <a:xfrm>
            <a:off x="125260" y="1860344"/>
            <a:ext cx="202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系统简介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47" name="直接连接符 46"/>
          <p:cNvCxnSpPr/>
          <p:nvPr/>
        </p:nvCxnSpPr>
        <p:spPr bwMode="auto">
          <a:xfrm>
            <a:off x="2130757" y="1688477"/>
            <a:ext cx="190178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8" name="直接连接符 47"/>
          <p:cNvCxnSpPr/>
          <p:nvPr/>
        </p:nvCxnSpPr>
        <p:spPr bwMode="auto">
          <a:xfrm>
            <a:off x="3991652" y="1688477"/>
            <a:ext cx="399995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2" name="矩形 1"/>
          <p:cNvSpPr>
            <a:spLocks noChangeArrowheads="1"/>
          </p:cNvSpPr>
          <p:nvPr/>
        </p:nvSpPr>
        <p:spPr bwMode="auto">
          <a:xfrm>
            <a:off x="5981779" y="1785676"/>
            <a:ext cx="1859200" cy="2006759"/>
          </a:xfrm>
          <a:prstGeom prst="rect">
            <a:avLst/>
          </a:prstGeom>
          <a:solidFill>
            <a:srgbClr val="1353A2"/>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4" name="矩形 21"/>
          <p:cNvSpPr>
            <a:spLocks noChangeArrowheads="1"/>
          </p:cNvSpPr>
          <p:nvPr/>
        </p:nvSpPr>
        <p:spPr bwMode="auto">
          <a:xfrm>
            <a:off x="5997390" y="4479805"/>
            <a:ext cx="1724176"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5" name="矩形 22"/>
          <p:cNvSpPr>
            <a:spLocks noChangeArrowheads="1"/>
          </p:cNvSpPr>
          <p:nvPr/>
        </p:nvSpPr>
        <p:spPr bwMode="auto">
          <a:xfrm>
            <a:off x="7730879" y="4489427"/>
            <a:ext cx="1727610"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6" name="矩形 28"/>
          <p:cNvSpPr>
            <a:spLocks noChangeArrowheads="1"/>
          </p:cNvSpPr>
          <p:nvPr/>
        </p:nvSpPr>
        <p:spPr bwMode="auto">
          <a:xfrm>
            <a:off x="5993887" y="4364312"/>
            <a:ext cx="176966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系统启动流程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7" name="矩形 29"/>
          <p:cNvSpPr>
            <a:spLocks noChangeArrowheads="1"/>
          </p:cNvSpPr>
          <p:nvPr/>
        </p:nvSpPr>
        <p:spPr bwMode="auto">
          <a:xfrm>
            <a:off x="7721566" y="4566723"/>
            <a:ext cx="1713648"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远程终端访问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58" name="直接连接符 51"/>
          <p:cNvCxnSpPr>
            <a:cxnSpLocks noChangeShapeType="1"/>
          </p:cNvCxnSpPr>
          <p:nvPr/>
        </p:nvCxnSpPr>
        <p:spPr bwMode="auto">
          <a:xfrm>
            <a:off x="7677268" y="4159855"/>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9" name="TextBox 7177"/>
          <p:cNvSpPr txBox="1">
            <a:spLocks noChangeArrowheads="1"/>
          </p:cNvSpPr>
          <p:nvPr/>
        </p:nvSpPr>
        <p:spPr bwMode="auto">
          <a:xfrm>
            <a:off x="5984045" y="1060096"/>
            <a:ext cx="979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zh-CN"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4</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0" name="TextBox 7177"/>
          <p:cNvSpPr txBox="1">
            <a:spLocks noChangeArrowheads="1"/>
          </p:cNvSpPr>
          <p:nvPr/>
        </p:nvSpPr>
        <p:spPr bwMode="auto">
          <a:xfrm>
            <a:off x="5943295" y="3783090"/>
            <a:ext cx="9970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5</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1" name="TextBox 7177"/>
          <p:cNvSpPr txBox="1">
            <a:spLocks noChangeArrowheads="1"/>
          </p:cNvSpPr>
          <p:nvPr/>
        </p:nvSpPr>
        <p:spPr bwMode="auto">
          <a:xfrm>
            <a:off x="7725608" y="3803149"/>
            <a:ext cx="15200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6</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2" name="矩形 28"/>
          <p:cNvSpPr>
            <a:spLocks noChangeArrowheads="1"/>
          </p:cNvSpPr>
          <p:nvPr/>
        </p:nvSpPr>
        <p:spPr bwMode="auto">
          <a:xfrm>
            <a:off x="5967195" y="1870892"/>
            <a:ext cx="178290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目录结构</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63" name="直接连接符 19"/>
          <p:cNvCxnSpPr/>
          <p:nvPr/>
        </p:nvCxnSpPr>
        <p:spPr bwMode="auto">
          <a:xfrm>
            <a:off x="6017699" y="4427930"/>
            <a:ext cx="1678967" cy="776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64" name="直接连接符 20"/>
          <p:cNvCxnSpPr/>
          <p:nvPr/>
        </p:nvCxnSpPr>
        <p:spPr bwMode="auto">
          <a:xfrm>
            <a:off x="7698294" y="4428744"/>
            <a:ext cx="183470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pic>
        <p:nvPicPr>
          <p:cNvPr id="66"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6064187" y="5280100"/>
            <a:ext cx="1538977" cy="104646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68" name="直接连接符 52"/>
          <p:cNvCxnSpPr>
            <a:cxnSpLocks noChangeShapeType="1"/>
          </p:cNvCxnSpPr>
          <p:nvPr/>
        </p:nvCxnSpPr>
        <p:spPr bwMode="auto">
          <a:xfrm>
            <a:off x="5993969" y="4173190"/>
            <a:ext cx="1" cy="296447"/>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69" name="矩形 1"/>
          <p:cNvSpPr>
            <a:spLocks noChangeArrowheads="1"/>
          </p:cNvSpPr>
          <p:nvPr/>
        </p:nvSpPr>
        <p:spPr bwMode="auto">
          <a:xfrm>
            <a:off x="9478906" y="4485614"/>
            <a:ext cx="1724177"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pic>
        <p:nvPicPr>
          <p:cNvPr id="70" name="Picture 5"/>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9634247" y="5321637"/>
            <a:ext cx="1457809" cy="99727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71" name="直接连接符 7167"/>
          <p:cNvCxnSpPr>
            <a:cxnSpLocks noChangeShapeType="1"/>
          </p:cNvCxnSpPr>
          <p:nvPr/>
        </p:nvCxnSpPr>
        <p:spPr bwMode="auto">
          <a:xfrm flipV="1">
            <a:off x="9454801" y="4419988"/>
            <a:ext cx="1993988" cy="875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72" name="直接连接符 7172"/>
          <p:cNvCxnSpPr>
            <a:cxnSpLocks noChangeShapeType="1"/>
          </p:cNvCxnSpPr>
          <p:nvPr/>
        </p:nvCxnSpPr>
        <p:spPr bwMode="auto">
          <a:xfrm>
            <a:off x="9453896" y="4074072"/>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73" name="TextBox 7177"/>
          <p:cNvSpPr txBox="1">
            <a:spLocks noChangeArrowheads="1"/>
          </p:cNvSpPr>
          <p:nvPr/>
        </p:nvSpPr>
        <p:spPr bwMode="auto">
          <a:xfrm>
            <a:off x="9497973" y="3751901"/>
            <a:ext cx="1504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7</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74" name="矩形 28"/>
          <p:cNvSpPr>
            <a:spLocks noChangeArrowheads="1"/>
          </p:cNvSpPr>
          <p:nvPr/>
        </p:nvSpPr>
        <p:spPr bwMode="auto">
          <a:xfrm>
            <a:off x="9478906" y="4402629"/>
            <a:ext cx="1699485"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b="1" dirty="0">
                <a:solidFill>
                  <a:srgbClr val="FFFFFF"/>
                </a:solidFill>
                <a:latin typeface="微软雅黑" panose="020B0503020204020204" pitchFamily="34" charset="-122"/>
                <a:ea typeface="微软雅黑" panose="020B0503020204020204" pitchFamily="34" charset="-122"/>
              </a:rPr>
              <a:t>SFTP</a:t>
            </a:r>
            <a:r>
              <a:rPr lang="zh-CN" altLang="en-US" b="1" dirty="0">
                <a:solidFill>
                  <a:srgbClr val="FFFFFF"/>
                </a:solidFill>
                <a:latin typeface="微软雅黑" panose="020B0503020204020204" pitchFamily="34" charset="-122"/>
                <a:ea typeface="微软雅黑" panose="020B0503020204020204" pitchFamily="34" charset="-122"/>
              </a:rPr>
              <a:t>远程文件管理</a:t>
            </a:r>
            <a:endParaRPr lang="zh-CN" altLang="en-US" b="1" dirty="0">
              <a:solidFill>
                <a:srgbClr val="FFFFFF"/>
              </a:solidFill>
              <a:latin typeface="微软雅黑" panose="020B0503020204020204" pitchFamily="34" charset="-122"/>
              <a:ea typeface="微软雅黑" panose="020B0503020204020204" pitchFamily="34" charset="-122"/>
            </a:endParaRPr>
          </a:p>
        </p:txBody>
      </p:sp>
      <p:pic>
        <p:nvPicPr>
          <p:cNvPr id="7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56" y="2597881"/>
            <a:ext cx="1520630" cy="106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0621" y="2594842"/>
            <a:ext cx="1611054" cy="108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1376" y="2624392"/>
            <a:ext cx="1528692" cy="1029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9757" y="5269244"/>
            <a:ext cx="1531780" cy="1012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29150" y="2604066"/>
            <a:ext cx="1364458" cy="104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44000">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14:bounceEnd="44000">
                                          <p:cBhvr additive="base">
                                            <p:cTn id="7" dur="500" fill="hold"/>
                                            <p:tgtEl>
                                              <p:spTgt spid="43"/>
                                            </p:tgtEl>
                                            <p:attrNameLst>
                                              <p:attrName>ppt_x</p:attrName>
                                            </p:attrNameLst>
                                          </p:cBhvr>
                                          <p:tavLst>
                                            <p:tav tm="0">
                                              <p:val>
                                                <p:strVal val="1+#ppt_w/2"/>
                                              </p:val>
                                            </p:tav>
                                            <p:tav tm="100000">
                                              <p:val>
                                                <p:strVal val="#ppt_x"/>
                                              </p:val>
                                            </p:tav>
                                          </p:tavLst>
                                        </p:anim>
                                        <p:anim calcmode="lin" valueType="num" p14:bounceEnd="44000">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44000">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14:bounceEnd="44000">
                                          <p:cBhvr additive="base">
                                            <p:cTn id="11" dur="500" fill="hold"/>
                                            <p:tgtEl>
                                              <p:spTgt spid="44"/>
                                            </p:tgtEl>
                                            <p:attrNameLst>
                                              <p:attrName>ppt_x</p:attrName>
                                            </p:attrNameLst>
                                          </p:cBhvr>
                                          <p:tavLst>
                                            <p:tav tm="0">
                                              <p:val>
                                                <p:strVal val="1+#ppt_w/2"/>
                                              </p:val>
                                            </p:tav>
                                            <p:tav tm="100000">
                                              <p:val>
                                                <p:strVal val="#ppt_x"/>
                                              </p:val>
                                            </p:tav>
                                          </p:tavLst>
                                        </p:anim>
                                        <p:anim calcmode="lin" valueType="num" p14:bounceEnd="44000">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44000">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14:bounceEnd="44000">
                                          <p:cBhvr additive="base">
                                            <p:cTn id="15" dur="500" fill="hold"/>
                                            <p:tgtEl>
                                              <p:spTgt spid="45"/>
                                            </p:tgtEl>
                                            <p:attrNameLst>
                                              <p:attrName>ppt_x</p:attrName>
                                            </p:attrNameLst>
                                          </p:cBhvr>
                                          <p:tavLst>
                                            <p:tav tm="0">
                                              <p:val>
                                                <p:strVal val="1+#ppt_w/2"/>
                                              </p:val>
                                            </p:tav>
                                            <p:tav tm="100000">
                                              <p:val>
                                                <p:strVal val="#ppt_x"/>
                                              </p:val>
                                            </p:tav>
                                          </p:tavLst>
                                        </p:anim>
                                        <p:anim calcmode="lin" valueType="num" p14:bounceEnd="44000">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44000">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14:bounceEnd="44000">
                                          <p:cBhvr additive="base">
                                            <p:cTn id="19" dur="500" fill="hold"/>
                                            <p:tgtEl>
                                              <p:spTgt spid="59"/>
                                            </p:tgtEl>
                                            <p:attrNameLst>
                                              <p:attrName>ppt_x</p:attrName>
                                            </p:attrNameLst>
                                          </p:cBhvr>
                                          <p:tavLst>
                                            <p:tav tm="0">
                                              <p:val>
                                                <p:strVal val="1+#ppt_w/2"/>
                                              </p:val>
                                            </p:tav>
                                            <p:tav tm="100000">
                                              <p:val>
                                                <p:strVal val="#ppt_x"/>
                                              </p:val>
                                            </p:tav>
                                          </p:tavLst>
                                        </p:anim>
                                        <p:anim calcmode="lin" valueType="num" p14:bounceEnd="44000">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44000">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14:bounceEnd="44000">
                                          <p:cBhvr additive="base">
                                            <p:cTn id="23" dur="500" fill="hold"/>
                                            <p:tgtEl>
                                              <p:spTgt spid="60"/>
                                            </p:tgtEl>
                                            <p:attrNameLst>
                                              <p:attrName>ppt_x</p:attrName>
                                            </p:attrNameLst>
                                          </p:cBhvr>
                                          <p:tavLst>
                                            <p:tav tm="0">
                                              <p:val>
                                                <p:strVal val="1+#ppt_w/2"/>
                                              </p:val>
                                            </p:tav>
                                            <p:tav tm="100000">
                                              <p:val>
                                                <p:strVal val="#ppt_x"/>
                                              </p:val>
                                            </p:tav>
                                          </p:tavLst>
                                        </p:anim>
                                        <p:anim calcmode="lin" valueType="num" p14:bounceEnd="44000">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44000">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14:bounceEnd="44000">
                                          <p:cBhvr additive="base">
                                            <p:cTn id="27" dur="500" fill="hold"/>
                                            <p:tgtEl>
                                              <p:spTgt spid="61"/>
                                            </p:tgtEl>
                                            <p:attrNameLst>
                                              <p:attrName>ppt_x</p:attrName>
                                            </p:attrNameLst>
                                          </p:cBhvr>
                                          <p:tavLst>
                                            <p:tav tm="0">
                                              <p:val>
                                                <p:strVal val="1+#ppt_w/2"/>
                                              </p:val>
                                            </p:tav>
                                            <p:tav tm="100000">
                                              <p:val>
                                                <p:strVal val="#ppt_x"/>
                                              </p:val>
                                            </p:tav>
                                          </p:tavLst>
                                        </p:anim>
                                        <p:anim calcmode="lin" valueType="num" p14:bounceEnd="44000">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44000">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14:bounceEnd="44000">
                                          <p:cBhvr additive="base">
                                            <p:cTn id="31" dur="500" fill="hold"/>
                                            <p:tgtEl>
                                              <p:spTgt spid="73"/>
                                            </p:tgtEl>
                                            <p:attrNameLst>
                                              <p:attrName>ppt_x</p:attrName>
                                            </p:attrNameLst>
                                          </p:cBhvr>
                                          <p:tavLst>
                                            <p:tav tm="0">
                                              <p:val>
                                                <p:strVal val="1+#ppt_w/2"/>
                                              </p:val>
                                            </p:tav>
                                            <p:tav tm="100000">
                                              <p:val>
                                                <p:strVal val="#ppt_x"/>
                                              </p:val>
                                            </p:tav>
                                          </p:tavLst>
                                        </p:anim>
                                        <p:anim calcmode="lin" valueType="num" p14:bounceEnd="44000">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1+#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1+#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1+#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1+#ppt_w/2"/>
                                              </p:val>
                                            </p:tav>
                                            <p:tav tm="100000">
                                              <p:val>
                                                <p:strVal val="#ppt_x"/>
                                              </p:val>
                                            </p:tav>
                                          </p:tavLst>
                                        </p:anim>
                                        <p:anim calcmode="lin" valueType="num">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500" fill="hold"/>
                                            <p:tgtEl>
                                              <p:spTgt spid="60"/>
                                            </p:tgtEl>
                                            <p:attrNameLst>
                                              <p:attrName>ppt_x</p:attrName>
                                            </p:attrNameLst>
                                          </p:cBhvr>
                                          <p:tavLst>
                                            <p:tav tm="0">
                                              <p:val>
                                                <p:strVal val="1+#ppt_w/2"/>
                                              </p:val>
                                            </p:tav>
                                            <p:tav tm="100000">
                                              <p:val>
                                                <p:strVal val="#ppt_x"/>
                                              </p:val>
                                            </p:tav>
                                          </p:tavLst>
                                        </p:anim>
                                        <p:anim calcmode="lin" valueType="num">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cBhvr additive="base">
                                            <p:cTn id="27" dur="500" fill="hold"/>
                                            <p:tgtEl>
                                              <p:spTgt spid="61"/>
                                            </p:tgtEl>
                                            <p:attrNameLst>
                                              <p:attrName>ppt_x</p:attrName>
                                            </p:attrNameLst>
                                          </p:cBhvr>
                                          <p:tavLst>
                                            <p:tav tm="0">
                                              <p:val>
                                                <p:strVal val="1+#ppt_w/2"/>
                                              </p:val>
                                            </p:tav>
                                            <p:tav tm="100000">
                                              <p:val>
                                                <p:strVal val="#ppt_x"/>
                                              </p:val>
                                            </p:tav>
                                          </p:tavLst>
                                        </p:anim>
                                        <p:anim calcmode="lin" valueType="num">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cBhvr additive="base">
                                            <p:cTn id="31" dur="500" fill="hold"/>
                                            <p:tgtEl>
                                              <p:spTgt spid="73"/>
                                            </p:tgtEl>
                                            <p:attrNameLst>
                                              <p:attrName>ppt_x</p:attrName>
                                            </p:attrNameLst>
                                          </p:cBhvr>
                                          <p:tavLst>
                                            <p:tav tm="0">
                                              <p:val>
                                                <p:strVal val="1+#ppt_w/2"/>
                                              </p:val>
                                            </p:tav>
                                            <p:tav tm="100000">
                                              <p:val>
                                                <p:strVal val="#ppt_x"/>
                                              </p:val>
                                            </p:tav>
                                          </p:tavLst>
                                        </p:anim>
                                        <p:anim calcmode="lin" valueType="num">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1.4</a:t>
            </a:r>
            <a:r>
              <a:rPr lang="zh-CN" altLang="en-US" sz="3200" dirty="0">
                <a:solidFill>
                  <a:srgbClr val="1353A2"/>
                </a:solidFill>
                <a:latin typeface="微软雅黑" panose="020B0503020204020204" pitchFamily="34" charset="-122"/>
                <a:ea typeface="微软雅黑" panose="020B0503020204020204" pitchFamily="34" charset="-122"/>
              </a:rPr>
              <a:t>目录结构</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8" name="Text Box 44"/>
          <p:cNvSpPr txBox="1">
            <a:spLocks noChangeArrowheads="1"/>
          </p:cNvSpPr>
          <p:nvPr/>
        </p:nvSpPr>
        <p:spPr bwMode="auto">
          <a:xfrm>
            <a:off x="3883068" y="1324055"/>
            <a:ext cx="7499391" cy="4524315"/>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zh-CN" altLang="zh-CN" sz="2400" dirty="0">
                <a:solidFill>
                  <a:srgbClr val="1353A2"/>
                </a:solidFill>
              </a:rPr>
              <a:t>目录结构是磁盘等存储设备上</a:t>
            </a:r>
            <a:r>
              <a:rPr lang="zh-CN" altLang="zh-CN" sz="2400" dirty="0">
                <a:solidFill>
                  <a:srgbClr val="00B0F0"/>
                </a:solidFill>
              </a:rPr>
              <a:t>文件的组织形式</a:t>
            </a:r>
            <a:r>
              <a:rPr lang="zh-CN" altLang="zh-CN" sz="2400" dirty="0">
                <a:solidFill>
                  <a:srgbClr val="1353A2"/>
                </a:solidFill>
              </a:rPr>
              <a:t>，主要体现在对</a:t>
            </a:r>
            <a:r>
              <a:rPr lang="zh-CN" altLang="zh-CN" sz="2400" dirty="0">
                <a:solidFill>
                  <a:srgbClr val="FF0000"/>
                </a:solidFill>
              </a:rPr>
              <a:t>文件</a:t>
            </a:r>
            <a:r>
              <a:rPr lang="zh-CN" altLang="zh-CN" sz="2400" dirty="0">
                <a:solidFill>
                  <a:srgbClr val="1353A2"/>
                </a:solidFill>
              </a:rPr>
              <a:t>和</a:t>
            </a:r>
            <a:r>
              <a:rPr lang="zh-CN" altLang="zh-CN" sz="2400" dirty="0">
                <a:solidFill>
                  <a:srgbClr val="FF0000"/>
                </a:solidFill>
              </a:rPr>
              <a:t>目录</a:t>
            </a:r>
            <a:r>
              <a:rPr lang="zh-CN" altLang="zh-CN" sz="2400" dirty="0">
                <a:solidFill>
                  <a:srgbClr val="1353A2"/>
                </a:solidFill>
              </a:rPr>
              <a:t>的组织方式上。</a:t>
            </a:r>
            <a:endParaRPr lang="en-US" altLang="zh-CN" sz="2400" dirty="0">
              <a:solidFill>
                <a:srgbClr val="1353A2"/>
              </a:solidFill>
            </a:endParaRPr>
          </a:p>
          <a:p>
            <a:pPr>
              <a:lnSpc>
                <a:spcPct val="200000"/>
              </a:lnSpc>
            </a:pPr>
            <a:r>
              <a:rPr lang="en-US" altLang="zh-CN" sz="2400" dirty="0">
                <a:solidFill>
                  <a:srgbClr val="1353A2"/>
                </a:solidFill>
              </a:rPr>
              <a:t>Linux</a:t>
            </a:r>
            <a:r>
              <a:rPr lang="zh-CN" altLang="zh-CN" sz="2400" dirty="0">
                <a:solidFill>
                  <a:srgbClr val="1353A2"/>
                </a:solidFill>
              </a:rPr>
              <a:t>系统使用标准的目录结构，在操作系统安装的同时，安装程序会为用户创建</a:t>
            </a:r>
            <a:r>
              <a:rPr lang="zh-CN" altLang="zh-CN" sz="2400" dirty="0">
                <a:solidFill>
                  <a:srgbClr val="00B0F0"/>
                </a:solidFill>
              </a:rPr>
              <a:t>文件系统</a:t>
            </a:r>
            <a:r>
              <a:rPr lang="zh-CN" altLang="zh-CN" sz="2400" dirty="0">
                <a:solidFill>
                  <a:srgbClr val="1353A2"/>
                </a:solidFill>
              </a:rPr>
              <a:t>，并根据文件系统目录标准（</a:t>
            </a:r>
            <a:r>
              <a:rPr lang="en-US" altLang="zh-CN" sz="2400" dirty="0">
                <a:solidFill>
                  <a:srgbClr val="1353A2"/>
                </a:solidFill>
              </a:rPr>
              <a:t>Filesystem Hierarchy Standard</a:t>
            </a:r>
            <a:r>
              <a:rPr lang="zh-CN" altLang="zh-CN" sz="2400" dirty="0">
                <a:solidFill>
                  <a:srgbClr val="1353A2"/>
                </a:solidFill>
              </a:rPr>
              <a:t>，</a:t>
            </a:r>
            <a:r>
              <a:rPr lang="en-US" altLang="zh-CN" sz="2400" dirty="0">
                <a:solidFill>
                  <a:srgbClr val="1353A2"/>
                </a:solidFill>
              </a:rPr>
              <a:t>FHS</a:t>
            </a:r>
            <a:r>
              <a:rPr lang="zh-CN" altLang="zh-CN" sz="2400" dirty="0">
                <a:solidFill>
                  <a:srgbClr val="1353A2"/>
                </a:solidFill>
              </a:rPr>
              <a:t>）建立完整的目录结构。</a:t>
            </a:r>
            <a:endParaRPr lang="en-US" altLang="zh-CN" sz="2400" dirty="0">
              <a:solidFill>
                <a:srgbClr val="1353A2"/>
              </a:solidFill>
            </a:endParaRPr>
          </a:p>
        </p:txBody>
      </p:sp>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9144" y="1545464"/>
            <a:ext cx="2903517" cy="42290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1.4</a:t>
            </a:r>
            <a:r>
              <a:rPr lang="zh-CN" altLang="en-US" sz="3200" dirty="0">
                <a:solidFill>
                  <a:srgbClr val="1353A2"/>
                </a:solidFill>
                <a:latin typeface="微软雅黑" panose="020B0503020204020204" pitchFamily="34" charset="-122"/>
                <a:ea typeface="微软雅黑" panose="020B0503020204020204" pitchFamily="34" charset="-122"/>
              </a:rPr>
              <a:t>目录结构</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pic>
        <p:nvPicPr>
          <p:cNvPr id="194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8744" y="2110635"/>
            <a:ext cx="4201565" cy="38635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Windows</a:t>
              </a:r>
              <a:r>
                <a:rPr lang="zh-CN" altLang="en-US" sz="3200" b="1" dirty="0">
                  <a:solidFill>
                    <a:schemeClr val="bg1"/>
                  </a:solidFill>
                </a:rPr>
                <a:t>的目录结构</a:t>
              </a:r>
              <a:endParaRPr lang="en-US" altLang="zh-CN" sz="3200" b="1" dirty="0">
                <a:solidFill>
                  <a:schemeClr val="bg1"/>
                </a:solidFill>
              </a:endParaRPr>
            </a:p>
          </p:txBody>
        </p:sp>
        <p:pic>
          <p:nvPicPr>
            <p:cNvPr id="11" name="图片 10"/>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pic>
        <p:nvPicPr>
          <p:cNvPr id="194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1772" y="2212931"/>
            <a:ext cx="3702528" cy="3720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12"/>
          <p:cNvSpPr/>
          <p:nvPr/>
        </p:nvSpPr>
        <p:spPr>
          <a:xfrm>
            <a:off x="10176657" y="3637320"/>
            <a:ext cx="684804" cy="719556"/>
          </a:xfrm>
          <a:prstGeom prst="rect">
            <a:avLst/>
          </a:prstGeom>
        </p:spPr>
        <p:txBody>
          <a:bodyPr wrap="none">
            <a:spAutoFit/>
          </a:bodyPr>
          <a:lstStyle/>
          <a:p>
            <a:pPr algn="ctr" defTabSz="720725">
              <a:lnSpc>
                <a:spcPct val="200000"/>
              </a:lnSpc>
            </a:pPr>
            <a:r>
              <a:rPr lang="en-US" altLang="zh-CN" sz="2400" dirty="0">
                <a:solidFill>
                  <a:srgbClr val="FF0000"/>
                </a:solidFill>
                <a:latin typeface="微软雅黑" panose="020B0503020204020204" pitchFamily="34" charset="-122"/>
                <a:ea typeface="微软雅黑" panose="020B0503020204020204" pitchFamily="34" charset="-122"/>
              </a:rPr>
              <a:t>……</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2" name="矩形 1"/>
          <p:cNvSpPr/>
          <p:nvPr/>
        </p:nvSpPr>
        <p:spPr>
          <a:xfrm>
            <a:off x="356124" y="5933346"/>
            <a:ext cx="10064226" cy="45890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以</a:t>
            </a:r>
            <a:r>
              <a:rPr lang="zh-CN" altLang="en-US" dirty="0">
                <a:solidFill>
                  <a:srgbClr val="FF0000"/>
                </a:solidFill>
                <a:latin typeface="微软雅黑" panose="020B0503020204020204" pitchFamily="34" charset="-122"/>
                <a:ea typeface="微软雅黑" panose="020B0503020204020204" pitchFamily="34" charset="-122"/>
              </a:rPr>
              <a:t>磁盘</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为树状组织结构的</a:t>
            </a:r>
            <a:r>
              <a:rPr lang="zh-CN" altLang="en-US" dirty="0">
                <a:solidFill>
                  <a:srgbClr val="FF0000"/>
                </a:solidFill>
                <a:latin typeface="微软雅黑" panose="020B0503020204020204" pitchFamily="34" charset="-122"/>
                <a:ea typeface="微软雅黑" panose="020B0503020204020204" pitchFamily="34" charset="-122"/>
              </a:rPr>
              <a:t>根节点</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，每个磁盘都有各自的树状结构（</a:t>
            </a:r>
            <a:r>
              <a:rPr lang="zh-CN" altLang="en-US" dirty="0">
                <a:solidFill>
                  <a:srgbClr val="FF0000"/>
                </a:solidFill>
                <a:latin typeface="微软雅黑" panose="020B0503020204020204" pitchFamily="34" charset="-122"/>
                <a:ea typeface="微软雅黑" panose="020B0503020204020204" pitchFamily="34" charset="-122"/>
              </a:rPr>
              <a:t>多个磁盘，多个根节点</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1.4</a:t>
            </a:r>
            <a:r>
              <a:rPr lang="zh-CN" altLang="en-US" sz="3200" dirty="0">
                <a:solidFill>
                  <a:srgbClr val="1353A2"/>
                </a:solidFill>
                <a:latin typeface="微软雅黑" panose="020B0503020204020204" pitchFamily="34" charset="-122"/>
                <a:ea typeface="微软雅黑" panose="020B0503020204020204" pitchFamily="34" charset="-122"/>
              </a:rPr>
              <a:t>目录结构</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830997"/>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Linux</a:t>
              </a:r>
              <a:r>
                <a:rPr lang="zh-CN" altLang="en-US" sz="3200" b="1" dirty="0">
                  <a:solidFill>
                    <a:schemeClr val="bg1"/>
                  </a:solidFill>
                </a:rPr>
                <a:t>的目录结构</a:t>
              </a:r>
              <a:endParaRPr lang="en-US" altLang="zh-CN" sz="3200" b="1" dirty="0">
                <a:solidFill>
                  <a:schemeClr val="bg1"/>
                </a:solidFill>
              </a:endParaRPr>
            </a:p>
          </p:txBody>
        </p:sp>
        <p:pic>
          <p:nvPicPr>
            <p:cNvPr id="11" name="图片 10"/>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pic>
        <p:nvPicPr>
          <p:cNvPr id="14" name="图片 13"/>
          <p:cNvPicPr/>
          <p:nvPr/>
        </p:nvPicPr>
        <p:blipFill>
          <a:blip r:embed="rId2">
            <a:extLst>
              <a:ext uri="{28A0092B-C50C-407E-A947-70E740481C1C}">
                <a14:useLocalDpi xmlns:a14="http://schemas.microsoft.com/office/drawing/2010/main" val="0"/>
              </a:ext>
            </a:extLst>
          </a:blip>
          <a:srcRect/>
          <a:stretch>
            <a:fillRect/>
          </a:stretch>
        </p:blipFill>
        <p:spPr bwMode="auto">
          <a:xfrm>
            <a:off x="5251022" y="2547989"/>
            <a:ext cx="6244170" cy="2659554"/>
          </a:xfrm>
          <a:prstGeom prst="rect">
            <a:avLst/>
          </a:prstGeom>
          <a:noFill/>
          <a:ln>
            <a:noFill/>
          </a:ln>
        </p:spPr>
      </p:pic>
      <p:sp>
        <p:nvSpPr>
          <p:cNvPr id="2" name="矩形 1"/>
          <p:cNvSpPr/>
          <p:nvPr/>
        </p:nvSpPr>
        <p:spPr>
          <a:xfrm>
            <a:off x="840783" y="2354272"/>
            <a:ext cx="4219732" cy="30469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200000"/>
              </a:lnSpc>
            </a:pPr>
            <a:r>
              <a:rPr lang="en-US" altLang="zh-CN" sz="2400" dirty="0">
                <a:solidFill>
                  <a:srgbClr val="1353A2"/>
                </a:solidFill>
                <a:latin typeface="微软雅黑" panose="020B0503020204020204" pitchFamily="34" charset="-122"/>
                <a:ea typeface="微软雅黑" panose="020B0503020204020204" pitchFamily="34" charset="-122"/>
              </a:rPr>
              <a:t>Linux</a:t>
            </a:r>
            <a:r>
              <a:rPr lang="zh-CN" altLang="zh-CN" sz="2400" dirty="0">
                <a:solidFill>
                  <a:srgbClr val="1353A2"/>
                </a:solidFill>
                <a:latin typeface="微软雅黑" panose="020B0503020204020204" pitchFamily="34" charset="-122"/>
                <a:ea typeface="微软雅黑" panose="020B0503020204020204" pitchFamily="34" charset="-122"/>
              </a:rPr>
              <a:t>系统中只有一个树状结构，</a:t>
            </a:r>
            <a:r>
              <a:rPr lang="zh-CN" altLang="zh-CN" sz="2400" dirty="0">
                <a:solidFill>
                  <a:srgbClr val="FF0000"/>
                </a:solidFill>
                <a:latin typeface="微软雅黑" panose="020B0503020204020204" pitchFamily="34" charset="-122"/>
                <a:ea typeface="微软雅黑" panose="020B0503020204020204" pitchFamily="34" charset="-122"/>
              </a:rPr>
              <a:t>根目录“</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zh-CN" sz="2400" dirty="0">
                <a:solidFill>
                  <a:srgbClr val="FF0000"/>
                </a:solidFill>
                <a:latin typeface="微软雅黑" panose="020B0503020204020204" pitchFamily="34" charset="-122"/>
                <a:ea typeface="微软雅黑" panose="020B0503020204020204" pitchFamily="34" charset="-122"/>
              </a:rPr>
              <a:t>”</a:t>
            </a:r>
            <a:r>
              <a:rPr lang="zh-CN" altLang="zh-CN" sz="2400" dirty="0">
                <a:solidFill>
                  <a:srgbClr val="1353A2"/>
                </a:solidFill>
                <a:latin typeface="微软雅黑" panose="020B0503020204020204" pitchFamily="34" charset="-122"/>
                <a:ea typeface="微软雅黑" panose="020B0503020204020204" pitchFamily="34" charset="-122"/>
              </a:rPr>
              <a:t>位于所有目录和文件的顶端，是</a:t>
            </a:r>
            <a:r>
              <a:rPr lang="zh-CN" altLang="zh-CN" sz="2400" dirty="0">
                <a:solidFill>
                  <a:srgbClr val="FF0000"/>
                </a:solidFill>
                <a:latin typeface="微软雅黑" panose="020B0503020204020204" pitchFamily="34" charset="-122"/>
                <a:ea typeface="微软雅黑" panose="020B0503020204020204" pitchFamily="34" charset="-122"/>
              </a:rPr>
              <a:t>唯一</a:t>
            </a:r>
            <a:r>
              <a:rPr lang="zh-CN" altLang="zh-CN" sz="2400" dirty="0">
                <a:solidFill>
                  <a:srgbClr val="1353A2"/>
                </a:solidFill>
                <a:latin typeface="微软雅黑" panose="020B0503020204020204" pitchFamily="34" charset="-122"/>
                <a:ea typeface="微软雅黑" panose="020B0503020204020204" pitchFamily="34" charset="-122"/>
              </a:rPr>
              <a:t>的</a:t>
            </a:r>
            <a:r>
              <a:rPr lang="zh-CN" altLang="zh-CN" sz="2400" dirty="0">
                <a:solidFill>
                  <a:srgbClr val="FF0000"/>
                </a:solidFill>
                <a:latin typeface="微软雅黑" panose="020B0503020204020204" pitchFamily="34" charset="-122"/>
                <a:ea typeface="微软雅黑" panose="020B0503020204020204" pitchFamily="34" charset="-122"/>
              </a:rPr>
              <a:t>根结点</a:t>
            </a:r>
            <a:r>
              <a:rPr lang="zh-CN" altLang="zh-CN" sz="2400" dirty="0">
                <a:solidFill>
                  <a:srgbClr val="1353A2"/>
                </a:solidFill>
                <a:latin typeface="微软雅黑" panose="020B0503020204020204" pitchFamily="34" charset="-122"/>
                <a:ea typeface="微软雅黑" panose="020B0503020204020204" pitchFamily="34" charset="-122"/>
              </a:rPr>
              <a:t>。</a:t>
            </a:r>
            <a:endParaRPr lang="zh-CN" altLang="en-US" sz="2400" dirty="0">
              <a:solidFill>
                <a:srgbClr val="1353A2"/>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1.4</a:t>
            </a:r>
            <a:r>
              <a:rPr lang="zh-CN" altLang="en-US" sz="3200" dirty="0">
                <a:solidFill>
                  <a:srgbClr val="1353A2"/>
                </a:solidFill>
                <a:latin typeface="微软雅黑" panose="020B0503020204020204" pitchFamily="34" charset="-122"/>
                <a:ea typeface="微软雅黑" panose="020B0503020204020204" pitchFamily="34" charset="-122"/>
              </a:rPr>
              <a:t>目录结构</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830997"/>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Linux</a:t>
              </a:r>
              <a:r>
                <a:rPr lang="zh-CN" altLang="en-US" sz="3200" b="1" dirty="0">
                  <a:solidFill>
                    <a:schemeClr val="bg1"/>
                  </a:solidFill>
                </a:rPr>
                <a:t>的目录结构</a:t>
              </a:r>
              <a:endParaRPr lang="en-US" altLang="zh-CN" sz="3200" b="1" dirty="0">
                <a:solidFill>
                  <a:schemeClr val="bg1"/>
                </a:solidFill>
              </a:endParaRPr>
            </a:p>
          </p:txBody>
        </p:sp>
        <p:pic>
          <p:nvPicPr>
            <p:cNvPr id="11" name="图片 10"/>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2" name="矩形 1"/>
          <p:cNvSpPr/>
          <p:nvPr/>
        </p:nvSpPr>
        <p:spPr>
          <a:xfrm>
            <a:off x="840781" y="2230743"/>
            <a:ext cx="10871053" cy="419294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defTabSz="720725">
              <a:lnSpc>
                <a:spcPct val="150000"/>
              </a:lnSpc>
              <a:buFont typeface="Wingdings" panose="05000000000000000000" pitchFamily="2" charset="2"/>
              <a:buChar char="l"/>
            </a:pPr>
            <a:r>
              <a:rPr lang="en-US" altLang="zh-CN" sz="2000" dirty="0">
                <a:solidFill>
                  <a:srgbClr val="00B0F0"/>
                </a:solidFill>
                <a:latin typeface="微软雅黑" panose="020B0503020204020204" pitchFamily="34" charset="-122"/>
                <a:ea typeface="微软雅黑" panose="020B0503020204020204" pitchFamily="34" charset="-122"/>
              </a:rPr>
              <a:t>/</a:t>
            </a:r>
            <a:r>
              <a:rPr lang="zh-CN" altLang="zh-CN" sz="2000" dirty="0">
                <a:solidFill>
                  <a:srgbClr val="00B0F0"/>
                </a:solidFill>
                <a:latin typeface="微软雅黑" panose="020B0503020204020204" pitchFamily="34" charset="-122"/>
                <a:ea typeface="微软雅黑" panose="020B0503020204020204" pitchFamily="34" charset="-122"/>
              </a:rPr>
              <a:t>：根目录，只包含目录，不包含具体文件；</a:t>
            </a:r>
            <a:endParaRPr lang="zh-CN" altLang="zh-CN" sz="2000" dirty="0">
              <a:solidFill>
                <a:srgbClr val="00B0F0"/>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FF0000"/>
                </a:solidFill>
                <a:latin typeface="微软雅黑" panose="020B0503020204020204" pitchFamily="34" charset="-122"/>
                <a:ea typeface="微软雅黑" panose="020B0503020204020204" pitchFamily="34" charset="-122"/>
              </a:rPr>
              <a:t>/</a:t>
            </a:r>
            <a:r>
              <a:rPr lang="en-US" altLang="zh-CN" sz="2000" dirty="0" err="1">
                <a:solidFill>
                  <a:srgbClr val="FF0000"/>
                </a:solidFill>
                <a:latin typeface="微软雅黑" panose="020B0503020204020204" pitchFamily="34" charset="-122"/>
                <a:ea typeface="微软雅黑" panose="020B0503020204020204" pitchFamily="34" charset="-122"/>
              </a:rPr>
              <a:t>etc</a:t>
            </a:r>
            <a:r>
              <a:rPr lang="zh-CN" altLang="zh-CN" sz="2000" dirty="0">
                <a:solidFill>
                  <a:srgbClr val="1353A2"/>
                </a:solidFill>
                <a:latin typeface="微软雅黑" panose="020B0503020204020204" pitchFamily="34" charset="-122"/>
                <a:ea typeface="微软雅黑" panose="020B0503020204020204" pitchFamily="34" charset="-122"/>
              </a:rPr>
              <a:t>：主要包含系统</a:t>
            </a:r>
            <a:r>
              <a:rPr lang="zh-CN" altLang="zh-CN" sz="2000" dirty="0">
                <a:solidFill>
                  <a:srgbClr val="FF0000"/>
                </a:solidFill>
                <a:latin typeface="微软雅黑" panose="020B0503020204020204" pitchFamily="34" charset="-122"/>
                <a:ea typeface="微软雅黑" panose="020B0503020204020204" pitchFamily="34" charset="-122"/>
              </a:rPr>
              <a:t>管理</a:t>
            </a:r>
            <a:r>
              <a:rPr lang="zh-CN" altLang="zh-CN" sz="2000" dirty="0">
                <a:solidFill>
                  <a:srgbClr val="1353A2"/>
                </a:solidFill>
                <a:latin typeface="微软雅黑" panose="020B0503020204020204" pitchFamily="34" charset="-122"/>
                <a:ea typeface="微软雅黑" panose="020B0503020204020204" pitchFamily="34" charset="-122"/>
              </a:rPr>
              <a:t>文件和</a:t>
            </a:r>
            <a:r>
              <a:rPr lang="zh-CN" altLang="zh-CN" sz="2000" dirty="0">
                <a:solidFill>
                  <a:srgbClr val="FF0000"/>
                </a:solidFill>
                <a:latin typeface="微软雅黑" panose="020B0503020204020204" pitchFamily="34" charset="-122"/>
                <a:ea typeface="微软雅黑" panose="020B0503020204020204" pitchFamily="34" charset="-122"/>
              </a:rPr>
              <a:t>配置</a:t>
            </a:r>
            <a:r>
              <a:rPr lang="zh-CN" altLang="zh-CN" sz="2000" dirty="0">
                <a:solidFill>
                  <a:srgbClr val="1353A2"/>
                </a:solidFill>
                <a:latin typeface="微软雅黑" panose="020B0503020204020204" pitchFamily="34" charset="-122"/>
                <a:ea typeface="微软雅黑" panose="020B0503020204020204" pitchFamily="34" charset="-122"/>
              </a:rPr>
              <a:t>文件</a:t>
            </a:r>
            <a:r>
              <a:rPr lang="zh-CN" altLang="en-US" sz="2000" dirty="0">
                <a:solidFill>
                  <a:srgbClr val="1353A2"/>
                </a:solidFill>
                <a:latin typeface="微软雅黑" panose="020B0503020204020204" pitchFamily="34" charset="-122"/>
                <a:ea typeface="微软雅黑" panose="020B0503020204020204" pitchFamily="34" charset="-122"/>
              </a:rPr>
              <a:t>，如网络配置文件</a:t>
            </a:r>
            <a:r>
              <a:rPr lang="zh-CN" altLang="zh-CN" sz="2000" dirty="0">
                <a:solidFill>
                  <a:srgbClr val="1353A2"/>
                </a:solidFill>
                <a:latin typeface="微软雅黑" panose="020B0503020204020204" pitchFamily="34" charset="-122"/>
                <a:ea typeface="微软雅黑" panose="020B0503020204020204" pitchFamily="34" charset="-122"/>
              </a:rPr>
              <a:t>；</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1353A2"/>
                </a:solidFill>
                <a:latin typeface="微软雅黑" panose="020B0503020204020204" pitchFamily="34" charset="-122"/>
                <a:ea typeface="微软雅黑" panose="020B0503020204020204" pitchFamily="34" charset="-122"/>
              </a:rPr>
              <a:t>/bin</a:t>
            </a:r>
            <a:r>
              <a:rPr lang="zh-CN" altLang="zh-CN" sz="2000" dirty="0">
                <a:solidFill>
                  <a:srgbClr val="1353A2"/>
                </a:solidFill>
                <a:latin typeface="微软雅黑" panose="020B0503020204020204" pitchFamily="34" charset="-122"/>
                <a:ea typeface="微软雅黑" panose="020B0503020204020204" pitchFamily="34" charset="-122"/>
              </a:rPr>
              <a:t>：存放</a:t>
            </a:r>
            <a:r>
              <a:rPr lang="zh-CN" altLang="zh-CN" sz="2000" dirty="0">
                <a:solidFill>
                  <a:srgbClr val="FF0000"/>
                </a:solidFill>
                <a:latin typeface="微软雅黑" panose="020B0503020204020204" pitchFamily="34" charset="-122"/>
                <a:ea typeface="微软雅黑" panose="020B0503020204020204" pitchFamily="34" charset="-122"/>
              </a:rPr>
              <a:t>可执行</a:t>
            </a:r>
            <a:r>
              <a:rPr lang="zh-CN" altLang="zh-CN" sz="2000" dirty="0">
                <a:solidFill>
                  <a:srgbClr val="1353A2"/>
                </a:solidFill>
                <a:latin typeface="微软雅黑" panose="020B0503020204020204" pitchFamily="34" charset="-122"/>
                <a:ea typeface="微软雅黑" panose="020B0503020204020204" pitchFamily="34" charset="-122"/>
              </a:rPr>
              <a:t>的文件，如常用命令</a:t>
            </a:r>
            <a:r>
              <a:rPr lang="en-US" altLang="zh-CN" sz="2000" dirty="0">
                <a:solidFill>
                  <a:srgbClr val="1353A2"/>
                </a:solidFill>
                <a:latin typeface="微软雅黑" panose="020B0503020204020204" pitchFamily="34" charset="-122"/>
                <a:ea typeface="微软雅黑" panose="020B0503020204020204" pitchFamily="34" charset="-122"/>
              </a:rPr>
              <a:t>ls</a:t>
            </a:r>
            <a:r>
              <a:rPr lang="zh-CN"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mkdir</a:t>
            </a:r>
            <a:r>
              <a:rPr lang="zh-CN"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rm</a:t>
            </a:r>
            <a:r>
              <a:rPr lang="zh-CN" altLang="zh-CN" sz="2000" dirty="0">
                <a:solidFill>
                  <a:srgbClr val="1353A2"/>
                </a:solidFill>
                <a:latin typeface="微软雅黑" panose="020B0503020204020204" pitchFamily="34" charset="-122"/>
                <a:ea typeface="微软雅黑" panose="020B0503020204020204" pitchFamily="34" charset="-122"/>
              </a:rPr>
              <a:t>等的二进制文件都存放在该目录中；</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FF0000"/>
                </a:solidFill>
                <a:latin typeface="微软雅黑" panose="020B0503020204020204" pitchFamily="34" charset="-122"/>
                <a:ea typeface="微软雅黑" panose="020B0503020204020204" pitchFamily="34" charset="-122"/>
              </a:rPr>
              <a:t>/home</a:t>
            </a:r>
            <a:r>
              <a:rPr lang="zh-CN" altLang="zh-CN" sz="2000" dirty="0">
                <a:solidFill>
                  <a:srgbClr val="1353A2"/>
                </a:solidFill>
                <a:latin typeface="微软雅黑" panose="020B0503020204020204" pitchFamily="34" charset="-122"/>
                <a:ea typeface="微软雅黑" panose="020B0503020204020204" pitchFamily="34" charset="-122"/>
              </a:rPr>
              <a:t>：普通用户的</a:t>
            </a:r>
            <a:r>
              <a:rPr lang="zh-CN" altLang="zh-CN" sz="2000" dirty="0">
                <a:solidFill>
                  <a:srgbClr val="FF0000"/>
                </a:solidFill>
                <a:latin typeface="微软雅黑" panose="020B0503020204020204" pitchFamily="34" charset="-122"/>
                <a:ea typeface="微软雅黑" panose="020B0503020204020204" pitchFamily="34" charset="-122"/>
              </a:rPr>
              <a:t>工作</a:t>
            </a:r>
            <a:r>
              <a:rPr lang="zh-CN" altLang="zh-CN" sz="2000" dirty="0">
                <a:solidFill>
                  <a:srgbClr val="1353A2"/>
                </a:solidFill>
                <a:latin typeface="微软雅黑" panose="020B0503020204020204" pitchFamily="34" charset="-122"/>
                <a:ea typeface="微软雅黑" panose="020B0503020204020204" pitchFamily="34" charset="-122"/>
              </a:rPr>
              <a:t>目录，每个用户都有一个</a:t>
            </a:r>
            <a:r>
              <a:rPr lang="en-US" altLang="zh-CN" sz="2000" dirty="0">
                <a:solidFill>
                  <a:srgbClr val="1353A2"/>
                </a:solidFill>
                <a:latin typeface="微软雅黑" panose="020B0503020204020204" pitchFamily="34" charset="-122"/>
                <a:ea typeface="微软雅黑" panose="020B0503020204020204" pitchFamily="34" charset="-122"/>
              </a:rPr>
              <a:t>/home</a:t>
            </a:r>
            <a:r>
              <a:rPr lang="zh-CN" altLang="zh-CN" sz="2000" dirty="0">
                <a:solidFill>
                  <a:srgbClr val="1353A2"/>
                </a:solidFill>
                <a:latin typeface="微软雅黑" panose="020B0503020204020204" pitchFamily="34" charset="-122"/>
                <a:ea typeface="微软雅黑" panose="020B0503020204020204" pitchFamily="34" charset="-122"/>
              </a:rPr>
              <a:t>目录；</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usr</a:t>
            </a:r>
            <a:r>
              <a:rPr lang="zh-CN" altLang="zh-CN" sz="2000" dirty="0">
                <a:solidFill>
                  <a:srgbClr val="1353A2"/>
                </a:solidFill>
                <a:latin typeface="微软雅黑" panose="020B0503020204020204" pitchFamily="34" charset="-122"/>
                <a:ea typeface="微软雅黑" panose="020B0503020204020204" pitchFamily="34" charset="-122"/>
              </a:rPr>
              <a:t>：包含所有的用户程序（</a:t>
            </a:r>
            <a:r>
              <a:rPr lang="en-US"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usr</a:t>
            </a:r>
            <a:r>
              <a:rPr lang="en-US" altLang="zh-CN" sz="2000" dirty="0">
                <a:solidFill>
                  <a:srgbClr val="1353A2"/>
                </a:solidFill>
                <a:latin typeface="微软雅黑" panose="020B0503020204020204" pitchFamily="34" charset="-122"/>
                <a:ea typeface="微软雅黑" panose="020B0503020204020204" pitchFamily="34" charset="-122"/>
              </a:rPr>
              <a:t>/bin</a:t>
            </a:r>
            <a:r>
              <a:rPr lang="zh-CN" altLang="zh-CN" sz="2000" dirty="0">
                <a:solidFill>
                  <a:srgbClr val="1353A2"/>
                </a:solidFill>
                <a:latin typeface="微软雅黑" panose="020B0503020204020204" pitchFamily="34" charset="-122"/>
                <a:ea typeface="微软雅黑" panose="020B0503020204020204" pitchFamily="34" charset="-122"/>
              </a:rPr>
              <a:t>）、库文件（</a:t>
            </a:r>
            <a:r>
              <a:rPr lang="en-US"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usr</a:t>
            </a:r>
            <a:r>
              <a:rPr lang="en-US" altLang="zh-CN" sz="2000" dirty="0">
                <a:solidFill>
                  <a:srgbClr val="1353A2"/>
                </a:solidFill>
                <a:latin typeface="微软雅黑" panose="020B0503020204020204" pitchFamily="34" charset="-122"/>
                <a:ea typeface="微软雅黑" panose="020B0503020204020204" pitchFamily="34" charset="-122"/>
              </a:rPr>
              <a:t>/lib</a:t>
            </a:r>
            <a:r>
              <a:rPr lang="zh-CN" altLang="zh-CN" sz="2000" dirty="0">
                <a:solidFill>
                  <a:srgbClr val="1353A2"/>
                </a:solidFill>
                <a:latin typeface="微软雅黑" panose="020B0503020204020204" pitchFamily="34" charset="-122"/>
                <a:ea typeface="微软雅黑" panose="020B0503020204020204" pitchFamily="34" charset="-122"/>
              </a:rPr>
              <a:t>）、文档（</a:t>
            </a:r>
            <a:r>
              <a:rPr lang="en-US"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usr</a:t>
            </a:r>
            <a:r>
              <a:rPr lang="en-US" altLang="zh-CN" sz="2000" dirty="0">
                <a:solidFill>
                  <a:srgbClr val="1353A2"/>
                </a:solidFill>
                <a:latin typeface="微软雅黑" panose="020B0503020204020204" pitchFamily="34" charset="-122"/>
                <a:ea typeface="微软雅黑" panose="020B0503020204020204" pitchFamily="34" charset="-122"/>
              </a:rPr>
              <a:t>/share/doc</a:t>
            </a:r>
            <a:r>
              <a:rPr lang="zh-CN" altLang="zh-CN" sz="2000" dirty="0">
                <a:solidFill>
                  <a:srgbClr val="1353A2"/>
                </a:solidFill>
                <a:latin typeface="微软雅黑" panose="020B0503020204020204" pitchFamily="34" charset="-122"/>
                <a:ea typeface="微软雅黑" panose="020B0503020204020204" pitchFamily="34" charset="-122"/>
              </a:rPr>
              <a:t>）等，是占用空间最大的目录。</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1353A2"/>
                </a:solidFill>
                <a:latin typeface="微软雅黑" panose="020B0503020204020204" pitchFamily="34" charset="-122"/>
                <a:ea typeface="微软雅黑" panose="020B0503020204020204" pitchFamily="34" charset="-122"/>
              </a:rPr>
              <a:t>/dev</a:t>
            </a:r>
            <a:r>
              <a:rPr lang="zh-CN" altLang="zh-CN" sz="2000" dirty="0">
                <a:solidFill>
                  <a:srgbClr val="1353A2"/>
                </a:solidFill>
                <a:latin typeface="微软雅黑" panose="020B0503020204020204" pitchFamily="34" charset="-122"/>
                <a:ea typeface="微软雅黑" panose="020B0503020204020204" pitchFamily="34" charset="-122"/>
              </a:rPr>
              <a:t>：存放</a:t>
            </a:r>
            <a:r>
              <a:rPr lang="zh-CN" altLang="zh-CN" sz="2000" dirty="0">
                <a:solidFill>
                  <a:srgbClr val="FF0000"/>
                </a:solidFill>
                <a:latin typeface="微软雅黑" panose="020B0503020204020204" pitchFamily="34" charset="-122"/>
                <a:ea typeface="微软雅黑" panose="020B0503020204020204" pitchFamily="34" charset="-122"/>
              </a:rPr>
              <a:t>设备</a:t>
            </a:r>
            <a:r>
              <a:rPr lang="zh-CN" altLang="zh-CN" sz="2000" dirty="0">
                <a:solidFill>
                  <a:srgbClr val="1353A2"/>
                </a:solidFill>
                <a:latin typeface="微软雅黑" panose="020B0503020204020204" pitchFamily="34" charset="-122"/>
                <a:ea typeface="微软雅黑" panose="020B0503020204020204" pitchFamily="34" charset="-122"/>
              </a:rPr>
              <a:t>文件，包括块设备文件（如磁盘对应文件）、字符设备文件（如键盘对应文件）等；</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FF0000"/>
                </a:solidFill>
                <a:latin typeface="微软雅黑" panose="020B0503020204020204" pitchFamily="34" charset="-122"/>
                <a:ea typeface="微软雅黑" panose="020B0503020204020204" pitchFamily="34" charset="-122"/>
              </a:rPr>
              <a:t>/root</a:t>
            </a:r>
            <a:r>
              <a:rPr lang="zh-CN" altLang="zh-CN" sz="2000" dirty="0">
                <a:solidFill>
                  <a:srgbClr val="1353A2"/>
                </a:solidFill>
                <a:latin typeface="微软雅黑" panose="020B0503020204020204" pitchFamily="34" charset="-122"/>
                <a:ea typeface="微软雅黑" panose="020B0503020204020204" pitchFamily="34" charset="-122"/>
              </a:rPr>
              <a:t>：超级用户，即</a:t>
            </a:r>
            <a:r>
              <a:rPr lang="zh-CN" altLang="zh-CN" sz="2000" dirty="0">
                <a:solidFill>
                  <a:srgbClr val="FF0000"/>
                </a:solidFill>
                <a:latin typeface="微软雅黑" panose="020B0503020204020204" pitchFamily="34" charset="-122"/>
                <a:ea typeface="微软雅黑" panose="020B0503020204020204" pitchFamily="34" charset="-122"/>
              </a:rPr>
              <a:t>管理员</a:t>
            </a:r>
            <a:r>
              <a:rPr lang="zh-CN" altLang="zh-CN" sz="2000" dirty="0">
                <a:solidFill>
                  <a:srgbClr val="1353A2"/>
                </a:solidFill>
                <a:latin typeface="微软雅黑" panose="020B0503020204020204" pitchFamily="34" charset="-122"/>
                <a:ea typeface="微软雅黑" panose="020B0503020204020204" pitchFamily="34" charset="-122"/>
              </a:rPr>
              <a:t>的工作目录；</a:t>
            </a:r>
            <a:endParaRPr lang="zh-CN" altLang="zh-CN" sz="2000" dirty="0">
              <a:solidFill>
                <a:srgbClr val="1353A2"/>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1.4</a:t>
            </a:r>
            <a:r>
              <a:rPr lang="zh-CN" altLang="en-US" sz="3200" dirty="0">
                <a:solidFill>
                  <a:srgbClr val="1353A2"/>
                </a:solidFill>
                <a:latin typeface="微软雅黑" panose="020B0503020204020204" pitchFamily="34" charset="-122"/>
                <a:ea typeface="微软雅黑" panose="020B0503020204020204" pitchFamily="34" charset="-122"/>
              </a:rPr>
              <a:t>目录结构</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830997"/>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Linux</a:t>
              </a:r>
              <a:r>
                <a:rPr lang="zh-CN" altLang="en-US" sz="3200" b="1" dirty="0">
                  <a:solidFill>
                    <a:schemeClr val="bg1"/>
                  </a:solidFill>
                </a:rPr>
                <a:t>的目录结构</a:t>
              </a:r>
              <a:endParaRPr lang="en-US" altLang="zh-CN" sz="3200" b="1" dirty="0">
                <a:solidFill>
                  <a:schemeClr val="bg1"/>
                </a:solidFill>
              </a:endParaRPr>
            </a:p>
          </p:txBody>
        </p:sp>
        <p:pic>
          <p:nvPicPr>
            <p:cNvPr id="11" name="图片 10"/>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2" name="矩形 1"/>
          <p:cNvSpPr/>
          <p:nvPr/>
        </p:nvSpPr>
        <p:spPr>
          <a:xfrm>
            <a:off x="840781" y="2230743"/>
            <a:ext cx="10871053" cy="433965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defTabSz="720725">
              <a:lnSpc>
                <a:spcPct val="150000"/>
              </a:lnSpc>
              <a:buFont typeface="Wingdings" panose="05000000000000000000" pitchFamily="2" charset="2"/>
              <a:buChar char="l"/>
            </a:pPr>
            <a:r>
              <a:rPr lang="en-US" altLang="zh-CN" sz="2000" dirty="0">
                <a:solidFill>
                  <a:srgbClr val="1353A2"/>
                </a:solidFill>
                <a:latin typeface="微软雅黑" panose="020B0503020204020204" pitchFamily="34" charset="-122"/>
                <a:ea typeface="微软雅黑" panose="020B0503020204020204" pitchFamily="34" charset="-122"/>
              </a:rPr>
              <a:t>/lib</a:t>
            </a:r>
            <a:r>
              <a:rPr lang="zh-CN" altLang="zh-CN" sz="2000" dirty="0">
                <a:solidFill>
                  <a:srgbClr val="1353A2"/>
                </a:solidFill>
                <a:latin typeface="微软雅黑" panose="020B0503020204020204" pitchFamily="34" charset="-122"/>
                <a:ea typeface="微软雅黑" panose="020B0503020204020204" pitchFamily="34" charset="-122"/>
              </a:rPr>
              <a:t>：主要存放</a:t>
            </a:r>
            <a:r>
              <a:rPr lang="zh-CN" altLang="zh-CN" sz="2000" dirty="0">
                <a:solidFill>
                  <a:srgbClr val="FF0000"/>
                </a:solidFill>
                <a:latin typeface="微软雅黑" panose="020B0503020204020204" pitchFamily="34" charset="-122"/>
                <a:ea typeface="微软雅黑" panose="020B0503020204020204" pitchFamily="34" charset="-122"/>
              </a:rPr>
              <a:t>动态链接共享库</a:t>
            </a:r>
            <a:r>
              <a:rPr lang="zh-CN" altLang="zh-CN" sz="2000" dirty="0">
                <a:solidFill>
                  <a:srgbClr val="1353A2"/>
                </a:solidFill>
                <a:latin typeface="微软雅黑" panose="020B0503020204020204" pitchFamily="34" charset="-122"/>
                <a:ea typeface="微软雅黑" panose="020B0503020204020204" pitchFamily="34" charset="-122"/>
              </a:rPr>
              <a:t>文件，类似于</a:t>
            </a:r>
            <a:r>
              <a:rPr lang="en-US" altLang="zh-CN" sz="2000" dirty="0">
                <a:solidFill>
                  <a:srgbClr val="1353A2"/>
                </a:solidFill>
                <a:latin typeface="微软雅黑" panose="020B0503020204020204" pitchFamily="34" charset="-122"/>
                <a:ea typeface="微软雅黑" panose="020B0503020204020204" pitchFamily="34" charset="-122"/>
              </a:rPr>
              <a:t>Windows</a:t>
            </a:r>
            <a:r>
              <a:rPr lang="zh-CN" altLang="zh-CN" sz="2000" dirty="0">
                <a:solidFill>
                  <a:srgbClr val="1353A2"/>
                </a:solidFill>
                <a:latin typeface="微软雅黑" panose="020B0503020204020204" pitchFamily="34" charset="-122"/>
                <a:ea typeface="微软雅黑" panose="020B0503020204020204" pitchFamily="34" charset="-122"/>
              </a:rPr>
              <a:t>中的</a:t>
            </a:r>
            <a:r>
              <a:rPr lang="en-US"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dll</a:t>
            </a:r>
            <a:r>
              <a:rPr lang="zh-CN" altLang="zh-CN" sz="2000" dirty="0">
                <a:solidFill>
                  <a:srgbClr val="1353A2"/>
                </a:solidFill>
                <a:latin typeface="微软雅黑" panose="020B0503020204020204" pitchFamily="34" charset="-122"/>
                <a:ea typeface="微软雅黑" panose="020B0503020204020204" pitchFamily="34" charset="-122"/>
              </a:rPr>
              <a:t>文件，该目录中的文件一般以</a:t>
            </a:r>
            <a:r>
              <a:rPr lang="en-US" altLang="zh-CN" sz="2000" dirty="0">
                <a:solidFill>
                  <a:srgbClr val="1353A2"/>
                </a:solidFill>
                <a:latin typeface="微软雅黑" panose="020B0503020204020204" pitchFamily="34" charset="-122"/>
                <a:ea typeface="微软雅黑" panose="020B0503020204020204" pitchFamily="34" charset="-122"/>
              </a:rPr>
              <a:t>.a</a:t>
            </a:r>
            <a:r>
              <a:rPr lang="zh-CN"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dll</a:t>
            </a:r>
            <a:r>
              <a:rPr lang="zh-CN"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a:solidFill>
                  <a:srgbClr val="1353A2"/>
                </a:solidFill>
                <a:latin typeface="微软雅黑" panose="020B0503020204020204" pitchFamily="34" charset="-122"/>
                <a:ea typeface="微软雅黑" panose="020B0503020204020204" pitchFamily="34" charset="-122"/>
              </a:rPr>
              <a:t>.so</a:t>
            </a:r>
            <a:r>
              <a:rPr lang="zh-CN" altLang="zh-CN" sz="2000" dirty="0">
                <a:solidFill>
                  <a:srgbClr val="1353A2"/>
                </a:solidFill>
                <a:latin typeface="微软雅黑" panose="020B0503020204020204" pitchFamily="34" charset="-122"/>
                <a:ea typeface="微软雅黑" panose="020B0503020204020204" pitchFamily="34" charset="-122"/>
              </a:rPr>
              <a:t>结尾（后缀不代表文件类型），也会存放与内核模块相关的文件；</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00B0F0"/>
                </a:solidFill>
                <a:latin typeface="微软雅黑" panose="020B0503020204020204" pitchFamily="34" charset="-122"/>
                <a:ea typeface="微软雅黑" panose="020B0503020204020204" pitchFamily="34" charset="-122"/>
              </a:rPr>
              <a:t>/boot</a:t>
            </a:r>
            <a:r>
              <a:rPr lang="zh-CN" altLang="zh-CN" sz="2000" dirty="0">
                <a:solidFill>
                  <a:srgbClr val="00B0F0"/>
                </a:solidFill>
                <a:latin typeface="微软雅黑" panose="020B0503020204020204" pitchFamily="34" charset="-122"/>
                <a:ea typeface="微软雅黑" panose="020B0503020204020204" pitchFamily="34" charset="-122"/>
              </a:rPr>
              <a:t>：存放操作系统启动时需要用到的文件，如内核文件、引导程序文件等；</a:t>
            </a:r>
            <a:endParaRPr lang="zh-CN" altLang="zh-CN" sz="2000" dirty="0">
              <a:solidFill>
                <a:srgbClr val="00B0F0"/>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FF0000"/>
                </a:solidFill>
                <a:latin typeface="微软雅黑" panose="020B0503020204020204" pitchFamily="34" charset="-122"/>
                <a:ea typeface="微软雅黑" panose="020B0503020204020204" pitchFamily="34" charset="-122"/>
              </a:rPr>
              <a:t>/</a:t>
            </a:r>
            <a:r>
              <a:rPr lang="en-US" altLang="zh-CN" sz="2000" dirty="0" err="1">
                <a:solidFill>
                  <a:srgbClr val="FF0000"/>
                </a:solidFill>
                <a:latin typeface="微软雅黑" panose="020B0503020204020204" pitchFamily="34" charset="-122"/>
                <a:ea typeface="微软雅黑" panose="020B0503020204020204" pitchFamily="34" charset="-122"/>
              </a:rPr>
              <a:t>mnt</a:t>
            </a:r>
            <a:r>
              <a:rPr lang="zh-CN" altLang="zh-CN" sz="2000" dirty="0">
                <a:solidFill>
                  <a:srgbClr val="1353A2"/>
                </a:solidFill>
                <a:latin typeface="微软雅黑" panose="020B0503020204020204" pitchFamily="34" charset="-122"/>
                <a:ea typeface="微软雅黑" panose="020B0503020204020204" pitchFamily="34" charset="-122"/>
              </a:rPr>
              <a:t>：存储挂载存储设备的</a:t>
            </a:r>
            <a:r>
              <a:rPr lang="zh-CN" altLang="zh-CN" sz="2000" dirty="0">
                <a:solidFill>
                  <a:srgbClr val="FF0000"/>
                </a:solidFill>
                <a:latin typeface="微软雅黑" panose="020B0503020204020204" pitchFamily="34" charset="-122"/>
                <a:ea typeface="微软雅黑" panose="020B0503020204020204" pitchFamily="34" charset="-122"/>
              </a:rPr>
              <a:t>挂载</a:t>
            </a:r>
            <a:r>
              <a:rPr lang="zh-CN" altLang="zh-CN" sz="2000" dirty="0">
                <a:solidFill>
                  <a:srgbClr val="1353A2"/>
                </a:solidFill>
                <a:latin typeface="微软雅黑" panose="020B0503020204020204" pitchFamily="34" charset="-122"/>
                <a:ea typeface="微软雅黑" panose="020B0503020204020204" pitchFamily="34" charset="-122"/>
              </a:rPr>
              <a:t>目录；</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1353A2"/>
                </a:solidFill>
                <a:latin typeface="微软雅黑" panose="020B0503020204020204" pitchFamily="34" charset="-122"/>
                <a:ea typeface="微软雅黑" panose="020B0503020204020204" pitchFamily="34" charset="-122"/>
              </a:rPr>
              <a:t>/proc</a:t>
            </a:r>
            <a:r>
              <a:rPr lang="zh-CN" altLang="zh-CN" sz="2000" dirty="0">
                <a:solidFill>
                  <a:srgbClr val="1353A2"/>
                </a:solidFill>
                <a:latin typeface="微软雅黑" panose="020B0503020204020204" pitchFamily="34" charset="-122"/>
                <a:ea typeface="微软雅黑" panose="020B0503020204020204" pitchFamily="34" charset="-122"/>
              </a:rPr>
              <a:t>：存放系统内存的映射，可直接通过访问该目录来获取系统信息；</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1353A2"/>
                </a:solidFill>
                <a:latin typeface="微软雅黑" panose="020B0503020204020204" pitchFamily="34" charset="-122"/>
                <a:ea typeface="微软雅黑" panose="020B0503020204020204" pitchFamily="34" charset="-122"/>
              </a:rPr>
              <a:t>/opt</a:t>
            </a:r>
            <a:r>
              <a:rPr lang="zh-CN" altLang="zh-CN" sz="2000" dirty="0">
                <a:solidFill>
                  <a:srgbClr val="1353A2"/>
                </a:solidFill>
                <a:latin typeface="微软雅黑" panose="020B0503020204020204" pitchFamily="34" charset="-122"/>
                <a:ea typeface="微软雅黑" panose="020B0503020204020204" pitchFamily="34" charset="-122"/>
              </a:rPr>
              <a:t>：存放附加的应用程序软件包；</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tmp</a:t>
            </a:r>
            <a:r>
              <a:rPr lang="zh-CN" altLang="zh-CN" sz="2000" dirty="0">
                <a:solidFill>
                  <a:srgbClr val="1353A2"/>
                </a:solidFill>
                <a:latin typeface="微软雅黑" panose="020B0503020204020204" pitchFamily="34" charset="-122"/>
                <a:ea typeface="微软雅黑" panose="020B0503020204020204" pitchFamily="34" charset="-122"/>
              </a:rPr>
              <a:t>：存放</a:t>
            </a:r>
            <a:r>
              <a:rPr lang="zh-CN" altLang="zh-CN" sz="2000" dirty="0">
                <a:solidFill>
                  <a:srgbClr val="FF0000"/>
                </a:solidFill>
                <a:latin typeface="微软雅黑" panose="020B0503020204020204" pitchFamily="34" charset="-122"/>
                <a:ea typeface="微软雅黑" panose="020B0503020204020204" pitchFamily="34" charset="-122"/>
              </a:rPr>
              <a:t>临时</a:t>
            </a:r>
            <a:r>
              <a:rPr lang="zh-CN" altLang="zh-CN" sz="2000" dirty="0">
                <a:solidFill>
                  <a:srgbClr val="1353A2"/>
                </a:solidFill>
                <a:latin typeface="微软雅黑" panose="020B0503020204020204" pitchFamily="34" charset="-122"/>
                <a:ea typeface="微软雅黑" panose="020B0503020204020204" pitchFamily="34" charset="-122"/>
              </a:rPr>
              <a:t>文件，重启系统后该目录的文件不会被保存。每个用户都能创建该目录，但不能删除其它用户的</a:t>
            </a:r>
            <a:r>
              <a:rPr lang="en-US"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tmp</a:t>
            </a:r>
            <a:r>
              <a:rPr lang="zh-CN" altLang="zh-CN" sz="2000" dirty="0">
                <a:solidFill>
                  <a:srgbClr val="1353A2"/>
                </a:solidFill>
                <a:latin typeface="微软雅黑" panose="020B0503020204020204" pitchFamily="34" charset="-122"/>
                <a:ea typeface="微软雅黑" panose="020B0503020204020204" pitchFamily="34" charset="-122"/>
              </a:rPr>
              <a:t>目录；</a:t>
            </a:r>
            <a:endParaRPr lang="zh-CN" altLang="zh-CN" sz="20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en-US" altLang="zh-CN" sz="2000" dirty="0">
                <a:solidFill>
                  <a:srgbClr val="00B0F0"/>
                </a:solidFill>
                <a:latin typeface="微软雅黑" panose="020B0503020204020204" pitchFamily="34" charset="-122"/>
                <a:ea typeface="微软雅黑" panose="020B0503020204020204" pitchFamily="34" charset="-122"/>
              </a:rPr>
              <a:t>/swap</a:t>
            </a:r>
            <a:r>
              <a:rPr lang="zh-CN" altLang="zh-CN" sz="2000" dirty="0">
                <a:solidFill>
                  <a:srgbClr val="00B0F0"/>
                </a:solidFill>
                <a:latin typeface="微软雅黑" panose="020B0503020204020204" pitchFamily="34" charset="-122"/>
                <a:ea typeface="微软雅黑" panose="020B0503020204020204" pitchFamily="34" charset="-122"/>
              </a:rPr>
              <a:t>：存放虚拟内存交换时所用文件。</a:t>
            </a:r>
            <a:endParaRPr lang="zh-CN" altLang="zh-CN" sz="2000" dirty="0">
              <a:solidFill>
                <a:srgbClr val="00B0F0"/>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5132" y="447215"/>
            <a:ext cx="3167527" cy="646331"/>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600" kern="1200" dirty="0">
                <a:solidFill>
                  <a:srgbClr val="1353A2"/>
                </a:solidFill>
                <a:latin typeface="微软雅黑" panose="020B0503020204020204" pitchFamily="34" charset="-122"/>
                <a:ea typeface="微软雅黑" panose="020B0503020204020204" pitchFamily="34" charset="-122"/>
                <a:cs typeface="+mn-cs"/>
              </a:rPr>
              <a:t>目录页</a:t>
            </a:r>
            <a:endParaRPr lang="zh-CN" altLang="en-US" sz="3600" kern="1200" dirty="0">
              <a:solidFill>
                <a:srgbClr val="1353A2"/>
              </a:solidFill>
              <a:latin typeface="微软雅黑" panose="020B0503020204020204" pitchFamily="34" charset="-122"/>
              <a:ea typeface="微软雅黑" panose="020B0503020204020204" pitchFamily="34" charset="-122"/>
              <a:cs typeface="+mn-cs"/>
            </a:endParaRPr>
          </a:p>
        </p:txBody>
      </p:sp>
      <p:cxnSp>
        <p:nvCxnSpPr>
          <p:cNvPr id="50"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29"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31" name="矩形 1"/>
          <p:cNvSpPr>
            <a:spLocks noChangeArrowheads="1"/>
          </p:cNvSpPr>
          <p:nvPr/>
        </p:nvSpPr>
        <p:spPr bwMode="auto">
          <a:xfrm>
            <a:off x="264393" y="1769173"/>
            <a:ext cx="1888804"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4" name="矩形 21"/>
          <p:cNvSpPr>
            <a:spLocks noChangeArrowheads="1"/>
          </p:cNvSpPr>
          <p:nvPr/>
        </p:nvSpPr>
        <p:spPr bwMode="auto">
          <a:xfrm>
            <a:off x="2165681" y="1769173"/>
            <a:ext cx="1888803"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5" name="矩形 22"/>
          <p:cNvSpPr>
            <a:spLocks noChangeArrowheads="1"/>
          </p:cNvSpPr>
          <p:nvPr/>
        </p:nvSpPr>
        <p:spPr bwMode="auto">
          <a:xfrm>
            <a:off x="4053100" y="1769173"/>
            <a:ext cx="1892565"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6" name="矩形 28"/>
          <p:cNvSpPr>
            <a:spLocks noChangeArrowheads="1"/>
          </p:cNvSpPr>
          <p:nvPr/>
        </p:nvSpPr>
        <p:spPr bwMode="auto">
          <a:xfrm>
            <a:off x="2099550" y="1841570"/>
            <a:ext cx="20331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安装</a:t>
            </a: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7" name="矩形 29"/>
          <p:cNvSpPr>
            <a:spLocks noChangeArrowheads="1"/>
          </p:cNvSpPr>
          <p:nvPr/>
        </p:nvSpPr>
        <p:spPr bwMode="auto">
          <a:xfrm>
            <a:off x="4070327" y="1841570"/>
            <a:ext cx="1811231"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网络配置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38" name="直接连接符 7167"/>
          <p:cNvCxnSpPr>
            <a:cxnSpLocks noChangeShapeType="1"/>
          </p:cNvCxnSpPr>
          <p:nvPr/>
        </p:nvCxnSpPr>
        <p:spPr bwMode="auto">
          <a:xfrm>
            <a:off x="240288" y="1688477"/>
            <a:ext cx="190178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39" name="直接连接符 7172"/>
          <p:cNvCxnSpPr>
            <a:cxnSpLocks noChangeShapeType="1"/>
          </p:cNvCxnSpPr>
          <p:nvPr/>
        </p:nvCxnSpPr>
        <p:spPr bwMode="auto">
          <a:xfrm>
            <a:off x="240288"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0" name="直接连接符 50"/>
          <p:cNvCxnSpPr>
            <a:cxnSpLocks noChangeShapeType="1"/>
          </p:cNvCxnSpPr>
          <p:nvPr/>
        </p:nvCxnSpPr>
        <p:spPr bwMode="auto">
          <a:xfrm>
            <a:off x="2130757"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1" name="直接连接符 51"/>
          <p:cNvCxnSpPr>
            <a:cxnSpLocks noChangeShapeType="1"/>
          </p:cNvCxnSpPr>
          <p:nvPr/>
        </p:nvCxnSpPr>
        <p:spPr bwMode="auto">
          <a:xfrm>
            <a:off x="4011601"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2" name="直接连接符 52"/>
          <p:cNvCxnSpPr>
            <a:cxnSpLocks noChangeShapeType="1"/>
          </p:cNvCxnSpPr>
          <p:nvPr/>
        </p:nvCxnSpPr>
        <p:spPr bwMode="auto">
          <a:xfrm>
            <a:off x="5950178" y="1359415"/>
            <a:ext cx="1" cy="24837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43" name="TextBox 7177"/>
          <p:cNvSpPr txBox="1">
            <a:spLocks noChangeArrowheads="1"/>
          </p:cNvSpPr>
          <p:nvPr/>
        </p:nvSpPr>
        <p:spPr bwMode="auto">
          <a:xfrm>
            <a:off x="240288" y="1049095"/>
            <a:ext cx="14722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1</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4" name="TextBox 7177"/>
          <p:cNvSpPr txBox="1">
            <a:spLocks noChangeArrowheads="1"/>
          </p:cNvSpPr>
          <p:nvPr/>
        </p:nvSpPr>
        <p:spPr bwMode="auto">
          <a:xfrm>
            <a:off x="2142942" y="1049096"/>
            <a:ext cx="1397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2</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5" name="TextBox 7177"/>
          <p:cNvSpPr txBox="1">
            <a:spLocks noChangeArrowheads="1"/>
          </p:cNvSpPr>
          <p:nvPr/>
        </p:nvSpPr>
        <p:spPr bwMode="auto">
          <a:xfrm>
            <a:off x="3961241" y="1049095"/>
            <a:ext cx="1724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5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3</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6" name="矩形 28"/>
          <p:cNvSpPr>
            <a:spLocks noChangeArrowheads="1"/>
          </p:cNvSpPr>
          <p:nvPr/>
        </p:nvSpPr>
        <p:spPr bwMode="auto">
          <a:xfrm>
            <a:off x="125260" y="1860344"/>
            <a:ext cx="202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系统简介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47" name="直接连接符 46"/>
          <p:cNvCxnSpPr/>
          <p:nvPr/>
        </p:nvCxnSpPr>
        <p:spPr bwMode="auto">
          <a:xfrm>
            <a:off x="2130757" y="1688477"/>
            <a:ext cx="190178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8" name="直接连接符 47"/>
          <p:cNvCxnSpPr/>
          <p:nvPr/>
        </p:nvCxnSpPr>
        <p:spPr bwMode="auto">
          <a:xfrm>
            <a:off x="3991652" y="1688477"/>
            <a:ext cx="399995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2" name="矩形 1"/>
          <p:cNvSpPr>
            <a:spLocks noChangeArrowheads="1"/>
          </p:cNvSpPr>
          <p:nvPr/>
        </p:nvSpPr>
        <p:spPr bwMode="auto">
          <a:xfrm>
            <a:off x="5981779" y="1785676"/>
            <a:ext cx="1859200" cy="2006759"/>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4" name="矩形 21"/>
          <p:cNvSpPr>
            <a:spLocks noChangeArrowheads="1"/>
          </p:cNvSpPr>
          <p:nvPr/>
        </p:nvSpPr>
        <p:spPr bwMode="auto">
          <a:xfrm>
            <a:off x="5997390" y="4479805"/>
            <a:ext cx="1724176" cy="1861019"/>
          </a:xfrm>
          <a:prstGeom prst="rect">
            <a:avLst/>
          </a:prstGeom>
          <a:solidFill>
            <a:srgbClr val="1353A2"/>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1353A2"/>
              </a:solidFill>
              <a:latin typeface="Franklin Gothic Medium" panose="020B0603020102020204" pitchFamily="34" charset="0"/>
              <a:ea typeface="+mn-ea"/>
            </a:endParaRPr>
          </a:p>
        </p:txBody>
      </p:sp>
      <p:sp>
        <p:nvSpPr>
          <p:cNvPr id="55" name="矩形 22"/>
          <p:cNvSpPr>
            <a:spLocks noChangeArrowheads="1"/>
          </p:cNvSpPr>
          <p:nvPr/>
        </p:nvSpPr>
        <p:spPr bwMode="auto">
          <a:xfrm>
            <a:off x="7730879" y="4489427"/>
            <a:ext cx="1727610"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6" name="矩形 28"/>
          <p:cNvSpPr>
            <a:spLocks noChangeArrowheads="1"/>
          </p:cNvSpPr>
          <p:nvPr/>
        </p:nvSpPr>
        <p:spPr bwMode="auto">
          <a:xfrm>
            <a:off x="5928629" y="4332000"/>
            <a:ext cx="176966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系统启动流程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7" name="矩形 29"/>
          <p:cNvSpPr>
            <a:spLocks noChangeArrowheads="1"/>
          </p:cNvSpPr>
          <p:nvPr/>
        </p:nvSpPr>
        <p:spPr bwMode="auto">
          <a:xfrm>
            <a:off x="7721566" y="4566723"/>
            <a:ext cx="1713648"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远程终端访问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58" name="直接连接符 51"/>
          <p:cNvCxnSpPr>
            <a:cxnSpLocks noChangeShapeType="1"/>
          </p:cNvCxnSpPr>
          <p:nvPr/>
        </p:nvCxnSpPr>
        <p:spPr bwMode="auto">
          <a:xfrm>
            <a:off x="7677268" y="4159855"/>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9" name="TextBox 7177"/>
          <p:cNvSpPr txBox="1">
            <a:spLocks noChangeArrowheads="1"/>
          </p:cNvSpPr>
          <p:nvPr/>
        </p:nvSpPr>
        <p:spPr bwMode="auto">
          <a:xfrm>
            <a:off x="5984045" y="1060096"/>
            <a:ext cx="979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zh-CN"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4</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0" name="TextBox 7177"/>
          <p:cNvSpPr txBox="1">
            <a:spLocks noChangeArrowheads="1"/>
          </p:cNvSpPr>
          <p:nvPr/>
        </p:nvSpPr>
        <p:spPr bwMode="auto">
          <a:xfrm>
            <a:off x="5943295" y="3783090"/>
            <a:ext cx="9970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5</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1" name="TextBox 7177"/>
          <p:cNvSpPr txBox="1">
            <a:spLocks noChangeArrowheads="1"/>
          </p:cNvSpPr>
          <p:nvPr/>
        </p:nvSpPr>
        <p:spPr bwMode="auto">
          <a:xfrm>
            <a:off x="7725608" y="3803149"/>
            <a:ext cx="15200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6</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2" name="矩形 28"/>
          <p:cNvSpPr>
            <a:spLocks noChangeArrowheads="1"/>
          </p:cNvSpPr>
          <p:nvPr/>
        </p:nvSpPr>
        <p:spPr bwMode="auto">
          <a:xfrm>
            <a:off x="5967195" y="1870892"/>
            <a:ext cx="178290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目录结构</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63" name="直接连接符 19"/>
          <p:cNvCxnSpPr/>
          <p:nvPr/>
        </p:nvCxnSpPr>
        <p:spPr bwMode="auto">
          <a:xfrm>
            <a:off x="6017699" y="4427930"/>
            <a:ext cx="1678967" cy="776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64" name="直接连接符 20"/>
          <p:cNvCxnSpPr/>
          <p:nvPr/>
        </p:nvCxnSpPr>
        <p:spPr bwMode="auto">
          <a:xfrm>
            <a:off x="7698294" y="4428744"/>
            <a:ext cx="183470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pic>
        <p:nvPicPr>
          <p:cNvPr id="66"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6064187" y="5280100"/>
            <a:ext cx="1538977" cy="104646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68" name="直接连接符 52"/>
          <p:cNvCxnSpPr>
            <a:cxnSpLocks noChangeShapeType="1"/>
          </p:cNvCxnSpPr>
          <p:nvPr/>
        </p:nvCxnSpPr>
        <p:spPr bwMode="auto">
          <a:xfrm>
            <a:off x="5993969" y="4173190"/>
            <a:ext cx="1" cy="296447"/>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69" name="矩形 1"/>
          <p:cNvSpPr>
            <a:spLocks noChangeArrowheads="1"/>
          </p:cNvSpPr>
          <p:nvPr/>
        </p:nvSpPr>
        <p:spPr bwMode="auto">
          <a:xfrm>
            <a:off x="9478906" y="4485614"/>
            <a:ext cx="1724177"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pic>
        <p:nvPicPr>
          <p:cNvPr id="70" name="Picture 5"/>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9634247" y="5321637"/>
            <a:ext cx="1457809" cy="99727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71" name="直接连接符 7167"/>
          <p:cNvCxnSpPr>
            <a:cxnSpLocks noChangeShapeType="1"/>
          </p:cNvCxnSpPr>
          <p:nvPr/>
        </p:nvCxnSpPr>
        <p:spPr bwMode="auto">
          <a:xfrm flipV="1">
            <a:off x="9454801" y="4419988"/>
            <a:ext cx="1993988" cy="875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72" name="直接连接符 7172"/>
          <p:cNvCxnSpPr>
            <a:cxnSpLocks noChangeShapeType="1"/>
          </p:cNvCxnSpPr>
          <p:nvPr/>
        </p:nvCxnSpPr>
        <p:spPr bwMode="auto">
          <a:xfrm>
            <a:off x="9453896" y="4074072"/>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73" name="TextBox 7177"/>
          <p:cNvSpPr txBox="1">
            <a:spLocks noChangeArrowheads="1"/>
          </p:cNvSpPr>
          <p:nvPr/>
        </p:nvSpPr>
        <p:spPr bwMode="auto">
          <a:xfrm>
            <a:off x="9497973" y="3751901"/>
            <a:ext cx="1504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7</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74" name="矩形 28"/>
          <p:cNvSpPr>
            <a:spLocks noChangeArrowheads="1"/>
          </p:cNvSpPr>
          <p:nvPr/>
        </p:nvSpPr>
        <p:spPr bwMode="auto">
          <a:xfrm>
            <a:off x="9478906" y="4402629"/>
            <a:ext cx="1699485"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b="1" dirty="0">
                <a:solidFill>
                  <a:srgbClr val="FFFFFF"/>
                </a:solidFill>
                <a:latin typeface="微软雅黑" panose="020B0503020204020204" pitchFamily="34" charset="-122"/>
                <a:ea typeface="微软雅黑" panose="020B0503020204020204" pitchFamily="34" charset="-122"/>
              </a:rPr>
              <a:t>SFTP</a:t>
            </a:r>
            <a:r>
              <a:rPr lang="zh-CN" altLang="en-US" b="1" dirty="0">
                <a:solidFill>
                  <a:srgbClr val="FFFFFF"/>
                </a:solidFill>
                <a:latin typeface="微软雅黑" panose="020B0503020204020204" pitchFamily="34" charset="-122"/>
                <a:ea typeface="微软雅黑" panose="020B0503020204020204" pitchFamily="34" charset="-122"/>
              </a:rPr>
              <a:t>远程文件管理</a:t>
            </a:r>
            <a:endParaRPr lang="zh-CN" altLang="en-US" b="1" dirty="0">
              <a:solidFill>
                <a:srgbClr val="FFFFFF"/>
              </a:solidFill>
              <a:latin typeface="微软雅黑" panose="020B0503020204020204" pitchFamily="34" charset="-122"/>
              <a:ea typeface="微软雅黑" panose="020B0503020204020204" pitchFamily="34" charset="-122"/>
            </a:endParaRPr>
          </a:p>
        </p:txBody>
      </p:sp>
      <p:pic>
        <p:nvPicPr>
          <p:cNvPr id="7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56" y="2597881"/>
            <a:ext cx="1520630" cy="106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0621" y="2594842"/>
            <a:ext cx="1611054" cy="108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1376" y="2624392"/>
            <a:ext cx="1528692" cy="1029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9757" y="5269244"/>
            <a:ext cx="1531780" cy="1012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29150" y="2604066"/>
            <a:ext cx="1364458" cy="104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44000">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14:bounceEnd="44000">
                                          <p:cBhvr additive="base">
                                            <p:cTn id="7" dur="500" fill="hold"/>
                                            <p:tgtEl>
                                              <p:spTgt spid="43"/>
                                            </p:tgtEl>
                                            <p:attrNameLst>
                                              <p:attrName>ppt_x</p:attrName>
                                            </p:attrNameLst>
                                          </p:cBhvr>
                                          <p:tavLst>
                                            <p:tav tm="0">
                                              <p:val>
                                                <p:strVal val="1+#ppt_w/2"/>
                                              </p:val>
                                            </p:tav>
                                            <p:tav tm="100000">
                                              <p:val>
                                                <p:strVal val="#ppt_x"/>
                                              </p:val>
                                            </p:tav>
                                          </p:tavLst>
                                        </p:anim>
                                        <p:anim calcmode="lin" valueType="num" p14:bounceEnd="44000">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44000">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14:bounceEnd="44000">
                                          <p:cBhvr additive="base">
                                            <p:cTn id="11" dur="500" fill="hold"/>
                                            <p:tgtEl>
                                              <p:spTgt spid="44"/>
                                            </p:tgtEl>
                                            <p:attrNameLst>
                                              <p:attrName>ppt_x</p:attrName>
                                            </p:attrNameLst>
                                          </p:cBhvr>
                                          <p:tavLst>
                                            <p:tav tm="0">
                                              <p:val>
                                                <p:strVal val="1+#ppt_w/2"/>
                                              </p:val>
                                            </p:tav>
                                            <p:tav tm="100000">
                                              <p:val>
                                                <p:strVal val="#ppt_x"/>
                                              </p:val>
                                            </p:tav>
                                          </p:tavLst>
                                        </p:anim>
                                        <p:anim calcmode="lin" valueType="num" p14:bounceEnd="44000">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44000">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14:bounceEnd="44000">
                                          <p:cBhvr additive="base">
                                            <p:cTn id="15" dur="500" fill="hold"/>
                                            <p:tgtEl>
                                              <p:spTgt spid="45"/>
                                            </p:tgtEl>
                                            <p:attrNameLst>
                                              <p:attrName>ppt_x</p:attrName>
                                            </p:attrNameLst>
                                          </p:cBhvr>
                                          <p:tavLst>
                                            <p:tav tm="0">
                                              <p:val>
                                                <p:strVal val="1+#ppt_w/2"/>
                                              </p:val>
                                            </p:tav>
                                            <p:tav tm="100000">
                                              <p:val>
                                                <p:strVal val="#ppt_x"/>
                                              </p:val>
                                            </p:tav>
                                          </p:tavLst>
                                        </p:anim>
                                        <p:anim calcmode="lin" valueType="num" p14:bounceEnd="44000">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44000">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14:bounceEnd="44000">
                                          <p:cBhvr additive="base">
                                            <p:cTn id="19" dur="500" fill="hold"/>
                                            <p:tgtEl>
                                              <p:spTgt spid="59"/>
                                            </p:tgtEl>
                                            <p:attrNameLst>
                                              <p:attrName>ppt_x</p:attrName>
                                            </p:attrNameLst>
                                          </p:cBhvr>
                                          <p:tavLst>
                                            <p:tav tm="0">
                                              <p:val>
                                                <p:strVal val="1+#ppt_w/2"/>
                                              </p:val>
                                            </p:tav>
                                            <p:tav tm="100000">
                                              <p:val>
                                                <p:strVal val="#ppt_x"/>
                                              </p:val>
                                            </p:tav>
                                          </p:tavLst>
                                        </p:anim>
                                        <p:anim calcmode="lin" valueType="num" p14:bounceEnd="44000">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44000">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14:bounceEnd="44000">
                                          <p:cBhvr additive="base">
                                            <p:cTn id="23" dur="500" fill="hold"/>
                                            <p:tgtEl>
                                              <p:spTgt spid="60"/>
                                            </p:tgtEl>
                                            <p:attrNameLst>
                                              <p:attrName>ppt_x</p:attrName>
                                            </p:attrNameLst>
                                          </p:cBhvr>
                                          <p:tavLst>
                                            <p:tav tm="0">
                                              <p:val>
                                                <p:strVal val="1+#ppt_w/2"/>
                                              </p:val>
                                            </p:tav>
                                            <p:tav tm="100000">
                                              <p:val>
                                                <p:strVal val="#ppt_x"/>
                                              </p:val>
                                            </p:tav>
                                          </p:tavLst>
                                        </p:anim>
                                        <p:anim calcmode="lin" valueType="num" p14:bounceEnd="44000">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44000">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14:bounceEnd="44000">
                                          <p:cBhvr additive="base">
                                            <p:cTn id="27" dur="500" fill="hold"/>
                                            <p:tgtEl>
                                              <p:spTgt spid="61"/>
                                            </p:tgtEl>
                                            <p:attrNameLst>
                                              <p:attrName>ppt_x</p:attrName>
                                            </p:attrNameLst>
                                          </p:cBhvr>
                                          <p:tavLst>
                                            <p:tav tm="0">
                                              <p:val>
                                                <p:strVal val="1+#ppt_w/2"/>
                                              </p:val>
                                            </p:tav>
                                            <p:tav tm="100000">
                                              <p:val>
                                                <p:strVal val="#ppt_x"/>
                                              </p:val>
                                            </p:tav>
                                          </p:tavLst>
                                        </p:anim>
                                        <p:anim calcmode="lin" valueType="num" p14:bounceEnd="44000">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44000">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14:bounceEnd="44000">
                                          <p:cBhvr additive="base">
                                            <p:cTn id="31" dur="500" fill="hold"/>
                                            <p:tgtEl>
                                              <p:spTgt spid="73"/>
                                            </p:tgtEl>
                                            <p:attrNameLst>
                                              <p:attrName>ppt_x</p:attrName>
                                            </p:attrNameLst>
                                          </p:cBhvr>
                                          <p:tavLst>
                                            <p:tav tm="0">
                                              <p:val>
                                                <p:strVal val="1+#ppt_w/2"/>
                                              </p:val>
                                            </p:tav>
                                            <p:tav tm="100000">
                                              <p:val>
                                                <p:strVal val="#ppt_x"/>
                                              </p:val>
                                            </p:tav>
                                          </p:tavLst>
                                        </p:anim>
                                        <p:anim calcmode="lin" valueType="num" p14:bounceEnd="44000">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1+#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1+#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1+#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1+#ppt_w/2"/>
                                              </p:val>
                                            </p:tav>
                                            <p:tav tm="100000">
                                              <p:val>
                                                <p:strVal val="#ppt_x"/>
                                              </p:val>
                                            </p:tav>
                                          </p:tavLst>
                                        </p:anim>
                                        <p:anim calcmode="lin" valueType="num">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500" fill="hold"/>
                                            <p:tgtEl>
                                              <p:spTgt spid="60"/>
                                            </p:tgtEl>
                                            <p:attrNameLst>
                                              <p:attrName>ppt_x</p:attrName>
                                            </p:attrNameLst>
                                          </p:cBhvr>
                                          <p:tavLst>
                                            <p:tav tm="0">
                                              <p:val>
                                                <p:strVal val="1+#ppt_w/2"/>
                                              </p:val>
                                            </p:tav>
                                            <p:tav tm="100000">
                                              <p:val>
                                                <p:strVal val="#ppt_x"/>
                                              </p:val>
                                            </p:tav>
                                          </p:tavLst>
                                        </p:anim>
                                        <p:anim calcmode="lin" valueType="num">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cBhvr additive="base">
                                            <p:cTn id="27" dur="500" fill="hold"/>
                                            <p:tgtEl>
                                              <p:spTgt spid="61"/>
                                            </p:tgtEl>
                                            <p:attrNameLst>
                                              <p:attrName>ppt_x</p:attrName>
                                            </p:attrNameLst>
                                          </p:cBhvr>
                                          <p:tavLst>
                                            <p:tav tm="0">
                                              <p:val>
                                                <p:strVal val="1+#ppt_w/2"/>
                                              </p:val>
                                            </p:tav>
                                            <p:tav tm="100000">
                                              <p:val>
                                                <p:strVal val="#ppt_x"/>
                                              </p:val>
                                            </p:tav>
                                          </p:tavLst>
                                        </p:anim>
                                        <p:anim calcmode="lin" valueType="num">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cBhvr additive="base">
                                            <p:cTn id="31" dur="500" fill="hold"/>
                                            <p:tgtEl>
                                              <p:spTgt spid="73"/>
                                            </p:tgtEl>
                                            <p:attrNameLst>
                                              <p:attrName>ppt_x</p:attrName>
                                            </p:attrNameLst>
                                          </p:cBhvr>
                                          <p:tavLst>
                                            <p:tav tm="0">
                                              <p:val>
                                                <p:strVal val="1+#ppt_w/2"/>
                                              </p:val>
                                            </p:tav>
                                            <p:tav tm="100000">
                                              <p:val>
                                                <p:strVal val="#ppt_x"/>
                                              </p:val>
                                            </p:tav>
                                          </p:tavLst>
                                        </p:anim>
                                        <p:anim calcmode="lin" valueType="num">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1.5Linux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系统启动流程</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8" name="Text Box 44"/>
          <p:cNvSpPr txBox="1">
            <a:spLocks noChangeArrowheads="1"/>
          </p:cNvSpPr>
          <p:nvPr/>
        </p:nvSpPr>
        <p:spPr bwMode="auto">
          <a:xfrm>
            <a:off x="526092" y="1549523"/>
            <a:ext cx="8530225" cy="378565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zh-CN" altLang="en-US" sz="2400" dirty="0">
                <a:solidFill>
                  <a:srgbClr val="1353A2"/>
                </a:solidFill>
              </a:rPr>
              <a:t>从计算机的角度分析，接通电源后，需经过如下步骤，操作系统才会启动：</a:t>
            </a:r>
            <a:endParaRPr lang="zh-CN" altLang="en-US" sz="2400" dirty="0">
              <a:solidFill>
                <a:srgbClr val="1353A2"/>
              </a:solidFill>
            </a:endParaRPr>
          </a:p>
          <a:p>
            <a:pPr marL="342900" indent="720090">
              <a:lnSpc>
                <a:spcPct val="200000"/>
              </a:lnSpc>
              <a:buFont typeface="Wingdings" panose="05000000000000000000" pitchFamily="2" charset="2"/>
              <a:buChar char="p"/>
            </a:pPr>
            <a:r>
              <a:rPr lang="en-US" altLang="zh-CN" sz="2400" dirty="0">
                <a:solidFill>
                  <a:srgbClr val="1353A2"/>
                </a:solidFill>
              </a:rPr>
              <a:t>BIOS</a:t>
            </a:r>
            <a:r>
              <a:rPr lang="zh-CN" altLang="en-US" sz="2400" dirty="0">
                <a:solidFill>
                  <a:srgbClr val="1353A2"/>
                </a:solidFill>
              </a:rPr>
              <a:t>加电自检；</a:t>
            </a:r>
            <a:endParaRPr lang="zh-CN" altLang="en-US" sz="2400" dirty="0">
              <a:solidFill>
                <a:srgbClr val="1353A2"/>
              </a:solidFill>
            </a:endParaRPr>
          </a:p>
          <a:p>
            <a:pPr marL="342900" indent="720090">
              <a:lnSpc>
                <a:spcPct val="200000"/>
              </a:lnSpc>
              <a:buFont typeface="Wingdings" panose="05000000000000000000" pitchFamily="2" charset="2"/>
              <a:buChar char="p"/>
            </a:pPr>
            <a:r>
              <a:rPr lang="en-US" altLang="zh-CN" sz="2400" dirty="0">
                <a:solidFill>
                  <a:srgbClr val="1353A2"/>
                </a:solidFill>
              </a:rPr>
              <a:t>MBR</a:t>
            </a:r>
            <a:r>
              <a:rPr lang="zh-CN" altLang="en-US" sz="2400" dirty="0">
                <a:solidFill>
                  <a:srgbClr val="1353A2"/>
                </a:solidFill>
              </a:rPr>
              <a:t>系统引导；</a:t>
            </a:r>
            <a:endParaRPr lang="zh-CN" altLang="en-US" sz="2400" dirty="0">
              <a:solidFill>
                <a:srgbClr val="1353A2"/>
              </a:solidFill>
            </a:endParaRPr>
          </a:p>
          <a:p>
            <a:pPr marL="342900" indent="720090">
              <a:lnSpc>
                <a:spcPct val="200000"/>
              </a:lnSpc>
              <a:buFont typeface="Wingdings" panose="05000000000000000000" pitchFamily="2" charset="2"/>
              <a:buChar char="p"/>
            </a:pPr>
            <a:r>
              <a:rPr lang="zh-CN" altLang="en-US" sz="2400" dirty="0">
                <a:solidFill>
                  <a:srgbClr val="1353A2"/>
                </a:solidFill>
              </a:rPr>
              <a:t>加载内核。</a:t>
            </a:r>
            <a:endParaRPr lang="zh-CN" altLang="en-US" sz="2400" dirty="0">
              <a:solidFill>
                <a:srgbClr val="1353A2"/>
              </a:solidFill>
            </a:endParaRPr>
          </a:p>
        </p:txBody>
      </p:sp>
      <p:pic>
        <p:nvPicPr>
          <p:cNvPr id="204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784595" y="1444604"/>
            <a:ext cx="2714625" cy="3743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wipe(down)">
                                      <p:cBhvr>
                                        <p:cTn id="14" dur="500"/>
                                        <p:tgtEl>
                                          <p:spTgt spid="8">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Effect transition="in" filter="wipe(down)">
                                      <p:cBhvr>
                                        <p:cTn id="19" dur="500"/>
                                        <p:tgtEl>
                                          <p:spTgt spid="8">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8">
                                            <p:txEl>
                                              <p:pRg st="3" end="3"/>
                                            </p:txEl>
                                          </p:spTgt>
                                        </p:tgtEl>
                                        <p:attrNameLst>
                                          <p:attrName>style.visibility</p:attrName>
                                        </p:attrNameLst>
                                      </p:cBhvr>
                                      <p:to>
                                        <p:strVal val="visible"/>
                                      </p:to>
                                    </p:set>
                                    <p:animEffect transition="in" filter="wipe(down)">
                                      <p:cBhvr>
                                        <p:cTn id="24"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1</a:t>
              </a:r>
              <a:r>
                <a:rPr lang="zh-CN" altLang="en-US" sz="3200" b="1" dirty="0">
                  <a:solidFill>
                    <a:schemeClr val="bg1"/>
                  </a:solidFill>
                </a:rPr>
                <a:t>、</a:t>
              </a:r>
              <a:r>
                <a:rPr lang="en-US" altLang="zh-CN" sz="3200" b="1" dirty="0">
                  <a:solidFill>
                    <a:schemeClr val="bg1"/>
                  </a:solidFill>
                </a:rPr>
                <a:t>BIOS</a:t>
              </a:r>
              <a:r>
                <a:rPr lang="zh-CN" altLang="en-US" sz="3200" b="1" dirty="0">
                  <a:solidFill>
                    <a:schemeClr val="bg1"/>
                  </a:solidFill>
                </a:rPr>
                <a:t>加电自检</a:t>
              </a:r>
              <a:endParaRPr lang="en-US" altLang="zh-CN" sz="3200" b="1" dirty="0">
                <a:solidFill>
                  <a:schemeClr val="bg1"/>
                </a:solidFill>
              </a:endParaRPr>
            </a:p>
          </p:txBody>
        </p:sp>
        <p:pic>
          <p:nvPicPr>
            <p:cNvPr id="11" name="图片 10"/>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2" name="矩形 1"/>
          <p:cNvSpPr/>
          <p:nvPr/>
        </p:nvSpPr>
        <p:spPr>
          <a:xfrm>
            <a:off x="840781" y="2230743"/>
            <a:ext cx="10871053" cy="335104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defTabSz="720725">
              <a:lnSpc>
                <a:spcPct val="150000"/>
              </a:lnSpc>
              <a:buFont typeface="Wingdings" panose="05000000000000000000" pitchFamily="2" charset="2"/>
              <a:buChar char="l"/>
            </a:pPr>
            <a:r>
              <a:rPr lang="en-US" altLang="zh-CN" sz="2400" dirty="0">
                <a:solidFill>
                  <a:srgbClr val="1353A2"/>
                </a:solidFill>
                <a:latin typeface="微软雅黑" panose="020B0503020204020204" pitchFamily="34" charset="-122"/>
                <a:ea typeface="微软雅黑" panose="020B0503020204020204" pitchFamily="34" charset="-122"/>
              </a:rPr>
              <a:t>BIOS</a:t>
            </a:r>
            <a:r>
              <a:rPr lang="zh-CN" altLang="en-US" sz="2400" dirty="0">
                <a:solidFill>
                  <a:srgbClr val="1353A2"/>
                </a:solidFill>
                <a:latin typeface="微软雅黑" panose="020B0503020204020204" pitchFamily="34" charset="-122"/>
                <a:ea typeface="微软雅黑" panose="020B0503020204020204" pitchFamily="34" charset="-122"/>
              </a:rPr>
              <a:t>与加电自检存在包含关系：</a:t>
            </a:r>
            <a:r>
              <a:rPr lang="en-US" altLang="zh-CN" sz="2400" dirty="0">
                <a:solidFill>
                  <a:srgbClr val="FF0000"/>
                </a:solidFill>
                <a:latin typeface="微软雅黑" panose="020B0503020204020204" pitchFamily="34" charset="-122"/>
                <a:ea typeface="微软雅黑" panose="020B0503020204020204" pitchFamily="34" charset="-122"/>
              </a:rPr>
              <a:t>BIOS</a:t>
            </a:r>
            <a:r>
              <a:rPr lang="zh-CN" altLang="en-US" sz="2400" dirty="0">
                <a:solidFill>
                  <a:srgbClr val="1353A2"/>
                </a:solidFill>
                <a:latin typeface="微软雅黑" panose="020B0503020204020204" pitchFamily="34" charset="-122"/>
                <a:ea typeface="微软雅黑" panose="020B0503020204020204" pitchFamily="34" charset="-122"/>
              </a:rPr>
              <a:t>全称</a:t>
            </a:r>
            <a:r>
              <a:rPr lang="en-US" altLang="zh-CN" sz="2400" dirty="0">
                <a:solidFill>
                  <a:srgbClr val="1353A2"/>
                </a:solidFill>
                <a:latin typeface="微软雅黑" panose="020B0503020204020204" pitchFamily="34" charset="-122"/>
                <a:ea typeface="微软雅黑" panose="020B0503020204020204" pitchFamily="34" charset="-122"/>
              </a:rPr>
              <a:t>Basic </a:t>
            </a:r>
            <a:r>
              <a:rPr lang="en-US" altLang="zh-CN" sz="2400" dirty="0" err="1">
                <a:solidFill>
                  <a:srgbClr val="1353A2"/>
                </a:solidFill>
                <a:latin typeface="微软雅黑" panose="020B0503020204020204" pitchFamily="34" charset="-122"/>
                <a:ea typeface="微软雅黑" panose="020B0503020204020204" pitchFamily="34" charset="-122"/>
              </a:rPr>
              <a:t>Input/Output</a:t>
            </a:r>
            <a:r>
              <a:rPr lang="en-US" altLang="zh-CN" sz="2400" dirty="0">
                <a:solidFill>
                  <a:srgbClr val="1353A2"/>
                </a:solidFill>
                <a:latin typeface="微软雅黑" panose="020B0503020204020204" pitchFamily="34" charset="-122"/>
                <a:ea typeface="微软雅黑" panose="020B0503020204020204" pitchFamily="34" charset="-122"/>
              </a:rPr>
              <a:t> System</a:t>
            </a:r>
            <a:r>
              <a:rPr lang="zh-CN" altLang="en-US" sz="2400" dirty="0">
                <a:solidFill>
                  <a:srgbClr val="1353A2"/>
                </a:solidFill>
                <a:latin typeface="微软雅黑" panose="020B0503020204020204" pitchFamily="34" charset="-122"/>
                <a:ea typeface="微软雅黑" panose="020B0503020204020204" pitchFamily="34" charset="-122"/>
              </a:rPr>
              <a:t>，即</a:t>
            </a:r>
            <a:r>
              <a:rPr lang="zh-CN" altLang="en-US" sz="2400" dirty="0">
                <a:solidFill>
                  <a:srgbClr val="FF0000"/>
                </a:solidFill>
                <a:latin typeface="微软雅黑" panose="020B0503020204020204" pitchFamily="34" charset="-122"/>
                <a:ea typeface="微软雅黑" panose="020B0503020204020204" pitchFamily="34" charset="-122"/>
              </a:rPr>
              <a:t>基本输入输出系统</a:t>
            </a:r>
            <a:r>
              <a:rPr lang="zh-CN" altLang="en-US" sz="2400" dirty="0">
                <a:solidFill>
                  <a:srgbClr val="1353A2"/>
                </a:solidFill>
                <a:latin typeface="微软雅黑" panose="020B0503020204020204" pitchFamily="34" charset="-122"/>
                <a:ea typeface="微软雅黑" panose="020B0503020204020204" pitchFamily="34" charset="-122"/>
              </a:rPr>
              <a:t>，是一个永久刻录在</a:t>
            </a:r>
            <a:r>
              <a:rPr lang="en-US" altLang="zh-CN" sz="2400" dirty="0">
                <a:solidFill>
                  <a:srgbClr val="1353A2"/>
                </a:solidFill>
                <a:latin typeface="微软雅黑" panose="020B0503020204020204" pitchFamily="34" charset="-122"/>
                <a:ea typeface="微软雅黑" panose="020B0503020204020204" pitchFamily="34" charset="-122"/>
              </a:rPr>
              <a:t>ROM</a:t>
            </a:r>
            <a:r>
              <a:rPr lang="zh-CN" altLang="en-US" sz="2400" dirty="0">
                <a:solidFill>
                  <a:srgbClr val="1353A2"/>
                </a:solidFill>
                <a:latin typeface="微软雅黑" panose="020B0503020204020204" pitchFamily="34" charset="-122"/>
                <a:ea typeface="微软雅黑" panose="020B0503020204020204" pitchFamily="34" charset="-122"/>
              </a:rPr>
              <a:t>中的软件；</a:t>
            </a:r>
            <a:r>
              <a:rPr lang="zh-CN" altLang="en-US" sz="2400" dirty="0">
                <a:solidFill>
                  <a:srgbClr val="FF0000"/>
                </a:solidFill>
                <a:latin typeface="微软雅黑" panose="020B0503020204020204" pitchFamily="34" charset="-122"/>
                <a:ea typeface="微软雅黑" panose="020B0503020204020204" pitchFamily="34" charset="-122"/>
              </a:rPr>
              <a:t>加电自检</a:t>
            </a:r>
            <a:r>
              <a:rPr lang="zh-CN" altLang="en-US" sz="2400" dirty="0">
                <a:solidFill>
                  <a:srgbClr val="1353A2"/>
                </a:solidFill>
                <a:latin typeface="微软雅黑" panose="020B0503020204020204" pitchFamily="34" charset="-122"/>
                <a:ea typeface="微软雅黑" panose="020B0503020204020204" pitchFamily="34" charset="-122"/>
              </a:rPr>
              <a:t>原意为</a:t>
            </a:r>
            <a:r>
              <a:rPr lang="en-US" altLang="zh-CN" sz="2400" dirty="0">
                <a:solidFill>
                  <a:srgbClr val="1353A2"/>
                </a:solidFill>
                <a:latin typeface="微软雅黑" panose="020B0503020204020204" pitchFamily="34" charset="-122"/>
                <a:ea typeface="微软雅黑" panose="020B0503020204020204" pitchFamily="34" charset="-122"/>
              </a:rPr>
              <a:t>Power On Self Test</a:t>
            </a:r>
            <a:r>
              <a:rPr lang="zh-CN" altLang="en-US" sz="2400" dirty="0">
                <a:solidFill>
                  <a:srgbClr val="1353A2"/>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POST</a:t>
            </a:r>
            <a:r>
              <a:rPr lang="zh-CN" altLang="en-US" sz="2400" dirty="0">
                <a:solidFill>
                  <a:srgbClr val="1353A2"/>
                </a:solidFill>
                <a:latin typeface="微软雅黑" panose="020B0503020204020204" pitchFamily="34" charset="-122"/>
                <a:ea typeface="微软雅黑" panose="020B0503020204020204" pitchFamily="34" charset="-122"/>
              </a:rPr>
              <a:t>），是</a:t>
            </a:r>
            <a:r>
              <a:rPr lang="en-US" altLang="zh-CN" sz="2400" dirty="0">
                <a:solidFill>
                  <a:srgbClr val="1353A2"/>
                </a:solidFill>
                <a:latin typeface="微软雅黑" panose="020B0503020204020204" pitchFamily="34" charset="-122"/>
                <a:ea typeface="微软雅黑" panose="020B0503020204020204" pitchFamily="34" charset="-122"/>
              </a:rPr>
              <a:t>BIOS</a:t>
            </a:r>
            <a:r>
              <a:rPr lang="zh-CN" altLang="en-US" sz="2400" dirty="0">
                <a:solidFill>
                  <a:srgbClr val="1353A2"/>
                </a:solidFill>
                <a:latin typeface="微软雅黑" panose="020B0503020204020204" pitchFamily="34" charset="-122"/>
                <a:ea typeface="微软雅黑" panose="020B0503020204020204" pitchFamily="34" charset="-122"/>
              </a:rPr>
              <a:t>的一个主要部分。</a:t>
            </a:r>
            <a:endParaRPr lang="en-US" altLang="zh-CN" sz="24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zh-CN" altLang="en-US" sz="2400" dirty="0">
                <a:solidFill>
                  <a:srgbClr val="1353A2"/>
                </a:solidFill>
                <a:latin typeface="微软雅黑" panose="020B0503020204020204" pitchFamily="34" charset="-122"/>
                <a:ea typeface="微软雅黑" panose="020B0503020204020204" pitchFamily="34" charset="-122"/>
              </a:rPr>
              <a:t>计算机在接通电源后</a:t>
            </a:r>
            <a:r>
              <a:rPr lang="en-US" altLang="zh-CN" sz="2400" dirty="0">
                <a:solidFill>
                  <a:srgbClr val="1353A2"/>
                </a:solidFill>
                <a:latin typeface="微软雅黑" panose="020B0503020204020204" pitchFamily="34" charset="-122"/>
                <a:ea typeface="微软雅黑" panose="020B0503020204020204" pitchFamily="34" charset="-122"/>
              </a:rPr>
              <a:t>BIOS</a:t>
            </a:r>
            <a:r>
              <a:rPr lang="zh-CN" altLang="en-US" sz="2400" dirty="0">
                <a:solidFill>
                  <a:srgbClr val="1353A2"/>
                </a:solidFill>
                <a:latin typeface="微软雅黑" panose="020B0503020204020204" pitchFamily="34" charset="-122"/>
                <a:ea typeface="微软雅黑" panose="020B0503020204020204" pitchFamily="34" charset="-122"/>
              </a:rPr>
              <a:t>通过</a:t>
            </a:r>
            <a:r>
              <a:rPr lang="en-US" altLang="zh-CN" sz="2400" dirty="0">
                <a:solidFill>
                  <a:srgbClr val="1353A2"/>
                </a:solidFill>
                <a:latin typeface="微软雅黑" panose="020B0503020204020204" pitchFamily="34" charset="-122"/>
                <a:ea typeface="微软雅黑" panose="020B0503020204020204" pitchFamily="34" charset="-122"/>
              </a:rPr>
              <a:t>POST</a:t>
            </a:r>
            <a:r>
              <a:rPr lang="zh-CN" altLang="en-US" sz="2400" dirty="0">
                <a:solidFill>
                  <a:srgbClr val="1353A2"/>
                </a:solidFill>
                <a:latin typeface="微软雅黑" panose="020B0503020204020204" pitchFamily="34" charset="-122"/>
                <a:ea typeface="微软雅黑" panose="020B0503020204020204" pitchFamily="34" charset="-122"/>
              </a:rPr>
              <a:t>来加载硬件信息，进行内存、</a:t>
            </a:r>
            <a:r>
              <a:rPr lang="en-US" altLang="zh-CN" sz="2400" dirty="0">
                <a:solidFill>
                  <a:srgbClr val="1353A2"/>
                </a:solidFill>
                <a:latin typeface="微软雅黑" panose="020B0503020204020204" pitchFamily="34" charset="-122"/>
                <a:ea typeface="微软雅黑" panose="020B0503020204020204" pitchFamily="34" charset="-122"/>
              </a:rPr>
              <a:t>CPU</a:t>
            </a:r>
            <a:r>
              <a:rPr lang="zh-CN" altLang="en-US" sz="2400" dirty="0">
                <a:solidFill>
                  <a:srgbClr val="1353A2"/>
                </a:solidFill>
                <a:latin typeface="微软雅黑" panose="020B0503020204020204" pitchFamily="34" charset="-122"/>
                <a:ea typeface="微软雅黑" panose="020B0503020204020204" pitchFamily="34" charset="-122"/>
              </a:rPr>
              <a:t>、主板等的检测，若硬件设备正常运作，</a:t>
            </a:r>
            <a:r>
              <a:rPr lang="en-US" altLang="zh-CN" sz="2400" dirty="0">
                <a:solidFill>
                  <a:srgbClr val="1353A2"/>
                </a:solidFill>
                <a:latin typeface="微软雅黑" panose="020B0503020204020204" pitchFamily="34" charset="-122"/>
                <a:ea typeface="微软雅黑" panose="020B0503020204020204" pitchFamily="34" charset="-122"/>
              </a:rPr>
              <a:t>BIOS</a:t>
            </a:r>
            <a:r>
              <a:rPr lang="zh-CN" altLang="en-US" sz="2400" dirty="0">
                <a:solidFill>
                  <a:srgbClr val="1353A2"/>
                </a:solidFill>
                <a:latin typeface="微软雅黑" panose="020B0503020204020204" pitchFamily="34" charset="-122"/>
                <a:ea typeface="微软雅黑" panose="020B0503020204020204" pitchFamily="34" charset="-122"/>
              </a:rPr>
              <a:t>会寻找硬盘第一个扇区中存储的数据，使用</a:t>
            </a:r>
            <a:r>
              <a:rPr lang="en-US" altLang="zh-CN" sz="2400" dirty="0">
                <a:solidFill>
                  <a:srgbClr val="1353A2"/>
                </a:solidFill>
                <a:latin typeface="微软雅黑" panose="020B0503020204020204" pitchFamily="34" charset="-122"/>
                <a:ea typeface="微软雅黑" panose="020B0503020204020204" pitchFamily="34" charset="-122"/>
              </a:rPr>
              <a:t>MBR</a:t>
            </a:r>
            <a:r>
              <a:rPr lang="zh-CN" altLang="en-US" sz="2400" dirty="0">
                <a:solidFill>
                  <a:srgbClr val="1353A2"/>
                </a:solidFill>
                <a:latin typeface="微软雅黑" panose="020B0503020204020204" pitchFamily="34" charset="-122"/>
                <a:ea typeface="微软雅黑" panose="020B0503020204020204" pitchFamily="34" charset="-122"/>
              </a:rPr>
              <a:t>中的数据激活引导加载程序。</a:t>
            </a:r>
            <a:endParaRPr lang="zh-CN" altLang="zh-CN" sz="2400" dirty="0">
              <a:solidFill>
                <a:srgbClr val="1353A2"/>
              </a:solidFill>
              <a:latin typeface="微软雅黑" panose="020B0503020204020204" pitchFamily="34" charset="-122"/>
              <a:ea typeface="微软雅黑" panose="020B0503020204020204" pitchFamily="34" charset="-122"/>
            </a:endParaRPr>
          </a:p>
        </p:txBody>
      </p:sp>
      <p:sp>
        <p:nvSpPr>
          <p:cNvPr id="8"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1.5Linux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系统启动流程</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2</a:t>
              </a:r>
              <a:r>
                <a:rPr lang="zh-CN" altLang="en-US" sz="3200" b="1" dirty="0">
                  <a:solidFill>
                    <a:schemeClr val="bg1"/>
                  </a:solidFill>
                </a:rPr>
                <a:t>、</a:t>
              </a:r>
              <a:r>
                <a:rPr lang="en-US" altLang="zh-CN" sz="3200" b="1" dirty="0">
                  <a:solidFill>
                    <a:schemeClr val="bg1"/>
                  </a:solidFill>
                </a:rPr>
                <a:t>MBR</a:t>
              </a:r>
              <a:r>
                <a:rPr lang="zh-CN" altLang="en-US" sz="3200" b="1" dirty="0">
                  <a:solidFill>
                    <a:schemeClr val="bg1"/>
                  </a:solidFill>
                </a:rPr>
                <a:t>系统引导</a:t>
              </a:r>
              <a:endParaRPr lang="en-US" altLang="zh-CN" sz="3200" b="1" dirty="0">
                <a:solidFill>
                  <a:schemeClr val="bg1"/>
                </a:solidFill>
              </a:endParaRPr>
            </a:p>
          </p:txBody>
        </p:sp>
        <p:pic>
          <p:nvPicPr>
            <p:cNvPr id="11" name="图片 10"/>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2" name="矩形 1"/>
          <p:cNvSpPr/>
          <p:nvPr/>
        </p:nvSpPr>
        <p:spPr>
          <a:xfrm>
            <a:off x="840781" y="2092957"/>
            <a:ext cx="10871053" cy="224305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defTabSz="720725">
              <a:lnSpc>
                <a:spcPct val="150000"/>
              </a:lnSpc>
              <a:buFont typeface="Wingdings" panose="05000000000000000000" pitchFamily="2" charset="2"/>
              <a:buChar char="l"/>
            </a:pPr>
            <a:r>
              <a:rPr lang="en-US" altLang="zh-CN" sz="2400" dirty="0">
                <a:solidFill>
                  <a:srgbClr val="FF0000"/>
                </a:solidFill>
                <a:latin typeface="微软雅黑" panose="020B0503020204020204" pitchFamily="34" charset="-122"/>
                <a:ea typeface="微软雅黑" panose="020B0503020204020204" pitchFamily="34" charset="-122"/>
              </a:rPr>
              <a:t>MBR</a:t>
            </a:r>
            <a:r>
              <a:rPr lang="zh-CN" altLang="en-US" sz="2400" dirty="0">
                <a:solidFill>
                  <a:srgbClr val="1353A2"/>
                </a:solidFill>
                <a:latin typeface="微软雅黑" panose="020B0503020204020204" pitchFamily="34" charset="-122"/>
                <a:ea typeface="微软雅黑" panose="020B0503020204020204" pitchFamily="34" charset="-122"/>
              </a:rPr>
              <a:t>全称</a:t>
            </a:r>
            <a:r>
              <a:rPr lang="en-US" altLang="zh-CN" sz="2400" dirty="0">
                <a:solidFill>
                  <a:srgbClr val="1353A2"/>
                </a:solidFill>
                <a:latin typeface="微软雅黑" panose="020B0503020204020204" pitchFamily="34" charset="-122"/>
                <a:ea typeface="微软雅黑" panose="020B0503020204020204" pitchFamily="34" charset="-122"/>
              </a:rPr>
              <a:t>Master Boot Recode</a:t>
            </a:r>
            <a:r>
              <a:rPr lang="zh-CN" altLang="en-US" sz="2400" dirty="0">
                <a:solidFill>
                  <a:srgbClr val="1353A2"/>
                </a:solidFill>
                <a:latin typeface="微软雅黑" panose="020B0503020204020204" pitchFamily="34" charset="-122"/>
                <a:ea typeface="微软雅黑" panose="020B0503020204020204" pitchFamily="34" charset="-122"/>
              </a:rPr>
              <a:t>，是一种</a:t>
            </a:r>
            <a:r>
              <a:rPr lang="zh-CN" altLang="en-US" sz="2400" dirty="0">
                <a:solidFill>
                  <a:srgbClr val="FF0000"/>
                </a:solidFill>
                <a:latin typeface="微软雅黑" panose="020B0503020204020204" pitchFamily="34" charset="-122"/>
                <a:ea typeface="微软雅黑" panose="020B0503020204020204" pitchFamily="34" charset="-122"/>
              </a:rPr>
              <a:t>磁盘分区格式</a:t>
            </a:r>
            <a:r>
              <a:rPr lang="zh-CN" altLang="en-US" sz="2400" dirty="0">
                <a:solidFill>
                  <a:srgbClr val="1353A2"/>
                </a:solidFill>
                <a:latin typeface="微软雅黑" panose="020B0503020204020204" pitchFamily="34" charset="-122"/>
                <a:ea typeface="微软雅黑" panose="020B0503020204020204" pitchFamily="34" charset="-122"/>
              </a:rPr>
              <a:t>，也是以此种格式的磁盘中</a:t>
            </a:r>
            <a:r>
              <a:rPr lang="en-US" altLang="zh-CN" sz="2400" dirty="0">
                <a:solidFill>
                  <a:srgbClr val="1353A2"/>
                </a:solidFill>
                <a:latin typeface="微软雅黑" panose="020B0503020204020204" pitchFamily="34" charset="-122"/>
                <a:ea typeface="微软雅黑" panose="020B0503020204020204" pitchFamily="34" charset="-122"/>
              </a:rPr>
              <a:t>0</a:t>
            </a:r>
            <a:r>
              <a:rPr lang="zh-CN" altLang="en-US" sz="2400" dirty="0">
                <a:solidFill>
                  <a:srgbClr val="1353A2"/>
                </a:solidFill>
                <a:latin typeface="微软雅黑" panose="020B0503020204020204" pitchFamily="34" charset="-122"/>
                <a:ea typeface="微软雅黑" panose="020B0503020204020204" pitchFamily="34" charset="-122"/>
              </a:rPr>
              <a:t>盘片</a:t>
            </a:r>
            <a:r>
              <a:rPr lang="en-US" altLang="zh-CN" sz="2400" dirty="0">
                <a:solidFill>
                  <a:srgbClr val="1353A2"/>
                </a:solidFill>
                <a:latin typeface="微软雅黑" panose="020B0503020204020204" pitchFamily="34" charset="-122"/>
                <a:ea typeface="微软雅黑" panose="020B0503020204020204" pitchFamily="34" charset="-122"/>
              </a:rPr>
              <a:t>0</a:t>
            </a:r>
            <a:r>
              <a:rPr lang="zh-CN" altLang="en-US" sz="2400" dirty="0">
                <a:solidFill>
                  <a:srgbClr val="1353A2"/>
                </a:solidFill>
                <a:latin typeface="微软雅黑" panose="020B0503020204020204" pitchFamily="34" charset="-122"/>
                <a:ea typeface="微软雅黑" panose="020B0503020204020204" pitchFamily="34" charset="-122"/>
              </a:rPr>
              <a:t>扇区中存储的一段记录</a:t>
            </a:r>
            <a:r>
              <a:rPr lang="en-US" altLang="zh-CN" sz="2400" dirty="0">
                <a:solidFill>
                  <a:srgbClr val="1353A2"/>
                </a:solidFill>
                <a:latin typeface="微软雅黑" panose="020B0503020204020204" pitchFamily="34" charset="-122"/>
                <a:ea typeface="微软雅黑" panose="020B0503020204020204" pitchFamily="34" charset="-122"/>
              </a:rPr>
              <a:t>——</a:t>
            </a:r>
            <a:r>
              <a:rPr lang="zh-CN" altLang="en-US" sz="2400" dirty="0">
                <a:solidFill>
                  <a:srgbClr val="00B0F0"/>
                </a:solidFill>
                <a:latin typeface="微软雅黑" panose="020B0503020204020204" pitchFamily="34" charset="-122"/>
                <a:ea typeface="微软雅黑" panose="020B0503020204020204" pitchFamily="34" charset="-122"/>
              </a:rPr>
              <a:t>主引导记录</a:t>
            </a:r>
            <a:r>
              <a:rPr lang="zh-CN" altLang="en-US" sz="2400" dirty="0">
                <a:solidFill>
                  <a:srgbClr val="1353A2"/>
                </a:solidFill>
                <a:latin typeface="微软雅黑" panose="020B0503020204020204" pitchFamily="34" charset="-122"/>
                <a:ea typeface="微软雅黑" panose="020B0503020204020204" pitchFamily="34" charset="-122"/>
              </a:rPr>
              <a:t>。磁盘中扇区的大小为</a:t>
            </a:r>
            <a:r>
              <a:rPr lang="en-US" altLang="zh-CN" sz="2400" dirty="0">
                <a:solidFill>
                  <a:srgbClr val="FF0000"/>
                </a:solidFill>
                <a:latin typeface="微软雅黑" panose="020B0503020204020204" pitchFamily="34" charset="-122"/>
                <a:ea typeface="微软雅黑" panose="020B0503020204020204" pitchFamily="34" charset="-122"/>
              </a:rPr>
              <a:t>512</a:t>
            </a:r>
            <a:r>
              <a:rPr lang="zh-CN" altLang="en-US" sz="2400" dirty="0">
                <a:solidFill>
                  <a:srgbClr val="FF0000"/>
                </a:solidFill>
                <a:latin typeface="微软雅黑" panose="020B0503020204020204" pitchFamily="34" charset="-122"/>
                <a:ea typeface="微软雅黑" panose="020B0503020204020204" pitchFamily="34" charset="-122"/>
              </a:rPr>
              <a:t>字节</a:t>
            </a:r>
            <a:r>
              <a:rPr lang="zh-CN" altLang="en-US" sz="2400" dirty="0">
                <a:solidFill>
                  <a:srgbClr val="1353A2"/>
                </a:solidFill>
                <a:latin typeface="微软雅黑" panose="020B0503020204020204" pitchFamily="34" charset="-122"/>
                <a:ea typeface="微软雅黑" panose="020B0503020204020204" pitchFamily="34" charset="-122"/>
              </a:rPr>
              <a:t>，主引导记录</a:t>
            </a:r>
            <a:r>
              <a:rPr lang="en-US" altLang="zh-CN" sz="2400" dirty="0">
                <a:solidFill>
                  <a:srgbClr val="1353A2"/>
                </a:solidFill>
                <a:latin typeface="微软雅黑" panose="020B0503020204020204" pitchFamily="34" charset="-122"/>
                <a:ea typeface="微软雅黑" panose="020B0503020204020204" pitchFamily="34" charset="-122"/>
              </a:rPr>
              <a:t>MBR</a:t>
            </a:r>
            <a:r>
              <a:rPr lang="zh-CN" altLang="en-US" sz="2400" dirty="0">
                <a:solidFill>
                  <a:srgbClr val="1353A2"/>
                </a:solidFill>
                <a:latin typeface="微软雅黑" panose="020B0503020204020204" pitchFamily="34" charset="-122"/>
                <a:ea typeface="微软雅黑" panose="020B0503020204020204" pitchFamily="34" charset="-122"/>
              </a:rPr>
              <a:t>占据第一个扇区的</a:t>
            </a:r>
            <a:r>
              <a:rPr lang="zh-CN" altLang="en-US" sz="2400" dirty="0">
                <a:solidFill>
                  <a:srgbClr val="FF0000"/>
                </a:solidFill>
                <a:latin typeface="微软雅黑" panose="020B0503020204020204" pitchFamily="34" charset="-122"/>
                <a:ea typeface="微软雅黑" panose="020B0503020204020204" pitchFamily="34" charset="-122"/>
              </a:rPr>
              <a:t>前</a:t>
            </a:r>
            <a:r>
              <a:rPr lang="en-US" altLang="zh-CN" sz="2400" dirty="0">
                <a:solidFill>
                  <a:srgbClr val="FF0000"/>
                </a:solidFill>
                <a:latin typeface="微软雅黑" panose="020B0503020204020204" pitchFamily="34" charset="-122"/>
                <a:ea typeface="微软雅黑" panose="020B0503020204020204" pitchFamily="34" charset="-122"/>
              </a:rPr>
              <a:t>446</a:t>
            </a:r>
            <a:r>
              <a:rPr lang="zh-CN" altLang="en-US" sz="2400" dirty="0">
                <a:solidFill>
                  <a:srgbClr val="FF0000"/>
                </a:solidFill>
                <a:latin typeface="微软雅黑" panose="020B0503020204020204" pitchFamily="34" charset="-122"/>
                <a:ea typeface="微软雅黑" panose="020B0503020204020204" pitchFamily="34" charset="-122"/>
              </a:rPr>
              <a:t>字节</a:t>
            </a:r>
            <a:r>
              <a:rPr lang="zh-CN" altLang="en-US" sz="2400" dirty="0">
                <a:solidFill>
                  <a:srgbClr val="1353A2"/>
                </a:solidFill>
                <a:latin typeface="微软雅黑" panose="020B0503020204020204" pitchFamily="34" charset="-122"/>
                <a:ea typeface="微软雅黑" panose="020B0503020204020204" pitchFamily="34" charset="-122"/>
              </a:rPr>
              <a:t>，剩余的空间依次存储一个</a:t>
            </a:r>
            <a:r>
              <a:rPr lang="en-US" altLang="zh-CN" sz="2400" dirty="0">
                <a:solidFill>
                  <a:srgbClr val="FF0000"/>
                </a:solidFill>
                <a:latin typeface="微软雅黑" panose="020B0503020204020204" pitchFamily="34" charset="-122"/>
                <a:ea typeface="微软雅黑" panose="020B0503020204020204" pitchFamily="34" charset="-122"/>
              </a:rPr>
              <a:t>64</a:t>
            </a:r>
            <a:r>
              <a:rPr lang="zh-CN" altLang="en-US" sz="2400" dirty="0">
                <a:solidFill>
                  <a:srgbClr val="FF0000"/>
                </a:solidFill>
                <a:latin typeface="微软雅黑" panose="020B0503020204020204" pitchFamily="34" charset="-122"/>
                <a:ea typeface="微软雅黑" panose="020B0503020204020204" pitchFamily="34" charset="-122"/>
              </a:rPr>
              <a:t>字节</a:t>
            </a:r>
            <a:r>
              <a:rPr lang="zh-CN" altLang="en-US" sz="2400" dirty="0">
                <a:solidFill>
                  <a:srgbClr val="1353A2"/>
                </a:solidFill>
                <a:latin typeface="微软雅黑" panose="020B0503020204020204" pitchFamily="34" charset="-122"/>
                <a:ea typeface="微软雅黑" panose="020B0503020204020204" pitchFamily="34" charset="-122"/>
              </a:rPr>
              <a:t>的</a:t>
            </a:r>
            <a:r>
              <a:rPr lang="zh-CN" altLang="en-US" sz="2400" dirty="0">
                <a:solidFill>
                  <a:srgbClr val="00B0F0"/>
                </a:solidFill>
                <a:latin typeface="微软雅黑" panose="020B0503020204020204" pitchFamily="34" charset="-122"/>
                <a:ea typeface="微软雅黑" panose="020B0503020204020204" pitchFamily="34" charset="-122"/>
              </a:rPr>
              <a:t>磁盘分区表</a:t>
            </a:r>
            <a:r>
              <a:rPr lang="zh-CN" altLang="en-US" sz="2400" dirty="0">
                <a:solidFill>
                  <a:srgbClr val="1353A2"/>
                </a:solidFill>
                <a:latin typeface="微软雅黑" panose="020B0503020204020204" pitchFamily="34" charset="-122"/>
                <a:ea typeface="微软雅黑" panose="020B0503020204020204" pitchFamily="34" charset="-122"/>
              </a:rPr>
              <a:t>，和一个用于</a:t>
            </a:r>
            <a:r>
              <a:rPr lang="zh-CN" altLang="en-US" sz="2400" dirty="0">
                <a:solidFill>
                  <a:srgbClr val="00B050"/>
                </a:solidFill>
                <a:latin typeface="微软雅黑" panose="020B0503020204020204" pitchFamily="34" charset="-122"/>
                <a:ea typeface="微软雅黑" panose="020B0503020204020204" pitchFamily="34" charset="-122"/>
              </a:rPr>
              <a:t>标识</a:t>
            </a:r>
            <a:r>
              <a:rPr lang="en-US" altLang="zh-CN" sz="2400" dirty="0">
                <a:solidFill>
                  <a:srgbClr val="00B050"/>
                </a:solidFill>
                <a:latin typeface="微软雅黑" panose="020B0503020204020204" pitchFamily="34" charset="-122"/>
                <a:ea typeface="微软雅黑" panose="020B0503020204020204" pitchFamily="34" charset="-122"/>
              </a:rPr>
              <a:t>MBR</a:t>
            </a:r>
            <a:r>
              <a:rPr lang="zh-CN" altLang="en-US" sz="2400" dirty="0">
                <a:solidFill>
                  <a:srgbClr val="00B050"/>
                </a:solidFill>
                <a:latin typeface="微软雅黑" panose="020B0503020204020204" pitchFamily="34" charset="-122"/>
                <a:ea typeface="微软雅黑" panose="020B0503020204020204" pitchFamily="34" charset="-122"/>
              </a:rPr>
              <a:t>是否有效</a:t>
            </a:r>
            <a:r>
              <a:rPr lang="zh-CN" altLang="en-US" sz="2400" dirty="0">
                <a:solidFill>
                  <a:srgbClr val="1353A2"/>
                </a:solidFill>
                <a:latin typeface="微软雅黑" panose="020B0503020204020204" pitchFamily="34" charset="-122"/>
                <a:ea typeface="微软雅黑" panose="020B0503020204020204" pitchFamily="34" charset="-122"/>
              </a:rPr>
              <a:t>的</a:t>
            </a:r>
            <a:r>
              <a:rPr lang="en-US" altLang="zh-CN" sz="2400" dirty="0">
                <a:solidFill>
                  <a:srgbClr val="FF0000"/>
                </a:solidFill>
                <a:latin typeface="微软雅黑" panose="020B0503020204020204" pitchFamily="34" charset="-122"/>
                <a:ea typeface="微软雅黑" panose="020B0503020204020204" pitchFamily="34" charset="-122"/>
              </a:rPr>
              <a:t>2</a:t>
            </a:r>
            <a:r>
              <a:rPr lang="zh-CN" altLang="en-US" sz="2400" dirty="0">
                <a:solidFill>
                  <a:srgbClr val="FF0000"/>
                </a:solidFill>
                <a:latin typeface="微软雅黑" panose="020B0503020204020204" pitchFamily="34" charset="-122"/>
                <a:ea typeface="微软雅黑" panose="020B0503020204020204" pitchFamily="34" charset="-122"/>
              </a:rPr>
              <a:t>字节</a:t>
            </a:r>
            <a:r>
              <a:rPr lang="zh-CN" altLang="en-US" sz="2400" dirty="0">
                <a:solidFill>
                  <a:srgbClr val="1353A2"/>
                </a:solidFill>
                <a:latin typeface="微软雅黑" panose="020B0503020204020204" pitchFamily="34" charset="-122"/>
                <a:ea typeface="微软雅黑" panose="020B0503020204020204" pitchFamily="34" charset="-122"/>
              </a:rPr>
              <a:t>的</a:t>
            </a:r>
            <a:r>
              <a:rPr lang="zh-CN" altLang="en-US" sz="2400" dirty="0">
                <a:solidFill>
                  <a:srgbClr val="00B0F0"/>
                </a:solidFill>
                <a:latin typeface="微软雅黑" panose="020B0503020204020204" pitchFamily="34" charset="-122"/>
                <a:ea typeface="微软雅黑" panose="020B0503020204020204" pitchFamily="34" charset="-122"/>
              </a:rPr>
              <a:t>魔数</a:t>
            </a:r>
            <a:r>
              <a:rPr lang="zh-CN" altLang="en-US" sz="2400" dirty="0">
                <a:solidFill>
                  <a:srgbClr val="1353A2"/>
                </a:solidFill>
                <a:latin typeface="微软雅黑" panose="020B0503020204020204" pitchFamily="34" charset="-122"/>
                <a:ea typeface="微软雅黑" panose="020B0503020204020204" pitchFamily="34" charset="-122"/>
              </a:rPr>
              <a:t>。</a:t>
            </a:r>
            <a:endParaRPr lang="en-US" altLang="zh-CN" sz="2400" dirty="0">
              <a:solidFill>
                <a:srgbClr val="1353A2"/>
              </a:solidFill>
              <a:latin typeface="微软雅黑" panose="020B0503020204020204" pitchFamily="34" charset="-122"/>
              <a:ea typeface="微软雅黑" panose="020B0503020204020204" pitchFamily="34" charset="-122"/>
            </a:endParaRPr>
          </a:p>
        </p:txBody>
      </p:sp>
      <p:sp>
        <p:nvSpPr>
          <p:cNvPr id="8"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1.5Linux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系统启动流程</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17" name="组合 16"/>
          <p:cNvGrpSpPr/>
          <p:nvPr/>
        </p:nvGrpSpPr>
        <p:grpSpPr>
          <a:xfrm>
            <a:off x="2045185" y="4802345"/>
            <a:ext cx="7279703" cy="972091"/>
            <a:chOff x="2045185" y="4802345"/>
            <a:chExt cx="7279703" cy="972091"/>
          </a:xfrm>
        </p:grpSpPr>
        <p:sp>
          <p:nvSpPr>
            <p:cNvPr id="12" name="文本框 11"/>
            <p:cNvSpPr txBox="1"/>
            <p:nvPr/>
          </p:nvSpPr>
          <p:spPr>
            <a:xfrm>
              <a:off x="3227726" y="5405104"/>
              <a:ext cx="6097162" cy="369332"/>
            </a:xfrm>
            <a:prstGeom prst="rect">
              <a:avLst/>
            </a:prstGeom>
            <a:noFill/>
          </p:spPr>
          <p:txBody>
            <a:bodyPr wrap="square">
              <a:spAutoFit/>
            </a:bodyPr>
            <a:lstStyle/>
            <a:p>
              <a:r>
                <a:rPr lang="zh-CN" altLang="en-US" sz="1800" dirty="0">
                  <a:solidFill>
                    <a:srgbClr val="00B0F0"/>
                  </a:solidFill>
                  <a:latin typeface="微软雅黑" panose="020B0503020204020204" pitchFamily="34" charset="-122"/>
                  <a:ea typeface="微软雅黑" panose="020B0503020204020204" pitchFamily="34" charset="-122"/>
                </a:rPr>
                <a:t>主引导记录</a:t>
              </a:r>
              <a:r>
                <a:rPr lang="en-US" altLang="zh-CN" sz="1800" dirty="0">
                  <a:solidFill>
                    <a:srgbClr val="00B0F0"/>
                  </a:solidFill>
                  <a:latin typeface="微软雅黑" panose="020B0503020204020204" pitchFamily="34" charset="-122"/>
                  <a:ea typeface="微软雅黑" panose="020B0503020204020204" pitchFamily="34" charset="-122"/>
                </a:rPr>
                <a:t>MBR                           </a:t>
              </a:r>
              <a:r>
                <a:rPr lang="zh-CN" altLang="en-US" sz="1800" dirty="0">
                  <a:solidFill>
                    <a:srgbClr val="00B0F0"/>
                  </a:solidFill>
                  <a:latin typeface="微软雅黑" panose="020B0503020204020204" pitchFamily="34" charset="-122"/>
                  <a:ea typeface="微软雅黑" panose="020B0503020204020204" pitchFamily="34" charset="-122"/>
                </a:rPr>
                <a:t>磁盘分区表        魔数</a:t>
              </a:r>
              <a:endParaRPr lang="zh-CN" altLang="en-US" dirty="0">
                <a:solidFill>
                  <a:srgbClr val="00B0F0"/>
                </a:solidFill>
              </a:endParaRPr>
            </a:p>
          </p:txBody>
        </p:sp>
        <p:grpSp>
          <p:nvGrpSpPr>
            <p:cNvPr id="16" name="组合 15"/>
            <p:cNvGrpSpPr/>
            <p:nvPr/>
          </p:nvGrpSpPr>
          <p:grpSpPr>
            <a:xfrm>
              <a:off x="2045185" y="4802345"/>
              <a:ext cx="7063914" cy="505753"/>
              <a:chOff x="2045185" y="4802345"/>
              <a:chExt cx="7063914" cy="505753"/>
            </a:xfrm>
          </p:grpSpPr>
          <p:sp>
            <p:nvSpPr>
              <p:cNvPr id="3" name="矩形 2"/>
              <p:cNvSpPr/>
              <p:nvPr/>
            </p:nvSpPr>
            <p:spPr>
              <a:xfrm>
                <a:off x="2045185" y="4802345"/>
                <a:ext cx="7063914" cy="5057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3764281" y="4873958"/>
                <a:ext cx="5191757" cy="369332"/>
              </a:xfrm>
              <a:prstGeom prst="rect">
                <a:avLst/>
              </a:prstGeom>
              <a:noFill/>
            </p:spPr>
            <p:txBody>
              <a:bodyPr wrap="square">
                <a:spAutoFit/>
              </a:bodyPr>
              <a:lstStyle/>
              <a:p>
                <a:r>
                  <a:rPr lang="en-US" altLang="zh-CN" sz="1800" dirty="0">
                    <a:solidFill>
                      <a:srgbClr val="FF0000"/>
                    </a:solidFill>
                    <a:latin typeface="微软雅黑" panose="020B0503020204020204" pitchFamily="34" charset="-122"/>
                    <a:ea typeface="微软雅黑" panose="020B0503020204020204" pitchFamily="34" charset="-122"/>
                  </a:rPr>
                  <a:t>446B                                           64B            2B</a:t>
                </a:r>
                <a:r>
                  <a:rPr lang="zh-CN" altLang="en-US" sz="1800" dirty="0">
                    <a:solidFill>
                      <a:srgbClr val="FF0000"/>
                    </a:solidFill>
                    <a:latin typeface="微软雅黑" panose="020B0503020204020204" pitchFamily="34" charset="-122"/>
                    <a:ea typeface="微软雅黑" panose="020B0503020204020204" pitchFamily="34" charset="-122"/>
                  </a:rPr>
                  <a:t>                          </a:t>
                </a:r>
                <a:endParaRPr lang="zh-CN" altLang="en-US" dirty="0"/>
              </a:p>
            </p:txBody>
          </p:sp>
          <p:cxnSp>
            <p:nvCxnSpPr>
              <p:cNvPr id="14" name="直接连接符 13"/>
              <p:cNvCxnSpPr/>
              <p:nvPr/>
            </p:nvCxnSpPr>
            <p:spPr>
              <a:xfrm>
                <a:off x="8328660" y="4802345"/>
                <a:ext cx="0" cy="5057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611620" y="4802345"/>
                <a:ext cx="0" cy="5057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2</a:t>
              </a:r>
              <a:r>
                <a:rPr lang="zh-CN" altLang="en-US" sz="3200" b="1" dirty="0">
                  <a:solidFill>
                    <a:schemeClr val="bg1"/>
                  </a:solidFill>
                </a:rPr>
                <a:t>、</a:t>
              </a:r>
              <a:r>
                <a:rPr lang="en-US" altLang="zh-CN" sz="3200" b="1" dirty="0">
                  <a:solidFill>
                    <a:schemeClr val="bg1"/>
                  </a:solidFill>
                </a:rPr>
                <a:t>MBR</a:t>
              </a:r>
              <a:r>
                <a:rPr lang="zh-CN" altLang="en-US" sz="3200" b="1" dirty="0">
                  <a:solidFill>
                    <a:schemeClr val="bg1"/>
                  </a:solidFill>
                </a:rPr>
                <a:t>系统引导</a:t>
              </a:r>
              <a:endParaRPr lang="en-US" altLang="zh-CN" sz="3200" b="1" dirty="0">
                <a:solidFill>
                  <a:schemeClr val="bg1"/>
                </a:solidFill>
              </a:endParaRPr>
            </a:p>
          </p:txBody>
        </p:sp>
        <p:pic>
          <p:nvPicPr>
            <p:cNvPr id="11" name="图片 10"/>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2" name="矩形 1"/>
          <p:cNvSpPr/>
          <p:nvPr/>
        </p:nvSpPr>
        <p:spPr>
          <a:xfrm>
            <a:off x="840781" y="2335527"/>
            <a:ext cx="10871053" cy="224305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defTabSz="720725">
              <a:lnSpc>
                <a:spcPct val="150000"/>
              </a:lnSpc>
              <a:buFont typeface="Wingdings" panose="05000000000000000000" pitchFamily="2" charset="2"/>
              <a:buChar char="l"/>
            </a:pPr>
            <a:r>
              <a:rPr lang="zh-CN" altLang="en-US" sz="2400" dirty="0">
                <a:solidFill>
                  <a:srgbClr val="1353A2"/>
                </a:solidFill>
                <a:latin typeface="微软雅黑" panose="020B0503020204020204" pitchFamily="34" charset="-122"/>
                <a:ea typeface="微软雅黑" panose="020B0503020204020204" pitchFamily="34" charset="-122"/>
              </a:rPr>
              <a:t>主引导记录</a:t>
            </a:r>
            <a:r>
              <a:rPr lang="en-US" altLang="zh-CN" sz="2400" dirty="0">
                <a:solidFill>
                  <a:srgbClr val="1353A2"/>
                </a:solidFill>
                <a:latin typeface="微软雅黑" panose="020B0503020204020204" pitchFamily="34" charset="-122"/>
                <a:ea typeface="微软雅黑" panose="020B0503020204020204" pitchFamily="34" charset="-122"/>
              </a:rPr>
              <a:t>MBR</a:t>
            </a:r>
            <a:r>
              <a:rPr lang="zh-CN" altLang="en-US" sz="2400" dirty="0">
                <a:solidFill>
                  <a:srgbClr val="1353A2"/>
                </a:solidFill>
                <a:latin typeface="微软雅黑" panose="020B0503020204020204" pitchFamily="34" charset="-122"/>
                <a:ea typeface="微软雅黑" panose="020B0503020204020204" pitchFamily="34" charset="-122"/>
              </a:rPr>
              <a:t>中包含一个</a:t>
            </a:r>
            <a:r>
              <a:rPr lang="zh-CN" altLang="en-US" sz="2400" dirty="0">
                <a:solidFill>
                  <a:srgbClr val="FF0000"/>
                </a:solidFill>
                <a:latin typeface="微软雅黑" panose="020B0503020204020204" pitchFamily="34" charset="-122"/>
                <a:ea typeface="微软雅黑" panose="020B0503020204020204" pitchFamily="34" charset="-122"/>
              </a:rPr>
              <a:t>实现引导加载功能的程序</a:t>
            </a:r>
            <a:r>
              <a:rPr lang="en-US" altLang="zh-CN" sz="2400" dirty="0">
                <a:solidFill>
                  <a:srgbClr val="FF0000"/>
                </a:solidFill>
                <a:latin typeface="微软雅黑" panose="020B0503020204020204" pitchFamily="34" charset="-122"/>
                <a:ea typeface="微软雅黑" panose="020B0503020204020204" pitchFamily="34" charset="-122"/>
              </a:rPr>
              <a:t>——Boot Loader</a:t>
            </a:r>
            <a:r>
              <a:rPr lang="zh-CN" altLang="en-US" sz="2400" dirty="0">
                <a:solidFill>
                  <a:srgbClr val="1353A2"/>
                </a:solidFill>
                <a:latin typeface="微软雅黑" panose="020B0503020204020204" pitchFamily="34" charset="-122"/>
                <a:ea typeface="微软雅黑" panose="020B0503020204020204" pitchFamily="34" charset="-122"/>
              </a:rPr>
              <a:t>。由于</a:t>
            </a:r>
            <a:r>
              <a:rPr lang="en-US" altLang="zh-CN" sz="2400" dirty="0">
                <a:solidFill>
                  <a:srgbClr val="1353A2"/>
                </a:solidFill>
                <a:latin typeface="微软雅黑" panose="020B0503020204020204" pitchFamily="34" charset="-122"/>
                <a:ea typeface="微软雅黑" panose="020B0503020204020204" pitchFamily="34" charset="-122"/>
              </a:rPr>
              <a:t>BIOS</a:t>
            </a:r>
            <a:r>
              <a:rPr lang="zh-CN" altLang="en-US" sz="2400" dirty="0">
                <a:solidFill>
                  <a:srgbClr val="1353A2"/>
                </a:solidFill>
                <a:latin typeface="微软雅黑" panose="020B0503020204020204" pitchFamily="34" charset="-122"/>
                <a:ea typeface="微软雅黑" panose="020B0503020204020204" pitchFamily="34" charset="-122"/>
              </a:rPr>
              <a:t>只能访问很少量的数据，所以</a:t>
            </a:r>
            <a:r>
              <a:rPr lang="en-US" altLang="zh-CN" sz="2400" dirty="0">
                <a:solidFill>
                  <a:srgbClr val="1353A2"/>
                </a:solidFill>
                <a:latin typeface="微软雅黑" panose="020B0503020204020204" pitchFamily="34" charset="-122"/>
                <a:ea typeface="微软雅黑" panose="020B0503020204020204" pitchFamily="34" charset="-122"/>
              </a:rPr>
              <a:t>MBR</a:t>
            </a:r>
            <a:r>
              <a:rPr lang="zh-CN" altLang="en-US" sz="2400" dirty="0">
                <a:solidFill>
                  <a:srgbClr val="1353A2"/>
                </a:solidFill>
                <a:latin typeface="微软雅黑" panose="020B0503020204020204" pitchFamily="34" charset="-122"/>
                <a:ea typeface="微软雅黑" panose="020B0503020204020204" pitchFamily="34" charset="-122"/>
              </a:rPr>
              <a:t>中的引导加载程序其实只是一段</a:t>
            </a:r>
            <a:r>
              <a:rPr lang="zh-CN" altLang="en-US" sz="2400" dirty="0">
                <a:solidFill>
                  <a:srgbClr val="FF0000"/>
                </a:solidFill>
                <a:latin typeface="微软雅黑" panose="020B0503020204020204" pitchFamily="34" charset="-122"/>
                <a:ea typeface="微软雅黑" panose="020B0503020204020204" pitchFamily="34" charset="-122"/>
              </a:rPr>
              <a:t>初始程序的加载程序</a:t>
            </a:r>
            <a:r>
              <a:rPr lang="zh-CN" altLang="en-US" sz="2400" dirty="0">
                <a:solidFill>
                  <a:srgbClr val="1353A2"/>
                </a:solidFill>
                <a:latin typeface="微软雅黑" panose="020B0503020204020204" pitchFamily="34" charset="-122"/>
                <a:ea typeface="微软雅黑" panose="020B0503020204020204" pitchFamily="34" charset="-122"/>
              </a:rPr>
              <a:t>（</a:t>
            </a:r>
            <a:r>
              <a:rPr lang="en-US" altLang="zh-CN" sz="2400" dirty="0">
                <a:solidFill>
                  <a:srgbClr val="1353A2"/>
                </a:solidFill>
                <a:latin typeface="微软雅黑" panose="020B0503020204020204" pitchFamily="34" charset="-122"/>
                <a:ea typeface="微软雅黑" panose="020B0503020204020204" pitchFamily="34" charset="-122"/>
              </a:rPr>
              <a:t>Initial Program Loader</a:t>
            </a:r>
            <a:r>
              <a:rPr lang="zh-CN" altLang="en-US" sz="2400" dirty="0">
                <a:solidFill>
                  <a:srgbClr val="1353A2"/>
                </a:solidFill>
                <a:latin typeface="微软雅黑" panose="020B0503020204020204" pitchFamily="34" charset="-122"/>
                <a:ea typeface="微软雅黑" panose="020B0503020204020204" pitchFamily="34" charset="-122"/>
              </a:rPr>
              <a:t>，简称</a:t>
            </a:r>
            <a:r>
              <a:rPr lang="en-US" altLang="zh-CN" sz="2400" dirty="0">
                <a:solidFill>
                  <a:srgbClr val="FF0000"/>
                </a:solidFill>
                <a:latin typeface="微软雅黑" panose="020B0503020204020204" pitchFamily="34" charset="-122"/>
                <a:ea typeface="微软雅黑" panose="020B0503020204020204" pitchFamily="34" charset="-122"/>
              </a:rPr>
              <a:t>IPL</a:t>
            </a:r>
            <a:r>
              <a:rPr lang="zh-CN" altLang="en-US" sz="2400" dirty="0">
                <a:solidFill>
                  <a:srgbClr val="1353A2"/>
                </a:solidFill>
                <a:latin typeface="微软雅黑" panose="020B0503020204020204" pitchFamily="34" charset="-122"/>
                <a:ea typeface="微软雅黑" panose="020B0503020204020204" pitchFamily="34" charset="-122"/>
              </a:rPr>
              <a:t>），这段程序唯一的功能就是</a:t>
            </a:r>
            <a:r>
              <a:rPr lang="zh-CN" altLang="en-US" sz="2400" dirty="0">
                <a:solidFill>
                  <a:srgbClr val="00B0F0"/>
                </a:solidFill>
                <a:latin typeface="微软雅黑" panose="020B0503020204020204" pitchFamily="34" charset="-122"/>
                <a:ea typeface="微软雅黑" panose="020B0503020204020204" pitchFamily="34" charset="-122"/>
              </a:rPr>
              <a:t>定位并加载</a:t>
            </a:r>
            <a:r>
              <a:rPr lang="en-US" altLang="zh-CN" sz="2400" dirty="0">
                <a:solidFill>
                  <a:srgbClr val="00B0F0"/>
                </a:solidFill>
                <a:latin typeface="微软雅黑" panose="020B0503020204020204" pitchFamily="34" charset="-122"/>
                <a:ea typeface="微软雅黑" panose="020B0503020204020204" pitchFamily="34" charset="-122"/>
              </a:rPr>
              <a:t>Boot Loader</a:t>
            </a:r>
            <a:r>
              <a:rPr lang="zh-CN" altLang="en-US" sz="2400" dirty="0">
                <a:solidFill>
                  <a:srgbClr val="00B0F0"/>
                </a:solidFill>
                <a:latin typeface="微软雅黑" panose="020B0503020204020204" pitchFamily="34" charset="-122"/>
                <a:ea typeface="微软雅黑" panose="020B0503020204020204" pitchFamily="34" charset="-122"/>
              </a:rPr>
              <a:t>的主体程序</a:t>
            </a:r>
            <a:r>
              <a:rPr lang="zh-CN" altLang="en-US" sz="2400" dirty="0">
                <a:solidFill>
                  <a:srgbClr val="1353A2"/>
                </a:solidFill>
                <a:latin typeface="微软雅黑" panose="020B0503020204020204" pitchFamily="34" charset="-122"/>
                <a:ea typeface="微软雅黑" panose="020B0503020204020204" pitchFamily="34" charset="-122"/>
              </a:rPr>
              <a:t>。</a:t>
            </a:r>
            <a:endParaRPr lang="zh-CN" altLang="zh-CN" sz="2400" dirty="0">
              <a:solidFill>
                <a:srgbClr val="1353A2"/>
              </a:solidFill>
              <a:latin typeface="微软雅黑" panose="020B0503020204020204" pitchFamily="34" charset="-122"/>
              <a:ea typeface="微软雅黑" panose="020B0503020204020204" pitchFamily="34" charset="-122"/>
            </a:endParaRPr>
          </a:p>
        </p:txBody>
      </p:sp>
      <p:sp>
        <p:nvSpPr>
          <p:cNvPr id="8"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1.5Linux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系统启动流程</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grpSp>
        <p:nvGrpSpPr>
          <p:cNvPr id="3" name="组合 2"/>
          <p:cNvGrpSpPr/>
          <p:nvPr/>
        </p:nvGrpSpPr>
        <p:grpSpPr>
          <a:xfrm>
            <a:off x="2045185" y="4802345"/>
            <a:ext cx="7279703" cy="972091"/>
            <a:chOff x="2045185" y="4802345"/>
            <a:chExt cx="7279703" cy="972091"/>
          </a:xfrm>
        </p:grpSpPr>
        <p:sp>
          <p:nvSpPr>
            <p:cNvPr id="4" name="文本框 3"/>
            <p:cNvSpPr txBox="1"/>
            <p:nvPr/>
          </p:nvSpPr>
          <p:spPr>
            <a:xfrm>
              <a:off x="3227726" y="5405104"/>
              <a:ext cx="6097162" cy="369332"/>
            </a:xfrm>
            <a:prstGeom prst="rect">
              <a:avLst/>
            </a:prstGeom>
            <a:noFill/>
          </p:spPr>
          <p:txBody>
            <a:bodyPr wrap="square">
              <a:spAutoFit/>
            </a:bodyPr>
            <a:lstStyle/>
            <a:p>
              <a:r>
                <a:rPr lang="zh-CN" altLang="en-US" sz="1800" dirty="0">
                  <a:solidFill>
                    <a:srgbClr val="00B0F0"/>
                  </a:solidFill>
                  <a:latin typeface="微软雅黑" panose="020B0503020204020204" pitchFamily="34" charset="-122"/>
                  <a:ea typeface="微软雅黑" panose="020B0503020204020204" pitchFamily="34" charset="-122"/>
                </a:rPr>
                <a:t>主引导记录</a:t>
              </a:r>
              <a:r>
                <a:rPr lang="en-US" altLang="zh-CN" sz="1800" dirty="0">
                  <a:solidFill>
                    <a:srgbClr val="00B0F0"/>
                  </a:solidFill>
                  <a:latin typeface="微软雅黑" panose="020B0503020204020204" pitchFamily="34" charset="-122"/>
                  <a:ea typeface="微软雅黑" panose="020B0503020204020204" pitchFamily="34" charset="-122"/>
                </a:rPr>
                <a:t>MBR                           </a:t>
              </a:r>
              <a:r>
                <a:rPr lang="zh-CN" altLang="en-US" sz="1800" dirty="0">
                  <a:solidFill>
                    <a:srgbClr val="00B0F0"/>
                  </a:solidFill>
                  <a:latin typeface="微软雅黑" panose="020B0503020204020204" pitchFamily="34" charset="-122"/>
                  <a:ea typeface="微软雅黑" panose="020B0503020204020204" pitchFamily="34" charset="-122"/>
                </a:rPr>
                <a:t>磁盘分区表        魔数</a:t>
              </a:r>
              <a:endParaRPr lang="zh-CN" altLang="en-US" dirty="0">
                <a:solidFill>
                  <a:srgbClr val="00B0F0"/>
                </a:solidFill>
              </a:endParaRPr>
            </a:p>
          </p:txBody>
        </p:sp>
        <p:grpSp>
          <p:nvGrpSpPr>
            <p:cNvPr id="5" name="组合 4"/>
            <p:cNvGrpSpPr/>
            <p:nvPr/>
          </p:nvGrpSpPr>
          <p:grpSpPr>
            <a:xfrm>
              <a:off x="2045185" y="4802345"/>
              <a:ext cx="7063914" cy="505753"/>
              <a:chOff x="2045185" y="4802345"/>
              <a:chExt cx="7063914" cy="505753"/>
            </a:xfrm>
          </p:grpSpPr>
          <p:sp>
            <p:nvSpPr>
              <p:cNvPr id="6" name="矩形 5"/>
              <p:cNvSpPr/>
              <p:nvPr/>
            </p:nvSpPr>
            <p:spPr>
              <a:xfrm>
                <a:off x="2045185" y="4802345"/>
                <a:ext cx="7063914" cy="5057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3764281" y="4873958"/>
                <a:ext cx="5191757" cy="369332"/>
              </a:xfrm>
              <a:prstGeom prst="rect">
                <a:avLst/>
              </a:prstGeom>
              <a:noFill/>
            </p:spPr>
            <p:txBody>
              <a:bodyPr wrap="square">
                <a:spAutoFit/>
              </a:bodyPr>
              <a:lstStyle/>
              <a:p>
                <a:r>
                  <a:rPr lang="en-US" altLang="zh-CN" sz="1800" dirty="0">
                    <a:solidFill>
                      <a:srgbClr val="FF0000"/>
                    </a:solidFill>
                    <a:latin typeface="微软雅黑" panose="020B0503020204020204" pitchFamily="34" charset="-122"/>
                    <a:ea typeface="微软雅黑" panose="020B0503020204020204" pitchFamily="34" charset="-122"/>
                  </a:rPr>
                  <a:t>446B                                           64B            2B</a:t>
                </a:r>
                <a:r>
                  <a:rPr lang="zh-CN" altLang="en-US" sz="1800" dirty="0">
                    <a:solidFill>
                      <a:srgbClr val="FF0000"/>
                    </a:solidFill>
                    <a:latin typeface="微软雅黑" panose="020B0503020204020204" pitchFamily="34" charset="-122"/>
                    <a:ea typeface="微软雅黑" panose="020B0503020204020204" pitchFamily="34" charset="-122"/>
                  </a:rPr>
                  <a:t>                          </a:t>
                </a:r>
                <a:endParaRPr lang="zh-CN" altLang="en-US" dirty="0"/>
              </a:p>
            </p:txBody>
          </p:sp>
          <p:cxnSp>
            <p:nvCxnSpPr>
              <p:cNvPr id="13" name="直接连接符 12"/>
              <p:cNvCxnSpPr/>
              <p:nvPr/>
            </p:nvCxnSpPr>
            <p:spPr>
              <a:xfrm>
                <a:off x="8328660" y="4802345"/>
                <a:ext cx="0" cy="5057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6611620" y="4802345"/>
                <a:ext cx="0" cy="5057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2</a:t>
              </a:r>
              <a:r>
                <a:rPr lang="zh-CN" altLang="en-US" sz="3200" b="1" dirty="0">
                  <a:solidFill>
                    <a:schemeClr val="bg1"/>
                  </a:solidFill>
                </a:rPr>
                <a:t>、</a:t>
              </a:r>
              <a:r>
                <a:rPr lang="en-US" altLang="zh-CN" sz="3200" b="1" dirty="0">
                  <a:solidFill>
                    <a:schemeClr val="bg1"/>
                  </a:solidFill>
                </a:rPr>
                <a:t>MBR</a:t>
              </a:r>
              <a:r>
                <a:rPr lang="zh-CN" altLang="en-US" sz="3200" b="1" dirty="0">
                  <a:solidFill>
                    <a:schemeClr val="bg1"/>
                  </a:solidFill>
                </a:rPr>
                <a:t>系统引导</a:t>
              </a:r>
              <a:endParaRPr lang="en-US" altLang="zh-CN" sz="3200" b="1" dirty="0">
                <a:solidFill>
                  <a:schemeClr val="bg1"/>
                </a:solidFill>
              </a:endParaRPr>
            </a:p>
          </p:txBody>
        </p:sp>
        <p:pic>
          <p:nvPicPr>
            <p:cNvPr id="11" name="图片 10"/>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2" name="矩形 1"/>
          <p:cNvSpPr/>
          <p:nvPr/>
        </p:nvSpPr>
        <p:spPr>
          <a:xfrm>
            <a:off x="840781" y="2230743"/>
            <a:ext cx="10871053" cy="335104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720725">
              <a:lnSpc>
                <a:spcPct val="150000"/>
              </a:lnSpc>
            </a:pPr>
            <a:r>
              <a:rPr lang="zh-CN" altLang="en-US" sz="2400" dirty="0">
                <a:solidFill>
                  <a:srgbClr val="1353A2"/>
                </a:solidFill>
                <a:latin typeface="微软雅黑" panose="020B0503020204020204" pitchFamily="34" charset="-122"/>
                <a:ea typeface="微软雅黑" panose="020B0503020204020204" pitchFamily="34" charset="-122"/>
              </a:rPr>
              <a:t>因为以上原因，引导加载分为</a:t>
            </a:r>
            <a:r>
              <a:rPr lang="zh-CN" altLang="en-US" sz="2400" dirty="0">
                <a:solidFill>
                  <a:srgbClr val="FF0000"/>
                </a:solidFill>
                <a:latin typeface="微软雅黑" panose="020B0503020204020204" pitchFamily="34" charset="-122"/>
                <a:ea typeface="微软雅黑" panose="020B0503020204020204" pitchFamily="34" charset="-122"/>
              </a:rPr>
              <a:t>两个阶段</a:t>
            </a:r>
            <a:r>
              <a:rPr lang="zh-CN" altLang="en-US" sz="2400" dirty="0">
                <a:solidFill>
                  <a:srgbClr val="1353A2"/>
                </a:solidFill>
                <a:latin typeface="微软雅黑" panose="020B0503020204020204" pitchFamily="34" charset="-122"/>
                <a:ea typeface="微软雅黑" panose="020B0503020204020204" pitchFamily="34" charset="-122"/>
              </a:rPr>
              <a:t>：</a:t>
            </a:r>
            <a:endParaRPr lang="en-US" altLang="zh-CN" sz="24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zh-CN" altLang="en-US" sz="2400" dirty="0">
                <a:solidFill>
                  <a:srgbClr val="1353A2"/>
                </a:solidFill>
                <a:latin typeface="微软雅黑" panose="020B0503020204020204" pitchFamily="34" charset="-122"/>
                <a:ea typeface="微软雅黑" panose="020B0503020204020204" pitchFamily="34" charset="-122"/>
              </a:rPr>
              <a:t>第一阶段，</a:t>
            </a:r>
            <a:r>
              <a:rPr lang="en-US" altLang="zh-CN" sz="2400" dirty="0">
                <a:solidFill>
                  <a:srgbClr val="FF0000"/>
                </a:solidFill>
                <a:latin typeface="微软雅黑" panose="020B0503020204020204" pitchFamily="34" charset="-122"/>
                <a:ea typeface="微软雅黑" panose="020B0503020204020204" pitchFamily="34" charset="-122"/>
              </a:rPr>
              <a:t>BIOS</a:t>
            </a:r>
            <a:r>
              <a:rPr lang="zh-CN" altLang="en-US" sz="2400" dirty="0">
                <a:solidFill>
                  <a:srgbClr val="FF0000"/>
                </a:solidFill>
                <a:latin typeface="微软雅黑" panose="020B0503020204020204" pitchFamily="34" charset="-122"/>
                <a:ea typeface="微软雅黑" panose="020B0503020204020204" pitchFamily="34" charset="-122"/>
              </a:rPr>
              <a:t>引导</a:t>
            </a:r>
            <a:r>
              <a:rPr lang="en-US" altLang="zh-CN" sz="2400" dirty="0">
                <a:solidFill>
                  <a:srgbClr val="FF0000"/>
                </a:solidFill>
                <a:latin typeface="微软雅黑" panose="020B0503020204020204" pitchFamily="34" charset="-122"/>
                <a:ea typeface="微软雅黑" panose="020B0503020204020204" pitchFamily="34" charset="-122"/>
              </a:rPr>
              <a:t>IPL</a:t>
            </a:r>
            <a:r>
              <a:rPr lang="zh-CN" altLang="en-US" sz="2400" dirty="0">
                <a:solidFill>
                  <a:srgbClr val="1353A2"/>
                </a:solidFill>
                <a:latin typeface="微软雅黑" panose="020B0503020204020204" pitchFamily="34" charset="-122"/>
                <a:ea typeface="微软雅黑" panose="020B0503020204020204" pitchFamily="34" charset="-122"/>
              </a:rPr>
              <a:t>（此时系统启动的控制权由</a:t>
            </a:r>
            <a:r>
              <a:rPr lang="en-US" altLang="zh-CN" sz="2400" dirty="0">
                <a:solidFill>
                  <a:srgbClr val="1353A2"/>
                </a:solidFill>
                <a:latin typeface="微软雅黑" panose="020B0503020204020204" pitchFamily="34" charset="-122"/>
                <a:ea typeface="微软雅黑" panose="020B0503020204020204" pitchFamily="34" charset="-122"/>
              </a:rPr>
              <a:t>BIOS</a:t>
            </a:r>
            <a:r>
              <a:rPr lang="zh-CN" altLang="en-US" sz="2400" dirty="0">
                <a:solidFill>
                  <a:srgbClr val="1353A2"/>
                </a:solidFill>
                <a:latin typeface="微软雅黑" panose="020B0503020204020204" pitchFamily="34" charset="-122"/>
                <a:ea typeface="微软雅黑" panose="020B0503020204020204" pitchFamily="34" charset="-122"/>
              </a:rPr>
              <a:t>转移到</a:t>
            </a:r>
            <a:r>
              <a:rPr lang="en-US" altLang="zh-CN" sz="2400" dirty="0">
                <a:solidFill>
                  <a:srgbClr val="1353A2"/>
                </a:solidFill>
                <a:latin typeface="微软雅黑" panose="020B0503020204020204" pitchFamily="34" charset="-122"/>
                <a:ea typeface="微软雅黑" panose="020B0503020204020204" pitchFamily="34" charset="-122"/>
              </a:rPr>
              <a:t>MBR</a:t>
            </a:r>
            <a:r>
              <a:rPr lang="zh-CN" altLang="en-US" sz="2400" dirty="0">
                <a:solidFill>
                  <a:srgbClr val="1353A2"/>
                </a:solidFill>
                <a:latin typeface="微软雅黑" panose="020B0503020204020204" pitchFamily="34" charset="-122"/>
                <a:ea typeface="微软雅黑" panose="020B0503020204020204" pitchFamily="34" charset="-122"/>
              </a:rPr>
              <a:t>），获取</a:t>
            </a:r>
            <a:r>
              <a:rPr lang="en-US" altLang="zh-CN" sz="2400" dirty="0">
                <a:solidFill>
                  <a:srgbClr val="1353A2"/>
                </a:solidFill>
                <a:latin typeface="微软雅黑" panose="020B0503020204020204" pitchFamily="34" charset="-122"/>
                <a:ea typeface="微软雅黑" panose="020B0503020204020204" pitchFamily="34" charset="-122"/>
              </a:rPr>
              <a:t>Boot Loader</a:t>
            </a:r>
            <a:r>
              <a:rPr lang="zh-CN" altLang="en-US" sz="2400" dirty="0">
                <a:solidFill>
                  <a:srgbClr val="1353A2"/>
                </a:solidFill>
                <a:latin typeface="微软雅黑" panose="020B0503020204020204" pitchFamily="34" charset="-122"/>
                <a:ea typeface="微软雅黑" panose="020B0503020204020204" pitchFamily="34" charset="-122"/>
              </a:rPr>
              <a:t>主体程序在磁盘中的位置；</a:t>
            </a:r>
            <a:endParaRPr lang="en-US" altLang="zh-CN" sz="24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l"/>
            </a:pPr>
            <a:r>
              <a:rPr lang="zh-CN" altLang="en-US" sz="2400" dirty="0">
                <a:solidFill>
                  <a:srgbClr val="1353A2"/>
                </a:solidFill>
                <a:latin typeface="微软雅黑" panose="020B0503020204020204" pitchFamily="34" charset="-122"/>
                <a:ea typeface="微软雅黑" panose="020B0503020204020204" pitchFamily="34" charset="-122"/>
              </a:rPr>
              <a:t>第二阶段，</a:t>
            </a:r>
            <a:r>
              <a:rPr lang="en-US" altLang="zh-CN" sz="2400" dirty="0">
                <a:solidFill>
                  <a:srgbClr val="1353A2"/>
                </a:solidFill>
                <a:latin typeface="微软雅黑" panose="020B0503020204020204" pitchFamily="34" charset="-122"/>
                <a:ea typeface="微软雅黑" panose="020B0503020204020204" pitchFamily="34" charset="-122"/>
              </a:rPr>
              <a:t>Boot Loader</a:t>
            </a:r>
            <a:r>
              <a:rPr lang="zh-CN" altLang="en-US" sz="2400" dirty="0">
                <a:solidFill>
                  <a:srgbClr val="1353A2"/>
                </a:solidFill>
                <a:latin typeface="微软雅黑" panose="020B0503020204020204" pitchFamily="34" charset="-122"/>
                <a:ea typeface="微软雅黑" panose="020B0503020204020204" pitchFamily="34" charset="-122"/>
              </a:rPr>
              <a:t>主体程序</a:t>
            </a:r>
            <a:r>
              <a:rPr lang="zh-CN" altLang="en-US" sz="2400" dirty="0">
                <a:solidFill>
                  <a:srgbClr val="FF0000"/>
                </a:solidFill>
                <a:latin typeface="微软雅黑" panose="020B0503020204020204" pitchFamily="34" charset="-122"/>
                <a:ea typeface="微软雅黑" panose="020B0503020204020204" pitchFamily="34" charset="-122"/>
              </a:rPr>
              <a:t>获取</a:t>
            </a:r>
            <a:r>
              <a:rPr lang="zh-CN" altLang="en-US" sz="2400" dirty="0">
                <a:solidFill>
                  <a:srgbClr val="1353A2"/>
                </a:solidFill>
                <a:latin typeface="微软雅黑" panose="020B0503020204020204" pitchFamily="34" charset="-122"/>
                <a:ea typeface="微软雅黑" panose="020B0503020204020204" pitchFamily="34" charset="-122"/>
              </a:rPr>
              <a:t>操作系统对应的</a:t>
            </a:r>
            <a:r>
              <a:rPr lang="zh-CN" altLang="en-US" sz="2400" dirty="0">
                <a:solidFill>
                  <a:srgbClr val="FF0000"/>
                </a:solidFill>
                <a:latin typeface="微软雅黑" panose="020B0503020204020204" pitchFamily="34" charset="-122"/>
                <a:ea typeface="微软雅黑" panose="020B0503020204020204" pitchFamily="34" charset="-122"/>
              </a:rPr>
              <a:t>内核</a:t>
            </a:r>
            <a:r>
              <a:rPr lang="zh-CN" altLang="en-US" sz="2400" dirty="0">
                <a:solidFill>
                  <a:srgbClr val="1353A2"/>
                </a:solidFill>
                <a:latin typeface="微软雅黑" panose="020B0503020204020204" pitchFamily="34" charset="-122"/>
                <a:ea typeface="微软雅黑" panose="020B0503020204020204" pitchFamily="34" charset="-122"/>
              </a:rPr>
              <a:t>，定位到内核文件所在位置，并将其加载到计算机内存中（此时系统启动的控制权由</a:t>
            </a:r>
            <a:r>
              <a:rPr lang="en-US" altLang="zh-CN" sz="2400" dirty="0">
                <a:solidFill>
                  <a:srgbClr val="1353A2"/>
                </a:solidFill>
                <a:latin typeface="微软雅黑" panose="020B0503020204020204" pitchFamily="34" charset="-122"/>
                <a:ea typeface="微软雅黑" panose="020B0503020204020204" pitchFamily="34" charset="-122"/>
              </a:rPr>
              <a:t>MBR</a:t>
            </a:r>
            <a:r>
              <a:rPr lang="zh-CN" altLang="en-US" sz="2400" dirty="0">
                <a:solidFill>
                  <a:srgbClr val="1353A2"/>
                </a:solidFill>
                <a:latin typeface="微软雅黑" panose="020B0503020204020204" pitchFamily="34" charset="-122"/>
                <a:ea typeface="微软雅黑" panose="020B0503020204020204" pitchFamily="34" charset="-122"/>
              </a:rPr>
              <a:t>转到到内核）。</a:t>
            </a:r>
            <a:endParaRPr lang="zh-CN" altLang="zh-CN" sz="2400" dirty="0">
              <a:solidFill>
                <a:srgbClr val="1353A2"/>
              </a:solidFill>
              <a:latin typeface="微软雅黑" panose="020B0503020204020204" pitchFamily="34" charset="-122"/>
              <a:ea typeface="微软雅黑" panose="020B0503020204020204" pitchFamily="34" charset="-122"/>
            </a:endParaRPr>
          </a:p>
        </p:txBody>
      </p:sp>
      <p:sp>
        <p:nvSpPr>
          <p:cNvPr id="8"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1.5Linux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系统启动流程</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3</a:t>
              </a:r>
              <a:r>
                <a:rPr lang="zh-CN" altLang="en-US" sz="3200" b="1" dirty="0">
                  <a:solidFill>
                    <a:schemeClr val="bg1"/>
                  </a:solidFill>
                </a:rPr>
                <a:t>、加载内核</a:t>
              </a:r>
              <a:endParaRPr lang="en-US" altLang="zh-CN" sz="3200" b="1" dirty="0">
                <a:solidFill>
                  <a:schemeClr val="bg1"/>
                </a:solidFill>
              </a:endParaRPr>
            </a:p>
          </p:txBody>
        </p:sp>
        <p:pic>
          <p:nvPicPr>
            <p:cNvPr id="11" name="图片 10"/>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2" name="矩形 1"/>
          <p:cNvSpPr/>
          <p:nvPr/>
        </p:nvSpPr>
        <p:spPr>
          <a:xfrm>
            <a:off x="840781" y="2230743"/>
            <a:ext cx="10871053" cy="279704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defTabSz="720725">
              <a:lnSpc>
                <a:spcPct val="150000"/>
              </a:lnSpc>
              <a:buFont typeface="Wingdings" panose="05000000000000000000" pitchFamily="2" charset="2"/>
              <a:buChar char="p"/>
            </a:pPr>
            <a:r>
              <a:rPr lang="zh-CN" altLang="en-US" sz="2400" dirty="0">
                <a:solidFill>
                  <a:srgbClr val="1353A2"/>
                </a:solidFill>
                <a:latin typeface="微软雅黑" panose="020B0503020204020204" pitchFamily="34" charset="-122"/>
                <a:ea typeface="微软雅黑" panose="020B0503020204020204" pitchFamily="34" charset="-122"/>
              </a:rPr>
              <a:t>内核是操作系统的核心，</a:t>
            </a:r>
            <a:r>
              <a:rPr lang="en-US" altLang="zh-CN" sz="2400" dirty="0">
                <a:solidFill>
                  <a:srgbClr val="1353A2"/>
                </a:solidFill>
                <a:latin typeface="微软雅黑" panose="020B0503020204020204" pitchFamily="34" charset="-122"/>
                <a:ea typeface="微软雅黑" panose="020B0503020204020204" pitchFamily="34" charset="-122"/>
              </a:rPr>
              <a:t>Linux</a:t>
            </a:r>
            <a:r>
              <a:rPr lang="zh-CN" altLang="en-US" sz="2400" dirty="0">
                <a:solidFill>
                  <a:srgbClr val="1353A2"/>
                </a:solidFill>
                <a:latin typeface="微软雅黑" panose="020B0503020204020204" pitchFamily="34" charset="-122"/>
                <a:ea typeface="微软雅黑" panose="020B0503020204020204" pitchFamily="34" charset="-122"/>
              </a:rPr>
              <a:t>操作系统的内核即</a:t>
            </a:r>
            <a:r>
              <a:rPr lang="en-US" altLang="zh-CN" sz="2400" dirty="0">
                <a:solidFill>
                  <a:srgbClr val="1353A2"/>
                </a:solidFill>
                <a:latin typeface="微软雅黑" panose="020B0503020204020204" pitchFamily="34" charset="-122"/>
                <a:ea typeface="微软雅黑" panose="020B0503020204020204" pitchFamily="34" charset="-122"/>
              </a:rPr>
              <a:t>Linux</a:t>
            </a:r>
            <a:r>
              <a:rPr lang="zh-CN" altLang="en-US" sz="2400" dirty="0">
                <a:solidFill>
                  <a:srgbClr val="1353A2"/>
                </a:solidFill>
                <a:latin typeface="微软雅黑" panose="020B0503020204020204" pitchFamily="34" charset="-122"/>
                <a:ea typeface="微软雅黑" panose="020B0503020204020204" pitchFamily="34" charset="-122"/>
              </a:rPr>
              <a:t>。</a:t>
            </a:r>
            <a:endParaRPr lang="en-US" altLang="zh-CN" sz="24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p"/>
            </a:pPr>
            <a:r>
              <a:rPr lang="zh-CN" altLang="en-US" sz="2400" dirty="0">
                <a:solidFill>
                  <a:srgbClr val="1353A2"/>
                </a:solidFill>
                <a:latin typeface="微软雅黑" panose="020B0503020204020204" pitchFamily="34" charset="-122"/>
                <a:ea typeface="微软雅黑" panose="020B0503020204020204" pitchFamily="34" charset="-122"/>
              </a:rPr>
              <a:t>内核以一种</a:t>
            </a:r>
            <a:r>
              <a:rPr lang="zh-CN" altLang="en-US" sz="2400" dirty="0">
                <a:solidFill>
                  <a:srgbClr val="FF0000"/>
                </a:solidFill>
                <a:latin typeface="微软雅黑" panose="020B0503020204020204" pitchFamily="34" charset="-122"/>
                <a:ea typeface="微软雅黑" panose="020B0503020204020204" pitchFamily="34" charset="-122"/>
              </a:rPr>
              <a:t>自解压</a:t>
            </a:r>
            <a:r>
              <a:rPr lang="zh-CN" altLang="en-US" sz="2400" dirty="0">
                <a:solidFill>
                  <a:srgbClr val="1353A2"/>
                </a:solidFill>
                <a:latin typeface="微软雅黑" panose="020B0503020204020204" pitchFamily="34" charset="-122"/>
                <a:ea typeface="微软雅黑" panose="020B0503020204020204" pitchFamily="34" charset="-122"/>
              </a:rPr>
              <a:t>的压缩格式存储，它与一个初始化的内存映像和存储设备映像表一起存储在</a:t>
            </a:r>
            <a:r>
              <a:rPr lang="en-US" altLang="zh-CN" sz="2400" dirty="0">
                <a:solidFill>
                  <a:srgbClr val="FF0000"/>
                </a:solidFill>
                <a:latin typeface="微软雅黑" panose="020B0503020204020204" pitchFamily="34" charset="-122"/>
                <a:ea typeface="微软雅黑" panose="020B0503020204020204" pitchFamily="34" charset="-122"/>
              </a:rPr>
              <a:t>/boot</a:t>
            </a:r>
            <a:r>
              <a:rPr lang="zh-CN" altLang="en-US" sz="2400" dirty="0">
                <a:solidFill>
                  <a:srgbClr val="FF0000"/>
                </a:solidFill>
                <a:latin typeface="微软雅黑" panose="020B0503020204020204" pitchFamily="34" charset="-122"/>
                <a:ea typeface="微软雅黑" panose="020B0503020204020204" pitchFamily="34" charset="-122"/>
              </a:rPr>
              <a:t>目录</a:t>
            </a:r>
            <a:r>
              <a:rPr lang="zh-CN" altLang="en-US" sz="2400" dirty="0">
                <a:solidFill>
                  <a:srgbClr val="1353A2"/>
                </a:solidFill>
                <a:latin typeface="微软雅黑" panose="020B0503020204020204" pitchFamily="34" charset="-122"/>
                <a:ea typeface="微软雅黑" panose="020B0503020204020204" pitchFamily="34" charset="-122"/>
              </a:rPr>
              <a:t>中。</a:t>
            </a:r>
            <a:endParaRPr lang="en-US" altLang="zh-CN" sz="24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p"/>
            </a:pPr>
            <a:r>
              <a:rPr lang="zh-CN" altLang="en-US" sz="2400" dirty="0">
                <a:solidFill>
                  <a:srgbClr val="1353A2"/>
                </a:solidFill>
                <a:latin typeface="微软雅黑" panose="020B0503020204020204" pitchFamily="34" charset="-122"/>
                <a:ea typeface="微软雅黑" panose="020B0503020204020204" pitchFamily="34" charset="-122"/>
              </a:rPr>
              <a:t>在选定的内核被加载到内存中并开始执行之前需先从压缩格式中解压，一旦内核自解压完成，</a:t>
            </a:r>
            <a:r>
              <a:rPr lang="en-US" altLang="zh-CN" sz="2400" dirty="0" err="1">
                <a:solidFill>
                  <a:srgbClr val="FF0000"/>
                </a:solidFill>
                <a:latin typeface="微软雅黑" panose="020B0503020204020204" pitchFamily="34" charset="-122"/>
                <a:ea typeface="微软雅黑" panose="020B0503020204020204" pitchFamily="34" charset="-122"/>
              </a:rPr>
              <a:t>systemd</a:t>
            </a:r>
            <a:r>
              <a:rPr lang="zh-CN" altLang="en-US" sz="2400" dirty="0">
                <a:solidFill>
                  <a:srgbClr val="FF0000"/>
                </a:solidFill>
                <a:latin typeface="微软雅黑" panose="020B0503020204020204" pitchFamily="34" charset="-122"/>
                <a:ea typeface="微软雅黑" panose="020B0503020204020204" pitchFamily="34" charset="-122"/>
              </a:rPr>
              <a:t>进程</a:t>
            </a:r>
            <a:r>
              <a:rPr lang="zh-CN" altLang="en-US" sz="2400" dirty="0">
                <a:solidFill>
                  <a:srgbClr val="1353A2"/>
                </a:solidFill>
                <a:latin typeface="微软雅黑" panose="020B0503020204020204" pitchFamily="34" charset="-122"/>
                <a:ea typeface="微软雅黑" panose="020B0503020204020204" pitchFamily="34" charset="-122"/>
              </a:rPr>
              <a:t>（早期版本中为</a:t>
            </a:r>
            <a:r>
              <a:rPr lang="en-US" altLang="zh-CN" sz="2400" dirty="0" err="1">
                <a:solidFill>
                  <a:srgbClr val="1353A2"/>
                </a:solidFill>
                <a:latin typeface="微软雅黑" panose="020B0503020204020204" pitchFamily="34" charset="-122"/>
                <a:ea typeface="微软雅黑" panose="020B0503020204020204" pitchFamily="34" charset="-122"/>
              </a:rPr>
              <a:t>init</a:t>
            </a:r>
            <a:r>
              <a:rPr lang="zh-CN" altLang="en-US" sz="2400" dirty="0">
                <a:solidFill>
                  <a:srgbClr val="1353A2"/>
                </a:solidFill>
                <a:latin typeface="微软雅黑" panose="020B0503020204020204" pitchFamily="34" charset="-122"/>
                <a:ea typeface="微软雅黑" panose="020B0503020204020204" pitchFamily="34" charset="-122"/>
              </a:rPr>
              <a:t>进程）便被启动。</a:t>
            </a:r>
            <a:endParaRPr lang="en-US" altLang="zh-CN" sz="2400" dirty="0">
              <a:solidFill>
                <a:srgbClr val="1353A2"/>
              </a:solidFill>
              <a:latin typeface="微软雅黑" panose="020B0503020204020204" pitchFamily="34" charset="-122"/>
              <a:ea typeface="微软雅黑" panose="020B0503020204020204" pitchFamily="34" charset="-122"/>
            </a:endParaRPr>
          </a:p>
        </p:txBody>
      </p:sp>
      <p:sp>
        <p:nvSpPr>
          <p:cNvPr id="8"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1.5Linux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系统启动流程</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15"/>
          <p:cNvGrpSpPr/>
          <p:nvPr/>
        </p:nvGrpSpPr>
        <p:grpSpPr>
          <a:xfrm>
            <a:off x="840783" y="1185674"/>
            <a:ext cx="10654409" cy="1008112"/>
            <a:chOff x="395441" y="968316"/>
            <a:chExt cx="10210154" cy="1008112"/>
          </a:xfrm>
          <a:solidFill>
            <a:srgbClr val="1353A2"/>
          </a:solidFill>
        </p:grpSpPr>
        <p:sp>
          <p:nvSpPr>
            <p:cNvPr id="9" name="矩形 3"/>
            <p:cNvSpPr>
              <a:spLocks noChangeArrowheads="1"/>
            </p:cNvSpPr>
            <p:nvPr/>
          </p:nvSpPr>
          <p:spPr bwMode="auto">
            <a:xfrm>
              <a:off x="395441" y="968316"/>
              <a:ext cx="10210154" cy="1008112"/>
            </a:xfrm>
            <a:prstGeom prst="rect">
              <a:avLst/>
            </a:prstGeom>
            <a:grpFill/>
            <a:ln w="19050">
              <a:noFill/>
            </a:ln>
          </p:spPr>
          <p:txBody>
            <a:bodyPr anchor="ctr"/>
            <a:lstStyle/>
            <a:p>
              <a:pPr defTabSz="1221105" fontAlgn="auto">
                <a:spcBef>
                  <a:spcPts val="0"/>
                </a:spcBef>
                <a:spcAft>
                  <a:spcPts val="0"/>
                </a:spcAft>
                <a:defRPr/>
              </a:pPr>
              <a:endParaRPr lang="zh-CN" altLang="en-US" dirty="0">
                <a:latin typeface="+mn-lt"/>
              </a:endParaRPr>
            </a:p>
          </p:txBody>
        </p:sp>
        <p:sp>
          <p:nvSpPr>
            <p:cNvPr id="10" name="Text Box 44"/>
            <p:cNvSpPr txBox="1">
              <a:spLocks noChangeArrowheads="1"/>
            </p:cNvSpPr>
            <p:nvPr/>
          </p:nvSpPr>
          <p:spPr bwMode="auto">
            <a:xfrm>
              <a:off x="1361266" y="970444"/>
              <a:ext cx="8637023" cy="743986"/>
            </a:xfrm>
            <a:prstGeom prst="rect">
              <a:avLst/>
            </a:prstGeom>
            <a:grp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3200" b="1" dirty="0">
                  <a:solidFill>
                    <a:schemeClr val="bg1"/>
                  </a:solidFill>
                </a:rPr>
                <a:t>3</a:t>
              </a:r>
              <a:r>
                <a:rPr lang="zh-CN" altLang="en-US" sz="3200" b="1" dirty="0">
                  <a:solidFill>
                    <a:schemeClr val="bg1"/>
                  </a:solidFill>
                </a:rPr>
                <a:t>、加载内核</a:t>
              </a:r>
              <a:endParaRPr lang="en-US" altLang="zh-CN" sz="3200" b="1" dirty="0">
                <a:solidFill>
                  <a:schemeClr val="bg1"/>
                </a:solidFill>
              </a:endParaRPr>
            </a:p>
          </p:txBody>
        </p:sp>
        <p:pic>
          <p:nvPicPr>
            <p:cNvPr id="11" name="图片 10"/>
            <p:cNvPicPr>
              <a:picLocks noChangeAspect="1"/>
            </p:cNvPicPr>
            <p:nvPr/>
          </p:nvPicPr>
          <p:blipFill>
            <a:blip r:embed="rId1" cstate="print">
              <a:biLevel thresh="25000"/>
              <a:extLst>
                <a:ext uri="{28A0092B-C50C-407E-A947-70E740481C1C}">
                  <a14:useLocalDpi xmlns:a14="http://schemas.microsoft.com/office/drawing/2010/main" val="0"/>
                </a:ext>
              </a:extLst>
            </a:blip>
            <a:stretch>
              <a:fillRect/>
            </a:stretch>
          </p:blipFill>
          <p:spPr>
            <a:xfrm>
              <a:off x="684598" y="1078698"/>
              <a:ext cx="814644" cy="814644"/>
            </a:xfrm>
            <a:prstGeom prst="rect">
              <a:avLst/>
            </a:prstGeom>
            <a:grpFill/>
            <a:ln>
              <a:noFill/>
            </a:ln>
          </p:spPr>
        </p:pic>
      </p:grpSp>
      <p:sp>
        <p:nvSpPr>
          <p:cNvPr id="2" name="矩形 1"/>
          <p:cNvSpPr/>
          <p:nvPr/>
        </p:nvSpPr>
        <p:spPr>
          <a:xfrm>
            <a:off x="840781" y="2230743"/>
            <a:ext cx="10871053" cy="335104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defTabSz="720725">
              <a:lnSpc>
                <a:spcPct val="150000"/>
              </a:lnSpc>
              <a:buFont typeface="Wingdings" panose="05000000000000000000" pitchFamily="2" charset="2"/>
              <a:buChar char="p"/>
            </a:pPr>
            <a:r>
              <a:rPr lang="en-US" altLang="zh-CN" sz="2400" dirty="0" err="1">
                <a:solidFill>
                  <a:srgbClr val="FF0000"/>
                </a:solidFill>
                <a:latin typeface="微软雅黑" panose="020B0503020204020204" pitchFamily="34" charset="-122"/>
                <a:ea typeface="微软雅黑" panose="020B0503020204020204" pitchFamily="34" charset="-122"/>
              </a:rPr>
              <a:t>systemd</a:t>
            </a:r>
            <a:r>
              <a:rPr lang="zh-CN" altLang="en-US" sz="2400" dirty="0">
                <a:solidFill>
                  <a:srgbClr val="FF0000"/>
                </a:solidFill>
                <a:latin typeface="微软雅黑" panose="020B0503020204020204" pitchFamily="34" charset="-122"/>
                <a:ea typeface="微软雅黑" panose="020B0503020204020204" pitchFamily="34" charset="-122"/>
              </a:rPr>
              <a:t>进程的启动标识着</a:t>
            </a:r>
            <a:r>
              <a:rPr lang="zh-CN" altLang="en-US" sz="2400" dirty="0">
                <a:solidFill>
                  <a:srgbClr val="00B0F0"/>
                </a:solidFill>
                <a:latin typeface="微软雅黑" panose="020B0503020204020204" pitchFamily="34" charset="-122"/>
                <a:ea typeface="微软雅黑" panose="020B0503020204020204" pitchFamily="34" charset="-122"/>
              </a:rPr>
              <a:t>引导过程</a:t>
            </a:r>
            <a:r>
              <a:rPr lang="zh-CN" altLang="en-US" sz="2400" dirty="0">
                <a:solidFill>
                  <a:srgbClr val="FF0000"/>
                </a:solidFill>
                <a:latin typeface="微软雅黑" panose="020B0503020204020204" pitchFamily="34" charset="-122"/>
                <a:ea typeface="微软雅黑" panose="020B0503020204020204" pitchFamily="34" charset="-122"/>
              </a:rPr>
              <a:t>的</a:t>
            </a:r>
            <a:r>
              <a:rPr lang="zh-CN" altLang="en-US" sz="2400" dirty="0">
                <a:solidFill>
                  <a:srgbClr val="00B0F0"/>
                </a:solidFill>
                <a:latin typeface="微软雅黑" panose="020B0503020204020204" pitchFamily="34" charset="-122"/>
                <a:ea typeface="微软雅黑" panose="020B0503020204020204" pitchFamily="34" charset="-122"/>
              </a:rPr>
              <a:t>结束</a:t>
            </a:r>
            <a:r>
              <a:rPr lang="zh-CN" altLang="en-US" sz="2400" dirty="0">
                <a:solidFill>
                  <a:srgbClr val="FF0000"/>
                </a:solidFill>
                <a:latin typeface="微软雅黑" panose="020B0503020204020204" pitchFamily="34" charset="-122"/>
                <a:ea typeface="微软雅黑" panose="020B0503020204020204" pitchFamily="34" charset="-122"/>
              </a:rPr>
              <a:t>，也标识</a:t>
            </a:r>
            <a:r>
              <a:rPr lang="zh-CN" altLang="en-US" sz="2400" dirty="0">
                <a:solidFill>
                  <a:srgbClr val="00B0F0"/>
                </a:solidFill>
                <a:latin typeface="微软雅黑" panose="020B0503020204020204" pitchFamily="34" charset="-122"/>
                <a:ea typeface="微软雅黑" panose="020B0503020204020204" pitchFamily="34" charset="-122"/>
              </a:rPr>
              <a:t>启动过程</a:t>
            </a:r>
            <a:r>
              <a:rPr lang="zh-CN" altLang="en-US" sz="2400" dirty="0">
                <a:solidFill>
                  <a:srgbClr val="FF0000"/>
                </a:solidFill>
                <a:latin typeface="微软雅黑" panose="020B0503020204020204" pitchFamily="34" charset="-122"/>
                <a:ea typeface="微软雅黑" panose="020B0503020204020204" pitchFamily="34" charset="-122"/>
              </a:rPr>
              <a:t>的</a:t>
            </a:r>
            <a:r>
              <a:rPr lang="zh-CN" altLang="en-US" sz="2400" dirty="0">
                <a:solidFill>
                  <a:srgbClr val="00B0F0"/>
                </a:solidFill>
                <a:latin typeface="微软雅黑" panose="020B0503020204020204" pitchFamily="34" charset="-122"/>
                <a:ea typeface="微软雅黑" panose="020B0503020204020204" pitchFamily="34" charset="-122"/>
              </a:rPr>
              <a:t>开始</a:t>
            </a:r>
            <a:r>
              <a:rPr lang="zh-CN" altLang="en-US"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1353A2"/>
                </a:solidFill>
                <a:latin typeface="微软雅黑" panose="020B0503020204020204" pitchFamily="34" charset="-122"/>
                <a:ea typeface="微软雅黑" panose="020B0503020204020204" pitchFamily="34" charset="-122"/>
              </a:rPr>
              <a:t>在系统启动之初，由于系统中没有除</a:t>
            </a:r>
            <a:r>
              <a:rPr lang="en-US" altLang="zh-CN" sz="2400" dirty="0" err="1">
                <a:solidFill>
                  <a:srgbClr val="1353A2"/>
                </a:solidFill>
                <a:latin typeface="微软雅黑" panose="020B0503020204020204" pitchFamily="34" charset="-122"/>
                <a:ea typeface="微软雅黑" panose="020B0503020204020204" pitchFamily="34" charset="-122"/>
              </a:rPr>
              <a:t>systemd</a:t>
            </a:r>
            <a:r>
              <a:rPr lang="zh-CN" altLang="en-US" sz="2400" dirty="0">
                <a:solidFill>
                  <a:srgbClr val="1353A2"/>
                </a:solidFill>
                <a:latin typeface="微软雅黑" panose="020B0503020204020204" pitchFamily="34" charset="-122"/>
                <a:ea typeface="微软雅黑" panose="020B0503020204020204" pitchFamily="34" charset="-122"/>
              </a:rPr>
              <a:t>之外的程序执行，系统初始化工作尚未完成，因此计算机不能执行任何和用户相关的功能性工作。</a:t>
            </a:r>
            <a:endParaRPr lang="en-US" altLang="zh-CN" sz="2400" dirty="0">
              <a:solidFill>
                <a:srgbClr val="1353A2"/>
              </a:solidFill>
              <a:latin typeface="微软雅黑" panose="020B0503020204020204" pitchFamily="34" charset="-122"/>
              <a:ea typeface="微软雅黑" panose="020B0503020204020204" pitchFamily="34" charset="-122"/>
            </a:endParaRPr>
          </a:p>
          <a:p>
            <a:pPr marL="342900" indent="-342900" defTabSz="720725">
              <a:lnSpc>
                <a:spcPct val="150000"/>
              </a:lnSpc>
              <a:buFont typeface="Wingdings" panose="05000000000000000000" pitchFamily="2" charset="2"/>
              <a:buChar char="p"/>
            </a:pPr>
            <a:r>
              <a:rPr lang="zh-CN" altLang="en-US" sz="2400" dirty="0">
                <a:solidFill>
                  <a:srgbClr val="1353A2"/>
                </a:solidFill>
                <a:latin typeface="微软雅黑" panose="020B0503020204020204" pitchFamily="34" charset="-122"/>
                <a:ea typeface="微软雅黑" panose="020B0503020204020204" pitchFamily="34" charset="-122"/>
              </a:rPr>
              <a:t>系统初始化需要做的事情非常多，如挂载文件系统、启动后台服务等等，这些初始化工作都由</a:t>
            </a:r>
            <a:r>
              <a:rPr lang="en-US" altLang="zh-CN" sz="2400" dirty="0" err="1">
                <a:solidFill>
                  <a:srgbClr val="1353A2"/>
                </a:solidFill>
                <a:latin typeface="微软雅黑" panose="020B0503020204020204" pitchFamily="34" charset="-122"/>
                <a:ea typeface="微软雅黑" panose="020B0503020204020204" pitchFamily="34" charset="-122"/>
              </a:rPr>
              <a:t>systemd</a:t>
            </a:r>
            <a:r>
              <a:rPr lang="zh-CN" altLang="en-US" sz="2400" dirty="0">
                <a:solidFill>
                  <a:srgbClr val="1353A2"/>
                </a:solidFill>
                <a:latin typeface="微软雅黑" panose="020B0503020204020204" pitchFamily="34" charset="-122"/>
                <a:ea typeface="微软雅黑" panose="020B0503020204020204" pitchFamily="34" charset="-122"/>
              </a:rPr>
              <a:t>进程完成。对用户而言，</a:t>
            </a:r>
            <a:r>
              <a:rPr lang="zh-CN" altLang="en-US" sz="2400" dirty="0">
                <a:solidFill>
                  <a:srgbClr val="00B0F0"/>
                </a:solidFill>
                <a:latin typeface="微软雅黑" panose="020B0503020204020204" pitchFamily="34" charset="-122"/>
                <a:ea typeface="微软雅黑" panose="020B0503020204020204" pitchFamily="34" charset="-122"/>
              </a:rPr>
              <a:t>系统初始化完成后，系统才算正式启动。</a:t>
            </a:r>
            <a:endParaRPr lang="zh-CN" altLang="zh-CN" sz="2400" dirty="0">
              <a:solidFill>
                <a:srgbClr val="00B0F0"/>
              </a:solidFill>
              <a:latin typeface="微软雅黑" panose="020B0503020204020204" pitchFamily="34" charset="-122"/>
              <a:ea typeface="微软雅黑" panose="020B0503020204020204" pitchFamily="34" charset="-122"/>
            </a:endParaRPr>
          </a:p>
        </p:txBody>
      </p:sp>
      <p:sp>
        <p:nvSpPr>
          <p:cNvPr id="8"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1.5Linux</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系统启动流程</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5132" y="447215"/>
            <a:ext cx="3167527" cy="646331"/>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600" kern="1200" dirty="0">
                <a:solidFill>
                  <a:srgbClr val="1353A2"/>
                </a:solidFill>
                <a:latin typeface="微软雅黑" panose="020B0503020204020204" pitchFamily="34" charset="-122"/>
                <a:ea typeface="微软雅黑" panose="020B0503020204020204" pitchFamily="34" charset="-122"/>
                <a:cs typeface="+mn-cs"/>
              </a:rPr>
              <a:t>目录页</a:t>
            </a:r>
            <a:endParaRPr lang="zh-CN" altLang="en-US" sz="3600" kern="1200" dirty="0">
              <a:solidFill>
                <a:srgbClr val="1353A2"/>
              </a:solidFill>
              <a:latin typeface="微软雅黑" panose="020B0503020204020204" pitchFamily="34" charset="-122"/>
              <a:ea typeface="微软雅黑" panose="020B0503020204020204" pitchFamily="34" charset="-122"/>
              <a:cs typeface="+mn-cs"/>
            </a:endParaRPr>
          </a:p>
        </p:txBody>
      </p:sp>
      <p:cxnSp>
        <p:nvCxnSpPr>
          <p:cNvPr id="50"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29"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31" name="矩形 1"/>
          <p:cNvSpPr>
            <a:spLocks noChangeArrowheads="1"/>
          </p:cNvSpPr>
          <p:nvPr/>
        </p:nvSpPr>
        <p:spPr bwMode="auto">
          <a:xfrm>
            <a:off x="264393" y="1769173"/>
            <a:ext cx="1888804"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4" name="矩形 21"/>
          <p:cNvSpPr>
            <a:spLocks noChangeArrowheads="1"/>
          </p:cNvSpPr>
          <p:nvPr/>
        </p:nvSpPr>
        <p:spPr bwMode="auto">
          <a:xfrm>
            <a:off x="2165681" y="1769173"/>
            <a:ext cx="1888803"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5" name="矩形 22"/>
          <p:cNvSpPr>
            <a:spLocks noChangeArrowheads="1"/>
          </p:cNvSpPr>
          <p:nvPr/>
        </p:nvSpPr>
        <p:spPr bwMode="auto">
          <a:xfrm>
            <a:off x="4053100" y="1769173"/>
            <a:ext cx="1892565"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6" name="矩形 28"/>
          <p:cNvSpPr>
            <a:spLocks noChangeArrowheads="1"/>
          </p:cNvSpPr>
          <p:nvPr/>
        </p:nvSpPr>
        <p:spPr bwMode="auto">
          <a:xfrm>
            <a:off x="2099550" y="1841570"/>
            <a:ext cx="20331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安装</a:t>
            </a: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7" name="矩形 29"/>
          <p:cNvSpPr>
            <a:spLocks noChangeArrowheads="1"/>
          </p:cNvSpPr>
          <p:nvPr/>
        </p:nvSpPr>
        <p:spPr bwMode="auto">
          <a:xfrm>
            <a:off x="4070327" y="1841570"/>
            <a:ext cx="1811231"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网络配置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38" name="直接连接符 7167"/>
          <p:cNvCxnSpPr>
            <a:cxnSpLocks noChangeShapeType="1"/>
          </p:cNvCxnSpPr>
          <p:nvPr/>
        </p:nvCxnSpPr>
        <p:spPr bwMode="auto">
          <a:xfrm>
            <a:off x="240288" y="1688477"/>
            <a:ext cx="190178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39" name="直接连接符 7172"/>
          <p:cNvCxnSpPr>
            <a:cxnSpLocks noChangeShapeType="1"/>
          </p:cNvCxnSpPr>
          <p:nvPr/>
        </p:nvCxnSpPr>
        <p:spPr bwMode="auto">
          <a:xfrm>
            <a:off x="240288"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0" name="直接连接符 50"/>
          <p:cNvCxnSpPr>
            <a:cxnSpLocks noChangeShapeType="1"/>
          </p:cNvCxnSpPr>
          <p:nvPr/>
        </p:nvCxnSpPr>
        <p:spPr bwMode="auto">
          <a:xfrm>
            <a:off x="2130757"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1" name="直接连接符 51"/>
          <p:cNvCxnSpPr>
            <a:cxnSpLocks noChangeShapeType="1"/>
          </p:cNvCxnSpPr>
          <p:nvPr/>
        </p:nvCxnSpPr>
        <p:spPr bwMode="auto">
          <a:xfrm>
            <a:off x="4011601"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2" name="直接连接符 52"/>
          <p:cNvCxnSpPr>
            <a:cxnSpLocks noChangeShapeType="1"/>
          </p:cNvCxnSpPr>
          <p:nvPr/>
        </p:nvCxnSpPr>
        <p:spPr bwMode="auto">
          <a:xfrm>
            <a:off x="5950178" y="1359415"/>
            <a:ext cx="1" cy="24837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43" name="TextBox 7177"/>
          <p:cNvSpPr txBox="1">
            <a:spLocks noChangeArrowheads="1"/>
          </p:cNvSpPr>
          <p:nvPr/>
        </p:nvSpPr>
        <p:spPr bwMode="auto">
          <a:xfrm>
            <a:off x="240288" y="1049095"/>
            <a:ext cx="14722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1</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4" name="TextBox 7177"/>
          <p:cNvSpPr txBox="1">
            <a:spLocks noChangeArrowheads="1"/>
          </p:cNvSpPr>
          <p:nvPr/>
        </p:nvSpPr>
        <p:spPr bwMode="auto">
          <a:xfrm>
            <a:off x="2142942" y="1049096"/>
            <a:ext cx="1397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2</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5" name="TextBox 7177"/>
          <p:cNvSpPr txBox="1">
            <a:spLocks noChangeArrowheads="1"/>
          </p:cNvSpPr>
          <p:nvPr/>
        </p:nvSpPr>
        <p:spPr bwMode="auto">
          <a:xfrm>
            <a:off x="3961241" y="1049095"/>
            <a:ext cx="1724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5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3</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6" name="矩形 28"/>
          <p:cNvSpPr>
            <a:spLocks noChangeArrowheads="1"/>
          </p:cNvSpPr>
          <p:nvPr/>
        </p:nvSpPr>
        <p:spPr bwMode="auto">
          <a:xfrm>
            <a:off x="125260" y="1860344"/>
            <a:ext cx="202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系统简介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47" name="直接连接符 46"/>
          <p:cNvCxnSpPr/>
          <p:nvPr/>
        </p:nvCxnSpPr>
        <p:spPr bwMode="auto">
          <a:xfrm>
            <a:off x="2130757" y="1688477"/>
            <a:ext cx="190178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8" name="直接连接符 47"/>
          <p:cNvCxnSpPr/>
          <p:nvPr/>
        </p:nvCxnSpPr>
        <p:spPr bwMode="auto">
          <a:xfrm>
            <a:off x="3991652" y="1688477"/>
            <a:ext cx="399995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2" name="矩形 1"/>
          <p:cNvSpPr>
            <a:spLocks noChangeArrowheads="1"/>
          </p:cNvSpPr>
          <p:nvPr/>
        </p:nvSpPr>
        <p:spPr bwMode="auto">
          <a:xfrm>
            <a:off x="5981779" y="1785676"/>
            <a:ext cx="1859200" cy="2006759"/>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4" name="矩形 21"/>
          <p:cNvSpPr>
            <a:spLocks noChangeArrowheads="1"/>
          </p:cNvSpPr>
          <p:nvPr/>
        </p:nvSpPr>
        <p:spPr bwMode="auto">
          <a:xfrm>
            <a:off x="5997390" y="4479805"/>
            <a:ext cx="1724176"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5" name="矩形 22"/>
          <p:cNvSpPr>
            <a:spLocks noChangeArrowheads="1"/>
          </p:cNvSpPr>
          <p:nvPr/>
        </p:nvSpPr>
        <p:spPr bwMode="auto">
          <a:xfrm>
            <a:off x="7730879" y="4489427"/>
            <a:ext cx="1727610" cy="1861019"/>
          </a:xfrm>
          <a:prstGeom prst="rect">
            <a:avLst/>
          </a:prstGeom>
          <a:solidFill>
            <a:srgbClr val="1353A2"/>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6" name="矩形 28"/>
          <p:cNvSpPr>
            <a:spLocks noChangeArrowheads="1"/>
          </p:cNvSpPr>
          <p:nvPr/>
        </p:nvSpPr>
        <p:spPr bwMode="auto">
          <a:xfrm>
            <a:off x="5993887" y="4364312"/>
            <a:ext cx="176966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系统启动流程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7" name="矩形 29"/>
          <p:cNvSpPr>
            <a:spLocks noChangeArrowheads="1"/>
          </p:cNvSpPr>
          <p:nvPr/>
        </p:nvSpPr>
        <p:spPr bwMode="auto">
          <a:xfrm>
            <a:off x="7721566" y="4566723"/>
            <a:ext cx="1713648"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远程终端访问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58" name="直接连接符 51"/>
          <p:cNvCxnSpPr>
            <a:cxnSpLocks noChangeShapeType="1"/>
          </p:cNvCxnSpPr>
          <p:nvPr/>
        </p:nvCxnSpPr>
        <p:spPr bwMode="auto">
          <a:xfrm>
            <a:off x="7677268" y="4159855"/>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9" name="TextBox 7177"/>
          <p:cNvSpPr txBox="1">
            <a:spLocks noChangeArrowheads="1"/>
          </p:cNvSpPr>
          <p:nvPr/>
        </p:nvSpPr>
        <p:spPr bwMode="auto">
          <a:xfrm>
            <a:off x="5984045" y="1060096"/>
            <a:ext cx="979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zh-CN"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4</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0" name="TextBox 7177"/>
          <p:cNvSpPr txBox="1">
            <a:spLocks noChangeArrowheads="1"/>
          </p:cNvSpPr>
          <p:nvPr/>
        </p:nvSpPr>
        <p:spPr bwMode="auto">
          <a:xfrm>
            <a:off x="5943295" y="3783090"/>
            <a:ext cx="9970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5</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1" name="TextBox 7177"/>
          <p:cNvSpPr txBox="1">
            <a:spLocks noChangeArrowheads="1"/>
          </p:cNvSpPr>
          <p:nvPr/>
        </p:nvSpPr>
        <p:spPr bwMode="auto">
          <a:xfrm>
            <a:off x="7725608" y="3803149"/>
            <a:ext cx="15200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6</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2" name="矩形 28"/>
          <p:cNvSpPr>
            <a:spLocks noChangeArrowheads="1"/>
          </p:cNvSpPr>
          <p:nvPr/>
        </p:nvSpPr>
        <p:spPr bwMode="auto">
          <a:xfrm>
            <a:off x="5967195" y="1870892"/>
            <a:ext cx="178290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目录结构</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63" name="直接连接符 19"/>
          <p:cNvCxnSpPr/>
          <p:nvPr/>
        </p:nvCxnSpPr>
        <p:spPr bwMode="auto">
          <a:xfrm>
            <a:off x="6017699" y="4427930"/>
            <a:ext cx="1678967" cy="776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64" name="直接连接符 20"/>
          <p:cNvCxnSpPr/>
          <p:nvPr/>
        </p:nvCxnSpPr>
        <p:spPr bwMode="auto">
          <a:xfrm>
            <a:off x="7698294" y="4428744"/>
            <a:ext cx="183470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pic>
        <p:nvPicPr>
          <p:cNvPr id="66"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6064187" y="5280100"/>
            <a:ext cx="1538977" cy="104646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68" name="直接连接符 52"/>
          <p:cNvCxnSpPr>
            <a:cxnSpLocks noChangeShapeType="1"/>
          </p:cNvCxnSpPr>
          <p:nvPr/>
        </p:nvCxnSpPr>
        <p:spPr bwMode="auto">
          <a:xfrm>
            <a:off x="5993969" y="4173190"/>
            <a:ext cx="1" cy="296447"/>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69" name="矩形 1"/>
          <p:cNvSpPr>
            <a:spLocks noChangeArrowheads="1"/>
          </p:cNvSpPr>
          <p:nvPr/>
        </p:nvSpPr>
        <p:spPr bwMode="auto">
          <a:xfrm>
            <a:off x="9478906" y="4485614"/>
            <a:ext cx="1724177"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pic>
        <p:nvPicPr>
          <p:cNvPr id="70" name="Picture 5"/>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9634247" y="5321637"/>
            <a:ext cx="1457809" cy="99727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71" name="直接连接符 7167"/>
          <p:cNvCxnSpPr>
            <a:cxnSpLocks noChangeShapeType="1"/>
          </p:cNvCxnSpPr>
          <p:nvPr/>
        </p:nvCxnSpPr>
        <p:spPr bwMode="auto">
          <a:xfrm flipV="1">
            <a:off x="9454801" y="4419988"/>
            <a:ext cx="1993988" cy="875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72" name="直接连接符 7172"/>
          <p:cNvCxnSpPr>
            <a:cxnSpLocks noChangeShapeType="1"/>
          </p:cNvCxnSpPr>
          <p:nvPr/>
        </p:nvCxnSpPr>
        <p:spPr bwMode="auto">
          <a:xfrm>
            <a:off x="9453896" y="4074072"/>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73" name="TextBox 7177"/>
          <p:cNvSpPr txBox="1">
            <a:spLocks noChangeArrowheads="1"/>
          </p:cNvSpPr>
          <p:nvPr/>
        </p:nvSpPr>
        <p:spPr bwMode="auto">
          <a:xfrm>
            <a:off x="9497973" y="3751901"/>
            <a:ext cx="1504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7</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74" name="矩形 28"/>
          <p:cNvSpPr>
            <a:spLocks noChangeArrowheads="1"/>
          </p:cNvSpPr>
          <p:nvPr/>
        </p:nvSpPr>
        <p:spPr bwMode="auto">
          <a:xfrm>
            <a:off x="9478906" y="4402629"/>
            <a:ext cx="1699485"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b="1" dirty="0">
                <a:solidFill>
                  <a:srgbClr val="FFFFFF"/>
                </a:solidFill>
                <a:latin typeface="微软雅黑" panose="020B0503020204020204" pitchFamily="34" charset="-122"/>
                <a:ea typeface="微软雅黑" panose="020B0503020204020204" pitchFamily="34" charset="-122"/>
              </a:rPr>
              <a:t>SFTP</a:t>
            </a:r>
            <a:r>
              <a:rPr lang="zh-CN" altLang="en-US" b="1" dirty="0">
                <a:solidFill>
                  <a:srgbClr val="FFFFFF"/>
                </a:solidFill>
                <a:latin typeface="微软雅黑" panose="020B0503020204020204" pitchFamily="34" charset="-122"/>
                <a:ea typeface="微软雅黑" panose="020B0503020204020204" pitchFamily="34" charset="-122"/>
              </a:rPr>
              <a:t>远程文件管理</a:t>
            </a:r>
            <a:endParaRPr lang="zh-CN" altLang="en-US" b="1" dirty="0">
              <a:solidFill>
                <a:srgbClr val="FFFFFF"/>
              </a:solidFill>
              <a:latin typeface="微软雅黑" panose="020B0503020204020204" pitchFamily="34" charset="-122"/>
              <a:ea typeface="微软雅黑" panose="020B0503020204020204" pitchFamily="34" charset="-122"/>
            </a:endParaRPr>
          </a:p>
        </p:txBody>
      </p:sp>
      <p:pic>
        <p:nvPicPr>
          <p:cNvPr id="7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56" y="2597881"/>
            <a:ext cx="1520630" cy="106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0621" y="2594842"/>
            <a:ext cx="1611054" cy="108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1376" y="2624392"/>
            <a:ext cx="1528692" cy="1029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9757" y="5269244"/>
            <a:ext cx="1531780" cy="1012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29150" y="2604066"/>
            <a:ext cx="1364458" cy="104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44000">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14:bounceEnd="44000">
                                          <p:cBhvr additive="base">
                                            <p:cTn id="7" dur="500" fill="hold"/>
                                            <p:tgtEl>
                                              <p:spTgt spid="43"/>
                                            </p:tgtEl>
                                            <p:attrNameLst>
                                              <p:attrName>ppt_x</p:attrName>
                                            </p:attrNameLst>
                                          </p:cBhvr>
                                          <p:tavLst>
                                            <p:tav tm="0">
                                              <p:val>
                                                <p:strVal val="1+#ppt_w/2"/>
                                              </p:val>
                                            </p:tav>
                                            <p:tav tm="100000">
                                              <p:val>
                                                <p:strVal val="#ppt_x"/>
                                              </p:val>
                                            </p:tav>
                                          </p:tavLst>
                                        </p:anim>
                                        <p:anim calcmode="lin" valueType="num" p14:bounceEnd="44000">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44000">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14:bounceEnd="44000">
                                          <p:cBhvr additive="base">
                                            <p:cTn id="11" dur="500" fill="hold"/>
                                            <p:tgtEl>
                                              <p:spTgt spid="44"/>
                                            </p:tgtEl>
                                            <p:attrNameLst>
                                              <p:attrName>ppt_x</p:attrName>
                                            </p:attrNameLst>
                                          </p:cBhvr>
                                          <p:tavLst>
                                            <p:tav tm="0">
                                              <p:val>
                                                <p:strVal val="1+#ppt_w/2"/>
                                              </p:val>
                                            </p:tav>
                                            <p:tav tm="100000">
                                              <p:val>
                                                <p:strVal val="#ppt_x"/>
                                              </p:val>
                                            </p:tav>
                                          </p:tavLst>
                                        </p:anim>
                                        <p:anim calcmode="lin" valueType="num" p14:bounceEnd="44000">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44000">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14:bounceEnd="44000">
                                          <p:cBhvr additive="base">
                                            <p:cTn id="15" dur="500" fill="hold"/>
                                            <p:tgtEl>
                                              <p:spTgt spid="45"/>
                                            </p:tgtEl>
                                            <p:attrNameLst>
                                              <p:attrName>ppt_x</p:attrName>
                                            </p:attrNameLst>
                                          </p:cBhvr>
                                          <p:tavLst>
                                            <p:tav tm="0">
                                              <p:val>
                                                <p:strVal val="1+#ppt_w/2"/>
                                              </p:val>
                                            </p:tav>
                                            <p:tav tm="100000">
                                              <p:val>
                                                <p:strVal val="#ppt_x"/>
                                              </p:val>
                                            </p:tav>
                                          </p:tavLst>
                                        </p:anim>
                                        <p:anim calcmode="lin" valueType="num" p14:bounceEnd="44000">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44000">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14:bounceEnd="44000">
                                          <p:cBhvr additive="base">
                                            <p:cTn id="19" dur="500" fill="hold"/>
                                            <p:tgtEl>
                                              <p:spTgt spid="59"/>
                                            </p:tgtEl>
                                            <p:attrNameLst>
                                              <p:attrName>ppt_x</p:attrName>
                                            </p:attrNameLst>
                                          </p:cBhvr>
                                          <p:tavLst>
                                            <p:tav tm="0">
                                              <p:val>
                                                <p:strVal val="1+#ppt_w/2"/>
                                              </p:val>
                                            </p:tav>
                                            <p:tav tm="100000">
                                              <p:val>
                                                <p:strVal val="#ppt_x"/>
                                              </p:val>
                                            </p:tav>
                                          </p:tavLst>
                                        </p:anim>
                                        <p:anim calcmode="lin" valueType="num" p14:bounceEnd="44000">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44000">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14:bounceEnd="44000">
                                          <p:cBhvr additive="base">
                                            <p:cTn id="23" dur="500" fill="hold"/>
                                            <p:tgtEl>
                                              <p:spTgt spid="60"/>
                                            </p:tgtEl>
                                            <p:attrNameLst>
                                              <p:attrName>ppt_x</p:attrName>
                                            </p:attrNameLst>
                                          </p:cBhvr>
                                          <p:tavLst>
                                            <p:tav tm="0">
                                              <p:val>
                                                <p:strVal val="1+#ppt_w/2"/>
                                              </p:val>
                                            </p:tav>
                                            <p:tav tm="100000">
                                              <p:val>
                                                <p:strVal val="#ppt_x"/>
                                              </p:val>
                                            </p:tav>
                                          </p:tavLst>
                                        </p:anim>
                                        <p:anim calcmode="lin" valueType="num" p14:bounceEnd="44000">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44000">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14:bounceEnd="44000">
                                          <p:cBhvr additive="base">
                                            <p:cTn id="27" dur="500" fill="hold"/>
                                            <p:tgtEl>
                                              <p:spTgt spid="61"/>
                                            </p:tgtEl>
                                            <p:attrNameLst>
                                              <p:attrName>ppt_x</p:attrName>
                                            </p:attrNameLst>
                                          </p:cBhvr>
                                          <p:tavLst>
                                            <p:tav tm="0">
                                              <p:val>
                                                <p:strVal val="1+#ppt_w/2"/>
                                              </p:val>
                                            </p:tav>
                                            <p:tav tm="100000">
                                              <p:val>
                                                <p:strVal val="#ppt_x"/>
                                              </p:val>
                                            </p:tav>
                                          </p:tavLst>
                                        </p:anim>
                                        <p:anim calcmode="lin" valueType="num" p14:bounceEnd="44000">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44000">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14:bounceEnd="44000">
                                          <p:cBhvr additive="base">
                                            <p:cTn id="31" dur="500" fill="hold"/>
                                            <p:tgtEl>
                                              <p:spTgt spid="73"/>
                                            </p:tgtEl>
                                            <p:attrNameLst>
                                              <p:attrName>ppt_x</p:attrName>
                                            </p:attrNameLst>
                                          </p:cBhvr>
                                          <p:tavLst>
                                            <p:tav tm="0">
                                              <p:val>
                                                <p:strVal val="1+#ppt_w/2"/>
                                              </p:val>
                                            </p:tav>
                                            <p:tav tm="100000">
                                              <p:val>
                                                <p:strVal val="#ppt_x"/>
                                              </p:val>
                                            </p:tav>
                                          </p:tavLst>
                                        </p:anim>
                                        <p:anim calcmode="lin" valueType="num" p14:bounceEnd="44000">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1+#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1+#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1+#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1+#ppt_w/2"/>
                                              </p:val>
                                            </p:tav>
                                            <p:tav tm="100000">
                                              <p:val>
                                                <p:strVal val="#ppt_x"/>
                                              </p:val>
                                            </p:tav>
                                          </p:tavLst>
                                        </p:anim>
                                        <p:anim calcmode="lin" valueType="num">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500" fill="hold"/>
                                            <p:tgtEl>
                                              <p:spTgt spid="60"/>
                                            </p:tgtEl>
                                            <p:attrNameLst>
                                              <p:attrName>ppt_x</p:attrName>
                                            </p:attrNameLst>
                                          </p:cBhvr>
                                          <p:tavLst>
                                            <p:tav tm="0">
                                              <p:val>
                                                <p:strVal val="1+#ppt_w/2"/>
                                              </p:val>
                                            </p:tav>
                                            <p:tav tm="100000">
                                              <p:val>
                                                <p:strVal val="#ppt_x"/>
                                              </p:val>
                                            </p:tav>
                                          </p:tavLst>
                                        </p:anim>
                                        <p:anim calcmode="lin" valueType="num">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cBhvr additive="base">
                                            <p:cTn id="27" dur="500" fill="hold"/>
                                            <p:tgtEl>
                                              <p:spTgt spid="61"/>
                                            </p:tgtEl>
                                            <p:attrNameLst>
                                              <p:attrName>ppt_x</p:attrName>
                                            </p:attrNameLst>
                                          </p:cBhvr>
                                          <p:tavLst>
                                            <p:tav tm="0">
                                              <p:val>
                                                <p:strVal val="1+#ppt_w/2"/>
                                              </p:val>
                                            </p:tav>
                                            <p:tav tm="100000">
                                              <p:val>
                                                <p:strVal val="#ppt_x"/>
                                              </p:val>
                                            </p:tav>
                                          </p:tavLst>
                                        </p:anim>
                                        <p:anim calcmode="lin" valueType="num">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cBhvr additive="base">
                                            <p:cTn id="31" dur="500" fill="hold"/>
                                            <p:tgtEl>
                                              <p:spTgt spid="73"/>
                                            </p:tgtEl>
                                            <p:attrNameLst>
                                              <p:attrName>ppt_x</p:attrName>
                                            </p:attrNameLst>
                                          </p:cBhvr>
                                          <p:tavLst>
                                            <p:tav tm="0">
                                              <p:val>
                                                <p:strVal val="1+#ppt_w/2"/>
                                              </p:val>
                                            </p:tav>
                                            <p:tav tm="100000">
                                              <p:val>
                                                <p:strVal val="#ppt_x"/>
                                              </p:val>
                                            </p:tav>
                                          </p:tavLst>
                                        </p:anim>
                                        <p:anim calcmode="lin" valueType="num">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1.6</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远程终端访问</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8" name="Text Box 44"/>
          <p:cNvSpPr txBox="1">
            <a:spLocks noChangeArrowheads="1"/>
          </p:cNvSpPr>
          <p:nvPr/>
        </p:nvSpPr>
        <p:spPr bwMode="auto">
          <a:xfrm>
            <a:off x="6075123" y="1737414"/>
            <a:ext cx="5420070" cy="30469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zh-CN" altLang="en-US" sz="2400" dirty="0">
                <a:solidFill>
                  <a:srgbClr val="FF0000"/>
                </a:solidFill>
              </a:rPr>
              <a:t>远程终端访问</a:t>
            </a:r>
            <a:endParaRPr lang="en-US" altLang="zh-CN" sz="2400" dirty="0">
              <a:solidFill>
                <a:srgbClr val="FF0000"/>
              </a:solidFill>
            </a:endParaRPr>
          </a:p>
          <a:p>
            <a:pPr indent="0">
              <a:lnSpc>
                <a:spcPct val="200000"/>
              </a:lnSpc>
            </a:pPr>
            <a:r>
              <a:rPr lang="zh-CN" altLang="en-US" sz="2400" dirty="0">
                <a:solidFill>
                  <a:srgbClr val="1353A2"/>
                </a:solidFill>
              </a:rPr>
              <a:t>当</a:t>
            </a:r>
            <a:r>
              <a:rPr lang="en-US" altLang="zh-CN" sz="2400" dirty="0">
                <a:solidFill>
                  <a:srgbClr val="1353A2"/>
                </a:solidFill>
              </a:rPr>
              <a:t>Linux</a:t>
            </a:r>
            <a:r>
              <a:rPr lang="zh-CN" altLang="en-US" sz="2400" dirty="0">
                <a:solidFill>
                  <a:srgbClr val="1353A2"/>
                </a:solidFill>
              </a:rPr>
              <a:t>环境搭建完成以后，除了直接在服务器上操作，还可以通过网络进行远程访问。</a:t>
            </a:r>
            <a:endParaRPr lang="en-US" altLang="zh-CN" sz="2400" dirty="0">
              <a:solidFill>
                <a:srgbClr val="1353A2"/>
              </a:solidFill>
            </a:endParaRPr>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5687" y="1701688"/>
            <a:ext cx="5143500" cy="348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10384" y="501270"/>
            <a:ext cx="5735534"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1.6</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远程终端访问</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10" name="Circle Arrow"/>
          <p:cNvSpPr>
            <a:spLocks noEditPoints="1"/>
          </p:cNvSpPr>
          <p:nvPr/>
        </p:nvSpPr>
        <p:spPr bwMode="auto">
          <a:xfrm rot="5400000">
            <a:off x="10461200" y="1594735"/>
            <a:ext cx="631825" cy="630074"/>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lumMod val="20000"/>
              <a:lumOff val="80000"/>
            </a:srgbClr>
          </a:solidFill>
          <a:ln>
            <a:noFill/>
          </a:ln>
        </p:spPr>
        <p:txBody>
          <a:bodyPr lIns="68550" tIns="34276" rIns="68550" bIns="34276"/>
          <a:lstStyle/>
          <a:p>
            <a:pPr defTabSz="685800" fontAlgn="auto">
              <a:spcBef>
                <a:spcPts val="0"/>
              </a:spcBef>
              <a:spcAft>
                <a:spcPts val="0"/>
              </a:spcAft>
              <a:defRPr/>
            </a:pPr>
            <a:endParaRPr lang="en-US" sz="1400" kern="0" dirty="0">
              <a:solidFill>
                <a:srgbClr val="FFFFFF"/>
              </a:solidFill>
              <a:latin typeface="Segoe UI" panose="020B0502040204020203"/>
              <a:ea typeface="+mn-ea"/>
            </a:endParaRPr>
          </a:p>
        </p:txBody>
      </p:sp>
      <p:sp>
        <p:nvSpPr>
          <p:cNvPr id="22" name="矩形 21"/>
          <p:cNvSpPr/>
          <p:nvPr/>
        </p:nvSpPr>
        <p:spPr>
          <a:xfrm>
            <a:off x="552828" y="1328176"/>
            <a:ext cx="11086344" cy="1052736"/>
          </a:xfrm>
          <a:prstGeom prst="rect">
            <a:avLst/>
          </a:prstGeom>
          <a:solidFill>
            <a:srgbClr val="1353A2"/>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5" name="文本框 14"/>
          <p:cNvSpPr txBox="1"/>
          <p:nvPr/>
        </p:nvSpPr>
        <p:spPr>
          <a:xfrm>
            <a:off x="912774" y="1544201"/>
            <a:ext cx="3877985" cy="646331"/>
          </a:xfrm>
          <a:prstGeom prst="rect">
            <a:avLst/>
          </a:prstGeom>
          <a:noFill/>
        </p:spPr>
        <p:txBody>
          <a:bodyPr wrap="none" rtlCol="0">
            <a:spAutoFit/>
          </a:bodyPr>
          <a:lstStyle/>
          <a:p>
            <a:r>
              <a:rPr kumimoji="1" lang="zh-CN" altLang="en-US"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远程终端访问工具</a:t>
            </a:r>
            <a:endPar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Circle Arrow"/>
          <p:cNvSpPr>
            <a:spLocks noEditPoints="1"/>
          </p:cNvSpPr>
          <p:nvPr/>
        </p:nvSpPr>
        <p:spPr bwMode="auto">
          <a:xfrm rot="5400000">
            <a:off x="10622510" y="1594736"/>
            <a:ext cx="631825" cy="630074"/>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lumMod val="20000"/>
              <a:lumOff val="80000"/>
            </a:srgbClr>
          </a:solidFill>
          <a:ln>
            <a:noFill/>
          </a:ln>
        </p:spPr>
        <p:txBody>
          <a:bodyPr lIns="68550" tIns="34276" rIns="68550" bIns="34276"/>
          <a:lstStyle/>
          <a:p>
            <a:pPr defTabSz="685800" fontAlgn="auto">
              <a:spcBef>
                <a:spcPts val="0"/>
              </a:spcBef>
              <a:spcAft>
                <a:spcPts val="0"/>
              </a:spcAft>
              <a:defRPr/>
            </a:pPr>
            <a:endParaRPr lang="en-US" sz="1400" kern="0" dirty="0">
              <a:solidFill>
                <a:srgbClr val="FFFFFF"/>
              </a:solidFill>
              <a:latin typeface="Segoe UI" panose="020B0502040204020203"/>
              <a:ea typeface="+mn-ea"/>
            </a:endParaRPr>
          </a:p>
        </p:txBody>
      </p:sp>
      <p:sp>
        <p:nvSpPr>
          <p:cNvPr id="30" name="Circle Arrow"/>
          <p:cNvSpPr>
            <a:spLocks noEditPoints="1"/>
          </p:cNvSpPr>
          <p:nvPr/>
        </p:nvSpPr>
        <p:spPr bwMode="auto">
          <a:xfrm rot="16200000">
            <a:off x="1055876" y="5437190"/>
            <a:ext cx="631825" cy="630074"/>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lumMod val="20000"/>
              <a:lumOff val="80000"/>
            </a:srgbClr>
          </a:solidFill>
          <a:ln>
            <a:noFill/>
          </a:ln>
        </p:spPr>
        <p:txBody>
          <a:bodyPr lIns="68550" tIns="34276" rIns="68550" bIns="34276"/>
          <a:lstStyle/>
          <a:p>
            <a:pPr defTabSz="685800" fontAlgn="auto">
              <a:spcBef>
                <a:spcPts val="0"/>
              </a:spcBef>
              <a:spcAft>
                <a:spcPts val="0"/>
              </a:spcAft>
              <a:defRPr/>
            </a:pPr>
            <a:endParaRPr lang="en-US" sz="1400" kern="0" dirty="0">
              <a:solidFill>
                <a:srgbClr val="FFFFFF"/>
              </a:solidFill>
              <a:latin typeface="Segoe UI" panose="020B0502040204020203"/>
              <a:ea typeface="+mn-ea"/>
            </a:endParaRPr>
          </a:p>
        </p:txBody>
      </p:sp>
      <p:grpSp>
        <p:nvGrpSpPr>
          <p:cNvPr id="4" name="组合 3"/>
          <p:cNvGrpSpPr/>
          <p:nvPr/>
        </p:nvGrpSpPr>
        <p:grpSpPr>
          <a:xfrm>
            <a:off x="6853329" y="2797022"/>
            <a:ext cx="4501708" cy="2520280"/>
            <a:chOff x="6853329" y="2797022"/>
            <a:chExt cx="4501708" cy="2520280"/>
          </a:xfrm>
        </p:grpSpPr>
        <p:sp>
          <p:nvSpPr>
            <p:cNvPr id="27" name="矩形 26"/>
            <p:cNvSpPr/>
            <p:nvPr/>
          </p:nvSpPr>
          <p:spPr>
            <a:xfrm>
              <a:off x="9195359" y="2797022"/>
              <a:ext cx="2159678" cy="2520280"/>
            </a:xfrm>
            <a:prstGeom prst="rect">
              <a:avLst/>
            </a:prstGeom>
            <a:solidFill>
              <a:srgbClr val="1353A2"/>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6" name="矩形 25"/>
            <p:cNvSpPr/>
            <p:nvPr/>
          </p:nvSpPr>
          <p:spPr>
            <a:xfrm>
              <a:off x="6976218" y="2797022"/>
              <a:ext cx="2159678" cy="2520280"/>
            </a:xfrm>
            <a:prstGeom prst="rect">
              <a:avLst/>
            </a:prstGeom>
            <a:solidFill>
              <a:srgbClr val="1353A2"/>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0" name="文本框 19"/>
            <p:cNvSpPr txBox="1"/>
            <p:nvPr/>
          </p:nvSpPr>
          <p:spPr>
            <a:xfrm>
              <a:off x="6853329" y="4586795"/>
              <a:ext cx="2380404" cy="584775"/>
            </a:xfrm>
            <a:prstGeom prst="rect">
              <a:avLst/>
            </a:prstGeom>
            <a:noFill/>
          </p:spPr>
          <p:txBody>
            <a:bodyPr wrap="square" rtlCol="0">
              <a:spAutoFit/>
            </a:bodyPr>
            <a:lstStyle/>
            <a:p>
              <a:pPr algn="ctr"/>
              <a:r>
                <a:rPr kumimoji="1" lang="en-US" altLang="zh-CN" sz="3200"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SecureCRT</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nvSpPr>
          <p:spPr>
            <a:xfrm>
              <a:off x="9231354" y="4590993"/>
              <a:ext cx="2087688" cy="584775"/>
            </a:xfrm>
            <a:prstGeom prst="rect">
              <a:avLst/>
            </a:prstGeom>
            <a:noFill/>
          </p:spPr>
          <p:txBody>
            <a:bodyPr wrap="square" rtlCol="0">
              <a:spAutoFit/>
            </a:bodyPr>
            <a:lstStyle/>
            <a:p>
              <a:pPr algn="ctr"/>
              <a:r>
                <a:rPr kumimoji="1" lang="en-US" altLang="zh-CN" sz="3200" dirty="0" err="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XShell</a:t>
              </a:r>
              <a:endPar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53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30690" y="2979919"/>
              <a:ext cx="1889016" cy="147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2091" y="2990974"/>
              <a:ext cx="1485143" cy="1451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 name="矩形 2"/>
          <p:cNvSpPr/>
          <p:nvPr/>
        </p:nvSpPr>
        <p:spPr>
          <a:xfrm>
            <a:off x="552827" y="2459504"/>
            <a:ext cx="6300501" cy="30469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200000"/>
              </a:lnSpc>
            </a:pPr>
            <a:r>
              <a:rPr lang="zh-CN" altLang="zh-CN" sz="2400" dirty="0">
                <a:solidFill>
                  <a:schemeClr val="bg1">
                    <a:lumMod val="50000"/>
                  </a:schemeClr>
                </a:solidFill>
                <a:latin typeface="微软雅黑" panose="020B0503020204020204" pitchFamily="34" charset="-122"/>
                <a:ea typeface="微软雅黑" panose="020B0503020204020204" pitchFamily="34" charset="-122"/>
              </a:rPr>
              <a:t>目前支持</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SSH (Secure Shell) </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的客户端有很多，在</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Windows</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中可以使用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rPr>
              <a:t>Xshell</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rPr>
              <a:t>SecureCRT</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等软件，通过这类软件可以在</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Windows</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系统</a:t>
            </a:r>
            <a:r>
              <a:rPr lang="zh-CN" altLang="en-US" sz="2400" dirty="0">
                <a:solidFill>
                  <a:schemeClr val="bg1">
                    <a:lumMod val="50000"/>
                  </a:schemeClr>
                </a:solidFill>
                <a:latin typeface="微软雅黑" panose="020B0503020204020204" pitchFamily="34" charset="-122"/>
                <a:ea typeface="微软雅黑" panose="020B0503020204020204" pitchFamily="34" charset="-122"/>
              </a:rPr>
              <a:t>中</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远程控制</a:t>
            </a:r>
            <a:r>
              <a:rPr lang="en-US" altLang="zh-CN" sz="2400" dirty="0">
                <a:solidFill>
                  <a:schemeClr val="bg1">
                    <a:lumMod val="50000"/>
                  </a:schemeClr>
                </a:solidFill>
                <a:latin typeface="微软雅黑" panose="020B0503020204020204" pitchFamily="34" charset="-122"/>
                <a:ea typeface="微软雅黑" panose="020B0503020204020204" pitchFamily="34" charset="-122"/>
              </a:rPr>
              <a:t>Linux</a:t>
            </a:r>
            <a:r>
              <a:rPr lang="zh-CN" altLang="zh-CN" sz="2400" dirty="0">
                <a:solidFill>
                  <a:schemeClr val="bg1">
                    <a:lumMod val="50000"/>
                  </a:schemeClr>
                </a:solidFill>
                <a:latin typeface="微软雅黑" panose="020B0503020204020204" pitchFamily="34" charset="-122"/>
                <a:ea typeface="微软雅黑" panose="020B0503020204020204" pitchFamily="34" charset="-122"/>
              </a:rPr>
              <a:t>系统。</a:t>
            </a:r>
            <a:endParaRPr lang="zh-CN" altLang="en-US" sz="2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69780" y="6480957"/>
            <a:ext cx="10183422" cy="369332"/>
          </a:xfrm>
          <a:prstGeom prst="rect">
            <a:avLst/>
          </a:prstGeom>
          <a:noFill/>
        </p:spPr>
        <p:txBody>
          <a:bodyPr wrap="square">
            <a:spAutoFit/>
          </a:bodyPr>
          <a:lstStyle/>
          <a:p>
            <a:r>
              <a:rPr lang="en-US" altLang="zh-CN" dirty="0" err="1">
                <a:solidFill>
                  <a:schemeClr val="bg1">
                    <a:lumMod val="95000"/>
                  </a:schemeClr>
                </a:solidFill>
              </a:rPr>
              <a:t>Xshell</a:t>
            </a:r>
            <a:r>
              <a:rPr lang="en-US" altLang="zh-CN" dirty="0">
                <a:solidFill>
                  <a:schemeClr val="bg1">
                    <a:lumMod val="95000"/>
                  </a:schemeClr>
                </a:solidFill>
              </a:rPr>
              <a:t> 6</a:t>
            </a:r>
            <a:r>
              <a:rPr lang="zh-CN" altLang="en-US" dirty="0">
                <a:solidFill>
                  <a:schemeClr val="bg1">
                    <a:lumMod val="95000"/>
                  </a:schemeClr>
                </a:solidFill>
              </a:rPr>
              <a:t>百度网盘下载链接：</a:t>
            </a:r>
            <a:r>
              <a:rPr lang="en-US" altLang="zh-CN" dirty="0">
                <a:solidFill>
                  <a:schemeClr val="bg1">
                    <a:lumMod val="95000"/>
                  </a:schemeClr>
                </a:solidFill>
              </a:rPr>
              <a:t>https://pan.baidu.com/s/1VOM1G8DnBnwOmgbxPGoqKA </a:t>
            </a:r>
            <a:r>
              <a:rPr lang="zh-CN" altLang="en-US" dirty="0">
                <a:solidFill>
                  <a:schemeClr val="bg1">
                    <a:lumMod val="95000"/>
                  </a:schemeClr>
                </a:solidFill>
              </a:rPr>
              <a:t>提取码：</a:t>
            </a:r>
            <a:r>
              <a:rPr lang="en-US" altLang="zh-CN" dirty="0">
                <a:solidFill>
                  <a:schemeClr val="bg1">
                    <a:lumMod val="95000"/>
                  </a:schemeClr>
                </a:solidFill>
              </a:rPr>
              <a:t>1234</a:t>
            </a:r>
            <a:endParaRPr lang="zh-CN" altLang="en-US" dirty="0">
              <a:solidFill>
                <a:schemeClr val="bg1">
                  <a:lumMod val="95000"/>
                </a:schemeClr>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10384" y="501270"/>
            <a:ext cx="5735534"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1.6</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远程终端访问</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34" name="矩形 33"/>
          <p:cNvSpPr/>
          <p:nvPr/>
        </p:nvSpPr>
        <p:spPr>
          <a:xfrm>
            <a:off x="618370" y="1271480"/>
            <a:ext cx="2129613" cy="1052736"/>
          </a:xfrm>
          <a:prstGeom prst="rect">
            <a:avLst/>
          </a:prstGeom>
          <a:solidFill>
            <a:srgbClr val="1353A2"/>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5" name="文本框 14"/>
          <p:cNvSpPr txBox="1"/>
          <p:nvPr/>
        </p:nvSpPr>
        <p:spPr>
          <a:xfrm>
            <a:off x="912774" y="1544201"/>
            <a:ext cx="1540806" cy="646331"/>
          </a:xfrm>
          <a:prstGeom prst="rect">
            <a:avLst/>
          </a:prstGeom>
          <a:noFill/>
        </p:spPr>
        <p:txBody>
          <a:bodyPr wrap="none" rtlCol="0">
            <a:spAutoFit/>
          </a:bodyPr>
          <a:lstStyle/>
          <a:p>
            <a:r>
              <a:rPr kumimoji="1" lang="en-US" altLang="zh-CN" sz="36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XShell</a:t>
            </a:r>
            <a:endPar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文本框 14"/>
          <p:cNvSpPr txBox="1"/>
          <p:nvPr/>
        </p:nvSpPr>
        <p:spPr>
          <a:xfrm>
            <a:off x="3257228" y="1524786"/>
            <a:ext cx="1278107" cy="646331"/>
          </a:xfrm>
          <a:prstGeom prst="rect">
            <a:avLst/>
          </a:prstGeom>
          <a:noFill/>
        </p:spPr>
        <p:txBody>
          <a:bodyPr wrap="none" rtlCol="0">
            <a:spAutoFit/>
          </a:bodyPr>
          <a:lstStyle/>
          <a:p>
            <a:r>
              <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XFTP</a:t>
            </a:r>
            <a:endPar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 name="组合 8"/>
          <p:cNvGrpSpPr/>
          <p:nvPr/>
        </p:nvGrpSpPr>
        <p:grpSpPr>
          <a:xfrm>
            <a:off x="4980966" y="1271480"/>
            <a:ext cx="6983017" cy="2978303"/>
            <a:chOff x="618370" y="2509650"/>
            <a:chExt cx="6983017" cy="2978303"/>
          </a:xfrm>
        </p:grpSpPr>
        <p:pic>
          <p:nvPicPr>
            <p:cNvPr id="6" name="图片 5"/>
            <p:cNvPicPr>
              <a:picLocks noChangeAspect="1"/>
            </p:cNvPicPr>
            <p:nvPr/>
          </p:nvPicPr>
          <p:blipFill>
            <a:blip r:embed="rId1"/>
            <a:stretch>
              <a:fillRect/>
            </a:stretch>
          </p:blipFill>
          <p:spPr>
            <a:xfrm>
              <a:off x="618370" y="2509650"/>
              <a:ext cx="6636091" cy="2978303"/>
            </a:xfrm>
            <a:prstGeom prst="rect">
              <a:avLst/>
            </a:prstGeom>
          </p:spPr>
        </p:pic>
        <p:sp>
          <p:nvSpPr>
            <p:cNvPr id="7" name="矩形 6"/>
            <p:cNvSpPr/>
            <p:nvPr/>
          </p:nvSpPr>
          <p:spPr>
            <a:xfrm>
              <a:off x="2505875" y="4069429"/>
              <a:ext cx="3434235" cy="28618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940110" y="4043245"/>
              <a:ext cx="1661277" cy="338554"/>
            </a:xfrm>
            <a:prstGeom prst="rect">
              <a:avLst/>
            </a:prstGeom>
            <a:noFill/>
          </p:spPr>
          <p:txBody>
            <a:bodyPr wrap="square" rtlCol="0">
              <a:spAutoFit/>
            </a:bodyPr>
            <a:lstStyle/>
            <a:p>
              <a:r>
                <a:rPr lang="en-US" altLang="zh-CN" sz="1600" dirty="0">
                  <a:solidFill>
                    <a:srgbClr val="FF0000"/>
                  </a:solidFill>
                  <a:latin typeface="Times New Roman" panose="02020603050405020304" pitchFamily="18" charset="0"/>
                  <a:cs typeface="Times New Roman" panose="02020603050405020304" pitchFamily="18" charset="0"/>
                </a:rPr>
                <a:t>Centos IP</a:t>
              </a:r>
              <a:r>
                <a:rPr lang="zh-CN" altLang="en-US" sz="1600" dirty="0">
                  <a:solidFill>
                    <a:srgbClr val="FF0000"/>
                  </a:solidFill>
                  <a:latin typeface="Times New Roman" panose="02020603050405020304" pitchFamily="18" charset="0"/>
                  <a:cs typeface="Times New Roman" panose="02020603050405020304" pitchFamily="18" charset="0"/>
                </a:rPr>
                <a:t>地址</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grpSp>
      <p:grpSp>
        <p:nvGrpSpPr>
          <p:cNvPr id="14" name="组合 13"/>
          <p:cNvGrpSpPr/>
          <p:nvPr/>
        </p:nvGrpSpPr>
        <p:grpSpPr>
          <a:xfrm>
            <a:off x="578235" y="3169021"/>
            <a:ext cx="7839828" cy="3016405"/>
            <a:chOff x="578235" y="3169021"/>
            <a:chExt cx="7839828" cy="3016405"/>
          </a:xfrm>
        </p:grpSpPr>
        <p:pic>
          <p:nvPicPr>
            <p:cNvPr id="11" name="图片 10"/>
            <p:cNvPicPr>
              <a:picLocks noChangeAspect="1"/>
            </p:cNvPicPr>
            <p:nvPr/>
          </p:nvPicPr>
          <p:blipFill>
            <a:blip r:embed="rId2"/>
            <a:stretch>
              <a:fillRect/>
            </a:stretch>
          </p:blipFill>
          <p:spPr>
            <a:xfrm>
              <a:off x="578235" y="3169021"/>
              <a:ext cx="6636091" cy="3016405"/>
            </a:xfrm>
            <a:prstGeom prst="rect">
              <a:avLst/>
            </a:prstGeom>
          </p:spPr>
        </p:pic>
        <p:sp>
          <p:nvSpPr>
            <p:cNvPr id="12" name="矩形 11"/>
            <p:cNvSpPr/>
            <p:nvPr/>
          </p:nvSpPr>
          <p:spPr>
            <a:xfrm>
              <a:off x="2511693" y="5247687"/>
              <a:ext cx="3434235" cy="55979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036670" y="5358309"/>
              <a:ext cx="2381393" cy="338554"/>
            </a:xfrm>
            <a:prstGeom prst="rect">
              <a:avLst/>
            </a:prstGeom>
            <a:noFill/>
          </p:spPr>
          <p:txBody>
            <a:bodyPr wrap="square" rtlCol="0">
              <a:spAutoFit/>
            </a:bodyPr>
            <a:lstStyle/>
            <a:p>
              <a:r>
                <a:rPr lang="en-US" altLang="zh-CN" sz="1600" dirty="0">
                  <a:solidFill>
                    <a:srgbClr val="FF0000"/>
                  </a:solidFill>
                  <a:latin typeface="Times New Roman" panose="02020603050405020304" pitchFamily="18" charset="0"/>
                  <a:cs typeface="Times New Roman" panose="02020603050405020304" pitchFamily="18" charset="0"/>
                </a:rPr>
                <a:t>Centos</a:t>
              </a:r>
              <a:r>
                <a:rPr lang="zh-CN" altLang="en-US" sz="1600" dirty="0">
                  <a:solidFill>
                    <a:srgbClr val="FF0000"/>
                  </a:solidFill>
                  <a:latin typeface="Times New Roman" panose="02020603050405020304" pitchFamily="18" charset="0"/>
                  <a:cs typeface="Times New Roman" panose="02020603050405020304" pitchFamily="18" charset="0"/>
                </a:rPr>
                <a:t>的用户名和密码</a:t>
              </a:r>
              <a:endParaRPr lang="zh-CN" altLang="en-US" sz="1600" dirty="0">
                <a:solidFill>
                  <a:srgbClr val="FF0000"/>
                </a:solidFill>
                <a:latin typeface="Times New Roman" panose="02020603050405020304" pitchFamily="18" charset="0"/>
                <a:cs typeface="Times New Roman" panose="02020603050405020304" pitchFamily="18" charset="0"/>
              </a:endParaRPr>
            </a:p>
          </p:txBody>
        </p:sp>
      </p:grpSp>
      <p:sp>
        <p:nvSpPr>
          <p:cNvPr id="15" name="矩形 14"/>
          <p:cNvSpPr/>
          <p:nvPr/>
        </p:nvSpPr>
        <p:spPr>
          <a:xfrm>
            <a:off x="3568699" y="2161843"/>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1</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6" name="矩形 15"/>
          <p:cNvSpPr/>
          <p:nvPr/>
        </p:nvSpPr>
        <p:spPr>
          <a:xfrm>
            <a:off x="7385807" y="4632829"/>
            <a:ext cx="1320221" cy="584775"/>
          </a:xfrm>
          <a:prstGeom prst="rect">
            <a:avLst/>
          </a:prstGeom>
          <a:solidFill>
            <a:srgbClr val="1353A2"/>
          </a:solidFill>
        </p:spPr>
        <p:txBody>
          <a:bodyPr wrap="square">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2</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10384" y="501270"/>
            <a:ext cx="5735534"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1.6</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远程终端访问</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34" name="矩形 33"/>
          <p:cNvSpPr/>
          <p:nvPr/>
        </p:nvSpPr>
        <p:spPr>
          <a:xfrm>
            <a:off x="618370" y="1271480"/>
            <a:ext cx="2129613" cy="1052736"/>
          </a:xfrm>
          <a:prstGeom prst="rect">
            <a:avLst/>
          </a:prstGeom>
          <a:solidFill>
            <a:srgbClr val="1353A2"/>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5" name="文本框 14"/>
          <p:cNvSpPr txBox="1"/>
          <p:nvPr/>
        </p:nvSpPr>
        <p:spPr>
          <a:xfrm>
            <a:off x="912774" y="1544201"/>
            <a:ext cx="1540806" cy="646331"/>
          </a:xfrm>
          <a:prstGeom prst="rect">
            <a:avLst/>
          </a:prstGeom>
          <a:noFill/>
        </p:spPr>
        <p:txBody>
          <a:bodyPr wrap="none" rtlCol="0">
            <a:spAutoFit/>
          </a:bodyPr>
          <a:lstStyle/>
          <a:p>
            <a:r>
              <a:rPr kumimoji="1" lang="en-US" altLang="zh-CN" sz="36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XShell</a:t>
            </a:r>
            <a:endPar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文本框 14"/>
          <p:cNvSpPr txBox="1"/>
          <p:nvPr/>
        </p:nvSpPr>
        <p:spPr>
          <a:xfrm>
            <a:off x="3257228" y="1524786"/>
            <a:ext cx="1278107" cy="646331"/>
          </a:xfrm>
          <a:prstGeom prst="rect">
            <a:avLst/>
          </a:prstGeom>
          <a:noFill/>
        </p:spPr>
        <p:txBody>
          <a:bodyPr wrap="none" rtlCol="0">
            <a:spAutoFit/>
          </a:bodyPr>
          <a:lstStyle/>
          <a:p>
            <a:r>
              <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XFTP</a:t>
            </a:r>
            <a:endPar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618370" y="2465248"/>
            <a:ext cx="7055213" cy="3937202"/>
          </a:xfrm>
          <a:prstGeom prst="rect">
            <a:avLst/>
          </a:prstGeom>
        </p:spPr>
      </p:pic>
      <p:pic>
        <p:nvPicPr>
          <p:cNvPr id="10" name="图片 9"/>
          <p:cNvPicPr>
            <a:picLocks noChangeAspect="1"/>
          </p:cNvPicPr>
          <p:nvPr/>
        </p:nvPicPr>
        <p:blipFill>
          <a:blip r:embed="rId2"/>
          <a:stretch>
            <a:fillRect/>
          </a:stretch>
        </p:blipFill>
        <p:spPr>
          <a:xfrm>
            <a:off x="3464263" y="1271480"/>
            <a:ext cx="8109367" cy="44833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5132" y="447215"/>
            <a:ext cx="3167527" cy="646331"/>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zh-CN" altLang="en-US" sz="3600" kern="1200" dirty="0">
                <a:solidFill>
                  <a:srgbClr val="1353A2"/>
                </a:solidFill>
                <a:latin typeface="微软雅黑" panose="020B0503020204020204" pitchFamily="34" charset="-122"/>
                <a:ea typeface="微软雅黑" panose="020B0503020204020204" pitchFamily="34" charset="-122"/>
                <a:cs typeface="+mn-cs"/>
              </a:rPr>
              <a:t>目录页</a:t>
            </a:r>
            <a:endParaRPr lang="zh-CN" altLang="en-US" sz="3600" kern="1200" dirty="0">
              <a:solidFill>
                <a:srgbClr val="1353A2"/>
              </a:solidFill>
              <a:latin typeface="微软雅黑" panose="020B0503020204020204" pitchFamily="34" charset="-122"/>
              <a:ea typeface="微软雅黑" panose="020B0503020204020204" pitchFamily="34" charset="-122"/>
              <a:cs typeface="+mn-cs"/>
            </a:endParaRPr>
          </a:p>
        </p:txBody>
      </p:sp>
      <p:cxnSp>
        <p:nvCxnSpPr>
          <p:cNvPr id="50"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29" name="直接连接符 52"/>
          <p:cNvCxnSpPr>
            <a:cxnSpLocks noChangeShapeType="1"/>
          </p:cNvCxnSpPr>
          <p:nvPr/>
        </p:nvCxnSpPr>
        <p:spPr bwMode="auto">
          <a:xfrm>
            <a:off x="9839441" y="6851216"/>
            <a:ext cx="0" cy="32220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31" name="矩形 1"/>
          <p:cNvSpPr>
            <a:spLocks noChangeArrowheads="1"/>
          </p:cNvSpPr>
          <p:nvPr/>
        </p:nvSpPr>
        <p:spPr bwMode="auto">
          <a:xfrm>
            <a:off x="264393" y="1769173"/>
            <a:ext cx="1888804"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4" name="矩形 21"/>
          <p:cNvSpPr>
            <a:spLocks noChangeArrowheads="1"/>
          </p:cNvSpPr>
          <p:nvPr/>
        </p:nvSpPr>
        <p:spPr bwMode="auto">
          <a:xfrm>
            <a:off x="2165681" y="1769173"/>
            <a:ext cx="1888803"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5" name="矩形 22"/>
          <p:cNvSpPr>
            <a:spLocks noChangeArrowheads="1"/>
          </p:cNvSpPr>
          <p:nvPr/>
        </p:nvSpPr>
        <p:spPr bwMode="auto">
          <a:xfrm>
            <a:off x="4053100" y="1769173"/>
            <a:ext cx="1892565" cy="2038712"/>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36" name="矩形 28"/>
          <p:cNvSpPr>
            <a:spLocks noChangeArrowheads="1"/>
          </p:cNvSpPr>
          <p:nvPr/>
        </p:nvSpPr>
        <p:spPr bwMode="auto">
          <a:xfrm>
            <a:off x="2099550" y="1841570"/>
            <a:ext cx="203319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安装</a:t>
            </a: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37" name="矩形 29"/>
          <p:cNvSpPr>
            <a:spLocks noChangeArrowheads="1"/>
          </p:cNvSpPr>
          <p:nvPr/>
        </p:nvSpPr>
        <p:spPr bwMode="auto">
          <a:xfrm>
            <a:off x="4070327" y="1841570"/>
            <a:ext cx="1811231"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网络配置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38" name="直接连接符 7167"/>
          <p:cNvCxnSpPr>
            <a:cxnSpLocks noChangeShapeType="1"/>
          </p:cNvCxnSpPr>
          <p:nvPr/>
        </p:nvCxnSpPr>
        <p:spPr bwMode="auto">
          <a:xfrm>
            <a:off x="240288" y="1688477"/>
            <a:ext cx="190178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39" name="直接连接符 7172"/>
          <p:cNvCxnSpPr>
            <a:cxnSpLocks noChangeShapeType="1"/>
          </p:cNvCxnSpPr>
          <p:nvPr/>
        </p:nvCxnSpPr>
        <p:spPr bwMode="auto">
          <a:xfrm>
            <a:off x="240288"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0" name="直接连接符 50"/>
          <p:cNvCxnSpPr>
            <a:cxnSpLocks noChangeShapeType="1"/>
          </p:cNvCxnSpPr>
          <p:nvPr/>
        </p:nvCxnSpPr>
        <p:spPr bwMode="auto">
          <a:xfrm>
            <a:off x="2130757"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1" name="直接连接符 51"/>
          <p:cNvCxnSpPr>
            <a:cxnSpLocks noChangeShapeType="1"/>
          </p:cNvCxnSpPr>
          <p:nvPr/>
        </p:nvCxnSpPr>
        <p:spPr bwMode="auto">
          <a:xfrm>
            <a:off x="4011601" y="1368128"/>
            <a:ext cx="1" cy="27723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2" name="直接连接符 52"/>
          <p:cNvCxnSpPr>
            <a:cxnSpLocks noChangeShapeType="1"/>
          </p:cNvCxnSpPr>
          <p:nvPr/>
        </p:nvCxnSpPr>
        <p:spPr bwMode="auto">
          <a:xfrm>
            <a:off x="5950178" y="1359415"/>
            <a:ext cx="1" cy="248370"/>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43" name="TextBox 7177"/>
          <p:cNvSpPr txBox="1">
            <a:spLocks noChangeArrowheads="1"/>
          </p:cNvSpPr>
          <p:nvPr/>
        </p:nvSpPr>
        <p:spPr bwMode="auto">
          <a:xfrm>
            <a:off x="240288" y="1049095"/>
            <a:ext cx="14722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1</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4" name="TextBox 7177"/>
          <p:cNvSpPr txBox="1">
            <a:spLocks noChangeArrowheads="1"/>
          </p:cNvSpPr>
          <p:nvPr/>
        </p:nvSpPr>
        <p:spPr bwMode="auto">
          <a:xfrm>
            <a:off x="2142942" y="1049096"/>
            <a:ext cx="1397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2</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5" name="TextBox 7177"/>
          <p:cNvSpPr txBox="1">
            <a:spLocks noChangeArrowheads="1"/>
          </p:cNvSpPr>
          <p:nvPr/>
        </p:nvSpPr>
        <p:spPr bwMode="auto">
          <a:xfrm>
            <a:off x="3961241" y="1049095"/>
            <a:ext cx="1724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5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3</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46" name="矩形 28"/>
          <p:cNvSpPr>
            <a:spLocks noChangeArrowheads="1"/>
          </p:cNvSpPr>
          <p:nvPr/>
        </p:nvSpPr>
        <p:spPr bwMode="auto">
          <a:xfrm>
            <a:off x="125260" y="1860344"/>
            <a:ext cx="202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系统简介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47" name="直接连接符 46"/>
          <p:cNvCxnSpPr/>
          <p:nvPr/>
        </p:nvCxnSpPr>
        <p:spPr bwMode="auto">
          <a:xfrm>
            <a:off x="2130757" y="1688477"/>
            <a:ext cx="190178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48" name="直接连接符 47"/>
          <p:cNvCxnSpPr/>
          <p:nvPr/>
        </p:nvCxnSpPr>
        <p:spPr bwMode="auto">
          <a:xfrm>
            <a:off x="3991652" y="1688477"/>
            <a:ext cx="3999953"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2" name="矩形 1"/>
          <p:cNvSpPr>
            <a:spLocks noChangeArrowheads="1"/>
          </p:cNvSpPr>
          <p:nvPr/>
        </p:nvSpPr>
        <p:spPr bwMode="auto">
          <a:xfrm>
            <a:off x="5981779" y="1785676"/>
            <a:ext cx="1859200" cy="2006759"/>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4" name="矩形 21"/>
          <p:cNvSpPr>
            <a:spLocks noChangeArrowheads="1"/>
          </p:cNvSpPr>
          <p:nvPr/>
        </p:nvSpPr>
        <p:spPr bwMode="auto">
          <a:xfrm>
            <a:off x="5997390" y="4479805"/>
            <a:ext cx="1724176" cy="1861019"/>
          </a:xfrm>
          <a:prstGeom prst="rect">
            <a:avLst/>
          </a:prstGeom>
          <a:solidFill>
            <a:schemeClr val="tx1">
              <a:lumMod val="50000"/>
              <a:lumOff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5" name="矩形 22"/>
          <p:cNvSpPr>
            <a:spLocks noChangeArrowheads="1"/>
          </p:cNvSpPr>
          <p:nvPr/>
        </p:nvSpPr>
        <p:spPr bwMode="auto">
          <a:xfrm>
            <a:off x="7730879" y="4489427"/>
            <a:ext cx="1727610" cy="1861019"/>
          </a:xfrm>
          <a:prstGeom prst="rect">
            <a:avLst/>
          </a:prstGeom>
          <a:solidFill>
            <a:schemeClr val="bg1">
              <a:lumMod val="50000"/>
            </a:schemeClr>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sp>
        <p:nvSpPr>
          <p:cNvPr id="56" name="矩形 28"/>
          <p:cNvSpPr>
            <a:spLocks noChangeArrowheads="1"/>
          </p:cNvSpPr>
          <p:nvPr/>
        </p:nvSpPr>
        <p:spPr bwMode="auto">
          <a:xfrm>
            <a:off x="5993887" y="4364312"/>
            <a:ext cx="176966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2000" b="1" dirty="0">
                <a:solidFill>
                  <a:srgbClr val="FFFFFF"/>
                </a:solidFill>
                <a:latin typeface="微软雅黑" panose="020B0503020204020204" pitchFamily="34" charset="-122"/>
                <a:ea typeface="微软雅黑" panose="020B0503020204020204" pitchFamily="34" charset="-122"/>
              </a:rPr>
              <a:t>Linux</a:t>
            </a:r>
            <a:r>
              <a:rPr lang="zh-CN" altLang="en-US" sz="2000" b="1" dirty="0">
                <a:solidFill>
                  <a:srgbClr val="FFFFFF"/>
                </a:solidFill>
                <a:latin typeface="微软雅黑" panose="020B0503020204020204" pitchFamily="34" charset="-122"/>
                <a:ea typeface="微软雅黑" panose="020B0503020204020204" pitchFamily="34" charset="-122"/>
              </a:rPr>
              <a:t>系统启动流程</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7" name="矩形 29"/>
          <p:cNvSpPr>
            <a:spLocks noChangeArrowheads="1"/>
          </p:cNvSpPr>
          <p:nvPr/>
        </p:nvSpPr>
        <p:spPr bwMode="auto">
          <a:xfrm>
            <a:off x="7721566" y="4566723"/>
            <a:ext cx="1713648"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远程终端访问</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58" name="直接连接符 51"/>
          <p:cNvCxnSpPr>
            <a:cxnSpLocks noChangeShapeType="1"/>
          </p:cNvCxnSpPr>
          <p:nvPr/>
        </p:nvCxnSpPr>
        <p:spPr bwMode="auto">
          <a:xfrm>
            <a:off x="7677268" y="4159855"/>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59" name="TextBox 7177"/>
          <p:cNvSpPr txBox="1">
            <a:spLocks noChangeArrowheads="1"/>
          </p:cNvSpPr>
          <p:nvPr/>
        </p:nvSpPr>
        <p:spPr bwMode="auto">
          <a:xfrm>
            <a:off x="5984045" y="1060096"/>
            <a:ext cx="979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zh-CN"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4</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0" name="TextBox 7177"/>
          <p:cNvSpPr txBox="1">
            <a:spLocks noChangeArrowheads="1"/>
          </p:cNvSpPr>
          <p:nvPr/>
        </p:nvSpPr>
        <p:spPr bwMode="auto">
          <a:xfrm>
            <a:off x="5943295" y="3783090"/>
            <a:ext cx="9970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5</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1" name="TextBox 7177"/>
          <p:cNvSpPr txBox="1">
            <a:spLocks noChangeArrowheads="1"/>
          </p:cNvSpPr>
          <p:nvPr/>
        </p:nvSpPr>
        <p:spPr bwMode="auto">
          <a:xfrm>
            <a:off x="7725608" y="3803149"/>
            <a:ext cx="15200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6</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62" name="矩形 28"/>
          <p:cNvSpPr>
            <a:spLocks noChangeArrowheads="1"/>
          </p:cNvSpPr>
          <p:nvPr/>
        </p:nvSpPr>
        <p:spPr bwMode="auto">
          <a:xfrm>
            <a:off x="5967195" y="1870892"/>
            <a:ext cx="1782905"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zh-CN" altLang="en-US" sz="2000" b="1" dirty="0">
                <a:solidFill>
                  <a:srgbClr val="FFFFFF"/>
                </a:solidFill>
                <a:latin typeface="微软雅黑" panose="020B0503020204020204" pitchFamily="34" charset="-122"/>
                <a:ea typeface="微软雅黑" panose="020B0503020204020204" pitchFamily="34" charset="-122"/>
              </a:rPr>
              <a:t>目录结构</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63" name="直接连接符 19"/>
          <p:cNvCxnSpPr/>
          <p:nvPr/>
        </p:nvCxnSpPr>
        <p:spPr bwMode="auto">
          <a:xfrm>
            <a:off x="6017699" y="4427930"/>
            <a:ext cx="1678967" cy="7760"/>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64" name="直接连接符 20"/>
          <p:cNvCxnSpPr/>
          <p:nvPr/>
        </p:nvCxnSpPr>
        <p:spPr bwMode="auto">
          <a:xfrm>
            <a:off x="7698294" y="4428744"/>
            <a:ext cx="1834706" cy="1"/>
          </a:xfrm>
          <a:prstGeom prst="line">
            <a:avLst/>
          </a:prstGeom>
          <a:noFill/>
          <a:ln w="9525">
            <a:solidFill>
              <a:srgbClr val="7F7F7F"/>
            </a:solidFill>
            <a:round/>
          </a:ln>
          <a:extLst>
            <a:ext uri="{909E8E84-426E-40DD-AFC4-6F175D3DCCD1}">
              <a14:hiddenFill xmlns:a14="http://schemas.microsoft.com/office/drawing/2010/main">
                <a:noFill/>
              </a14:hiddenFill>
            </a:ext>
          </a:extLst>
        </p:spPr>
      </p:cxnSp>
      <p:pic>
        <p:nvPicPr>
          <p:cNvPr id="66"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6064187" y="5280100"/>
            <a:ext cx="1538977" cy="104646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68" name="直接连接符 52"/>
          <p:cNvCxnSpPr>
            <a:cxnSpLocks noChangeShapeType="1"/>
          </p:cNvCxnSpPr>
          <p:nvPr/>
        </p:nvCxnSpPr>
        <p:spPr bwMode="auto">
          <a:xfrm>
            <a:off x="5993969" y="4173190"/>
            <a:ext cx="1" cy="296447"/>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69" name="矩形 1"/>
          <p:cNvSpPr>
            <a:spLocks noChangeArrowheads="1"/>
          </p:cNvSpPr>
          <p:nvPr/>
        </p:nvSpPr>
        <p:spPr bwMode="auto">
          <a:xfrm>
            <a:off x="9478906" y="4485614"/>
            <a:ext cx="1724177" cy="1861019"/>
          </a:xfrm>
          <a:prstGeom prst="rect">
            <a:avLst/>
          </a:prstGeom>
          <a:solidFill>
            <a:srgbClr val="1353A2"/>
          </a:solidFill>
          <a:ln>
            <a:noFill/>
          </a:ln>
          <a:effectLst>
            <a:outerShdw blurRad="63500" sx="102000" sy="102000" algn="ctr" rotWithShape="0">
              <a:prstClr val="black">
                <a:alpha val="40000"/>
              </a:prstClr>
            </a:outerShdw>
          </a:effectLst>
        </p:spPr>
        <p:txBody>
          <a:bodyPr anchor="ctr"/>
          <a:lstStyle/>
          <a:p>
            <a:pPr fontAlgn="auto">
              <a:spcBef>
                <a:spcPts val="0"/>
              </a:spcBef>
              <a:spcAft>
                <a:spcPts val="0"/>
              </a:spcAft>
              <a:defRPr/>
            </a:pPr>
            <a:endParaRPr lang="zh-CN" altLang="en-US">
              <a:solidFill>
                <a:srgbClr val="FFFFFF"/>
              </a:solidFill>
              <a:latin typeface="Franklin Gothic Medium" panose="020B0603020102020204" pitchFamily="34" charset="0"/>
              <a:ea typeface="+mn-ea"/>
            </a:endParaRPr>
          </a:p>
        </p:txBody>
      </p:sp>
      <p:pic>
        <p:nvPicPr>
          <p:cNvPr id="70" name="Picture 5"/>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9634247" y="5321637"/>
            <a:ext cx="1457809" cy="99727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cxnSp>
        <p:nvCxnSpPr>
          <p:cNvPr id="71" name="直接连接符 7167"/>
          <p:cNvCxnSpPr>
            <a:cxnSpLocks noChangeShapeType="1"/>
          </p:cNvCxnSpPr>
          <p:nvPr/>
        </p:nvCxnSpPr>
        <p:spPr bwMode="auto">
          <a:xfrm flipV="1">
            <a:off x="9454801" y="4419988"/>
            <a:ext cx="1993988" cy="8755"/>
          </a:xfrm>
          <a:prstGeom prst="line">
            <a:avLst/>
          </a:prstGeom>
          <a:noFill/>
          <a:ln w="9525">
            <a:solidFill>
              <a:srgbClr val="7F7F7F"/>
            </a:solidFill>
            <a:round/>
          </a:ln>
          <a:extLst>
            <a:ext uri="{909E8E84-426E-40DD-AFC4-6F175D3DCCD1}">
              <a14:hiddenFill xmlns:a14="http://schemas.microsoft.com/office/drawing/2010/main">
                <a:noFill/>
              </a14:hiddenFill>
            </a:ext>
          </a:extLst>
        </p:spPr>
      </p:cxnSp>
      <p:cxnSp>
        <p:nvCxnSpPr>
          <p:cNvPr id="72" name="直接连接符 7172"/>
          <p:cNvCxnSpPr>
            <a:cxnSpLocks noChangeShapeType="1"/>
          </p:cNvCxnSpPr>
          <p:nvPr/>
        </p:nvCxnSpPr>
        <p:spPr bwMode="auto">
          <a:xfrm>
            <a:off x="9453896" y="4074072"/>
            <a:ext cx="1" cy="260133"/>
          </a:xfrm>
          <a:prstGeom prst="line">
            <a:avLst/>
          </a:prstGeom>
          <a:noFill/>
          <a:ln w="9525">
            <a:solidFill>
              <a:srgbClr val="7F7F7F"/>
            </a:solidFill>
            <a:round/>
          </a:ln>
          <a:extLst>
            <a:ext uri="{909E8E84-426E-40DD-AFC4-6F175D3DCCD1}">
              <a14:hiddenFill xmlns:a14="http://schemas.microsoft.com/office/drawing/2010/main">
                <a:noFill/>
              </a14:hiddenFill>
            </a:ext>
          </a:extLst>
        </p:spPr>
      </p:cxnSp>
      <p:sp>
        <p:nvSpPr>
          <p:cNvPr id="73" name="TextBox 7177"/>
          <p:cNvSpPr txBox="1">
            <a:spLocks noChangeArrowheads="1"/>
          </p:cNvSpPr>
          <p:nvPr/>
        </p:nvSpPr>
        <p:spPr bwMode="auto">
          <a:xfrm>
            <a:off x="9497973" y="3751901"/>
            <a:ext cx="1504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7F7F7F"/>
                </a:solidFill>
                <a:latin typeface="Broadway" panose="04040905080B02020502" pitchFamily="82" charset="0"/>
                <a:ea typeface="黑体" panose="02010609060101010101" pitchFamily="2" charset="-122"/>
                <a:cs typeface="Arial" panose="020B0604020202020204" pitchFamily="34" charset="0"/>
              </a:rPr>
              <a:t>Part  </a:t>
            </a:r>
            <a:r>
              <a:rPr lang="en-US" altLang="zh-CN" sz="1400" b="1" dirty="0">
                <a:solidFill>
                  <a:srgbClr val="7F7F7F"/>
                </a:solidFill>
                <a:latin typeface="Broadway" panose="04040905080B02020502" pitchFamily="82" charset="0"/>
                <a:ea typeface="黑体" panose="02010609060101010101" pitchFamily="2" charset="-122"/>
                <a:cs typeface="Arial" panose="020B0604020202020204" pitchFamily="34" charset="0"/>
              </a:rPr>
              <a:t> </a:t>
            </a:r>
            <a:r>
              <a:rPr lang="en-US" altLang="zh-CN" sz="3600" b="1" dirty="0">
                <a:solidFill>
                  <a:srgbClr val="7F7F7F"/>
                </a:solidFill>
                <a:latin typeface="Broadway" panose="04040905080B02020502" pitchFamily="82" charset="0"/>
                <a:ea typeface="黑体" panose="02010609060101010101" pitchFamily="2" charset="-122"/>
                <a:cs typeface="Arial" panose="020B0604020202020204" pitchFamily="34" charset="0"/>
              </a:rPr>
              <a:t>7</a:t>
            </a:r>
            <a:endParaRPr lang="zh-CN" altLang="en-US" sz="3600" b="1" dirty="0">
              <a:solidFill>
                <a:srgbClr val="7F7F7F"/>
              </a:solidFill>
              <a:latin typeface="Broadway" panose="04040905080B02020502" pitchFamily="82" charset="0"/>
              <a:ea typeface="黑体" panose="02010609060101010101" pitchFamily="2" charset="-122"/>
              <a:cs typeface="Arial" panose="020B0604020202020204" pitchFamily="34" charset="0"/>
            </a:endParaRPr>
          </a:p>
        </p:txBody>
      </p:sp>
      <p:sp>
        <p:nvSpPr>
          <p:cNvPr id="74" name="矩形 28"/>
          <p:cNvSpPr>
            <a:spLocks noChangeArrowheads="1"/>
          </p:cNvSpPr>
          <p:nvPr/>
        </p:nvSpPr>
        <p:spPr bwMode="auto">
          <a:xfrm>
            <a:off x="9478906" y="4402629"/>
            <a:ext cx="1699485"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b="1" dirty="0">
                <a:solidFill>
                  <a:srgbClr val="FFFFFF"/>
                </a:solidFill>
                <a:latin typeface="微软雅黑" panose="020B0503020204020204" pitchFamily="34" charset="-122"/>
                <a:ea typeface="微软雅黑" panose="020B0503020204020204" pitchFamily="34" charset="-122"/>
              </a:rPr>
              <a:t>SFTP</a:t>
            </a:r>
            <a:r>
              <a:rPr lang="zh-CN" altLang="en-US" b="1" dirty="0">
                <a:solidFill>
                  <a:srgbClr val="FFFFFF"/>
                </a:solidFill>
                <a:latin typeface="微软雅黑" panose="020B0503020204020204" pitchFamily="34" charset="-122"/>
                <a:ea typeface="微软雅黑" panose="020B0503020204020204" pitchFamily="34" charset="-122"/>
              </a:rPr>
              <a:t>远程文件管理</a:t>
            </a:r>
            <a:endParaRPr lang="zh-CN" altLang="en-US" b="1" dirty="0">
              <a:solidFill>
                <a:srgbClr val="FFFFFF"/>
              </a:solidFill>
              <a:latin typeface="微软雅黑" panose="020B0503020204020204" pitchFamily="34" charset="-122"/>
              <a:ea typeface="微软雅黑" panose="020B0503020204020204" pitchFamily="34" charset="-122"/>
            </a:endParaRPr>
          </a:p>
        </p:txBody>
      </p:sp>
      <p:pic>
        <p:nvPicPr>
          <p:cNvPr id="7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956" y="2597881"/>
            <a:ext cx="1520630" cy="106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0621" y="2594842"/>
            <a:ext cx="1611054" cy="1084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1376" y="2624392"/>
            <a:ext cx="1528692" cy="1029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9757" y="5269244"/>
            <a:ext cx="1531780" cy="1012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29150" y="2604066"/>
            <a:ext cx="1364458" cy="1049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44000">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14:bounceEnd="44000">
                                          <p:cBhvr additive="base">
                                            <p:cTn id="7" dur="500" fill="hold"/>
                                            <p:tgtEl>
                                              <p:spTgt spid="43"/>
                                            </p:tgtEl>
                                            <p:attrNameLst>
                                              <p:attrName>ppt_x</p:attrName>
                                            </p:attrNameLst>
                                          </p:cBhvr>
                                          <p:tavLst>
                                            <p:tav tm="0">
                                              <p:val>
                                                <p:strVal val="1+#ppt_w/2"/>
                                              </p:val>
                                            </p:tav>
                                            <p:tav tm="100000">
                                              <p:val>
                                                <p:strVal val="#ppt_x"/>
                                              </p:val>
                                            </p:tav>
                                          </p:tavLst>
                                        </p:anim>
                                        <p:anim calcmode="lin" valueType="num" p14:bounceEnd="44000">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44000">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14:bounceEnd="44000">
                                          <p:cBhvr additive="base">
                                            <p:cTn id="11" dur="500" fill="hold"/>
                                            <p:tgtEl>
                                              <p:spTgt spid="44"/>
                                            </p:tgtEl>
                                            <p:attrNameLst>
                                              <p:attrName>ppt_x</p:attrName>
                                            </p:attrNameLst>
                                          </p:cBhvr>
                                          <p:tavLst>
                                            <p:tav tm="0">
                                              <p:val>
                                                <p:strVal val="1+#ppt_w/2"/>
                                              </p:val>
                                            </p:tav>
                                            <p:tav tm="100000">
                                              <p:val>
                                                <p:strVal val="#ppt_x"/>
                                              </p:val>
                                            </p:tav>
                                          </p:tavLst>
                                        </p:anim>
                                        <p:anim calcmode="lin" valueType="num" p14:bounceEnd="44000">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44000">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14:bounceEnd="44000">
                                          <p:cBhvr additive="base">
                                            <p:cTn id="15" dur="500" fill="hold"/>
                                            <p:tgtEl>
                                              <p:spTgt spid="45"/>
                                            </p:tgtEl>
                                            <p:attrNameLst>
                                              <p:attrName>ppt_x</p:attrName>
                                            </p:attrNameLst>
                                          </p:cBhvr>
                                          <p:tavLst>
                                            <p:tav tm="0">
                                              <p:val>
                                                <p:strVal val="1+#ppt_w/2"/>
                                              </p:val>
                                            </p:tav>
                                            <p:tav tm="100000">
                                              <p:val>
                                                <p:strVal val="#ppt_x"/>
                                              </p:val>
                                            </p:tav>
                                          </p:tavLst>
                                        </p:anim>
                                        <p:anim calcmode="lin" valueType="num" p14:bounceEnd="44000">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44000">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14:bounceEnd="44000">
                                          <p:cBhvr additive="base">
                                            <p:cTn id="19" dur="500" fill="hold"/>
                                            <p:tgtEl>
                                              <p:spTgt spid="59"/>
                                            </p:tgtEl>
                                            <p:attrNameLst>
                                              <p:attrName>ppt_x</p:attrName>
                                            </p:attrNameLst>
                                          </p:cBhvr>
                                          <p:tavLst>
                                            <p:tav tm="0">
                                              <p:val>
                                                <p:strVal val="1+#ppt_w/2"/>
                                              </p:val>
                                            </p:tav>
                                            <p:tav tm="100000">
                                              <p:val>
                                                <p:strVal val="#ppt_x"/>
                                              </p:val>
                                            </p:tav>
                                          </p:tavLst>
                                        </p:anim>
                                        <p:anim calcmode="lin" valueType="num" p14:bounceEnd="44000">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44000">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14:bounceEnd="44000">
                                          <p:cBhvr additive="base">
                                            <p:cTn id="23" dur="500" fill="hold"/>
                                            <p:tgtEl>
                                              <p:spTgt spid="60"/>
                                            </p:tgtEl>
                                            <p:attrNameLst>
                                              <p:attrName>ppt_x</p:attrName>
                                            </p:attrNameLst>
                                          </p:cBhvr>
                                          <p:tavLst>
                                            <p:tav tm="0">
                                              <p:val>
                                                <p:strVal val="1+#ppt_w/2"/>
                                              </p:val>
                                            </p:tav>
                                            <p:tav tm="100000">
                                              <p:val>
                                                <p:strVal val="#ppt_x"/>
                                              </p:val>
                                            </p:tav>
                                          </p:tavLst>
                                        </p:anim>
                                        <p:anim calcmode="lin" valueType="num" p14:bounceEnd="44000">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44000">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14:bounceEnd="44000">
                                          <p:cBhvr additive="base">
                                            <p:cTn id="27" dur="500" fill="hold"/>
                                            <p:tgtEl>
                                              <p:spTgt spid="61"/>
                                            </p:tgtEl>
                                            <p:attrNameLst>
                                              <p:attrName>ppt_x</p:attrName>
                                            </p:attrNameLst>
                                          </p:cBhvr>
                                          <p:tavLst>
                                            <p:tav tm="0">
                                              <p:val>
                                                <p:strVal val="1+#ppt_w/2"/>
                                              </p:val>
                                            </p:tav>
                                            <p:tav tm="100000">
                                              <p:val>
                                                <p:strVal val="#ppt_x"/>
                                              </p:val>
                                            </p:tav>
                                          </p:tavLst>
                                        </p:anim>
                                        <p:anim calcmode="lin" valueType="num" p14:bounceEnd="44000">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44000">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14:bounceEnd="44000">
                                          <p:cBhvr additive="base">
                                            <p:cTn id="31" dur="500" fill="hold"/>
                                            <p:tgtEl>
                                              <p:spTgt spid="73"/>
                                            </p:tgtEl>
                                            <p:attrNameLst>
                                              <p:attrName>ppt_x</p:attrName>
                                            </p:attrNameLst>
                                          </p:cBhvr>
                                          <p:tavLst>
                                            <p:tav tm="0">
                                              <p:val>
                                                <p:strVal val="1+#ppt_w/2"/>
                                              </p:val>
                                            </p:tav>
                                            <p:tav tm="100000">
                                              <p:val>
                                                <p:strVal val="#ppt_x"/>
                                              </p:val>
                                            </p:tav>
                                          </p:tavLst>
                                        </p:anim>
                                        <p:anim calcmode="lin" valueType="num" p14:bounceEnd="44000">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20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1+#ppt_w/2"/>
                                              </p:val>
                                            </p:tav>
                                            <p:tav tm="100000">
                                              <p:val>
                                                <p:strVal val="#ppt_x"/>
                                              </p:val>
                                            </p:tav>
                                          </p:tavLst>
                                        </p:anim>
                                        <p:anim calcmode="lin" valueType="num">
                                          <p:cBhvr additive="base">
                                            <p:cTn id="8" dur="50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40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1+#ppt_w/2"/>
                                              </p:val>
                                            </p:tav>
                                            <p:tav tm="100000">
                                              <p:val>
                                                <p:strVal val="#ppt_x"/>
                                              </p:val>
                                            </p:tav>
                                          </p:tavLst>
                                        </p:anim>
                                        <p:anim calcmode="lin" valueType="num">
                                          <p:cBhvr additive="base">
                                            <p:cTn id="12" dur="500" fill="hold"/>
                                            <p:tgtEl>
                                              <p:spTgt spid="44"/>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60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1+#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100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1+#ppt_w/2"/>
                                              </p:val>
                                            </p:tav>
                                            <p:tav tm="100000">
                                              <p:val>
                                                <p:strVal val="#ppt_x"/>
                                              </p:val>
                                            </p:tav>
                                          </p:tavLst>
                                        </p:anim>
                                        <p:anim calcmode="lin" valueType="num">
                                          <p:cBhvr additive="base">
                                            <p:cTn id="20" dur="500" fill="hold"/>
                                            <p:tgtEl>
                                              <p:spTgt spid="59"/>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1500"/>
                                      </p:stCondLst>
                                      <p:childTnLst>
                                        <p:set>
                                          <p:cBhvr>
                                            <p:cTn id="22" dur="1" fill="hold">
                                              <p:stCondLst>
                                                <p:cond delay="0"/>
                                              </p:stCondLst>
                                            </p:cTn>
                                            <p:tgtEl>
                                              <p:spTgt spid="60"/>
                                            </p:tgtEl>
                                            <p:attrNameLst>
                                              <p:attrName>style.visibility</p:attrName>
                                            </p:attrNameLst>
                                          </p:cBhvr>
                                          <p:to>
                                            <p:strVal val="visible"/>
                                          </p:to>
                                        </p:set>
                                        <p:anim calcmode="lin" valueType="num">
                                          <p:cBhvr additive="base">
                                            <p:cTn id="23" dur="500" fill="hold"/>
                                            <p:tgtEl>
                                              <p:spTgt spid="60"/>
                                            </p:tgtEl>
                                            <p:attrNameLst>
                                              <p:attrName>ppt_x</p:attrName>
                                            </p:attrNameLst>
                                          </p:cBhvr>
                                          <p:tavLst>
                                            <p:tav tm="0">
                                              <p:val>
                                                <p:strVal val="1+#ppt_w/2"/>
                                              </p:val>
                                            </p:tav>
                                            <p:tav tm="100000">
                                              <p:val>
                                                <p:strVal val="#ppt_x"/>
                                              </p:val>
                                            </p:tav>
                                          </p:tavLst>
                                        </p:anim>
                                        <p:anim calcmode="lin" valueType="num">
                                          <p:cBhvr additive="base">
                                            <p:cTn id="24" dur="500" fill="hold"/>
                                            <p:tgtEl>
                                              <p:spTgt spid="60"/>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1750"/>
                                      </p:stCondLst>
                                      <p:childTnLst>
                                        <p:set>
                                          <p:cBhvr>
                                            <p:cTn id="26" dur="1" fill="hold">
                                              <p:stCondLst>
                                                <p:cond delay="0"/>
                                              </p:stCondLst>
                                            </p:cTn>
                                            <p:tgtEl>
                                              <p:spTgt spid="61"/>
                                            </p:tgtEl>
                                            <p:attrNameLst>
                                              <p:attrName>style.visibility</p:attrName>
                                            </p:attrNameLst>
                                          </p:cBhvr>
                                          <p:to>
                                            <p:strVal val="visible"/>
                                          </p:to>
                                        </p:set>
                                        <p:anim calcmode="lin" valueType="num">
                                          <p:cBhvr additive="base">
                                            <p:cTn id="27" dur="500" fill="hold"/>
                                            <p:tgtEl>
                                              <p:spTgt spid="61"/>
                                            </p:tgtEl>
                                            <p:attrNameLst>
                                              <p:attrName>ppt_x</p:attrName>
                                            </p:attrNameLst>
                                          </p:cBhvr>
                                          <p:tavLst>
                                            <p:tav tm="0">
                                              <p:val>
                                                <p:strVal val="1+#ppt_w/2"/>
                                              </p:val>
                                            </p:tav>
                                            <p:tav tm="100000">
                                              <p:val>
                                                <p:strVal val="#ppt_x"/>
                                              </p:val>
                                            </p:tav>
                                          </p:tavLst>
                                        </p:anim>
                                        <p:anim calcmode="lin" valueType="num">
                                          <p:cBhvr additive="base">
                                            <p:cTn id="28" dur="500" fill="hold"/>
                                            <p:tgtEl>
                                              <p:spTgt spid="61"/>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2000"/>
                                      </p:stCondLst>
                                      <p:childTnLst>
                                        <p:set>
                                          <p:cBhvr>
                                            <p:cTn id="30" dur="1" fill="hold">
                                              <p:stCondLst>
                                                <p:cond delay="0"/>
                                              </p:stCondLst>
                                            </p:cTn>
                                            <p:tgtEl>
                                              <p:spTgt spid="73"/>
                                            </p:tgtEl>
                                            <p:attrNameLst>
                                              <p:attrName>style.visibility</p:attrName>
                                            </p:attrNameLst>
                                          </p:cBhvr>
                                          <p:to>
                                            <p:strVal val="visible"/>
                                          </p:to>
                                        </p:set>
                                        <p:anim calcmode="lin" valueType="num">
                                          <p:cBhvr additive="base">
                                            <p:cTn id="31" dur="500" fill="hold"/>
                                            <p:tgtEl>
                                              <p:spTgt spid="73"/>
                                            </p:tgtEl>
                                            <p:attrNameLst>
                                              <p:attrName>ppt_x</p:attrName>
                                            </p:attrNameLst>
                                          </p:cBhvr>
                                          <p:tavLst>
                                            <p:tav tm="0">
                                              <p:val>
                                                <p:strVal val="1+#ppt_w/2"/>
                                              </p:val>
                                            </p:tav>
                                            <p:tav tm="100000">
                                              <p:val>
                                                <p:strVal val="#ppt_x"/>
                                              </p:val>
                                            </p:tav>
                                          </p:tavLst>
                                        </p:anim>
                                        <p:anim calcmode="lin" valueType="num">
                                          <p:cBhvr additive="base">
                                            <p:cTn id="32" dur="500" fill="hold"/>
                                            <p:tgtEl>
                                              <p:spTgt spid="73"/>
                                            </p:tgtEl>
                                            <p:attrNameLst>
                                              <p:attrName>ppt_y</p:attrName>
                                            </p:attrNameLst>
                                          </p:cBhvr>
                                          <p:tavLst>
                                            <p:tav tm="0">
                                              <p:val>
                                                <p:strVal val="#ppt_y"/>
                                              </p:val>
                                            </p:tav>
                                            <p:tav tm="100000">
                                              <p:val>
                                                <p:strVal val="#ppt_y"/>
                                              </p:val>
                                            </p:tav>
                                          </p:tavLst>
                                        </p:anim>
                                      </p:childTnLst>
                                    </p:cTn>
                                  </p:par>
                                </p:childTnLst>
                              </p:cTn>
                            </p:par>
                            <p:par>
                              <p:cTn id="33" fill="hold">
                                <p:stCondLst>
                                  <p:cond delay="700"/>
                                </p:stCondLst>
                                <p:childTnLst>
                                  <p:par>
                                    <p:cTn id="34" presetID="15" presetClass="entr" presetSubtype="0" fill="hold" grpId="0" nodeType="afterEffect">
                                      <p:stCondLst>
                                        <p:cond delay="0"/>
                                      </p:stCondLst>
                                      <p:iterate type="lt">
                                        <p:tmPct val="10000"/>
                                      </p:iterate>
                                      <p:childTnLst>
                                        <p:set>
                                          <p:cBhvr>
                                            <p:cTn id="35" dur="1" fill="hold">
                                              <p:stCondLst>
                                                <p:cond delay="0"/>
                                              </p:stCondLst>
                                            </p:cTn>
                                            <p:tgtEl>
                                              <p:spTgt spid="31"/>
                                            </p:tgtEl>
                                            <p:attrNameLst>
                                              <p:attrName>style.visibility</p:attrName>
                                            </p:attrNameLst>
                                          </p:cBhvr>
                                          <p:to>
                                            <p:strVal val="visible"/>
                                          </p:to>
                                        </p:set>
                                        <p:anim calcmode="lin" valueType="num">
                                          <p:cBhvr>
                                            <p:cTn id="36" dur="1000" fill="hold"/>
                                            <p:tgtEl>
                                              <p:spTgt spid="31"/>
                                            </p:tgtEl>
                                            <p:attrNameLst>
                                              <p:attrName>ppt_w</p:attrName>
                                            </p:attrNameLst>
                                          </p:cBhvr>
                                          <p:tavLst>
                                            <p:tav tm="0">
                                              <p:val>
                                                <p:fltVal val="0"/>
                                              </p:val>
                                            </p:tav>
                                            <p:tav tm="100000">
                                              <p:val>
                                                <p:strVal val="#ppt_w"/>
                                              </p:val>
                                            </p:tav>
                                          </p:tavLst>
                                        </p:anim>
                                        <p:anim calcmode="lin" valueType="num">
                                          <p:cBhvr>
                                            <p:cTn id="37" dur="1000" fill="hold"/>
                                            <p:tgtEl>
                                              <p:spTgt spid="31"/>
                                            </p:tgtEl>
                                            <p:attrNameLst>
                                              <p:attrName>ppt_h</p:attrName>
                                            </p:attrNameLst>
                                          </p:cBhvr>
                                          <p:tavLst>
                                            <p:tav tm="0">
                                              <p:val>
                                                <p:fltVal val="0"/>
                                              </p:val>
                                            </p:tav>
                                            <p:tav tm="100000">
                                              <p:val>
                                                <p:strVal val="#ppt_h"/>
                                              </p:val>
                                            </p:tav>
                                          </p:tavLst>
                                        </p:anim>
                                        <p:anim calcmode="lin" valueType="num">
                                          <p:cBhvr>
                                            <p:cTn id="38" dur="1000" fill="hold"/>
                                            <p:tgtEl>
                                              <p:spTgt spid="31"/>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31"/>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grpId="0" nodeType="withEffect">
                                      <p:stCondLst>
                                        <p:cond delay="200"/>
                                      </p:stCondLst>
                                      <p:iterate type="lt">
                                        <p:tmPct val="10000"/>
                                      </p:iterate>
                                      <p:childTnLst>
                                        <p:set>
                                          <p:cBhvr>
                                            <p:cTn id="41" dur="1" fill="hold">
                                              <p:stCondLst>
                                                <p:cond delay="0"/>
                                              </p:stCondLst>
                                            </p:cTn>
                                            <p:tgtEl>
                                              <p:spTgt spid="34"/>
                                            </p:tgtEl>
                                            <p:attrNameLst>
                                              <p:attrName>style.visibility</p:attrName>
                                            </p:attrNameLst>
                                          </p:cBhvr>
                                          <p:to>
                                            <p:strVal val="visible"/>
                                          </p:to>
                                        </p:set>
                                        <p:anim calcmode="lin" valueType="num">
                                          <p:cBhvr>
                                            <p:cTn id="42" dur="1000" fill="hold"/>
                                            <p:tgtEl>
                                              <p:spTgt spid="34"/>
                                            </p:tgtEl>
                                            <p:attrNameLst>
                                              <p:attrName>ppt_w</p:attrName>
                                            </p:attrNameLst>
                                          </p:cBhvr>
                                          <p:tavLst>
                                            <p:tav tm="0">
                                              <p:val>
                                                <p:fltVal val="0"/>
                                              </p:val>
                                            </p:tav>
                                            <p:tav tm="100000">
                                              <p:val>
                                                <p:strVal val="#ppt_w"/>
                                              </p:val>
                                            </p:tav>
                                          </p:tavLst>
                                        </p:anim>
                                        <p:anim calcmode="lin" valueType="num">
                                          <p:cBhvr>
                                            <p:cTn id="43" dur="1000" fill="hold"/>
                                            <p:tgtEl>
                                              <p:spTgt spid="34"/>
                                            </p:tgtEl>
                                            <p:attrNameLst>
                                              <p:attrName>ppt_h</p:attrName>
                                            </p:attrNameLst>
                                          </p:cBhvr>
                                          <p:tavLst>
                                            <p:tav tm="0">
                                              <p:val>
                                                <p:fltVal val="0"/>
                                              </p:val>
                                            </p:tav>
                                            <p:tav tm="100000">
                                              <p:val>
                                                <p:strVal val="#ppt_h"/>
                                              </p:val>
                                            </p:tav>
                                          </p:tavLst>
                                        </p:anim>
                                        <p:anim calcmode="lin" valueType="num">
                                          <p:cBhvr>
                                            <p:cTn id="44" dur="1000" fill="hold"/>
                                            <p:tgtEl>
                                              <p:spTgt spid="34"/>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34"/>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grpId="0" nodeType="withEffect">
                                      <p:stCondLst>
                                        <p:cond delay="400"/>
                                      </p:stCondLst>
                                      <p:iterate type="lt">
                                        <p:tmPct val="10000"/>
                                      </p:iterate>
                                      <p:childTnLst>
                                        <p:set>
                                          <p:cBhvr>
                                            <p:cTn id="47" dur="1" fill="hold">
                                              <p:stCondLst>
                                                <p:cond delay="0"/>
                                              </p:stCondLst>
                                            </p:cTn>
                                            <p:tgtEl>
                                              <p:spTgt spid="35"/>
                                            </p:tgtEl>
                                            <p:attrNameLst>
                                              <p:attrName>style.visibility</p:attrName>
                                            </p:attrNameLst>
                                          </p:cBhvr>
                                          <p:to>
                                            <p:strVal val="visible"/>
                                          </p:to>
                                        </p:set>
                                        <p:anim calcmode="lin" valueType="num">
                                          <p:cBhvr>
                                            <p:cTn id="48" dur="1000" fill="hold"/>
                                            <p:tgtEl>
                                              <p:spTgt spid="35"/>
                                            </p:tgtEl>
                                            <p:attrNameLst>
                                              <p:attrName>ppt_w</p:attrName>
                                            </p:attrNameLst>
                                          </p:cBhvr>
                                          <p:tavLst>
                                            <p:tav tm="0">
                                              <p:val>
                                                <p:fltVal val="0"/>
                                              </p:val>
                                            </p:tav>
                                            <p:tav tm="100000">
                                              <p:val>
                                                <p:strVal val="#ppt_w"/>
                                              </p:val>
                                            </p:tav>
                                          </p:tavLst>
                                        </p:anim>
                                        <p:anim calcmode="lin" valueType="num">
                                          <p:cBhvr>
                                            <p:cTn id="49" dur="1000" fill="hold"/>
                                            <p:tgtEl>
                                              <p:spTgt spid="35"/>
                                            </p:tgtEl>
                                            <p:attrNameLst>
                                              <p:attrName>ppt_h</p:attrName>
                                            </p:attrNameLst>
                                          </p:cBhvr>
                                          <p:tavLst>
                                            <p:tav tm="0">
                                              <p:val>
                                                <p:fltVal val="0"/>
                                              </p:val>
                                            </p:tav>
                                            <p:tav tm="100000">
                                              <p:val>
                                                <p:strVal val="#ppt_h"/>
                                              </p:val>
                                            </p:tav>
                                          </p:tavLst>
                                        </p:anim>
                                        <p:anim calcmode="lin" valueType="num">
                                          <p:cBhvr>
                                            <p:cTn id="50"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3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grpId="0" nodeType="withEffect">
                                      <p:stCondLst>
                                        <p:cond delay="750"/>
                                      </p:stCondLst>
                                      <p:iterate type="lt">
                                        <p:tmPct val="10000"/>
                                      </p:iterate>
                                      <p:childTnLst>
                                        <p:set>
                                          <p:cBhvr>
                                            <p:cTn id="53" dur="1" fill="hold">
                                              <p:stCondLst>
                                                <p:cond delay="0"/>
                                              </p:stCondLst>
                                            </p:cTn>
                                            <p:tgtEl>
                                              <p:spTgt spid="52"/>
                                            </p:tgtEl>
                                            <p:attrNameLst>
                                              <p:attrName>style.visibility</p:attrName>
                                            </p:attrNameLst>
                                          </p:cBhvr>
                                          <p:to>
                                            <p:strVal val="visible"/>
                                          </p:to>
                                        </p:set>
                                        <p:anim calcmode="lin" valueType="num">
                                          <p:cBhvr>
                                            <p:cTn id="54" dur="1000" fill="hold"/>
                                            <p:tgtEl>
                                              <p:spTgt spid="52"/>
                                            </p:tgtEl>
                                            <p:attrNameLst>
                                              <p:attrName>ppt_w</p:attrName>
                                            </p:attrNameLst>
                                          </p:cBhvr>
                                          <p:tavLst>
                                            <p:tav tm="0">
                                              <p:val>
                                                <p:fltVal val="0"/>
                                              </p:val>
                                            </p:tav>
                                            <p:tav tm="100000">
                                              <p:val>
                                                <p:strVal val="#ppt_w"/>
                                              </p:val>
                                            </p:tav>
                                          </p:tavLst>
                                        </p:anim>
                                        <p:anim calcmode="lin" valueType="num">
                                          <p:cBhvr>
                                            <p:cTn id="55" dur="1000" fill="hold"/>
                                            <p:tgtEl>
                                              <p:spTgt spid="52"/>
                                            </p:tgtEl>
                                            <p:attrNameLst>
                                              <p:attrName>ppt_h</p:attrName>
                                            </p:attrNameLst>
                                          </p:cBhvr>
                                          <p:tavLst>
                                            <p:tav tm="0">
                                              <p:val>
                                                <p:fltVal val="0"/>
                                              </p:val>
                                            </p:tav>
                                            <p:tav tm="100000">
                                              <p:val>
                                                <p:strVal val="#ppt_h"/>
                                              </p:val>
                                            </p:tav>
                                          </p:tavLst>
                                        </p:anim>
                                        <p:anim calcmode="lin" valueType="num">
                                          <p:cBhvr>
                                            <p:cTn id="56"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52"/>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grpId="0" nodeType="withEffect">
                                      <p:stCondLst>
                                        <p:cond delay="1000"/>
                                      </p:stCondLst>
                                      <p:iterate type="lt">
                                        <p:tmPct val="10000"/>
                                      </p:iterate>
                                      <p:childTnLst>
                                        <p:set>
                                          <p:cBhvr>
                                            <p:cTn id="59" dur="1" fill="hold">
                                              <p:stCondLst>
                                                <p:cond delay="0"/>
                                              </p:stCondLst>
                                            </p:cTn>
                                            <p:tgtEl>
                                              <p:spTgt spid="54"/>
                                            </p:tgtEl>
                                            <p:attrNameLst>
                                              <p:attrName>style.visibility</p:attrName>
                                            </p:attrNameLst>
                                          </p:cBhvr>
                                          <p:to>
                                            <p:strVal val="visible"/>
                                          </p:to>
                                        </p:set>
                                        <p:anim calcmode="lin" valueType="num">
                                          <p:cBhvr>
                                            <p:cTn id="60" dur="1000" fill="hold"/>
                                            <p:tgtEl>
                                              <p:spTgt spid="54"/>
                                            </p:tgtEl>
                                            <p:attrNameLst>
                                              <p:attrName>ppt_w</p:attrName>
                                            </p:attrNameLst>
                                          </p:cBhvr>
                                          <p:tavLst>
                                            <p:tav tm="0">
                                              <p:val>
                                                <p:fltVal val="0"/>
                                              </p:val>
                                            </p:tav>
                                            <p:tav tm="100000">
                                              <p:val>
                                                <p:strVal val="#ppt_w"/>
                                              </p:val>
                                            </p:tav>
                                          </p:tavLst>
                                        </p:anim>
                                        <p:anim calcmode="lin" valueType="num">
                                          <p:cBhvr>
                                            <p:cTn id="61" dur="1000" fill="hold"/>
                                            <p:tgtEl>
                                              <p:spTgt spid="54"/>
                                            </p:tgtEl>
                                            <p:attrNameLst>
                                              <p:attrName>ppt_h</p:attrName>
                                            </p:attrNameLst>
                                          </p:cBhvr>
                                          <p:tavLst>
                                            <p:tav tm="0">
                                              <p:val>
                                                <p:fltVal val="0"/>
                                              </p:val>
                                            </p:tav>
                                            <p:tav tm="100000">
                                              <p:val>
                                                <p:strVal val="#ppt_h"/>
                                              </p:val>
                                            </p:tav>
                                          </p:tavLst>
                                        </p:anim>
                                        <p:anim calcmode="lin" valueType="num">
                                          <p:cBhvr>
                                            <p:cTn id="62" dur="1000" fill="hold"/>
                                            <p:tgtEl>
                                              <p:spTgt spid="54"/>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54"/>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grpId="0" nodeType="withEffect">
                                      <p:stCondLst>
                                        <p:cond delay="1250"/>
                                      </p:stCondLst>
                                      <p:iterate type="lt">
                                        <p:tmPct val="10000"/>
                                      </p:iterate>
                                      <p:childTnLst>
                                        <p:set>
                                          <p:cBhvr>
                                            <p:cTn id="65" dur="1" fill="hold">
                                              <p:stCondLst>
                                                <p:cond delay="0"/>
                                              </p:stCondLst>
                                            </p:cTn>
                                            <p:tgtEl>
                                              <p:spTgt spid="55"/>
                                            </p:tgtEl>
                                            <p:attrNameLst>
                                              <p:attrName>style.visibility</p:attrName>
                                            </p:attrNameLst>
                                          </p:cBhvr>
                                          <p:to>
                                            <p:strVal val="visible"/>
                                          </p:to>
                                        </p:set>
                                        <p:anim calcmode="lin" valueType="num">
                                          <p:cBhvr>
                                            <p:cTn id="66" dur="1000" fill="hold"/>
                                            <p:tgtEl>
                                              <p:spTgt spid="55"/>
                                            </p:tgtEl>
                                            <p:attrNameLst>
                                              <p:attrName>ppt_w</p:attrName>
                                            </p:attrNameLst>
                                          </p:cBhvr>
                                          <p:tavLst>
                                            <p:tav tm="0">
                                              <p:val>
                                                <p:fltVal val="0"/>
                                              </p:val>
                                            </p:tav>
                                            <p:tav tm="100000">
                                              <p:val>
                                                <p:strVal val="#ppt_w"/>
                                              </p:val>
                                            </p:tav>
                                          </p:tavLst>
                                        </p:anim>
                                        <p:anim calcmode="lin" valueType="num">
                                          <p:cBhvr>
                                            <p:cTn id="67" dur="1000" fill="hold"/>
                                            <p:tgtEl>
                                              <p:spTgt spid="55"/>
                                            </p:tgtEl>
                                            <p:attrNameLst>
                                              <p:attrName>ppt_h</p:attrName>
                                            </p:attrNameLst>
                                          </p:cBhvr>
                                          <p:tavLst>
                                            <p:tav tm="0">
                                              <p:val>
                                                <p:fltVal val="0"/>
                                              </p:val>
                                            </p:tav>
                                            <p:tav tm="100000">
                                              <p:val>
                                                <p:strVal val="#ppt_h"/>
                                              </p:val>
                                            </p:tav>
                                          </p:tavLst>
                                        </p:anim>
                                        <p:anim calcmode="lin" valueType="num">
                                          <p:cBhvr>
                                            <p:cTn id="68"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5"/>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grpId="0" nodeType="withEffect">
                                      <p:stCondLst>
                                        <p:cond delay="1500"/>
                                      </p:stCondLst>
                                      <p:iterate type="lt">
                                        <p:tmPct val="10000"/>
                                      </p:iterate>
                                      <p:childTnLst>
                                        <p:set>
                                          <p:cBhvr>
                                            <p:cTn id="71" dur="1" fill="hold">
                                              <p:stCondLst>
                                                <p:cond delay="0"/>
                                              </p:stCondLst>
                                            </p:cTn>
                                            <p:tgtEl>
                                              <p:spTgt spid="69"/>
                                            </p:tgtEl>
                                            <p:attrNameLst>
                                              <p:attrName>style.visibility</p:attrName>
                                            </p:attrNameLst>
                                          </p:cBhvr>
                                          <p:to>
                                            <p:strVal val="visible"/>
                                          </p:to>
                                        </p:set>
                                        <p:anim calcmode="lin" valueType="num">
                                          <p:cBhvr>
                                            <p:cTn id="72" dur="1000" fill="hold"/>
                                            <p:tgtEl>
                                              <p:spTgt spid="69"/>
                                            </p:tgtEl>
                                            <p:attrNameLst>
                                              <p:attrName>ppt_w</p:attrName>
                                            </p:attrNameLst>
                                          </p:cBhvr>
                                          <p:tavLst>
                                            <p:tav tm="0">
                                              <p:val>
                                                <p:fltVal val="0"/>
                                              </p:val>
                                            </p:tav>
                                            <p:tav tm="100000">
                                              <p:val>
                                                <p:strVal val="#ppt_w"/>
                                              </p:val>
                                            </p:tav>
                                          </p:tavLst>
                                        </p:anim>
                                        <p:anim calcmode="lin" valueType="num">
                                          <p:cBhvr>
                                            <p:cTn id="73" dur="1000" fill="hold"/>
                                            <p:tgtEl>
                                              <p:spTgt spid="69"/>
                                            </p:tgtEl>
                                            <p:attrNameLst>
                                              <p:attrName>ppt_h</p:attrName>
                                            </p:attrNameLst>
                                          </p:cBhvr>
                                          <p:tavLst>
                                            <p:tav tm="0">
                                              <p:val>
                                                <p:fltVal val="0"/>
                                              </p:val>
                                            </p:tav>
                                            <p:tav tm="100000">
                                              <p:val>
                                                <p:strVal val="#ppt_h"/>
                                              </p:val>
                                            </p:tav>
                                          </p:tavLst>
                                        </p:anim>
                                        <p:anim calcmode="lin" valueType="num">
                                          <p:cBhvr>
                                            <p:cTn id="74" dur="1000" fill="hold"/>
                                            <p:tgtEl>
                                              <p:spTgt spid="69"/>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69"/>
                                            </p:tgtEl>
                                            <p:attrNameLst>
                                              <p:attrName>ppt_y</p:attrName>
                                            </p:attrNameLst>
                                          </p:cBhvr>
                                          <p:tavLst>
                                            <p:tav tm="0" fmla="#ppt_y+(sin(-2*pi*(1-$))*-#ppt_x+cos(-2*pi*(1-$))*(1-#ppt_y))*(1-$)">
                                              <p:val>
                                                <p:fltVal val="0"/>
                                              </p:val>
                                            </p:tav>
                                            <p:tav tm="100000">
                                              <p:val>
                                                <p:fltVal val="1"/>
                                              </p:val>
                                            </p:tav>
                                          </p:tavLst>
                                        </p:anim>
                                      </p:childTnLst>
                                    </p:cTn>
                                  </p:par>
                                </p:childTnLst>
                              </p:cTn>
                            </p:par>
                            <p:par>
                              <p:cTn id="76" fill="hold">
                                <p:stCondLst>
                                  <p:cond delay="5000"/>
                                </p:stCondLst>
                                <p:childTnLst>
                                  <p:par>
                                    <p:cTn id="77" presetID="23" presetClass="entr" presetSubtype="36" fill="hold" grpId="0" nodeType="after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p:cTn id="79" dur="500" fill="hold"/>
                                            <p:tgtEl>
                                              <p:spTgt spid="46"/>
                                            </p:tgtEl>
                                            <p:attrNameLst>
                                              <p:attrName>ppt_w</p:attrName>
                                            </p:attrNameLst>
                                          </p:cBhvr>
                                          <p:tavLst>
                                            <p:tav tm="0">
                                              <p:val>
                                                <p:strVal val="(6*min(max(#ppt_w*#ppt_h,.3),1)-7.4)/-.7*#ppt_w"/>
                                              </p:val>
                                            </p:tav>
                                            <p:tav tm="100000">
                                              <p:val>
                                                <p:strVal val="#ppt_w"/>
                                              </p:val>
                                            </p:tav>
                                          </p:tavLst>
                                        </p:anim>
                                        <p:anim calcmode="lin" valueType="num">
                                          <p:cBhvr>
                                            <p:cTn id="80" dur="500" fill="hold"/>
                                            <p:tgtEl>
                                              <p:spTgt spid="46"/>
                                            </p:tgtEl>
                                            <p:attrNameLst>
                                              <p:attrName>ppt_h</p:attrName>
                                            </p:attrNameLst>
                                          </p:cBhvr>
                                          <p:tavLst>
                                            <p:tav tm="0">
                                              <p:val>
                                                <p:strVal val="(6*min(max(#ppt_w*#ppt_h,.3),1)-7.4)/-.7*#ppt_h"/>
                                              </p:val>
                                            </p:tav>
                                            <p:tav tm="100000">
                                              <p:val>
                                                <p:strVal val="#ppt_h"/>
                                              </p:val>
                                            </p:tav>
                                          </p:tavLst>
                                        </p:anim>
                                        <p:anim calcmode="lin" valueType="num">
                                          <p:cBhvr>
                                            <p:cTn id="81" dur="500" fill="hold"/>
                                            <p:tgtEl>
                                              <p:spTgt spid="46"/>
                                            </p:tgtEl>
                                            <p:attrNameLst>
                                              <p:attrName>ppt_x</p:attrName>
                                            </p:attrNameLst>
                                          </p:cBhvr>
                                          <p:tavLst>
                                            <p:tav tm="0">
                                              <p:val>
                                                <p:fltVal val="0.5"/>
                                              </p:val>
                                            </p:tav>
                                            <p:tav tm="100000">
                                              <p:val>
                                                <p:strVal val="#ppt_x"/>
                                              </p:val>
                                            </p:tav>
                                          </p:tavLst>
                                        </p:anim>
                                        <p:anim calcmode="lin" valueType="num">
                                          <p:cBhvr>
                                            <p:cTn id="82" dur="500" fill="hold"/>
                                            <p:tgtEl>
                                              <p:spTgt spid="46"/>
                                            </p:tgtEl>
                                            <p:attrNameLst>
                                              <p:attrName>ppt_y</p:attrName>
                                            </p:attrNameLst>
                                          </p:cBhvr>
                                          <p:tavLst>
                                            <p:tav tm="0">
                                              <p:val>
                                                <p:strVal val="1+(6*min(max(#ppt_w*#ppt_h,.3),1)-7.4)/-.7*#ppt_h/2"/>
                                              </p:val>
                                            </p:tav>
                                            <p:tav tm="100000">
                                              <p:val>
                                                <p:strVal val="#ppt_y"/>
                                              </p:val>
                                            </p:tav>
                                          </p:tavLst>
                                        </p:anim>
                                      </p:childTnLst>
                                    </p:cTn>
                                  </p:par>
                                  <p:par>
                                    <p:cTn id="83" presetID="23" presetClass="entr" presetSubtype="36" fill="hold" grpId="0" nodeType="withEffect">
                                      <p:stCondLst>
                                        <p:cond delay="150"/>
                                      </p:stCondLst>
                                      <p:childTnLst>
                                        <p:set>
                                          <p:cBhvr>
                                            <p:cTn id="84" dur="1" fill="hold">
                                              <p:stCondLst>
                                                <p:cond delay="0"/>
                                              </p:stCondLst>
                                            </p:cTn>
                                            <p:tgtEl>
                                              <p:spTgt spid="36"/>
                                            </p:tgtEl>
                                            <p:attrNameLst>
                                              <p:attrName>style.visibility</p:attrName>
                                            </p:attrNameLst>
                                          </p:cBhvr>
                                          <p:to>
                                            <p:strVal val="visible"/>
                                          </p:to>
                                        </p:set>
                                        <p:anim calcmode="lin" valueType="num">
                                          <p:cBhvr>
                                            <p:cTn id="85" dur="500" fill="hold"/>
                                            <p:tgtEl>
                                              <p:spTgt spid="36"/>
                                            </p:tgtEl>
                                            <p:attrNameLst>
                                              <p:attrName>ppt_w</p:attrName>
                                            </p:attrNameLst>
                                          </p:cBhvr>
                                          <p:tavLst>
                                            <p:tav tm="0">
                                              <p:val>
                                                <p:strVal val="(6*min(max(#ppt_w*#ppt_h,.3),1)-7.4)/-.7*#ppt_w"/>
                                              </p:val>
                                            </p:tav>
                                            <p:tav tm="100000">
                                              <p:val>
                                                <p:strVal val="#ppt_w"/>
                                              </p:val>
                                            </p:tav>
                                          </p:tavLst>
                                        </p:anim>
                                        <p:anim calcmode="lin" valueType="num">
                                          <p:cBhvr>
                                            <p:cTn id="86" dur="500" fill="hold"/>
                                            <p:tgtEl>
                                              <p:spTgt spid="36"/>
                                            </p:tgtEl>
                                            <p:attrNameLst>
                                              <p:attrName>ppt_h</p:attrName>
                                            </p:attrNameLst>
                                          </p:cBhvr>
                                          <p:tavLst>
                                            <p:tav tm="0">
                                              <p:val>
                                                <p:strVal val="(6*min(max(#ppt_w*#ppt_h,.3),1)-7.4)/-.7*#ppt_h"/>
                                              </p:val>
                                            </p:tav>
                                            <p:tav tm="100000">
                                              <p:val>
                                                <p:strVal val="#ppt_h"/>
                                              </p:val>
                                            </p:tav>
                                          </p:tavLst>
                                        </p:anim>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strVal val="1+(6*min(max(#ppt_w*#ppt_h,.3),1)-7.4)/-.7*#ppt_h/2"/>
                                              </p:val>
                                            </p:tav>
                                            <p:tav tm="100000">
                                              <p:val>
                                                <p:strVal val="#ppt_y"/>
                                              </p:val>
                                            </p:tav>
                                          </p:tavLst>
                                        </p:anim>
                                      </p:childTnLst>
                                    </p:cTn>
                                  </p:par>
                                  <p:par>
                                    <p:cTn id="89" presetID="23" presetClass="entr" presetSubtype="36" fill="hold" grpId="0" nodeType="withEffect">
                                      <p:stCondLst>
                                        <p:cond delay="300"/>
                                      </p:stCondLst>
                                      <p:childTnLst>
                                        <p:set>
                                          <p:cBhvr>
                                            <p:cTn id="90" dur="1" fill="hold">
                                              <p:stCondLst>
                                                <p:cond delay="0"/>
                                              </p:stCondLst>
                                            </p:cTn>
                                            <p:tgtEl>
                                              <p:spTgt spid="37"/>
                                            </p:tgtEl>
                                            <p:attrNameLst>
                                              <p:attrName>style.visibility</p:attrName>
                                            </p:attrNameLst>
                                          </p:cBhvr>
                                          <p:to>
                                            <p:strVal val="visible"/>
                                          </p:to>
                                        </p:set>
                                        <p:anim calcmode="lin" valueType="num">
                                          <p:cBhvr>
                                            <p:cTn id="91" dur="500" fill="hold"/>
                                            <p:tgtEl>
                                              <p:spTgt spid="37"/>
                                            </p:tgtEl>
                                            <p:attrNameLst>
                                              <p:attrName>ppt_w</p:attrName>
                                            </p:attrNameLst>
                                          </p:cBhvr>
                                          <p:tavLst>
                                            <p:tav tm="0">
                                              <p:val>
                                                <p:strVal val="(6*min(max(#ppt_w*#ppt_h,.3),1)-7.4)/-.7*#ppt_w"/>
                                              </p:val>
                                            </p:tav>
                                            <p:tav tm="100000">
                                              <p:val>
                                                <p:strVal val="#ppt_w"/>
                                              </p:val>
                                            </p:tav>
                                          </p:tavLst>
                                        </p:anim>
                                        <p:anim calcmode="lin" valueType="num">
                                          <p:cBhvr>
                                            <p:cTn id="92" dur="500" fill="hold"/>
                                            <p:tgtEl>
                                              <p:spTgt spid="37"/>
                                            </p:tgtEl>
                                            <p:attrNameLst>
                                              <p:attrName>ppt_h</p:attrName>
                                            </p:attrNameLst>
                                          </p:cBhvr>
                                          <p:tavLst>
                                            <p:tav tm="0">
                                              <p:val>
                                                <p:strVal val="(6*min(max(#ppt_w*#ppt_h,.3),1)-7.4)/-.7*#ppt_h"/>
                                              </p:val>
                                            </p:tav>
                                            <p:tav tm="100000">
                                              <p:val>
                                                <p:strVal val="#ppt_h"/>
                                              </p:val>
                                            </p:tav>
                                          </p:tavLst>
                                        </p:anim>
                                        <p:anim calcmode="lin" valueType="num">
                                          <p:cBhvr>
                                            <p:cTn id="93" dur="500" fill="hold"/>
                                            <p:tgtEl>
                                              <p:spTgt spid="37"/>
                                            </p:tgtEl>
                                            <p:attrNameLst>
                                              <p:attrName>ppt_x</p:attrName>
                                            </p:attrNameLst>
                                          </p:cBhvr>
                                          <p:tavLst>
                                            <p:tav tm="0">
                                              <p:val>
                                                <p:fltVal val="0.5"/>
                                              </p:val>
                                            </p:tav>
                                            <p:tav tm="100000">
                                              <p:val>
                                                <p:strVal val="#ppt_x"/>
                                              </p:val>
                                            </p:tav>
                                          </p:tavLst>
                                        </p:anim>
                                        <p:anim calcmode="lin" valueType="num">
                                          <p:cBhvr>
                                            <p:cTn id="94" dur="500" fill="hold"/>
                                            <p:tgtEl>
                                              <p:spTgt spid="37"/>
                                            </p:tgtEl>
                                            <p:attrNameLst>
                                              <p:attrName>ppt_y</p:attrName>
                                            </p:attrNameLst>
                                          </p:cBhvr>
                                          <p:tavLst>
                                            <p:tav tm="0">
                                              <p:val>
                                                <p:strVal val="1+(6*min(max(#ppt_w*#ppt_h,.3),1)-7.4)/-.7*#ppt_h/2"/>
                                              </p:val>
                                            </p:tav>
                                            <p:tav tm="100000">
                                              <p:val>
                                                <p:strVal val="#ppt_y"/>
                                              </p:val>
                                            </p:tav>
                                          </p:tavLst>
                                        </p:anim>
                                      </p:childTnLst>
                                    </p:cTn>
                                  </p:par>
                                  <p:par>
                                    <p:cTn id="95" presetID="23" presetClass="entr" presetSubtype="36" fill="hold" grpId="0" nodeType="withEffect">
                                      <p:stCondLst>
                                        <p:cond delay="500"/>
                                      </p:stCondLst>
                                      <p:childTnLst>
                                        <p:set>
                                          <p:cBhvr>
                                            <p:cTn id="96" dur="1" fill="hold">
                                              <p:stCondLst>
                                                <p:cond delay="0"/>
                                              </p:stCondLst>
                                            </p:cTn>
                                            <p:tgtEl>
                                              <p:spTgt spid="62"/>
                                            </p:tgtEl>
                                            <p:attrNameLst>
                                              <p:attrName>style.visibility</p:attrName>
                                            </p:attrNameLst>
                                          </p:cBhvr>
                                          <p:to>
                                            <p:strVal val="visible"/>
                                          </p:to>
                                        </p:set>
                                        <p:anim calcmode="lin" valueType="num">
                                          <p:cBhvr>
                                            <p:cTn id="97" dur="500" fill="hold"/>
                                            <p:tgtEl>
                                              <p:spTgt spid="62"/>
                                            </p:tgtEl>
                                            <p:attrNameLst>
                                              <p:attrName>ppt_w</p:attrName>
                                            </p:attrNameLst>
                                          </p:cBhvr>
                                          <p:tavLst>
                                            <p:tav tm="0">
                                              <p:val>
                                                <p:strVal val="(6*min(max(#ppt_w*#ppt_h,.3),1)-7.4)/-.7*#ppt_w"/>
                                              </p:val>
                                            </p:tav>
                                            <p:tav tm="100000">
                                              <p:val>
                                                <p:strVal val="#ppt_w"/>
                                              </p:val>
                                            </p:tav>
                                          </p:tavLst>
                                        </p:anim>
                                        <p:anim calcmode="lin" valueType="num">
                                          <p:cBhvr>
                                            <p:cTn id="98" dur="500" fill="hold"/>
                                            <p:tgtEl>
                                              <p:spTgt spid="62"/>
                                            </p:tgtEl>
                                            <p:attrNameLst>
                                              <p:attrName>ppt_h</p:attrName>
                                            </p:attrNameLst>
                                          </p:cBhvr>
                                          <p:tavLst>
                                            <p:tav tm="0">
                                              <p:val>
                                                <p:strVal val="(6*min(max(#ppt_w*#ppt_h,.3),1)-7.4)/-.7*#ppt_h"/>
                                              </p:val>
                                            </p:tav>
                                            <p:tav tm="100000">
                                              <p:val>
                                                <p:strVal val="#ppt_h"/>
                                              </p:val>
                                            </p:tav>
                                          </p:tavLst>
                                        </p:anim>
                                        <p:anim calcmode="lin" valueType="num">
                                          <p:cBhvr>
                                            <p:cTn id="99" dur="500" fill="hold"/>
                                            <p:tgtEl>
                                              <p:spTgt spid="62"/>
                                            </p:tgtEl>
                                            <p:attrNameLst>
                                              <p:attrName>ppt_x</p:attrName>
                                            </p:attrNameLst>
                                          </p:cBhvr>
                                          <p:tavLst>
                                            <p:tav tm="0">
                                              <p:val>
                                                <p:fltVal val="0.5"/>
                                              </p:val>
                                            </p:tav>
                                            <p:tav tm="100000">
                                              <p:val>
                                                <p:strVal val="#ppt_x"/>
                                              </p:val>
                                            </p:tav>
                                          </p:tavLst>
                                        </p:anim>
                                        <p:anim calcmode="lin" valueType="num">
                                          <p:cBhvr>
                                            <p:cTn id="100" dur="500" fill="hold"/>
                                            <p:tgtEl>
                                              <p:spTgt spid="62"/>
                                            </p:tgtEl>
                                            <p:attrNameLst>
                                              <p:attrName>ppt_y</p:attrName>
                                            </p:attrNameLst>
                                          </p:cBhvr>
                                          <p:tavLst>
                                            <p:tav tm="0">
                                              <p:val>
                                                <p:strVal val="1+(6*min(max(#ppt_w*#ppt_h,.3),1)-7.4)/-.7*#ppt_h/2"/>
                                              </p:val>
                                            </p:tav>
                                            <p:tav tm="100000">
                                              <p:val>
                                                <p:strVal val="#ppt_y"/>
                                              </p:val>
                                            </p:tav>
                                          </p:tavLst>
                                        </p:anim>
                                      </p:childTnLst>
                                    </p:cTn>
                                  </p:par>
                                  <p:par>
                                    <p:cTn id="101" presetID="23" presetClass="entr" presetSubtype="36" fill="hold" grpId="0" nodeType="withEffect">
                                      <p:stCondLst>
                                        <p:cond delay="750"/>
                                      </p:stCondLst>
                                      <p:childTnLst>
                                        <p:set>
                                          <p:cBhvr>
                                            <p:cTn id="102" dur="1" fill="hold">
                                              <p:stCondLst>
                                                <p:cond delay="0"/>
                                              </p:stCondLst>
                                            </p:cTn>
                                            <p:tgtEl>
                                              <p:spTgt spid="56"/>
                                            </p:tgtEl>
                                            <p:attrNameLst>
                                              <p:attrName>style.visibility</p:attrName>
                                            </p:attrNameLst>
                                          </p:cBhvr>
                                          <p:to>
                                            <p:strVal val="visible"/>
                                          </p:to>
                                        </p:set>
                                        <p:anim calcmode="lin" valueType="num">
                                          <p:cBhvr>
                                            <p:cTn id="103" dur="500" fill="hold"/>
                                            <p:tgtEl>
                                              <p:spTgt spid="56"/>
                                            </p:tgtEl>
                                            <p:attrNameLst>
                                              <p:attrName>ppt_w</p:attrName>
                                            </p:attrNameLst>
                                          </p:cBhvr>
                                          <p:tavLst>
                                            <p:tav tm="0">
                                              <p:val>
                                                <p:strVal val="(6*min(max(#ppt_w*#ppt_h,.3),1)-7.4)/-.7*#ppt_w"/>
                                              </p:val>
                                            </p:tav>
                                            <p:tav tm="100000">
                                              <p:val>
                                                <p:strVal val="#ppt_w"/>
                                              </p:val>
                                            </p:tav>
                                          </p:tavLst>
                                        </p:anim>
                                        <p:anim calcmode="lin" valueType="num">
                                          <p:cBhvr>
                                            <p:cTn id="104" dur="500" fill="hold"/>
                                            <p:tgtEl>
                                              <p:spTgt spid="56"/>
                                            </p:tgtEl>
                                            <p:attrNameLst>
                                              <p:attrName>ppt_h</p:attrName>
                                            </p:attrNameLst>
                                          </p:cBhvr>
                                          <p:tavLst>
                                            <p:tav tm="0">
                                              <p:val>
                                                <p:strVal val="(6*min(max(#ppt_w*#ppt_h,.3),1)-7.4)/-.7*#ppt_h"/>
                                              </p:val>
                                            </p:tav>
                                            <p:tav tm="100000">
                                              <p:val>
                                                <p:strVal val="#ppt_h"/>
                                              </p:val>
                                            </p:tav>
                                          </p:tavLst>
                                        </p:anim>
                                        <p:anim calcmode="lin" valueType="num">
                                          <p:cBhvr>
                                            <p:cTn id="105" dur="500" fill="hold"/>
                                            <p:tgtEl>
                                              <p:spTgt spid="56"/>
                                            </p:tgtEl>
                                            <p:attrNameLst>
                                              <p:attrName>ppt_x</p:attrName>
                                            </p:attrNameLst>
                                          </p:cBhvr>
                                          <p:tavLst>
                                            <p:tav tm="0">
                                              <p:val>
                                                <p:fltVal val="0.5"/>
                                              </p:val>
                                            </p:tav>
                                            <p:tav tm="100000">
                                              <p:val>
                                                <p:strVal val="#ppt_x"/>
                                              </p:val>
                                            </p:tav>
                                          </p:tavLst>
                                        </p:anim>
                                        <p:anim calcmode="lin" valueType="num">
                                          <p:cBhvr>
                                            <p:cTn id="106" dur="500" fill="hold"/>
                                            <p:tgtEl>
                                              <p:spTgt spid="56"/>
                                            </p:tgtEl>
                                            <p:attrNameLst>
                                              <p:attrName>ppt_y</p:attrName>
                                            </p:attrNameLst>
                                          </p:cBhvr>
                                          <p:tavLst>
                                            <p:tav tm="0">
                                              <p:val>
                                                <p:strVal val="1+(6*min(max(#ppt_w*#ppt_h,.3),1)-7.4)/-.7*#ppt_h/2"/>
                                              </p:val>
                                            </p:tav>
                                            <p:tav tm="100000">
                                              <p:val>
                                                <p:strVal val="#ppt_y"/>
                                              </p:val>
                                            </p:tav>
                                          </p:tavLst>
                                        </p:anim>
                                      </p:childTnLst>
                                    </p:cTn>
                                  </p:par>
                                  <p:par>
                                    <p:cTn id="107" presetID="23" presetClass="entr" presetSubtype="36" fill="hold" grpId="0" nodeType="withEffect">
                                      <p:stCondLst>
                                        <p:cond delay="1000"/>
                                      </p:stCondLst>
                                      <p:childTnLst>
                                        <p:set>
                                          <p:cBhvr>
                                            <p:cTn id="108" dur="1" fill="hold">
                                              <p:stCondLst>
                                                <p:cond delay="0"/>
                                              </p:stCondLst>
                                            </p:cTn>
                                            <p:tgtEl>
                                              <p:spTgt spid="57"/>
                                            </p:tgtEl>
                                            <p:attrNameLst>
                                              <p:attrName>style.visibility</p:attrName>
                                            </p:attrNameLst>
                                          </p:cBhvr>
                                          <p:to>
                                            <p:strVal val="visible"/>
                                          </p:to>
                                        </p:set>
                                        <p:anim calcmode="lin" valueType="num">
                                          <p:cBhvr>
                                            <p:cTn id="109" dur="500" fill="hold"/>
                                            <p:tgtEl>
                                              <p:spTgt spid="57"/>
                                            </p:tgtEl>
                                            <p:attrNameLst>
                                              <p:attrName>ppt_w</p:attrName>
                                            </p:attrNameLst>
                                          </p:cBhvr>
                                          <p:tavLst>
                                            <p:tav tm="0">
                                              <p:val>
                                                <p:strVal val="(6*min(max(#ppt_w*#ppt_h,.3),1)-7.4)/-.7*#ppt_w"/>
                                              </p:val>
                                            </p:tav>
                                            <p:tav tm="100000">
                                              <p:val>
                                                <p:strVal val="#ppt_w"/>
                                              </p:val>
                                            </p:tav>
                                          </p:tavLst>
                                        </p:anim>
                                        <p:anim calcmode="lin" valueType="num">
                                          <p:cBhvr>
                                            <p:cTn id="110" dur="500" fill="hold"/>
                                            <p:tgtEl>
                                              <p:spTgt spid="57"/>
                                            </p:tgtEl>
                                            <p:attrNameLst>
                                              <p:attrName>ppt_h</p:attrName>
                                            </p:attrNameLst>
                                          </p:cBhvr>
                                          <p:tavLst>
                                            <p:tav tm="0">
                                              <p:val>
                                                <p:strVal val="(6*min(max(#ppt_w*#ppt_h,.3),1)-7.4)/-.7*#ppt_h"/>
                                              </p:val>
                                            </p:tav>
                                            <p:tav tm="100000">
                                              <p:val>
                                                <p:strVal val="#ppt_h"/>
                                              </p:val>
                                            </p:tav>
                                          </p:tavLst>
                                        </p:anim>
                                        <p:anim calcmode="lin" valueType="num">
                                          <p:cBhvr>
                                            <p:cTn id="111" dur="500" fill="hold"/>
                                            <p:tgtEl>
                                              <p:spTgt spid="57"/>
                                            </p:tgtEl>
                                            <p:attrNameLst>
                                              <p:attrName>ppt_x</p:attrName>
                                            </p:attrNameLst>
                                          </p:cBhvr>
                                          <p:tavLst>
                                            <p:tav tm="0">
                                              <p:val>
                                                <p:fltVal val="0.5"/>
                                              </p:val>
                                            </p:tav>
                                            <p:tav tm="100000">
                                              <p:val>
                                                <p:strVal val="#ppt_x"/>
                                              </p:val>
                                            </p:tav>
                                          </p:tavLst>
                                        </p:anim>
                                        <p:anim calcmode="lin" valueType="num">
                                          <p:cBhvr>
                                            <p:cTn id="112" dur="500" fill="hold"/>
                                            <p:tgtEl>
                                              <p:spTgt spid="57"/>
                                            </p:tgtEl>
                                            <p:attrNameLst>
                                              <p:attrName>ppt_y</p:attrName>
                                            </p:attrNameLst>
                                          </p:cBhvr>
                                          <p:tavLst>
                                            <p:tav tm="0">
                                              <p:val>
                                                <p:strVal val="1+(6*min(max(#ppt_w*#ppt_h,.3),1)-7.4)/-.7*#ppt_h/2"/>
                                              </p:val>
                                            </p:tav>
                                            <p:tav tm="100000">
                                              <p:val>
                                                <p:strVal val="#ppt_y"/>
                                              </p:val>
                                            </p:tav>
                                          </p:tavLst>
                                        </p:anim>
                                      </p:childTnLst>
                                    </p:cTn>
                                  </p:par>
                                  <p:par>
                                    <p:cTn id="113" presetID="23" presetClass="entr" presetSubtype="36" fill="hold" grpId="0" nodeType="withEffect">
                                      <p:stCondLst>
                                        <p:cond delay="1500"/>
                                      </p:stCondLst>
                                      <p:childTnLst>
                                        <p:set>
                                          <p:cBhvr>
                                            <p:cTn id="114" dur="1" fill="hold">
                                              <p:stCondLst>
                                                <p:cond delay="0"/>
                                              </p:stCondLst>
                                            </p:cTn>
                                            <p:tgtEl>
                                              <p:spTgt spid="74"/>
                                            </p:tgtEl>
                                            <p:attrNameLst>
                                              <p:attrName>style.visibility</p:attrName>
                                            </p:attrNameLst>
                                          </p:cBhvr>
                                          <p:to>
                                            <p:strVal val="visible"/>
                                          </p:to>
                                        </p:set>
                                        <p:anim calcmode="lin" valueType="num">
                                          <p:cBhvr>
                                            <p:cTn id="115" dur="500" fill="hold"/>
                                            <p:tgtEl>
                                              <p:spTgt spid="74"/>
                                            </p:tgtEl>
                                            <p:attrNameLst>
                                              <p:attrName>ppt_w</p:attrName>
                                            </p:attrNameLst>
                                          </p:cBhvr>
                                          <p:tavLst>
                                            <p:tav tm="0">
                                              <p:val>
                                                <p:strVal val="(6*min(max(#ppt_w*#ppt_h,.3),1)-7.4)/-.7*#ppt_w"/>
                                              </p:val>
                                            </p:tav>
                                            <p:tav tm="100000">
                                              <p:val>
                                                <p:strVal val="#ppt_w"/>
                                              </p:val>
                                            </p:tav>
                                          </p:tavLst>
                                        </p:anim>
                                        <p:anim calcmode="lin" valueType="num">
                                          <p:cBhvr>
                                            <p:cTn id="116" dur="500" fill="hold"/>
                                            <p:tgtEl>
                                              <p:spTgt spid="74"/>
                                            </p:tgtEl>
                                            <p:attrNameLst>
                                              <p:attrName>ppt_h</p:attrName>
                                            </p:attrNameLst>
                                          </p:cBhvr>
                                          <p:tavLst>
                                            <p:tav tm="0">
                                              <p:val>
                                                <p:strVal val="(6*min(max(#ppt_w*#ppt_h,.3),1)-7.4)/-.7*#ppt_h"/>
                                              </p:val>
                                            </p:tav>
                                            <p:tav tm="100000">
                                              <p:val>
                                                <p:strVal val="#ppt_h"/>
                                              </p:val>
                                            </p:tav>
                                          </p:tavLst>
                                        </p:anim>
                                        <p:anim calcmode="lin" valueType="num">
                                          <p:cBhvr>
                                            <p:cTn id="117" dur="500" fill="hold"/>
                                            <p:tgtEl>
                                              <p:spTgt spid="74"/>
                                            </p:tgtEl>
                                            <p:attrNameLst>
                                              <p:attrName>ppt_x</p:attrName>
                                            </p:attrNameLst>
                                          </p:cBhvr>
                                          <p:tavLst>
                                            <p:tav tm="0">
                                              <p:val>
                                                <p:fltVal val="0.5"/>
                                              </p:val>
                                            </p:tav>
                                            <p:tav tm="100000">
                                              <p:val>
                                                <p:strVal val="#ppt_x"/>
                                              </p:val>
                                            </p:tav>
                                          </p:tavLst>
                                        </p:anim>
                                        <p:anim calcmode="lin" valueType="num">
                                          <p:cBhvr>
                                            <p:cTn id="118" dur="500" fill="hold"/>
                                            <p:tgtEl>
                                              <p:spTgt spid="7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p:bldP spid="37" grpId="0"/>
          <p:bldP spid="43" grpId="0"/>
          <p:bldP spid="44" grpId="0"/>
          <p:bldP spid="45" grpId="0"/>
          <p:bldP spid="46" grpId="0"/>
          <p:bldP spid="52" grpId="0" animBg="1"/>
          <p:bldP spid="54" grpId="0" animBg="1"/>
          <p:bldP spid="55" grpId="0" animBg="1"/>
          <p:bldP spid="56" grpId="0"/>
          <p:bldP spid="57" grpId="0"/>
          <p:bldP spid="59" grpId="0"/>
          <p:bldP spid="60" grpId="0"/>
          <p:bldP spid="61" grpId="0"/>
          <p:bldP spid="62" grpId="0"/>
          <p:bldP spid="69" grpId="0" animBg="1"/>
          <p:bldP spid="73" grpId="0"/>
          <p:bldP spid="74" grpId="0"/>
        </p:bldLst>
      </p:timing>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
          <p:cNvSpPr txBox="1"/>
          <p:nvPr/>
        </p:nvSpPr>
        <p:spPr>
          <a:xfrm>
            <a:off x="2309093" y="499547"/>
            <a:ext cx="4823280"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1.7SFTP</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远程文件管理</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8" name="Text Box 44"/>
          <p:cNvSpPr txBox="1">
            <a:spLocks noChangeArrowheads="1"/>
          </p:cNvSpPr>
          <p:nvPr/>
        </p:nvSpPr>
        <p:spPr bwMode="auto">
          <a:xfrm>
            <a:off x="5987439" y="1386686"/>
            <a:ext cx="5636713" cy="4524315"/>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en-US" altLang="zh-CN" sz="2400" dirty="0">
                <a:solidFill>
                  <a:srgbClr val="FF0000"/>
                </a:solidFill>
              </a:rPr>
              <a:t>SFTP</a:t>
            </a:r>
            <a:r>
              <a:rPr lang="zh-CN" altLang="zh-CN" sz="2400" dirty="0"/>
              <a:t>（</a:t>
            </a:r>
            <a:r>
              <a:rPr lang="en-US" altLang="zh-CN" sz="2400" dirty="0"/>
              <a:t>Secure File Transfer Protocol</a:t>
            </a:r>
            <a:r>
              <a:rPr lang="zh-CN" altLang="zh-CN" sz="2400" dirty="0"/>
              <a:t>，安全文件传送协议）是一种安全的</a:t>
            </a:r>
            <a:r>
              <a:rPr lang="zh-CN" altLang="zh-CN" sz="2400" dirty="0">
                <a:solidFill>
                  <a:srgbClr val="FF0000"/>
                </a:solidFill>
              </a:rPr>
              <a:t>远程文件传输</a:t>
            </a:r>
            <a:r>
              <a:rPr lang="zh-CN" altLang="zh-CN" sz="2400" dirty="0"/>
              <a:t>协议，和</a:t>
            </a:r>
            <a:r>
              <a:rPr lang="en-US" altLang="zh-CN" sz="2400" dirty="0"/>
              <a:t>SSH</a:t>
            </a:r>
            <a:r>
              <a:rPr lang="zh-CN" altLang="zh-CN" sz="2400" dirty="0"/>
              <a:t>协议类似，在传输过程中会进行加密。前面提到的</a:t>
            </a:r>
            <a:r>
              <a:rPr lang="en-US" altLang="zh-CN" sz="2400" dirty="0" err="1"/>
              <a:t>Xftp</a:t>
            </a:r>
            <a:r>
              <a:rPr lang="zh-CN" altLang="zh-CN" sz="2400" dirty="0"/>
              <a:t>就是一种</a:t>
            </a:r>
            <a:r>
              <a:rPr lang="en-US" altLang="zh-CN" sz="2400" dirty="0"/>
              <a:t>SFTP</a:t>
            </a:r>
            <a:r>
              <a:rPr lang="zh-CN" altLang="zh-CN" sz="2400" dirty="0"/>
              <a:t>的客户端，可以与</a:t>
            </a:r>
            <a:r>
              <a:rPr lang="en-US" altLang="zh-CN" sz="2400" dirty="0" err="1"/>
              <a:t>Xshell</a:t>
            </a:r>
            <a:r>
              <a:rPr lang="zh-CN" altLang="zh-CN" sz="2400" dirty="0"/>
              <a:t>配合一起使用。</a:t>
            </a:r>
            <a:endParaRPr lang="en-US" altLang="zh-CN" sz="2400" dirty="0">
              <a:solidFill>
                <a:srgbClr val="1353A2"/>
              </a:solidFill>
            </a:endParaRPr>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5687" y="1701688"/>
            <a:ext cx="5143500" cy="348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2784494" y="2552312"/>
            <a:ext cx="2159678" cy="2520280"/>
          </a:xfrm>
          <a:prstGeom prst="rect">
            <a:avLst/>
          </a:prstGeom>
          <a:solidFill>
            <a:schemeClr val="tx1">
              <a:lumMod val="50000"/>
              <a:lumOff val="50000"/>
            </a:schemeClr>
          </a:solidFill>
          <a:ln>
            <a:solidFill>
              <a:srgbClr val="1353A2"/>
            </a:solid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3" name="矩形 22"/>
          <p:cNvSpPr/>
          <p:nvPr/>
        </p:nvSpPr>
        <p:spPr>
          <a:xfrm>
            <a:off x="552827" y="2552312"/>
            <a:ext cx="2159678" cy="2520280"/>
          </a:xfrm>
          <a:prstGeom prst="rect">
            <a:avLst/>
          </a:prstGeom>
          <a:solidFill>
            <a:schemeClr val="tx1">
              <a:lumMod val="50000"/>
              <a:lumOff val="50000"/>
            </a:schemeClr>
          </a:solidFill>
          <a:ln>
            <a:solidFill>
              <a:srgbClr val="1353A2"/>
            </a:solidFill>
          </a:ln>
        </p:spPr>
        <p:style>
          <a:lnRef idx="1">
            <a:schemeClr val="dk1"/>
          </a:lnRef>
          <a:fillRef idx="3">
            <a:schemeClr val="dk1"/>
          </a:fillRef>
          <a:effectRef idx="2">
            <a:schemeClr val="dk1"/>
          </a:effectRef>
          <a:fontRef idx="minor">
            <a:schemeClr val="lt1"/>
          </a:fontRef>
        </p:style>
        <p:txBody>
          <a:bodyPr rtlCol="0" anchor="ctr"/>
          <a:lstStyle/>
          <a:p>
            <a:pPr algn="ctr"/>
            <a:endParaRPr lang="en-US">
              <a:solidFill>
                <a:srgbClr val="00B0F0"/>
              </a:solidFill>
            </a:endParaRPr>
          </a:p>
        </p:txBody>
      </p:sp>
      <p:sp>
        <p:nvSpPr>
          <p:cNvPr id="2" name="TextBox 1"/>
          <p:cNvSpPr txBox="1"/>
          <p:nvPr/>
        </p:nvSpPr>
        <p:spPr>
          <a:xfrm>
            <a:off x="2310384" y="501270"/>
            <a:ext cx="5735534"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1.7SFTP</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远程文件管理</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10" name="Circle Arrow"/>
          <p:cNvSpPr>
            <a:spLocks noEditPoints="1"/>
          </p:cNvSpPr>
          <p:nvPr/>
        </p:nvSpPr>
        <p:spPr bwMode="auto">
          <a:xfrm rot="5400000">
            <a:off x="10461200" y="1594735"/>
            <a:ext cx="631825" cy="630074"/>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lumMod val="20000"/>
              <a:lumOff val="80000"/>
            </a:srgbClr>
          </a:solidFill>
          <a:ln>
            <a:noFill/>
          </a:ln>
        </p:spPr>
        <p:txBody>
          <a:bodyPr lIns="68550" tIns="34276" rIns="68550" bIns="34276"/>
          <a:lstStyle/>
          <a:p>
            <a:pPr defTabSz="685800" fontAlgn="auto">
              <a:spcBef>
                <a:spcPts val="0"/>
              </a:spcBef>
              <a:spcAft>
                <a:spcPts val="0"/>
              </a:spcAft>
              <a:defRPr/>
            </a:pPr>
            <a:endParaRPr lang="en-US" sz="1400" kern="0" dirty="0">
              <a:solidFill>
                <a:srgbClr val="FFFFFF"/>
              </a:solidFill>
              <a:latin typeface="Segoe UI" panose="020B0502040204020203"/>
              <a:ea typeface="+mn-ea"/>
            </a:endParaRPr>
          </a:p>
        </p:txBody>
      </p:sp>
      <p:sp>
        <p:nvSpPr>
          <p:cNvPr id="17" name="文本框 16"/>
          <p:cNvSpPr txBox="1"/>
          <p:nvPr/>
        </p:nvSpPr>
        <p:spPr>
          <a:xfrm>
            <a:off x="624816" y="4333756"/>
            <a:ext cx="2087688" cy="584776"/>
          </a:xfrm>
          <a:prstGeom prst="rect">
            <a:avLst/>
          </a:prstGeom>
          <a:noFill/>
        </p:spPr>
        <p:txBody>
          <a:bodyPr wrap="square" rtlCol="0">
            <a:spAutoFit/>
          </a:bodyPr>
          <a:lstStyle/>
          <a:p>
            <a:pPr algn="ctr"/>
            <a:r>
              <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XFTP</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文本框 17"/>
          <p:cNvSpPr txBox="1"/>
          <p:nvPr/>
        </p:nvSpPr>
        <p:spPr>
          <a:xfrm>
            <a:off x="2851766" y="4358651"/>
            <a:ext cx="2087688" cy="584775"/>
          </a:xfrm>
          <a:prstGeom prst="rect">
            <a:avLst/>
          </a:prstGeom>
          <a:noFill/>
        </p:spPr>
        <p:txBody>
          <a:bodyPr wrap="square" rtlCol="0">
            <a:spAutoFit/>
          </a:bodyPr>
          <a:lstStyle/>
          <a:p>
            <a:pPr algn="ctr"/>
            <a:r>
              <a:rPr kumimoji="1" lang="en-US" altLang="zh-CN"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FileZilla</a:t>
            </a:r>
            <a:endParaRPr kumimoji="1" lang="zh-CN" altLang="en-US" sz="32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14"/>
          <p:cNvSpPr txBox="1"/>
          <p:nvPr/>
        </p:nvSpPr>
        <p:spPr>
          <a:xfrm>
            <a:off x="912774" y="1544201"/>
            <a:ext cx="3877985" cy="646331"/>
          </a:xfrm>
          <a:prstGeom prst="rect">
            <a:avLst/>
          </a:prstGeom>
          <a:noFill/>
        </p:spPr>
        <p:txBody>
          <a:bodyPr wrap="none" rtlCol="0">
            <a:spAutoFit/>
          </a:bodyPr>
          <a:lstStyle/>
          <a:p>
            <a:r>
              <a:rPr kumimoji="1" lang="zh-CN" altLang="en-US"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远程终端访问工具</a:t>
            </a:r>
            <a:endPar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Circle Arrow"/>
          <p:cNvSpPr>
            <a:spLocks noEditPoints="1"/>
          </p:cNvSpPr>
          <p:nvPr/>
        </p:nvSpPr>
        <p:spPr bwMode="auto">
          <a:xfrm rot="5400000">
            <a:off x="10622510" y="1594736"/>
            <a:ext cx="631825" cy="630074"/>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lumMod val="20000"/>
              <a:lumOff val="80000"/>
            </a:srgbClr>
          </a:solidFill>
          <a:ln>
            <a:noFill/>
          </a:ln>
        </p:spPr>
        <p:txBody>
          <a:bodyPr lIns="68550" tIns="34276" rIns="68550" bIns="34276"/>
          <a:lstStyle/>
          <a:p>
            <a:pPr defTabSz="685800" fontAlgn="auto">
              <a:spcBef>
                <a:spcPts val="0"/>
              </a:spcBef>
              <a:spcAft>
                <a:spcPts val="0"/>
              </a:spcAft>
              <a:defRPr/>
            </a:pPr>
            <a:endParaRPr lang="en-US" sz="1400" kern="0" dirty="0">
              <a:solidFill>
                <a:srgbClr val="FFFFFF"/>
              </a:solidFill>
              <a:latin typeface="Segoe UI" panose="020B0502040204020203"/>
              <a:ea typeface="+mn-ea"/>
            </a:endParaRPr>
          </a:p>
        </p:txBody>
      </p:sp>
      <p:pic>
        <p:nvPicPr>
          <p:cNvPr id="153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2929" y="2737332"/>
            <a:ext cx="1729577" cy="1558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3805" y="2717481"/>
            <a:ext cx="1561055" cy="1598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矩形 24"/>
          <p:cNvSpPr/>
          <p:nvPr/>
        </p:nvSpPr>
        <p:spPr>
          <a:xfrm>
            <a:off x="552827" y="1340998"/>
            <a:ext cx="11086344" cy="1052736"/>
          </a:xfrm>
          <a:prstGeom prst="rect">
            <a:avLst/>
          </a:prstGeom>
          <a:solidFill>
            <a:schemeClr val="tx1">
              <a:lumMod val="50000"/>
              <a:lumOff val="50000"/>
            </a:schemeClr>
          </a:solidFill>
          <a:ln>
            <a:solidFill>
              <a:srgbClr val="1353A2"/>
            </a:solid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3" name="文本框 14"/>
          <p:cNvSpPr txBox="1"/>
          <p:nvPr/>
        </p:nvSpPr>
        <p:spPr>
          <a:xfrm>
            <a:off x="1956617" y="1536947"/>
            <a:ext cx="3877985" cy="646331"/>
          </a:xfrm>
          <a:prstGeom prst="rect">
            <a:avLst/>
          </a:prstGeom>
          <a:noFill/>
        </p:spPr>
        <p:txBody>
          <a:bodyPr wrap="none" rtlCol="0">
            <a:spAutoFit/>
          </a:bodyPr>
          <a:lstStyle/>
          <a:p>
            <a:r>
              <a:rPr kumimoji="1" lang="zh-CN" altLang="en-US"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远程文件管理工具</a:t>
            </a:r>
            <a:endPar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 name="Circle Arrow"/>
          <p:cNvSpPr>
            <a:spLocks noEditPoints="1"/>
          </p:cNvSpPr>
          <p:nvPr/>
        </p:nvSpPr>
        <p:spPr bwMode="auto">
          <a:xfrm rot="2713309">
            <a:off x="1055877" y="1545076"/>
            <a:ext cx="631825" cy="630074"/>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FFFFFF">
              <a:lumMod val="20000"/>
              <a:lumOff val="80000"/>
            </a:srgbClr>
          </a:solidFill>
          <a:ln>
            <a:noFill/>
          </a:ln>
        </p:spPr>
        <p:txBody>
          <a:bodyPr lIns="68550" tIns="34276" rIns="68550" bIns="34276"/>
          <a:lstStyle/>
          <a:p>
            <a:pPr defTabSz="685800" fontAlgn="auto">
              <a:spcBef>
                <a:spcPts val="0"/>
              </a:spcBef>
              <a:spcAft>
                <a:spcPts val="0"/>
              </a:spcAft>
              <a:defRPr/>
            </a:pPr>
            <a:endParaRPr lang="en-US" sz="1400" kern="0" dirty="0">
              <a:solidFill>
                <a:srgbClr val="FFFFFF"/>
              </a:solidFill>
              <a:latin typeface="Segoe UI" panose="020B0502040204020203"/>
              <a:ea typeface="+mn-ea"/>
            </a:endParaRPr>
          </a:p>
        </p:txBody>
      </p:sp>
      <p:sp>
        <p:nvSpPr>
          <p:cNvPr id="36" name="Text Box 44"/>
          <p:cNvSpPr txBox="1">
            <a:spLocks noChangeArrowheads="1"/>
          </p:cNvSpPr>
          <p:nvPr/>
        </p:nvSpPr>
        <p:spPr bwMode="auto">
          <a:xfrm>
            <a:off x="5616747" y="2764096"/>
            <a:ext cx="5636713" cy="15696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a:lnSpc>
                <a:spcPct val="200000"/>
              </a:lnSpc>
            </a:pPr>
            <a:r>
              <a:rPr lang="en-US" altLang="zh-CN" sz="2400" dirty="0">
                <a:solidFill>
                  <a:srgbClr val="1353A2"/>
                </a:solidFill>
              </a:rPr>
              <a:t>XFTP</a:t>
            </a:r>
            <a:r>
              <a:rPr lang="zh-CN" altLang="en-US" sz="2400" dirty="0">
                <a:solidFill>
                  <a:srgbClr val="1353A2"/>
                </a:solidFill>
              </a:rPr>
              <a:t>、</a:t>
            </a:r>
            <a:r>
              <a:rPr lang="en-US" altLang="zh-CN" sz="2400" dirty="0">
                <a:solidFill>
                  <a:srgbClr val="1353A2"/>
                </a:solidFill>
              </a:rPr>
              <a:t>FileZilla</a:t>
            </a:r>
            <a:r>
              <a:rPr lang="zh-CN" altLang="en-US" sz="2400" dirty="0">
                <a:solidFill>
                  <a:srgbClr val="1353A2"/>
                </a:solidFill>
              </a:rPr>
              <a:t>是常用的远程文件管理工具。</a:t>
            </a:r>
            <a:endParaRPr lang="en-US" altLang="zh-CN" sz="2400" dirty="0">
              <a:solidFill>
                <a:srgbClr val="1353A2"/>
              </a:solidFill>
            </a:endParaRPr>
          </a:p>
        </p:txBody>
      </p:sp>
      <p:sp>
        <p:nvSpPr>
          <p:cNvPr id="3" name="文本框 2"/>
          <p:cNvSpPr txBox="1"/>
          <p:nvPr/>
        </p:nvSpPr>
        <p:spPr>
          <a:xfrm>
            <a:off x="1036284" y="6480957"/>
            <a:ext cx="9888022" cy="369332"/>
          </a:xfrm>
          <a:prstGeom prst="rect">
            <a:avLst/>
          </a:prstGeom>
          <a:noFill/>
        </p:spPr>
        <p:txBody>
          <a:bodyPr wrap="square">
            <a:spAutoFit/>
          </a:bodyPr>
          <a:lstStyle/>
          <a:p>
            <a:r>
              <a:rPr lang="en-US" altLang="zh-CN" dirty="0" err="1">
                <a:solidFill>
                  <a:schemeClr val="bg1">
                    <a:lumMod val="95000"/>
                  </a:schemeClr>
                </a:solidFill>
              </a:rPr>
              <a:t>Xftp</a:t>
            </a:r>
            <a:r>
              <a:rPr lang="en-US" altLang="zh-CN" dirty="0">
                <a:solidFill>
                  <a:schemeClr val="bg1">
                    <a:lumMod val="95000"/>
                  </a:schemeClr>
                </a:solidFill>
              </a:rPr>
              <a:t> 7</a:t>
            </a:r>
            <a:r>
              <a:rPr lang="zh-CN" altLang="en-US" dirty="0">
                <a:solidFill>
                  <a:schemeClr val="bg1">
                    <a:lumMod val="95000"/>
                  </a:schemeClr>
                </a:solidFill>
              </a:rPr>
              <a:t>百度网盘下载链接：</a:t>
            </a:r>
            <a:r>
              <a:rPr lang="en-US" altLang="zh-CN" dirty="0">
                <a:solidFill>
                  <a:schemeClr val="bg1">
                    <a:lumMod val="95000"/>
                  </a:schemeClr>
                </a:solidFill>
              </a:rPr>
              <a:t>https://pan.baidu.com/s/1DkIaJERKf7iVJ7j5sFrp1w? </a:t>
            </a:r>
            <a:r>
              <a:rPr lang="zh-CN" altLang="en-US" dirty="0">
                <a:solidFill>
                  <a:schemeClr val="bg1">
                    <a:lumMod val="95000"/>
                  </a:schemeClr>
                </a:solidFill>
              </a:rPr>
              <a:t>提取码：</a:t>
            </a:r>
            <a:r>
              <a:rPr lang="en-US" altLang="zh-CN" dirty="0">
                <a:solidFill>
                  <a:schemeClr val="bg1">
                    <a:lumMod val="95000"/>
                  </a:schemeClr>
                </a:solidFill>
              </a:rPr>
              <a:t>1234</a:t>
            </a:r>
            <a:endParaRPr lang="zh-CN" altLang="en-US" dirty="0">
              <a:solidFill>
                <a:schemeClr val="bg1">
                  <a:lumMod val="95000"/>
                </a:schemeClr>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542620" y="2466334"/>
            <a:ext cx="6470983" cy="3937202"/>
          </a:xfrm>
          <a:prstGeom prst="rect">
            <a:avLst/>
          </a:prstGeom>
        </p:spPr>
      </p:pic>
      <p:sp>
        <p:nvSpPr>
          <p:cNvPr id="2" name="TextBox 1"/>
          <p:cNvSpPr txBox="1"/>
          <p:nvPr/>
        </p:nvSpPr>
        <p:spPr>
          <a:xfrm>
            <a:off x="2310384" y="501270"/>
            <a:ext cx="5735534" cy="584776"/>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kern="1200" dirty="0">
                <a:solidFill>
                  <a:srgbClr val="1353A2"/>
                </a:solidFill>
                <a:latin typeface="微软雅黑" panose="020B0503020204020204" pitchFamily="34" charset="-122"/>
                <a:ea typeface="微软雅黑" panose="020B0503020204020204" pitchFamily="34" charset="-122"/>
                <a:cs typeface="+mn-cs"/>
              </a:rPr>
              <a:t>1.7SFTP</a:t>
            </a:r>
            <a:r>
              <a:rPr lang="zh-CN" altLang="en-US" sz="3200" kern="1200" dirty="0">
                <a:solidFill>
                  <a:srgbClr val="1353A2"/>
                </a:solidFill>
                <a:latin typeface="微软雅黑" panose="020B0503020204020204" pitchFamily="34" charset="-122"/>
                <a:ea typeface="微软雅黑" panose="020B0503020204020204" pitchFamily="34" charset="-122"/>
                <a:cs typeface="+mn-cs"/>
              </a:rPr>
              <a:t>远程文件管理</a:t>
            </a:r>
            <a:endParaRPr lang="zh-CN" altLang="en-US" sz="3200" kern="1200" dirty="0">
              <a:solidFill>
                <a:srgbClr val="1353A2"/>
              </a:solidFill>
              <a:latin typeface="微软雅黑" panose="020B0503020204020204" pitchFamily="34" charset="-122"/>
              <a:ea typeface="微软雅黑" panose="020B0503020204020204" pitchFamily="34" charset="-122"/>
              <a:cs typeface="+mn-cs"/>
            </a:endParaRPr>
          </a:p>
        </p:txBody>
      </p:sp>
      <p:sp>
        <p:nvSpPr>
          <p:cNvPr id="20" name="文本框 14"/>
          <p:cNvSpPr txBox="1"/>
          <p:nvPr/>
        </p:nvSpPr>
        <p:spPr>
          <a:xfrm>
            <a:off x="912774" y="1544201"/>
            <a:ext cx="1540806" cy="646331"/>
          </a:xfrm>
          <a:prstGeom prst="rect">
            <a:avLst/>
          </a:prstGeom>
          <a:noFill/>
        </p:spPr>
        <p:txBody>
          <a:bodyPr wrap="none" rtlCol="0">
            <a:spAutoFit/>
          </a:bodyPr>
          <a:lstStyle/>
          <a:p>
            <a:r>
              <a:rPr kumimoji="1" lang="en-US" altLang="zh-CN" sz="360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XShell</a:t>
            </a:r>
            <a:endPar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矩形 20"/>
          <p:cNvSpPr/>
          <p:nvPr/>
        </p:nvSpPr>
        <p:spPr>
          <a:xfrm>
            <a:off x="618370" y="1247739"/>
            <a:ext cx="2129613" cy="1052736"/>
          </a:xfrm>
          <a:prstGeom prst="rect">
            <a:avLst/>
          </a:prstGeom>
          <a:solidFill>
            <a:srgbClr val="1353A2"/>
          </a:solidFill>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2" name="文本框 14"/>
          <p:cNvSpPr txBox="1"/>
          <p:nvPr/>
        </p:nvSpPr>
        <p:spPr>
          <a:xfrm>
            <a:off x="1012982" y="1450941"/>
            <a:ext cx="1278107" cy="646331"/>
          </a:xfrm>
          <a:prstGeom prst="rect">
            <a:avLst/>
          </a:prstGeom>
          <a:noFill/>
        </p:spPr>
        <p:txBody>
          <a:bodyPr wrap="none" rtlCol="0">
            <a:spAutoFit/>
          </a:bodyPr>
          <a:lstStyle/>
          <a:p>
            <a:r>
              <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XFTP</a:t>
            </a:r>
            <a:endParaRPr kumimoji="1"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2848190" y="1544200"/>
            <a:ext cx="8330827" cy="44358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8"/>
          <p:cNvGrpSpPr/>
          <p:nvPr/>
        </p:nvGrpSpPr>
        <p:grpSpPr>
          <a:xfrm rot="18087484">
            <a:off x="2739771" y="2546690"/>
            <a:ext cx="313548" cy="626933"/>
            <a:chOff x="6660232" y="483518"/>
            <a:chExt cx="432048" cy="864096"/>
          </a:xfrm>
        </p:grpSpPr>
        <p:sp>
          <p:nvSpPr>
            <p:cNvPr id="16" name="等腰三角形 15"/>
            <p:cNvSpPr/>
            <p:nvPr/>
          </p:nvSpPr>
          <p:spPr>
            <a:xfrm rot="10800000">
              <a:off x="6660232" y="699542"/>
              <a:ext cx="432048" cy="648072"/>
            </a:xfrm>
            <a:prstGeom prst="triangle">
              <a:avLst/>
            </a:prstGeom>
            <a:solidFill>
              <a:srgbClr val="B86E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7" name="等腰三角形 16"/>
            <p:cNvSpPr/>
            <p:nvPr/>
          </p:nvSpPr>
          <p:spPr>
            <a:xfrm>
              <a:off x="6660232" y="483518"/>
              <a:ext cx="432048" cy="216024"/>
            </a:xfrm>
            <a:prstGeom prst="triangle">
              <a:avLst>
                <a:gd name="adj" fmla="val 63228"/>
              </a:avLst>
            </a:prstGeom>
            <a:solidFill>
              <a:srgbClr val="6F32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18" name="组合 21"/>
          <p:cNvGrpSpPr/>
          <p:nvPr/>
        </p:nvGrpSpPr>
        <p:grpSpPr>
          <a:xfrm rot="12676450">
            <a:off x="5028875" y="5248224"/>
            <a:ext cx="188576" cy="377250"/>
            <a:chOff x="6660232" y="483518"/>
            <a:chExt cx="432048" cy="864096"/>
          </a:xfrm>
        </p:grpSpPr>
        <p:sp>
          <p:nvSpPr>
            <p:cNvPr id="19" name="等腰三角形 18"/>
            <p:cNvSpPr/>
            <p:nvPr/>
          </p:nvSpPr>
          <p:spPr>
            <a:xfrm rot="10800000">
              <a:off x="6660232" y="699542"/>
              <a:ext cx="432048" cy="648072"/>
            </a:xfrm>
            <a:prstGeom prst="triangle">
              <a:avLst/>
            </a:prstGeom>
            <a:solidFill>
              <a:srgbClr val="B86E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0" name="等腰三角形 19"/>
            <p:cNvSpPr/>
            <p:nvPr/>
          </p:nvSpPr>
          <p:spPr>
            <a:xfrm>
              <a:off x="6660232" y="483518"/>
              <a:ext cx="432048" cy="216024"/>
            </a:xfrm>
            <a:prstGeom prst="triangle">
              <a:avLst>
                <a:gd name="adj" fmla="val 63228"/>
              </a:avLst>
            </a:prstGeom>
            <a:solidFill>
              <a:srgbClr val="6F32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24" name="组合 27"/>
          <p:cNvGrpSpPr/>
          <p:nvPr/>
        </p:nvGrpSpPr>
        <p:grpSpPr>
          <a:xfrm rot="20465634">
            <a:off x="5427304" y="1591546"/>
            <a:ext cx="99851" cy="199754"/>
            <a:chOff x="6660232" y="483518"/>
            <a:chExt cx="432048" cy="864096"/>
          </a:xfrm>
        </p:grpSpPr>
        <p:sp>
          <p:nvSpPr>
            <p:cNvPr id="25" name="等腰三角形 24"/>
            <p:cNvSpPr/>
            <p:nvPr/>
          </p:nvSpPr>
          <p:spPr>
            <a:xfrm rot="10800000">
              <a:off x="6660232" y="699542"/>
              <a:ext cx="432048" cy="648072"/>
            </a:xfrm>
            <a:prstGeom prst="triangle">
              <a:avLst/>
            </a:prstGeom>
            <a:solidFill>
              <a:srgbClr val="45D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6" name="等腰三角形 25"/>
            <p:cNvSpPr/>
            <p:nvPr/>
          </p:nvSpPr>
          <p:spPr>
            <a:xfrm>
              <a:off x="6660232" y="483518"/>
              <a:ext cx="432048" cy="216024"/>
            </a:xfrm>
            <a:prstGeom prst="triangle">
              <a:avLst>
                <a:gd name="adj" fmla="val 63228"/>
              </a:avLst>
            </a:prstGeom>
            <a:solidFill>
              <a:srgbClr val="00B0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27" name="组合 30"/>
          <p:cNvGrpSpPr/>
          <p:nvPr/>
        </p:nvGrpSpPr>
        <p:grpSpPr>
          <a:xfrm rot="16914716">
            <a:off x="3478357" y="3392275"/>
            <a:ext cx="194279" cy="388456"/>
            <a:chOff x="6660232" y="483518"/>
            <a:chExt cx="432048" cy="864096"/>
          </a:xfrm>
        </p:grpSpPr>
        <p:sp>
          <p:nvSpPr>
            <p:cNvPr id="28" name="等腰三角形 27"/>
            <p:cNvSpPr/>
            <p:nvPr/>
          </p:nvSpPr>
          <p:spPr>
            <a:xfrm rot="10800000">
              <a:off x="6660232" y="699542"/>
              <a:ext cx="432048" cy="648072"/>
            </a:xfrm>
            <a:prstGeom prst="triangle">
              <a:avLst/>
            </a:prstGeom>
            <a:solidFill>
              <a:srgbClr val="FEA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9" name="等腰三角形 28"/>
            <p:cNvSpPr/>
            <p:nvPr/>
          </p:nvSpPr>
          <p:spPr>
            <a:xfrm>
              <a:off x="6660232" y="483518"/>
              <a:ext cx="432048" cy="216024"/>
            </a:xfrm>
            <a:prstGeom prst="triangle">
              <a:avLst>
                <a:gd name="adj" fmla="val 63963"/>
              </a:avLst>
            </a:prstGeom>
            <a:solidFill>
              <a:srgbClr val="BF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30" name="组合 33"/>
          <p:cNvGrpSpPr/>
          <p:nvPr/>
        </p:nvGrpSpPr>
        <p:grpSpPr>
          <a:xfrm rot="13948803">
            <a:off x="906343" y="4633954"/>
            <a:ext cx="287684" cy="575217"/>
            <a:chOff x="6660232" y="483518"/>
            <a:chExt cx="432048" cy="864096"/>
          </a:xfrm>
        </p:grpSpPr>
        <p:sp>
          <p:nvSpPr>
            <p:cNvPr id="31" name="等腰三角形 30"/>
            <p:cNvSpPr/>
            <p:nvPr/>
          </p:nvSpPr>
          <p:spPr>
            <a:xfrm rot="10800000">
              <a:off x="6660232" y="699542"/>
              <a:ext cx="432048" cy="648072"/>
            </a:xfrm>
            <a:prstGeom prst="triangle">
              <a:avLst/>
            </a:prstGeom>
            <a:solidFill>
              <a:srgbClr val="FEA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2" name="等腰三角形 31"/>
            <p:cNvSpPr/>
            <p:nvPr/>
          </p:nvSpPr>
          <p:spPr>
            <a:xfrm>
              <a:off x="6660232" y="483518"/>
              <a:ext cx="432048" cy="216024"/>
            </a:xfrm>
            <a:prstGeom prst="triangle">
              <a:avLst>
                <a:gd name="adj" fmla="val 63963"/>
              </a:avLst>
            </a:prstGeom>
            <a:solidFill>
              <a:srgbClr val="BF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33" name="组合 36"/>
          <p:cNvGrpSpPr/>
          <p:nvPr/>
        </p:nvGrpSpPr>
        <p:grpSpPr>
          <a:xfrm rot="13953194">
            <a:off x="2464585" y="4392860"/>
            <a:ext cx="274805" cy="549466"/>
            <a:chOff x="6660232" y="483518"/>
            <a:chExt cx="432048" cy="864096"/>
          </a:xfrm>
        </p:grpSpPr>
        <p:sp>
          <p:nvSpPr>
            <p:cNvPr id="34" name="等腰三角形 33"/>
            <p:cNvSpPr/>
            <p:nvPr/>
          </p:nvSpPr>
          <p:spPr>
            <a:xfrm rot="10800000">
              <a:off x="6660232" y="699542"/>
              <a:ext cx="432048" cy="648072"/>
            </a:xfrm>
            <a:prstGeom prst="triangle">
              <a:avLst/>
            </a:prstGeom>
            <a:solidFill>
              <a:srgbClr val="3EDD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 name="等腰三角形 34"/>
            <p:cNvSpPr/>
            <p:nvPr/>
          </p:nvSpPr>
          <p:spPr>
            <a:xfrm>
              <a:off x="6660232" y="483518"/>
              <a:ext cx="432048" cy="216024"/>
            </a:xfrm>
            <a:prstGeom prst="triangle">
              <a:avLst>
                <a:gd name="adj" fmla="val 58818"/>
              </a:avLst>
            </a:prstGeom>
            <a:solidFill>
              <a:srgbClr val="05B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36" name="组合 39"/>
          <p:cNvGrpSpPr/>
          <p:nvPr/>
        </p:nvGrpSpPr>
        <p:grpSpPr>
          <a:xfrm rot="19166967">
            <a:off x="3295492" y="1914864"/>
            <a:ext cx="139828" cy="279727"/>
            <a:chOff x="6660232" y="483518"/>
            <a:chExt cx="432048" cy="864096"/>
          </a:xfrm>
        </p:grpSpPr>
        <p:sp>
          <p:nvSpPr>
            <p:cNvPr id="37" name="等腰三角形 36"/>
            <p:cNvSpPr/>
            <p:nvPr/>
          </p:nvSpPr>
          <p:spPr>
            <a:xfrm rot="10800000">
              <a:off x="6660232" y="699542"/>
              <a:ext cx="432048" cy="648072"/>
            </a:xfrm>
            <a:prstGeom prst="triangle">
              <a:avLst/>
            </a:prstGeom>
            <a:solidFill>
              <a:srgbClr val="3EDD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8" name="等腰三角形 37"/>
            <p:cNvSpPr/>
            <p:nvPr/>
          </p:nvSpPr>
          <p:spPr>
            <a:xfrm>
              <a:off x="6660232" y="483518"/>
              <a:ext cx="432048" cy="216024"/>
            </a:xfrm>
            <a:prstGeom prst="triangle">
              <a:avLst>
                <a:gd name="adj" fmla="val 58818"/>
              </a:avLst>
            </a:prstGeom>
            <a:solidFill>
              <a:srgbClr val="05B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sp>
        <p:nvSpPr>
          <p:cNvPr id="51" name="等腰三角形 50"/>
          <p:cNvSpPr/>
          <p:nvPr/>
        </p:nvSpPr>
        <p:spPr>
          <a:xfrm rot="6229131">
            <a:off x="3474683" y="2475896"/>
            <a:ext cx="111867" cy="173792"/>
          </a:xfrm>
          <a:prstGeom prst="triangle">
            <a:avLst/>
          </a:prstGeom>
          <a:solidFill>
            <a:srgbClr val="BF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2" name="等腰三角形 51"/>
          <p:cNvSpPr/>
          <p:nvPr/>
        </p:nvSpPr>
        <p:spPr>
          <a:xfrm rot="7496882">
            <a:off x="3731670" y="1699838"/>
            <a:ext cx="107837" cy="167531"/>
          </a:xfrm>
          <a:prstGeom prst="triangle">
            <a:avLst>
              <a:gd name="adj" fmla="val 35756"/>
            </a:avLst>
          </a:prstGeom>
          <a:solidFill>
            <a:srgbClr val="EF5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3" name="等腰三角形 52"/>
          <p:cNvSpPr/>
          <p:nvPr/>
        </p:nvSpPr>
        <p:spPr>
          <a:xfrm rot="7278906">
            <a:off x="2592230" y="1885474"/>
            <a:ext cx="198348" cy="308146"/>
          </a:xfrm>
          <a:prstGeom prst="triangle">
            <a:avLst>
              <a:gd name="adj" fmla="val 35756"/>
            </a:avLst>
          </a:prstGeom>
          <a:solidFill>
            <a:srgbClr val="45D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4" name="等腰三角形 53"/>
          <p:cNvSpPr/>
          <p:nvPr/>
        </p:nvSpPr>
        <p:spPr>
          <a:xfrm rot="1068765">
            <a:off x="2948935" y="3869120"/>
            <a:ext cx="156890" cy="135285"/>
          </a:xfrm>
          <a:prstGeom prst="triangle">
            <a:avLst/>
          </a:prstGeom>
          <a:solidFill>
            <a:srgbClr val="00B0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5" name="等腰三角形 54"/>
          <p:cNvSpPr/>
          <p:nvPr/>
        </p:nvSpPr>
        <p:spPr>
          <a:xfrm rot="17959049">
            <a:off x="4422158" y="4602010"/>
            <a:ext cx="156931" cy="135250"/>
          </a:xfrm>
          <a:prstGeom prst="triangle">
            <a:avLst/>
          </a:prstGeom>
          <a:solidFill>
            <a:srgbClr val="3EDD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6" name="等腰三角形 55"/>
          <p:cNvSpPr/>
          <p:nvPr/>
        </p:nvSpPr>
        <p:spPr>
          <a:xfrm rot="4382759">
            <a:off x="3095593" y="5009675"/>
            <a:ext cx="146369" cy="227393"/>
          </a:xfrm>
          <a:prstGeom prst="triangle">
            <a:avLst>
              <a:gd name="adj" fmla="val 35756"/>
            </a:avLst>
          </a:prstGeom>
          <a:solidFill>
            <a:srgbClr val="EF5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7" name="等腰三角形 56"/>
          <p:cNvSpPr/>
          <p:nvPr/>
        </p:nvSpPr>
        <p:spPr>
          <a:xfrm rot="2697357">
            <a:off x="3950026" y="5441071"/>
            <a:ext cx="121153" cy="188317"/>
          </a:xfrm>
          <a:prstGeom prst="triangle">
            <a:avLst/>
          </a:prstGeom>
          <a:solidFill>
            <a:srgbClr val="FEA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8" name="等腰三角形 57"/>
          <p:cNvSpPr/>
          <p:nvPr/>
        </p:nvSpPr>
        <p:spPr>
          <a:xfrm rot="3556479">
            <a:off x="3959493" y="4040850"/>
            <a:ext cx="127727" cy="198431"/>
          </a:xfrm>
          <a:prstGeom prst="triangle">
            <a:avLst/>
          </a:prstGeom>
          <a:solidFill>
            <a:srgbClr val="B86E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61" name="直接连接符 68"/>
          <p:cNvCxnSpPr/>
          <p:nvPr/>
        </p:nvCxnSpPr>
        <p:spPr>
          <a:xfrm flipH="1">
            <a:off x="1525190" y="1070746"/>
            <a:ext cx="1223817" cy="1224136"/>
          </a:xfrm>
          <a:prstGeom prst="line">
            <a:avLst/>
          </a:prstGeom>
          <a:ln>
            <a:solidFill>
              <a:srgbClr val="EF5464"/>
            </a:solidFill>
          </a:ln>
        </p:spPr>
        <p:style>
          <a:lnRef idx="1">
            <a:schemeClr val="accent1"/>
          </a:lnRef>
          <a:fillRef idx="0">
            <a:schemeClr val="accent1"/>
          </a:fillRef>
          <a:effectRef idx="0">
            <a:schemeClr val="accent1"/>
          </a:effectRef>
          <a:fontRef idx="minor">
            <a:schemeClr val="tx1"/>
          </a:fontRef>
        </p:style>
      </p:cxnSp>
      <p:cxnSp>
        <p:nvCxnSpPr>
          <p:cNvPr id="62" name="直接连接符 69"/>
          <p:cNvCxnSpPr/>
          <p:nvPr/>
        </p:nvCxnSpPr>
        <p:spPr>
          <a:xfrm flipH="1">
            <a:off x="7852899" y="1023764"/>
            <a:ext cx="1474501" cy="1463953"/>
          </a:xfrm>
          <a:prstGeom prst="line">
            <a:avLst/>
          </a:prstGeom>
          <a:ln>
            <a:solidFill>
              <a:srgbClr val="B86EE1"/>
            </a:solidFill>
          </a:ln>
        </p:spPr>
        <p:style>
          <a:lnRef idx="1">
            <a:schemeClr val="accent1"/>
          </a:lnRef>
          <a:fillRef idx="0">
            <a:schemeClr val="accent1"/>
          </a:fillRef>
          <a:effectRef idx="0">
            <a:schemeClr val="accent1"/>
          </a:effectRef>
          <a:fontRef idx="minor">
            <a:schemeClr val="tx1"/>
          </a:fontRef>
        </p:style>
      </p:cxnSp>
      <p:cxnSp>
        <p:nvCxnSpPr>
          <p:cNvPr id="64" name="直接连接符 72"/>
          <p:cNvCxnSpPr/>
          <p:nvPr/>
        </p:nvCxnSpPr>
        <p:spPr>
          <a:xfrm flipH="1">
            <a:off x="1722905" y="4773360"/>
            <a:ext cx="1474501" cy="1463953"/>
          </a:xfrm>
          <a:prstGeom prst="line">
            <a:avLst/>
          </a:prstGeom>
          <a:ln>
            <a:solidFill>
              <a:srgbClr val="45D494"/>
            </a:solidFill>
          </a:ln>
        </p:spPr>
        <p:style>
          <a:lnRef idx="1">
            <a:schemeClr val="accent1"/>
          </a:lnRef>
          <a:fillRef idx="0">
            <a:schemeClr val="accent1"/>
          </a:fillRef>
          <a:effectRef idx="0">
            <a:schemeClr val="accent1"/>
          </a:effectRef>
          <a:fontRef idx="minor">
            <a:schemeClr val="tx1"/>
          </a:fontRef>
        </p:style>
      </p:cxnSp>
      <p:sp>
        <p:nvSpPr>
          <p:cNvPr id="66" name="TextBox 1"/>
          <p:cNvSpPr txBox="1"/>
          <p:nvPr/>
        </p:nvSpPr>
        <p:spPr>
          <a:xfrm>
            <a:off x="2319338" y="500143"/>
            <a:ext cx="5903119" cy="584776"/>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dirty="0">
                <a:solidFill>
                  <a:srgbClr val="1353A2"/>
                </a:solidFill>
                <a:latin typeface="微软雅黑" panose="020B0503020204020204" pitchFamily="34" charset="-122"/>
                <a:ea typeface="微软雅黑" panose="020B0503020204020204" pitchFamily="34" charset="-122"/>
              </a:rPr>
              <a:t>1.8</a:t>
            </a:r>
            <a:r>
              <a:rPr lang="zh-CN" altLang="en-US" sz="3200" dirty="0">
                <a:solidFill>
                  <a:srgbClr val="1353A2"/>
                </a:solidFill>
                <a:latin typeface="微软雅黑" panose="020B0503020204020204" pitchFamily="34" charset="-122"/>
                <a:ea typeface="微软雅黑" panose="020B0503020204020204" pitchFamily="34" charset="-122"/>
              </a:rPr>
              <a:t>本章小结</a:t>
            </a:r>
            <a:endParaRPr lang="zh-CN" altLang="en-US" sz="3200" dirty="0">
              <a:solidFill>
                <a:srgbClr val="1353A2"/>
              </a:solidFill>
              <a:latin typeface="微软雅黑" panose="020B0503020204020204" pitchFamily="34" charset="-122"/>
              <a:ea typeface="微软雅黑" panose="020B0503020204020204" pitchFamily="34" charset="-122"/>
            </a:endParaRPr>
          </a:p>
        </p:txBody>
      </p:sp>
      <p:sp>
        <p:nvSpPr>
          <p:cNvPr id="67" name="矩形 66"/>
          <p:cNvSpPr/>
          <p:nvPr/>
        </p:nvSpPr>
        <p:spPr>
          <a:xfrm>
            <a:off x="4783445" y="1266483"/>
            <a:ext cx="6918379" cy="5013039"/>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en-US" sz="2400" dirty="0">
                <a:solidFill>
                  <a:srgbClr val="1353A2"/>
                </a:solidFill>
                <a:latin typeface="微软雅黑" panose="020B0503020204020204" pitchFamily="34" charset="-122"/>
                <a:ea typeface="微软雅黑" panose="020B0503020204020204" pitchFamily="34" charset="-122"/>
              </a:rPr>
              <a:t>本章首先介绍了</a:t>
            </a:r>
            <a:r>
              <a:rPr lang="en-US" altLang="zh-CN" sz="2400" dirty="0">
                <a:solidFill>
                  <a:srgbClr val="1353A2"/>
                </a:solidFill>
                <a:latin typeface="微软雅黑" panose="020B0503020204020204" pitchFamily="34" charset="-122"/>
                <a:ea typeface="微软雅黑" panose="020B0503020204020204" pitchFamily="34" charset="-122"/>
              </a:rPr>
              <a:t>Linux</a:t>
            </a:r>
            <a:r>
              <a:rPr lang="zh-CN" altLang="en-US" sz="2400" dirty="0">
                <a:solidFill>
                  <a:srgbClr val="1353A2"/>
                </a:solidFill>
                <a:latin typeface="微软雅黑" panose="020B0503020204020204" pitchFamily="34" charset="-122"/>
                <a:ea typeface="微软雅黑" panose="020B0503020204020204" pitchFamily="34" charset="-122"/>
              </a:rPr>
              <a:t>操作系统的背景，包括</a:t>
            </a:r>
            <a:r>
              <a:rPr lang="en-US" altLang="zh-CN" sz="2400" dirty="0">
                <a:solidFill>
                  <a:srgbClr val="1353A2"/>
                </a:solidFill>
                <a:latin typeface="微软雅黑" panose="020B0503020204020204" pitchFamily="34" charset="-122"/>
                <a:ea typeface="微软雅黑" panose="020B0503020204020204" pitchFamily="34" charset="-122"/>
              </a:rPr>
              <a:t>Linux</a:t>
            </a:r>
            <a:r>
              <a:rPr lang="zh-CN" altLang="en-US" sz="2400" dirty="0">
                <a:solidFill>
                  <a:srgbClr val="1353A2"/>
                </a:solidFill>
                <a:latin typeface="微软雅黑" panose="020B0503020204020204" pitchFamily="34" charset="-122"/>
                <a:ea typeface="微软雅黑" panose="020B0503020204020204" pitchFamily="34" charset="-122"/>
              </a:rPr>
              <a:t>系统的</a:t>
            </a:r>
            <a:r>
              <a:rPr lang="zh-CN" altLang="en-US" sz="2400" dirty="0">
                <a:solidFill>
                  <a:srgbClr val="00B0F0"/>
                </a:solidFill>
                <a:latin typeface="微软雅黑" panose="020B0503020204020204" pitchFamily="34" charset="-122"/>
                <a:ea typeface="微软雅黑" panose="020B0503020204020204" pitchFamily="34" charset="-122"/>
              </a:rPr>
              <a:t>起源与发展、系统版本、应用领域</a:t>
            </a:r>
            <a:r>
              <a:rPr lang="zh-CN" altLang="en-US" sz="2400" dirty="0">
                <a:solidFill>
                  <a:srgbClr val="1353A2"/>
                </a:solidFill>
                <a:latin typeface="微软雅黑" panose="020B0503020204020204" pitchFamily="34" charset="-122"/>
                <a:ea typeface="微软雅黑" panose="020B0503020204020204" pitchFamily="34" charset="-122"/>
              </a:rPr>
              <a:t>等；</a:t>
            </a:r>
            <a:endParaRPr lang="en-US" altLang="zh-CN" sz="2400" dirty="0">
              <a:solidFill>
                <a:srgbClr val="1353A2"/>
              </a:solidFill>
              <a:latin typeface="微软雅黑" panose="020B0503020204020204" pitchFamily="34" charset="-122"/>
              <a:ea typeface="微软雅黑" panose="020B0503020204020204" pitchFamily="34" charset="-122"/>
            </a:endParaRPr>
          </a:p>
          <a:p>
            <a:pPr indent="457200" defTabSz="720725">
              <a:lnSpc>
                <a:spcPct val="150000"/>
              </a:lnSpc>
            </a:pPr>
            <a:r>
              <a:rPr lang="zh-CN" altLang="en-US" sz="2400" dirty="0">
                <a:solidFill>
                  <a:srgbClr val="1353A2"/>
                </a:solidFill>
                <a:latin typeface="微软雅黑" panose="020B0503020204020204" pitchFamily="34" charset="-122"/>
                <a:ea typeface="微软雅黑" panose="020B0503020204020204" pitchFamily="34" charset="-122"/>
              </a:rPr>
              <a:t>其次展示了在虚拟机中</a:t>
            </a:r>
            <a:r>
              <a:rPr lang="zh-CN" altLang="en-US" sz="2400" dirty="0">
                <a:solidFill>
                  <a:srgbClr val="FF0000"/>
                </a:solidFill>
                <a:latin typeface="微软雅黑" panose="020B0503020204020204" pitchFamily="34" charset="-122"/>
                <a:ea typeface="微软雅黑" panose="020B0503020204020204" pitchFamily="34" charset="-122"/>
              </a:rPr>
              <a:t>搭建</a:t>
            </a:r>
            <a:r>
              <a:rPr lang="en-US" altLang="zh-CN" sz="2400" dirty="0">
                <a:solidFill>
                  <a:srgbClr val="FF0000"/>
                </a:solidFill>
                <a:latin typeface="微软雅黑" panose="020B0503020204020204" pitchFamily="34" charset="-122"/>
                <a:ea typeface="微软雅黑" panose="020B0503020204020204" pitchFamily="34" charset="-122"/>
              </a:rPr>
              <a:t>Linux</a:t>
            </a:r>
            <a:r>
              <a:rPr lang="zh-CN" altLang="en-US" sz="2400" dirty="0">
                <a:solidFill>
                  <a:srgbClr val="FF0000"/>
                </a:solidFill>
                <a:latin typeface="微软雅黑" panose="020B0503020204020204" pitchFamily="34" charset="-122"/>
                <a:ea typeface="微软雅黑" panose="020B0503020204020204" pitchFamily="34" charset="-122"/>
              </a:rPr>
              <a:t>操作系统、配置网络</a:t>
            </a:r>
            <a:r>
              <a:rPr lang="zh-CN" altLang="en-US" sz="2400" dirty="0">
                <a:solidFill>
                  <a:srgbClr val="1353A2"/>
                </a:solidFill>
                <a:latin typeface="微软雅黑" panose="020B0503020204020204" pitchFamily="34" charset="-122"/>
                <a:ea typeface="微软雅黑" panose="020B0503020204020204" pitchFamily="34" charset="-122"/>
              </a:rPr>
              <a:t>的方法，实现了物理机、虚拟机与网络间的互相访问；</a:t>
            </a:r>
            <a:endParaRPr lang="en-US" altLang="zh-CN" sz="2400" dirty="0">
              <a:solidFill>
                <a:srgbClr val="1353A2"/>
              </a:solidFill>
              <a:latin typeface="微软雅黑" panose="020B0503020204020204" pitchFamily="34" charset="-122"/>
              <a:ea typeface="微软雅黑" panose="020B0503020204020204" pitchFamily="34" charset="-122"/>
            </a:endParaRPr>
          </a:p>
          <a:p>
            <a:pPr indent="457200" defTabSz="720725">
              <a:lnSpc>
                <a:spcPct val="150000"/>
              </a:lnSpc>
            </a:pPr>
            <a:r>
              <a:rPr lang="zh-CN" altLang="en-US" sz="2400" dirty="0">
                <a:solidFill>
                  <a:srgbClr val="1353A2"/>
                </a:solidFill>
                <a:latin typeface="微软雅黑" panose="020B0503020204020204" pitchFamily="34" charset="-122"/>
                <a:ea typeface="微软雅黑" panose="020B0503020204020204" pitchFamily="34" charset="-122"/>
              </a:rPr>
              <a:t>之后简单介绍了</a:t>
            </a:r>
            <a:r>
              <a:rPr lang="en-US" altLang="zh-CN" sz="2400" dirty="0">
                <a:solidFill>
                  <a:srgbClr val="1353A2"/>
                </a:solidFill>
                <a:latin typeface="微软雅黑" panose="020B0503020204020204" pitchFamily="34" charset="-122"/>
                <a:ea typeface="微软雅黑" panose="020B0503020204020204" pitchFamily="34" charset="-122"/>
              </a:rPr>
              <a:t>Linux</a:t>
            </a:r>
            <a:r>
              <a:rPr lang="zh-CN" altLang="en-US" sz="2400" dirty="0">
                <a:solidFill>
                  <a:srgbClr val="1353A2"/>
                </a:solidFill>
                <a:latin typeface="微软雅黑" panose="020B0503020204020204" pitchFamily="34" charset="-122"/>
                <a:ea typeface="微软雅黑" panose="020B0503020204020204" pitchFamily="34" charset="-122"/>
              </a:rPr>
              <a:t>文件系统的</a:t>
            </a:r>
            <a:r>
              <a:rPr lang="zh-CN" altLang="en-US" sz="2400" dirty="0">
                <a:solidFill>
                  <a:srgbClr val="00B050"/>
                </a:solidFill>
                <a:latin typeface="微软雅黑" panose="020B0503020204020204" pitchFamily="34" charset="-122"/>
                <a:ea typeface="微软雅黑" panose="020B0503020204020204" pitchFamily="34" charset="-122"/>
              </a:rPr>
              <a:t>目录结构</a:t>
            </a:r>
            <a:r>
              <a:rPr lang="zh-CN" altLang="en-US" sz="2400" dirty="0">
                <a:solidFill>
                  <a:srgbClr val="1353A2"/>
                </a:solidFill>
                <a:latin typeface="微软雅黑" panose="020B0503020204020204" pitchFamily="34" charset="-122"/>
                <a:ea typeface="微软雅黑" panose="020B0503020204020204" pitchFamily="34" charset="-122"/>
              </a:rPr>
              <a:t>、</a:t>
            </a:r>
            <a:r>
              <a:rPr lang="en-US" altLang="zh-CN" sz="2400" dirty="0">
                <a:solidFill>
                  <a:srgbClr val="1353A2"/>
                </a:solidFill>
                <a:latin typeface="微软雅黑" panose="020B0503020204020204" pitchFamily="34" charset="-122"/>
                <a:ea typeface="微软雅黑" panose="020B0503020204020204" pitchFamily="34" charset="-122"/>
              </a:rPr>
              <a:t>Linux</a:t>
            </a:r>
            <a:r>
              <a:rPr lang="zh-CN" altLang="en-US" sz="2400" dirty="0">
                <a:solidFill>
                  <a:srgbClr val="1353A2"/>
                </a:solidFill>
                <a:latin typeface="微软雅黑" panose="020B0503020204020204" pitchFamily="34" charset="-122"/>
                <a:ea typeface="微软雅黑" panose="020B0503020204020204" pitchFamily="34" charset="-122"/>
              </a:rPr>
              <a:t>系统的</a:t>
            </a:r>
            <a:r>
              <a:rPr lang="zh-CN" altLang="en-US" sz="2400" dirty="0">
                <a:solidFill>
                  <a:srgbClr val="00B050"/>
                </a:solidFill>
                <a:latin typeface="微软雅黑" panose="020B0503020204020204" pitchFamily="34" charset="-122"/>
                <a:ea typeface="微软雅黑" panose="020B0503020204020204" pitchFamily="34" charset="-122"/>
              </a:rPr>
              <a:t>启动流程</a:t>
            </a:r>
            <a:r>
              <a:rPr lang="zh-CN" altLang="en-US" sz="2400" dirty="0">
                <a:solidFill>
                  <a:srgbClr val="1353A2"/>
                </a:solidFill>
                <a:latin typeface="微软雅黑" panose="020B0503020204020204" pitchFamily="34" charset="-122"/>
                <a:ea typeface="微软雅黑" panose="020B0503020204020204" pitchFamily="34" charset="-122"/>
              </a:rPr>
              <a:t>；</a:t>
            </a:r>
            <a:endParaRPr lang="en-US" altLang="zh-CN" sz="2400" dirty="0">
              <a:solidFill>
                <a:srgbClr val="1353A2"/>
              </a:solidFill>
              <a:latin typeface="微软雅黑" panose="020B0503020204020204" pitchFamily="34" charset="-122"/>
              <a:ea typeface="微软雅黑" panose="020B0503020204020204" pitchFamily="34" charset="-122"/>
            </a:endParaRPr>
          </a:p>
          <a:p>
            <a:pPr indent="457200" defTabSz="720725">
              <a:lnSpc>
                <a:spcPct val="150000"/>
              </a:lnSpc>
            </a:pPr>
            <a:r>
              <a:rPr lang="zh-CN" altLang="en-US" sz="2400" dirty="0">
                <a:solidFill>
                  <a:srgbClr val="1353A2"/>
                </a:solidFill>
                <a:latin typeface="微软雅黑" panose="020B0503020204020204" pitchFamily="34" charset="-122"/>
                <a:ea typeface="微软雅黑" panose="020B0503020204020204" pitchFamily="34" charset="-122"/>
              </a:rPr>
              <a:t>最后讲解了</a:t>
            </a:r>
            <a:r>
              <a:rPr lang="zh-CN" altLang="en-US" sz="2400" dirty="0">
                <a:solidFill>
                  <a:srgbClr val="FF0000"/>
                </a:solidFill>
                <a:latin typeface="微软雅黑" panose="020B0503020204020204" pitchFamily="34" charset="-122"/>
                <a:ea typeface="微软雅黑" panose="020B0503020204020204" pitchFamily="34" charset="-122"/>
              </a:rPr>
              <a:t>远程登录</a:t>
            </a:r>
            <a:r>
              <a:rPr lang="en-US" altLang="zh-CN" sz="2400" dirty="0">
                <a:solidFill>
                  <a:srgbClr val="FF0000"/>
                </a:solidFill>
                <a:latin typeface="微软雅黑" panose="020B0503020204020204" pitchFamily="34" charset="-122"/>
                <a:ea typeface="微软雅黑" panose="020B0503020204020204" pitchFamily="34" charset="-122"/>
              </a:rPr>
              <a:t>Linux</a:t>
            </a:r>
            <a:r>
              <a:rPr lang="zh-CN" altLang="en-US" sz="2400" dirty="0">
                <a:solidFill>
                  <a:srgbClr val="FF0000"/>
                </a:solidFill>
                <a:latin typeface="微软雅黑" panose="020B0503020204020204" pitchFamily="34" charset="-122"/>
                <a:ea typeface="微软雅黑" panose="020B0503020204020204" pitchFamily="34" charset="-122"/>
              </a:rPr>
              <a:t>系统、远程管理文件</a:t>
            </a:r>
            <a:r>
              <a:rPr lang="zh-CN" altLang="en-US" sz="2400" dirty="0">
                <a:solidFill>
                  <a:srgbClr val="1353A2"/>
                </a:solidFill>
                <a:latin typeface="微软雅黑" panose="020B0503020204020204" pitchFamily="34" charset="-122"/>
                <a:ea typeface="微软雅黑" panose="020B0503020204020204" pitchFamily="34" charset="-122"/>
              </a:rPr>
              <a:t>的方法。</a:t>
            </a:r>
            <a:endParaRPr lang="zh-CN" altLang="en-US" sz="2400" dirty="0">
              <a:solidFill>
                <a:srgbClr val="1353A2"/>
              </a:solidFill>
              <a:latin typeface="微软雅黑" panose="020B0503020204020204" pitchFamily="34" charset="-122"/>
              <a:ea typeface="微软雅黑" panose="020B0503020204020204" pitchFamily="34" charset="-122"/>
            </a:endParaRPr>
          </a:p>
        </p:txBody>
      </p:sp>
      <p:grpSp>
        <p:nvGrpSpPr>
          <p:cNvPr id="68" name="组合 5"/>
          <p:cNvGrpSpPr/>
          <p:nvPr/>
        </p:nvGrpSpPr>
        <p:grpSpPr>
          <a:xfrm rot="1223044">
            <a:off x="4619962" y="1671811"/>
            <a:ext cx="194228" cy="388557"/>
            <a:chOff x="6660232" y="483518"/>
            <a:chExt cx="432048" cy="864096"/>
          </a:xfrm>
        </p:grpSpPr>
        <p:sp>
          <p:nvSpPr>
            <p:cNvPr id="69" name="等腰三角形 68"/>
            <p:cNvSpPr/>
            <p:nvPr/>
          </p:nvSpPr>
          <p:spPr>
            <a:xfrm rot="10800000">
              <a:off x="6660232" y="699542"/>
              <a:ext cx="432048" cy="648072"/>
            </a:xfrm>
            <a:prstGeom prst="triangle">
              <a:avLst/>
            </a:prstGeom>
            <a:solidFill>
              <a:srgbClr val="FEA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0" name="等腰三角形 69"/>
            <p:cNvSpPr/>
            <p:nvPr/>
          </p:nvSpPr>
          <p:spPr>
            <a:xfrm>
              <a:off x="6660232" y="483518"/>
              <a:ext cx="432048" cy="216024"/>
            </a:xfrm>
            <a:prstGeom prst="triangle">
              <a:avLst>
                <a:gd name="adj" fmla="val 63963"/>
              </a:avLst>
            </a:prstGeom>
            <a:solidFill>
              <a:srgbClr val="BF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71" name="组合 9"/>
          <p:cNvGrpSpPr/>
          <p:nvPr/>
        </p:nvGrpSpPr>
        <p:grpSpPr>
          <a:xfrm rot="6407950">
            <a:off x="8821748" y="5205250"/>
            <a:ext cx="349232" cy="698282"/>
            <a:chOff x="6660232" y="483518"/>
            <a:chExt cx="432048" cy="864096"/>
          </a:xfrm>
        </p:grpSpPr>
        <p:sp>
          <p:nvSpPr>
            <p:cNvPr id="72" name="等腰三角形 71"/>
            <p:cNvSpPr/>
            <p:nvPr/>
          </p:nvSpPr>
          <p:spPr>
            <a:xfrm rot="10800000">
              <a:off x="6660232" y="699542"/>
              <a:ext cx="432048" cy="648072"/>
            </a:xfrm>
            <a:prstGeom prst="triangle">
              <a:avLst/>
            </a:prstGeom>
            <a:solidFill>
              <a:srgbClr val="45D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3" name="等腰三角形 72"/>
            <p:cNvSpPr/>
            <p:nvPr/>
          </p:nvSpPr>
          <p:spPr>
            <a:xfrm>
              <a:off x="6660232" y="483518"/>
              <a:ext cx="432048" cy="216024"/>
            </a:xfrm>
            <a:prstGeom prst="triangle">
              <a:avLst>
                <a:gd name="adj" fmla="val 63228"/>
              </a:avLst>
            </a:prstGeom>
            <a:solidFill>
              <a:srgbClr val="00B0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grpSp>
        <p:nvGrpSpPr>
          <p:cNvPr id="74" name="组合 12"/>
          <p:cNvGrpSpPr/>
          <p:nvPr/>
        </p:nvGrpSpPr>
        <p:grpSpPr>
          <a:xfrm rot="6226596">
            <a:off x="10509660" y="5333370"/>
            <a:ext cx="377870" cy="755543"/>
            <a:chOff x="6660232" y="483518"/>
            <a:chExt cx="432048" cy="864096"/>
          </a:xfrm>
        </p:grpSpPr>
        <p:sp>
          <p:nvSpPr>
            <p:cNvPr id="75" name="等腰三角形 74"/>
            <p:cNvSpPr/>
            <p:nvPr/>
          </p:nvSpPr>
          <p:spPr>
            <a:xfrm rot="10800000">
              <a:off x="6660232" y="699542"/>
              <a:ext cx="432048" cy="648072"/>
            </a:xfrm>
            <a:prstGeom prst="triangle">
              <a:avLst/>
            </a:prstGeom>
            <a:solidFill>
              <a:srgbClr val="3EDD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6" name="等腰三角形 75"/>
            <p:cNvSpPr/>
            <p:nvPr/>
          </p:nvSpPr>
          <p:spPr>
            <a:xfrm>
              <a:off x="6660232" y="483518"/>
              <a:ext cx="432048" cy="216024"/>
            </a:xfrm>
            <a:prstGeom prst="triangle">
              <a:avLst>
                <a:gd name="adj" fmla="val 58818"/>
              </a:avLst>
            </a:prstGeom>
            <a:solidFill>
              <a:srgbClr val="05B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sp>
        <p:nvSpPr>
          <p:cNvPr id="77" name="等腰三角形 76"/>
          <p:cNvSpPr/>
          <p:nvPr/>
        </p:nvSpPr>
        <p:spPr>
          <a:xfrm rot="12209274">
            <a:off x="3340616" y="1481684"/>
            <a:ext cx="224553" cy="336917"/>
          </a:xfrm>
          <a:prstGeom prst="triangle">
            <a:avLst/>
          </a:prstGeom>
          <a:solidFill>
            <a:srgbClr val="B86E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等腰三角形 77"/>
          <p:cNvSpPr/>
          <p:nvPr/>
        </p:nvSpPr>
        <p:spPr>
          <a:xfrm rot="1409274">
            <a:off x="4462529" y="2918608"/>
            <a:ext cx="224553" cy="112306"/>
          </a:xfrm>
          <a:prstGeom prst="triangle">
            <a:avLst>
              <a:gd name="adj" fmla="val 63228"/>
            </a:avLst>
          </a:prstGeom>
          <a:solidFill>
            <a:srgbClr val="6F32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nvGrpSpPr>
          <p:cNvPr id="79" name="组合 24"/>
          <p:cNvGrpSpPr/>
          <p:nvPr/>
        </p:nvGrpSpPr>
        <p:grpSpPr>
          <a:xfrm rot="7346403">
            <a:off x="11657117" y="3693748"/>
            <a:ext cx="154658" cy="309235"/>
            <a:chOff x="6660232" y="483518"/>
            <a:chExt cx="432048" cy="864096"/>
          </a:xfrm>
        </p:grpSpPr>
        <p:sp>
          <p:nvSpPr>
            <p:cNvPr id="80" name="等腰三角形 79"/>
            <p:cNvSpPr/>
            <p:nvPr/>
          </p:nvSpPr>
          <p:spPr>
            <a:xfrm rot="10800000">
              <a:off x="6660232" y="699542"/>
              <a:ext cx="432048" cy="648072"/>
            </a:xfrm>
            <a:prstGeom prst="triangle">
              <a:avLst/>
            </a:prstGeom>
            <a:solidFill>
              <a:srgbClr val="45D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1" name="等腰三角形 80"/>
            <p:cNvSpPr/>
            <p:nvPr/>
          </p:nvSpPr>
          <p:spPr>
            <a:xfrm>
              <a:off x="6660232" y="483518"/>
              <a:ext cx="432048" cy="216024"/>
            </a:xfrm>
            <a:prstGeom prst="triangle">
              <a:avLst>
                <a:gd name="adj" fmla="val 63228"/>
              </a:avLst>
            </a:prstGeom>
            <a:solidFill>
              <a:srgbClr val="00B0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pSp>
      <p:sp>
        <p:nvSpPr>
          <p:cNvPr id="82" name="等腰三角形 81"/>
          <p:cNvSpPr/>
          <p:nvPr/>
        </p:nvSpPr>
        <p:spPr>
          <a:xfrm rot="17675433">
            <a:off x="1343179" y="3421504"/>
            <a:ext cx="155723" cy="241925"/>
          </a:xfrm>
          <a:prstGeom prst="triangle">
            <a:avLst/>
          </a:prstGeom>
          <a:solidFill>
            <a:srgbClr val="FEA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3" name="等腰三角形 82"/>
          <p:cNvSpPr/>
          <p:nvPr/>
        </p:nvSpPr>
        <p:spPr>
          <a:xfrm rot="18842669">
            <a:off x="6062702" y="3897352"/>
            <a:ext cx="127727" cy="198431"/>
          </a:xfrm>
          <a:prstGeom prst="triangle">
            <a:avLst/>
          </a:prstGeom>
          <a:solidFill>
            <a:srgbClr val="B86E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4" name="等腰三角形 83"/>
          <p:cNvSpPr/>
          <p:nvPr/>
        </p:nvSpPr>
        <p:spPr>
          <a:xfrm rot="14558547">
            <a:off x="5505625" y="2129781"/>
            <a:ext cx="155723" cy="241925"/>
          </a:xfrm>
          <a:prstGeom prst="triangle">
            <a:avLst/>
          </a:prstGeom>
          <a:solidFill>
            <a:srgbClr val="05B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5" name="等腰三角形 84"/>
          <p:cNvSpPr/>
          <p:nvPr/>
        </p:nvSpPr>
        <p:spPr>
          <a:xfrm rot="12105279">
            <a:off x="4187620" y="1175288"/>
            <a:ext cx="111838" cy="173837"/>
          </a:xfrm>
          <a:prstGeom prst="triangle">
            <a:avLst/>
          </a:prstGeom>
          <a:solidFill>
            <a:srgbClr val="BF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6" name="等腰三角形 85"/>
          <p:cNvSpPr/>
          <p:nvPr/>
        </p:nvSpPr>
        <p:spPr>
          <a:xfrm rot="14668738">
            <a:off x="4929800" y="2224024"/>
            <a:ext cx="107837" cy="167531"/>
          </a:xfrm>
          <a:prstGeom prst="triangle">
            <a:avLst>
              <a:gd name="adj" fmla="val 35756"/>
            </a:avLst>
          </a:prstGeom>
          <a:solidFill>
            <a:srgbClr val="EF5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7" name="等腰三角形 86"/>
          <p:cNvSpPr/>
          <p:nvPr/>
        </p:nvSpPr>
        <p:spPr>
          <a:xfrm rot="17171880">
            <a:off x="9704124" y="5213536"/>
            <a:ext cx="107837" cy="167531"/>
          </a:xfrm>
          <a:prstGeom prst="triangle">
            <a:avLst>
              <a:gd name="adj" fmla="val 77077"/>
            </a:avLst>
          </a:prstGeom>
          <a:solidFill>
            <a:srgbClr val="6F32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8" name="等腰三角形 87"/>
          <p:cNvSpPr/>
          <p:nvPr/>
        </p:nvSpPr>
        <p:spPr>
          <a:xfrm rot="11654353">
            <a:off x="5276649" y="1246690"/>
            <a:ext cx="107809" cy="167575"/>
          </a:xfrm>
          <a:prstGeom prst="triangle">
            <a:avLst>
              <a:gd name="adj" fmla="val 35756"/>
            </a:avLst>
          </a:prstGeom>
          <a:solidFill>
            <a:srgbClr val="45D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9" name="等腰三角形 88"/>
          <p:cNvSpPr/>
          <p:nvPr/>
        </p:nvSpPr>
        <p:spPr>
          <a:xfrm rot="19005263">
            <a:off x="5227066" y="3819557"/>
            <a:ext cx="155682" cy="241988"/>
          </a:xfrm>
          <a:prstGeom prst="triangle">
            <a:avLst>
              <a:gd name="adj" fmla="val 100000"/>
            </a:avLst>
          </a:prstGeom>
          <a:solidFill>
            <a:srgbClr val="05B0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0" name="等腰三角形 89"/>
          <p:cNvSpPr/>
          <p:nvPr/>
        </p:nvSpPr>
        <p:spPr>
          <a:xfrm rot="20250676">
            <a:off x="10500484" y="3433487"/>
            <a:ext cx="107809" cy="167575"/>
          </a:xfrm>
          <a:prstGeom prst="triangle">
            <a:avLst>
              <a:gd name="adj" fmla="val 35756"/>
            </a:avLst>
          </a:prstGeom>
          <a:solidFill>
            <a:srgbClr val="EF5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1" name="等腰三角形 90"/>
          <p:cNvSpPr/>
          <p:nvPr/>
        </p:nvSpPr>
        <p:spPr>
          <a:xfrm rot="17959049">
            <a:off x="10208234" y="3008665"/>
            <a:ext cx="156931" cy="135250"/>
          </a:xfrm>
          <a:prstGeom prst="triangle">
            <a:avLst/>
          </a:prstGeom>
          <a:solidFill>
            <a:srgbClr val="3EDD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2" name="等腰三角形 91"/>
          <p:cNvSpPr/>
          <p:nvPr/>
        </p:nvSpPr>
        <p:spPr>
          <a:xfrm rot="1068765">
            <a:off x="936441" y="4248182"/>
            <a:ext cx="156890" cy="135285"/>
          </a:xfrm>
          <a:prstGeom prst="triangle">
            <a:avLst/>
          </a:prstGeom>
          <a:solidFill>
            <a:srgbClr val="00B0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93" name="等腰三角形 92"/>
          <p:cNvSpPr/>
          <p:nvPr/>
        </p:nvSpPr>
        <p:spPr>
          <a:xfrm rot="17007495">
            <a:off x="7995445" y="5211691"/>
            <a:ext cx="155723" cy="241925"/>
          </a:xfrm>
          <a:prstGeom prst="triangle">
            <a:avLst/>
          </a:prstGeom>
          <a:solidFill>
            <a:srgbClr val="BF9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94" name="直接连接符 71"/>
          <p:cNvCxnSpPr/>
          <p:nvPr/>
        </p:nvCxnSpPr>
        <p:spPr>
          <a:xfrm flipH="1">
            <a:off x="9202549" y="7121749"/>
            <a:ext cx="1474501" cy="1463953"/>
          </a:xfrm>
          <a:prstGeom prst="line">
            <a:avLst/>
          </a:prstGeom>
          <a:ln>
            <a:solidFill>
              <a:srgbClr val="FEA521"/>
            </a:solidFill>
          </a:ln>
        </p:spPr>
        <p:style>
          <a:lnRef idx="1">
            <a:schemeClr val="accent1"/>
          </a:lnRef>
          <a:fillRef idx="0">
            <a:schemeClr val="accent1"/>
          </a:fillRef>
          <a:effectRef idx="0">
            <a:schemeClr val="accent1"/>
          </a:effectRef>
          <a:fontRef idx="minor">
            <a:schemeClr val="tx1"/>
          </a:fontRef>
        </p:style>
      </p:cxnSp>
      <p:cxnSp>
        <p:nvCxnSpPr>
          <p:cNvPr id="95" name="直接连接符 73"/>
          <p:cNvCxnSpPr/>
          <p:nvPr/>
        </p:nvCxnSpPr>
        <p:spPr>
          <a:xfrm flipH="1">
            <a:off x="11069007" y="5941656"/>
            <a:ext cx="658541" cy="626903"/>
          </a:xfrm>
          <a:prstGeom prst="line">
            <a:avLst/>
          </a:prstGeom>
          <a:ln>
            <a:solidFill>
              <a:srgbClr val="05B0F3"/>
            </a:solidFill>
          </a:ln>
        </p:spPr>
        <p:style>
          <a:lnRef idx="1">
            <a:schemeClr val="accent1"/>
          </a:lnRef>
          <a:fillRef idx="0">
            <a:schemeClr val="accent1"/>
          </a:fillRef>
          <a:effectRef idx="0">
            <a:schemeClr val="accent1"/>
          </a:effectRef>
          <a:fontRef idx="minor">
            <a:schemeClr val="tx1"/>
          </a:fontRef>
        </p:style>
      </p:cxnSp>
      <p:pic>
        <p:nvPicPr>
          <p:cNvPr id="184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1459" y="1450893"/>
            <a:ext cx="4143375"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2"/>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GENSWF_SLIDE_TITLE" val="2.3本章小结"/>
  <p:tag name="GENSWF_ADVANCE_TIME" val="0.00"/>
  <p:tag name="ISPRING_SLIDE_INDENT_LEVEL" val="0"/>
  <p:tag name="ISPRING_CUSTOM_TIMING_USED" val="0"/>
</p:tagLst>
</file>

<file path=ppt/tags/tag3.xml><?xml version="1.0" encoding="utf-8"?>
<p:tagLst xmlns:p="http://schemas.openxmlformats.org/presentationml/2006/main">
  <p:tag name="ISPRING_RESOURCE_PATHS_HASH_PRESENTER" val="3d287a59f44a3aed42a385a4068be4cdf8f715a"/>
  <p:tag name="commondata" val="eyJoZGlkIjoiN2EwZjRiMDZmYWE2MTI1MzU1ODA3NmMxZTI0ZTU4ZD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8040</Words>
  <Application>WPS 演示</Application>
  <PresentationFormat>宽屏</PresentationFormat>
  <Paragraphs>765</Paragraphs>
  <Slides>66</Slides>
  <Notes>3</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66</vt:i4>
      </vt:variant>
    </vt:vector>
  </HeadingPairs>
  <TitlesOfParts>
    <vt:vector size="87" baseType="lpstr">
      <vt:lpstr>Arial</vt:lpstr>
      <vt:lpstr>宋体</vt:lpstr>
      <vt:lpstr>Wingdings</vt:lpstr>
      <vt:lpstr>微软雅黑</vt:lpstr>
      <vt:lpstr>方正细倩简体</vt:lpstr>
      <vt:lpstr>Segoe Print</vt:lpstr>
      <vt:lpstr>Franklin Gothic Medium</vt:lpstr>
      <vt:lpstr>Broadway</vt:lpstr>
      <vt:lpstr>黑体</vt:lpstr>
      <vt:lpstr>Segoe UI</vt:lpstr>
      <vt:lpstr>Segoe UI</vt:lpstr>
      <vt:lpstr>Arial Unicode MS</vt:lpstr>
      <vt:lpstr>等线 Light</vt:lpstr>
      <vt:lpstr>等线</vt:lpstr>
      <vt:lpstr>Times New Roman</vt:lpstr>
      <vt:lpstr>Calibri</vt:lpstr>
      <vt:lpstr>PMingLiU</vt:lpstr>
      <vt:lpstr>Office 主题​​</vt:lpstr>
      <vt:lpstr>Visio.Drawing.11</vt:lpstr>
      <vt:lpstr>Visio.Drawing.11</vt:lpstr>
      <vt:lpstr>Visio.Drawing.11</vt:lpstr>
      <vt:lpstr>第1章 Linux系统简介与环境搭建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lucius</dc:creator>
  <cp:lastModifiedBy>fxlfx</cp:lastModifiedBy>
  <cp:revision>153</cp:revision>
  <dcterms:created xsi:type="dcterms:W3CDTF">2016-08-25T05:35:00Z</dcterms:created>
  <dcterms:modified xsi:type="dcterms:W3CDTF">2023-10-09T10:14:44Z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4BBC11D9F8434FF9A426AD8399B4DDC9_12</vt:lpwstr>
  </property>
  <property fmtid="{D5CDD505-2E9C-101B-9397-08002B2CF9AE}" pid="3" name="KSOProductBuildVer">
    <vt:lpwstr>2052-12.1.0.15712</vt:lpwstr>
  </property>
</Properties>
</file>